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113"/>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0" r:id="rId15"/>
    <p:sldId id="271" r:id="rId16"/>
    <p:sldId id="272" r:id="rId17"/>
    <p:sldId id="370"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4" r:id="rId48"/>
    <p:sldId id="303" r:id="rId49"/>
    <p:sldId id="305" r:id="rId50"/>
    <p:sldId id="376" r:id="rId51"/>
    <p:sldId id="306" r:id="rId52"/>
    <p:sldId id="307" r:id="rId53"/>
    <p:sldId id="308" r:id="rId54"/>
    <p:sldId id="309" r:id="rId55"/>
    <p:sldId id="310" r:id="rId56"/>
    <p:sldId id="311" r:id="rId57"/>
    <p:sldId id="377" r:id="rId58"/>
    <p:sldId id="312" r:id="rId59"/>
    <p:sldId id="313" r:id="rId60"/>
    <p:sldId id="314" r:id="rId61"/>
    <p:sldId id="315" r:id="rId62"/>
    <p:sldId id="316" r:id="rId63"/>
    <p:sldId id="317" r:id="rId64"/>
    <p:sldId id="318" r:id="rId65"/>
    <p:sldId id="378" r:id="rId66"/>
    <p:sldId id="371" r:id="rId67"/>
    <p:sldId id="372" r:id="rId68"/>
    <p:sldId id="330" r:id="rId69"/>
    <p:sldId id="331" r:id="rId70"/>
    <p:sldId id="332" r:id="rId71"/>
    <p:sldId id="333" r:id="rId72"/>
    <p:sldId id="375" r:id="rId73"/>
    <p:sldId id="334" r:id="rId74"/>
    <p:sldId id="335" r:id="rId75"/>
    <p:sldId id="336" r:id="rId76"/>
    <p:sldId id="337" r:id="rId77"/>
    <p:sldId id="338" r:id="rId78"/>
    <p:sldId id="339" r:id="rId79"/>
    <p:sldId id="340" r:id="rId80"/>
    <p:sldId id="341" r:id="rId81"/>
    <p:sldId id="342" r:id="rId82"/>
    <p:sldId id="374" r:id="rId83"/>
    <p:sldId id="343" r:id="rId84"/>
    <p:sldId id="344" r:id="rId85"/>
    <p:sldId id="345" r:id="rId86"/>
    <p:sldId id="346" r:id="rId87"/>
    <p:sldId id="347" r:id="rId88"/>
    <p:sldId id="348" r:id="rId89"/>
    <p:sldId id="349" r:id="rId90"/>
    <p:sldId id="350" r:id="rId91"/>
    <p:sldId id="351" r:id="rId92"/>
    <p:sldId id="352" r:id="rId93"/>
    <p:sldId id="353" r:id="rId94"/>
    <p:sldId id="354" r:id="rId95"/>
    <p:sldId id="355" r:id="rId96"/>
    <p:sldId id="356" r:id="rId97"/>
    <p:sldId id="357" r:id="rId98"/>
    <p:sldId id="358" r:id="rId99"/>
    <p:sldId id="359" r:id="rId100"/>
    <p:sldId id="360" r:id="rId101"/>
    <p:sldId id="361" r:id="rId102"/>
    <p:sldId id="362" r:id="rId103"/>
    <p:sldId id="373" r:id="rId104"/>
    <p:sldId id="379" r:id="rId105"/>
    <p:sldId id="363" r:id="rId106"/>
    <p:sldId id="364" r:id="rId107"/>
    <p:sldId id="365" r:id="rId108"/>
    <p:sldId id="366" r:id="rId109"/>
    <p:sldId id="367" r:id="rId110"/>
    <p:sldId id="368" r:id="rId111"/>
    <p:sldId id="369" r:id="rId11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834" autoAdjust="0"/>
  </p:normalViewPr>
  <p:slideViewPr>
    <p:cSldViewPr>
      <p:cViewPr varScale="1">
        <p:scale>
          <a:sx n="52" d="100"/>
          <a:sy n="52" d="100"/>
        </p:scale>
        <p:origin x="809" y="31"/>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785A02B-D9D6-4BC7-BD1A-0C439226DE41}" type="datetimeFigureOut">
              <a:rPr lang="zh-CN" altLang="en-US" smtClean="0"/>
              <a:pPr/>
              <a:t>2025/5/4</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8D460B-FCBF-4F68-A559-8E415D1DDEDB}" type="slidenum">
              <a:rPr lang="zh-CN" altLang="en-US" smtClean="0"/>
              <a:pPr/>
              <a:t>‹#›</a:t>
            </a:fld>
            <a:endParaRPr lang="zh-CN" altLang="en-US"/>
          </a:p>
        </p:txBody>
      </p:sp>
    </p:spTree>
    <p:extLst>
      <p:ext uri="{BB962C8B-B14F-4D97-AF65-F5344CB8AC3E}">
        <p14:creationId xmlns:p14="http://schemas.microsoft.com/office/powerpoint/2010/main" val="1389021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304800" algn="just"/>
            <a:r>
              <a:rPr lang="en-US" altLang="zh-CN" sz="1800" kern="100" dirty="0">
                <a:effectLst/>
                <a:latin typeface="宋体" panose="02010600030101010101" pitchFamily="2" charset="-122"/>
                <a:ea typeface="宋体" panose="02010600030101010101" pitchFamily="2" charset="-122"/>
              </a:rPr>
              <a:t> struct </a:t>
            </a:r>
            <a:r>
              <a:rPr lang="en-US" altLang="zh-CN" sz="1800" kern="100" dirty="0" err="1">
                <a:effectLst/>
                <a:latin typeface="宋体" panose="02010600030101010101" pitchFamily="2" charset="-122"/>
                <a:ea typeface="宋体" panose="02010600030101010101" pitchFamily="2" charset="-122"/>
              </a:rPr>
              <a:t>arcnode</a:t>
            </a:r>
            <a:r>
              <a:rPr lang="en-US" altLang="zh-CN" sz="1800" kern="100" dirty="0">
                <a:effectLst/>
                <a:latin typeface="宋体" panose="02010600030101010101" pitchFamily="2" charset="-122"/>
                <a:ea typeface="宋体" panose="02010600030101010101" pitchFamily="2" charset="-122"/>
              </a:rPr>
              <a:t> </a:t>
            </a:r>
            <a:endParaRPr lang="zh-CN" altLang="zh-CN" sz="1800" kern="100" dirty="0">
              <a:effectLst/>
              <a:latin typeface="Times New Roman" panose="02020603050405020304" pitchFamily="18" charset="0"/>
              <a:ea typeface="宋体" panose="02010600030101010101" pitchFamily="2" charset="-122"/>
            </a:endParaRPr>
          </a:p>
          <a:p>
            <a:pPr indent="570865" algn="just"/>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indent="1037590" algn="just"/>
            <a:r>
              <a:rPr lang="en-US" altLang="zh-CN" sz="1800" kern="100" dirty="0">
                <a:effectLst/>
                <a:latin typeface="宋体" panose="02010600030101010101" pitchFamily="2" charset="-122"/>
                <a:ea typeface="宋体" panose="02010600030101010101" pitchFamily="2" charset="-122"/>
              </a:rPr>
              <a:t>int </a:t>
            </a:r>
            <a:r>
              <a:rPr lang="en-US" altLang="zh-CN" sz="1800" kern="100" dirty="0" err="1">
                <a:effectLst/>
                <a:latin typeface="宋体" panose="02010600030101010101" pitchFamily="2" charset="-122"/>
                <a:ea typeface="宋体" panose="02010600030101010101" pitchFamily="2" charset="-122"/>
              </a:rPr>
              <a:t>adjvex</a:t>
            </a:r>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           float info;</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           struct </a:t>
            </a:r>
            <a:r>
              <a:rPr lang="en-US" altLang="zh-CN" sz="1800" kern="100" dirty="0" err="1">
                <a:effectLst/>
                <a:latin typeface="宋体" panose="02010600030101010101" pitchFamily="2" charset="-122"/>
                <a:ea typeface="宋体" panose="02010600030101010101" pitchFamily="2" charset="-122"/>
              </a:rPr>
              <a:t>arcnode</a:t>
            </a:r>
            <a:r>
              <a:rPr lang="en-US" altLang="zh-CN" sz="1800" kern="100" dirty="0">
                <a:effectLst/>
                <a:latin typeface="宋体" panose="02010600030101010101" pitchFamily="2" charset="-122"/>
                <a:ea typeface="宋体" panose="02010600030101010101" pitchFamily="2" charset="-122"/>
              </a:rPr>
              <a:t> *</a:t>
            </a:r>
            <a:r>
              <a:rPr lang="en-US" altLang="zh-CN" sz="1800" kern="100" dirty="0" err="1">
                <a:effectLst/>
                <a:latin typeface="宋体" panose="02010600030101010101" pitchFamily="2" charset="-122"/>
                <a:ea typeface="宋体" panose="02010600030101010101" pitchFamily="2" charset="-122"/>
              </a:rPr>
              <a:t>nextarc</a:t>
            </a:r>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    };</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    typedef struct </a:t>
            </a:r>
            <a:r>
              <a:rPr lang="en-US" altLang="zh-CN" sz="1800" kern="100" dirty="0" err="1">
                <a:effectLst/>
                <a:latin typeface="宋体" panose="02010600030101010101" pitchFamily="2" charset="-122"/>
                <a:ea typeface="宋体" panose="02010600030101010101" pitchFamily="2" charset="-122"/>
              </a:rPr>
              <a:t>arcnode</a:t>
            </a:r>
            <a:r>
              <a:rPr lang="en-US" altLang="zh-CN" sz="1800" kern="100" dirty="0">
                <a:effectLst/>
                <a:latin typeface="宋体" panose="02010600030101010101" pitchFamily="2" charset="-122"/>
                <a:ea typeface="宋体" panose="02010600030101010101" pitchFamily="2" charset="-122"/>
              </a:rPr>
              <a:t> ARCNODE;</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 </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        const int MAXVERTEX=200;</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        class </a:t>
            </a:r>
            <a:r>
              <a:rPr lang="en-US" altLang="zh-CN" sz="1800" kern="100" dirty="0" err="1">
                <a:effectLst/>
                <a:latin typeface="宋体" panose="02010600030101010101" pitchFamily="2" charset="-122"/>
                <a:ea typeface="宋体" panose="02010600030101010101" pitchFamily="2" charset="-122"/>
              </a:rPr>
              <a:t>headnode</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        {</a:t>
            </a:r>
            <a:endParaRPr lang="zh-CN" altLang="zh-CN" sz="1800" kern="100" dirty="0">
              <a:effectLst/>
              <a:latin typeface="Times New Roman" panose="02020603050405020304" pitchFamily="18" charset="0"/>
              <a:ea typeface="宋体" panose="02010600030101010101" pitchFamily="2" charset="-122"/>
            </a:endParaRPr>
          </a:p>
          <a:p>
            <a:pPr indent="1000125" algn="just"/>
            <a:r>
              <a:rPr lang="en-US" altLang="zh-CN" sz="1800" kern="100" dirty="0">
                <a:effectLst/>
                <a:latin typeface="宋体" panose="02010600030101010101" pitchFamily="2" charset="-122"/>
                <a:ea typeface="宋体" panose="02010600030101010101" pitchFamily="2" charset="-122"/>
              </a:rPr>
              <a:t>private:</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                  char data;</a:t>
            </a:r>
            <a:endParaRPr lang="zh-CN" altLang="zh-CN" sz="1800" kern="100" dirty="0">
              <a:effectLst/>
              <a:latin typeface="Times New Roman" panose="02020603050405020304" pitchFamily="18" charset="0"/>
              <a:ea typeface="宋体" panose="02010600030101010101" pitchFamily="2" charset="-122"/>
            </a:endParaRPr>
          </a:p>
          <a:p>
            <a:pPr marL="304800" algn="just"/>
            <a:r>
              <a:rPr lang="en-US" altLang="zh-CN" sz="1800" kern="100" dirty="0">
                <a:effectLst/>
                <a:latin typeface="宋体" panose="02010600030101010101" pitchFamily="2" charset="-122"/>
                <a:ea typeface="宋体" panose="02010600030101010101" pitchFamily="2" charset="-122"/>
              </a:rPr>
              <a:t>              struct </a:t>
            </a:r>
            <a:r>
              <a:rPr lang="en-US" altLang="zh-CN" sz="1800" kern="100" dirty="0" err="1">
                <a:effectLst/>
                <a:latin typeface="宋体" panose="02010600030101010101" pitchFamily="2" charset="-122"/>
                <a:ea typeface="宋体" panose="02010600030101010101" pitchFamily="2" charset="-122"/>
              </a:rPr>
              <a:t>arcnode</a:t>
            </a:r>
            <a:r>
              <a:rPr lang="en-US" altLang="zh-CN" sz="1800" kern="100" dirty="0">
                <a:effectLst/>
                <a:latin typeface="宋体" panose="02010600030101010101" pitchFamily="2" charset="-122"/>
                <a:ea typeface="宋体" panose="02010600030101010101" pitchFamily="2" charset="-122"/>
              </a:rPr>
              <a:t> *</a:t>
            </a:r>
            <a:r>
              <a:rPr lang="en-US" altLang="zh-CN" sz="1800" kern="100" dirty="0" err="1">
                <a:effectLst/>
                <a:latin typeface="宋体" panose="02010600030101010101" pitchFamily="2" charset="-122"/>
                <a:ea typeface="宋体" panose="02010600030101010101" pitchFamily="2" charset="-122"/>
              </a:rPr>
              <a:t>firstarc</a:t>
            </a:r>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           public:</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              </a:t>
            </a:r>
            <a:r>
              <a:rPr lang="en-US" altLang="zh-CN" sz="1800" kern="100" dirty="0" err="1">
                <a:effectLst/>
                <a:latin typeface="宋体" panose="02010600030101010101" pitchFamily="2" charset="-122"/>
                <a:ea typeface="宋体" panose="02010600030101010101" pitchFamily="2" charset="-122"/>
              </a:rPr>
              <a:t>headnode</a:t>
            </a:r>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indent="1237615" algn="just"/>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indent="1570990" algn="just"/>
            <a:r>
              <a:rPr lang="en-US" altLang="zh-CN" sz="1800" kern="100" dirty="0">
                <a:effectLst/>
                <a:latin typeface="宋体" panose="02010600030101010101" pitchFamily="2" charset="-122"/>
                <a:ea typeface="宋体" panose="02010600030101010101" pitchFamily="2" charset="-122"/>
              </a:rPr>
              <a:t>data='\0';</a:t>
            </a:r>
            <a:endParaRPr lang="zh-CN" altLang="zh-CN" sz="1800" kern="100" dirty="0">
              <a:effectLst/>
              <a:latin typeface="Times New Roman" panose="02020603050405020304" pitchFamily="18" charset="0"/>
              <a:ea typeface="宋体" panose="02010600030101010101" pitchFamily="2" charset="-122"/>
            </a:endParaRPr>
          </a:p>
          <a:p>
            <a:pPr indent="1570990" algn="just"/>
            <a:r>
              <a:rPr lang="en-US" altLang="zh-CN" sz="1800" kern="100" dirty="0" err="1">
                <a:effectLst/>
                <a:latin typeface="宋体" panose="02010600030101010101" pitchFamily="2" charset="-122"/>
                <a:ea typeface="宋体" panose="02010600030101010101" pitchFamily="2" charset="-122"/>
              </a:rPr>
              <a:t>firstarc</a:t>
            </a:r>
            <a:r>
              <a:rPr lang="en-US" altLang="zh-CN" sz="1800" kern="100" dirty="0">
                <a:effectLst/>
                <a:latin typeface="宋体" panose="02010600030101010101" pitchFamily="2" charset="-122"/>
                <a:ea typeface="宋体" panose="02010600030101010101" pitchFamily="2" charset="-122"/>
              </a:rPr>
              <a:t>=NULL;</a:t>
            </a:r>
            <a:endParaRPr lang="zh-CN" altLang="zh-CN" sz="1800" kern="100" dirty="0">
              <a:effectLst/>
              <a:latin typeface="Times New Roman" panose="02020603050405020304" pitchFamily="18" charset="0"/>
              <a:ea typeface="宋体" panose="02010600030101010101" pitchFamily="2" charset="-122"/>
            </a:endParaRPr>
          </a:p>
          <a:p>
            <a:pPr indent="1266825" algn="just"/>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              </a:t>
            </a:r>
            <a:r>
              <a:rPr lang="en-US" altLang="zh-CN" sz="1800" kern="100" dirty="0" err="1">
                <a:effectLst/>
                <a:latin typeface="宋体" panose="02010600030101010101" pitchFamily="2" charset="-122"/>
                <a:ea typeface="宋体" panose="02010600030101010101" pitchFamily="2" charset="-122"/>
              </a:rPr>
              <a:t>headnode</a:t>
            </a:r>
            <a:r>
              <a:rPr lang="en-US" altLang="zh-CN" sz="1800" kern="100" dirty="0">
                <a:effectLst/>
                <a:latin typeface="宋体" panose="02010600030101010101" pitchFamily="2" charset="-122"/>
                <a:ea typeface="宋体" panose="02010600030101010101" pitchFamily="2" charset="-122"/>
              </a:rPr>
              <a:t>(char </a:t>
            </a:r>
            <a:r>
              <a:rPr lang="en-US" altLang="zh-CN" sz="1800" kern="100" dirty="0" err="1">
                <a:effectLst/>
                <a:latin typeface="宋体" panose="02010600030101010101" pitchFamily="2" charset="-122"/>
                <a:ea typeface="宋体" panose="02010600030101010101" pitchFamily="2" charset="-122"/>
              </a:rPr>
              <a:t>dl,struct</a:t>
            </a:r>
            <a:r>
              <a:rPr lang="en-US" altLang="zh-CN" sz="1800" kern="100" dirty="0">
                <a:effectLst/>
                <a:latin typeface="宋体" panose="02010600030101010101" pitchFamily="2" charset="-122"/>
                <a:ea typeface="宋体" panose="02010600030101010101" pitchFamily="2" charset="-122"/>
              </a:rPr>
              <a:t> </a:t>
            </a:r>
            <a:r>
              <a:rPr lang="en-US" altLang="zh-CN" sz="1800" kern="100" dirty="0" err="1">
                <a:effectLst/>
                <a:latin typeface="宋体" panose="02010600030101010101" pitchFamily="2" charset="-122"/>
                <a:ea typeface="宋体" panose="02010600030101010101" pitchFamily="2" charset="-122"/>
              </a:rPr>
              <a:t>arcnode</a:t>
            </a:r>
            <a:r>
              <a:rPr lang="en-US" altLang="zh-CN" sz="1800" kern="100" dirty="0">
                <a:effectLst/>
                <a:latin typeface="宋体" panose="02010600030101010101" pitchFamily="2" charset="-122"/>
                <a:ea typeface="宋体" panose="02010600030101010101" pitchFamily="2" charset="-122"/>
              </a:rPr>
              <a:t> *</a:t>
            </a:r>
            <a:r>
              <a:rPr lang="en-US" altLang="zh-CN" sz="1800" kern="100" dirty="0" err="1">
                <a:effectLst/>
                <a:latin typeface="宋体" panose="02010600030101010101" pitchFamily="2" charset="-122"/>
                <a:ea typeface="宋体" panose="02010600030101010101" pitchFamily="2" charset="-122"/>
              </a:rPr>
              <a:t>fl</a:t>
            </a:r>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              {</a:t>
            </a:r>
            <a:endParaRPr lang="zh-CN" altLang="zh-CN" sz="1800" kern="100" dirty="0">
              <a:effectLst/>
              <a:latin typeface="Times New Roman" panose="02020603050405020304" pitchFamily="18" charset="0"/>
              <a:ea typeface="宋体" panose="02010600030101010101" pitchFamily="2" charset="-122"/>
            </a:endParaRPr>
          </a:p>
          <a:p>
            <a:pPr indent="1637665" algn="just"/>
            <a:r>
              <a:rPr lang="en-US" altLang="zh-CN" sz="1800" kern="100" dirty="0">
                <a:effectLst/>
                <a:latin typeface="宋体" panose="02010600030101010101" pitchFamily="2" charset="-122"/>
                <a:ea typeface="宋体" panose="02010600030101010101" pitchFamily="2" charset="-122"/>
              </a:rPr>
              <a:t>data=dl;</a:t>
            </a:r>
            <a:endParaRPr lang="zh-CN" altLang="zh-CN" sz="1800" kern="100" dirty="0">
              <a:effectLst/>
              <a:latin typeface="Times New Roman" panose="02020603050405020304" pitchFamily="18" charset="0"/>
              <a:ea typeface="宋体" panose="02010600030101010101" pitchFamily="2" charset="-122"/>
            </a:endParaRPr>
          </a:p>
          <a:p>
            <a:pPr indent="1637665" algn="just"/>
            <a:r>
              <a:rPr lang="en-US" altLang="zh-CN" sz="1800" kern="100" dirty="0" err="1">
                <a:effectLst/>
                <a:latin typeface="宋体" panose="02010600030101010101" pitchFamily="2" charset="-122"/>
                <a:ea typeface="宋体" panose="02010600030101010101" pitchFamily="2" charset="-122"/>
              </a:rPr>
              <a:t>firstarc</a:t>
            </a:r>
            <a:r>
              <a:rPr lang="en-US" altLang="zh-CN" sz="1800" kern="100" dirty="0">
                <a:effectLst/>
                <a:latin typeface="宋体" panose="02010600030101010101" pitchFamily="2" charset="-122"/>
                <a:ea typeface="宋体" panose="02010600030101010101" pitchFamily="2" charset="-122"/>
              </a:rPr>
              <a:t>=</a:t>
            </a:r>
            <a:r>
              <a:rPr lang="en-US" altLang="zh-CN" sz="1800" kern="100" dirty="0" err="1">
                <a:effectLst/>
                <a:latin typeface="宋体" panose="02010600030101010101" pitchFamily="2" charset="-122"/>
                <a:ea typeface="宋体" panose="02010600030101010101" pitchFamily="2" charset="-122"/>
              </a:rPr>
              <a:t>fl</a:t>
            </a:r>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indent="1266825" algn="just"/>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              ARCNODE *get_d2(){return </a:t>
            </a:r>
            <a:r>
              <a:rPr lang="en-US" altLang="zh-CN" sz="1800" kern="100" dirty="0" err="1">
                <a:effectLst/>
                <a:latin typeface="宋体" panose="02010600030101010101" pitchFamily="2" charset="-122"/>
                <a:ea typeface="宋体" panose="02010600030101010101" pitchFamily="2" charset="-122"/>
              </a:rPr>
              <a:t>firstarc</a:t>
            </a:r>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              Void </a:t>
            </a:r>
            <a:r>
              <a:rPr lang="en-US" altLang="zh-CN" sz="1800" kern="100" dirty="0" err="1">
                <a:effectLst/>
                <a:latin typeface="宋体" panose="02010600030101010101" pitchFamily="2" charset="-122"/>
                <a:ea typeface="宋体" panose="02010600030101010101" pitchFamily="2" charset="-122"/>
              </a:rPr>
              <a:t>setdata</a:t>
            </a:r>
            <a:r>
              <a:rPr lang="en-US" altLang="zh-CN" sz="1800" kern="100" dirty="0">
                <a:effectLst/>
                <a:latin typeface="宋体" panose="02010600030101010101" pitchFamily="2" charset="-122"/>
                <a:ea typeface="宋体" panose="02010600030101010101" pitchFamily="2" charset="-122"/>
              </a:rPr>
              <a:t>(char </a:t>
            </a:r>
            <a:r>
              <a:rPr lang="en-US" altLang="zh-CN" sz="1800" kern="100" dirty="0" err="1">
                <a:effectLst/>
                <a:latin typeface="宋体" panose="02010600030101010101" pitchFamily="2" charset="-122"/>
                <a:ea typeface="宋体" panose="02010600030101010101" pitchFamily="2" charset="-122"/>
              </a:rPr>
              <a:t>dl,struct</a:t>
            </a:r>
            <a:r>
              <a:rPr lang="en-US" altLang="zh-CN" sz="1800" kern="100" dirty="0">
                <a:effectLst/>
                <a:latin typeface="宋体" panose="02010600030101010101" pitchFamily="2" charset="-122"/>
                <a:ea typeface="宋体" panose="02010600030101010101" pitchFamily="2" charset="-122"/>
              </a:rPr>
              <a:t> </a:t>
            </a:r>
            <a:r>
              <a:rPr lang="en-US" altLang="zh-CN" sz="1800" kern="100" dirty="0" err="1">
                <a:effectLst/>
                <a:latin typeface="宋体" panose="02010600030101010101" pitchFamily="2" charset="-122"/>
                <a:ea typeface="宋体" panose="02010600030101010101" pitchFamily="2" charset="-122"/>
              </a:rPr>
              <a:t>arcnode</a:t>
            </a:r>
            <a:r>
              <a:rPr lang="en-US" altLang="zh-CN" sz="1800" kern="100" dirty="0">
                <a:effectLst/>
                <a:latin typeface="宋体" panose="02010600030101010101" pitchFamily="2" charset="-122"/>
                <a:ea typeface="宋体" panose="02010600030101010101" pitchFamily="2" charset="-122"/>
              </a:rPr>
              <a:t> *</a:t>
            </a:r>
            <a:r>
              <a:rPr lang="en-US" altLang="zh-CN" sz="1800" kern="100" dirty="0" err="1">
                <a:effectLst/>
                <a:latin typeface="宋体" panose="02010600030101010101" pitchFamily="2" charset="-122"/>
                <a:ea typeface="宋体" panose="02010600030101010101" pitchFamily="2" charset="-122"/>
              </a:rPr>
              <a:t>fl</a:t>
            </a:r>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indent="1237615" algn="just"/>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indent="1704340" algn="just"/>
            <a:r>
              <a:rPr lang="en-US" altLang="zh-CN" sz="1800" kern="100" dirty="0">
                <a:effectLst/>
                <a:latin typeface="宋体" panose="02010600030101010101" pitchFamily="2" charset="-122"/>
                <a:ea typeface="宋体" panose="02010600030101010101" pitchFamily="2" charset="-122"/>
              </a:rPr>
              <a:t>data=dl;</a:t>
            </a:r>
            <a:endParaRPr lang="zh-CN" altLang="zh-CN" sz="1800" kern="100" dirty="0">
              <a:effectLst/>
              <a:latin typeface="Times New Roman" panose="02020603050405020304" pitchFamily="18" charset="0"/>
              <a:ea typeface="宋体" panose="02010600030101010101" pitchFamily="2" charset="-122"/>
            </a:endParaRPr>
          </a:p>
          <a:p>
            <a:pPr indent="1704340" algn="just"/>
            <a:r>
              <a:rPr lang="en-US" altLang="zh-CN" sz="1800" kern="100" dirty="0" err="1">
                <a:effectLst/>
                <a:latin typeface="宋体" panose="02010600030101010101" pitchFamily="2" charset="-122"/>
                <a:ea typeface="宋体" panose="02010600030101010101" pitchFamily="2" charset="-122"/>
              </a:rPr>
              <a:t>firstarc</a:t>
            </a:r>
            <a:r>
              <a:rPr lang="en-US" altLang="zh-CN" sz="1800" kern="100" dirty="0">
                <a:effectLst/>
                <a:latin typeface="宋体" panose="02010600030101010101" pitchFamily="2" charset="-122"/>
                <a:ea typeface="宋体" panose="02010600030101010101" pitchFamily="2" charset="-122"/>
              </a:rPr>
              <a:t>=</a:t>
            </a:r>
            <a:r>
              <a:rPr lang="en-US" altLang="zh-CN" sz="1800" kern="100" dirty="0" err="1">
                <a:effectLst/>
                <a:latin typeface="宋体" panose="02010600030101010101" pitchFamily="2" charset="-122"/>
                <a:ea typeface="宋体" panose="02010600030101010101" pitchFamily="2" charset="-122"/>
              </a:rPr>
              <a:t>fl</a:t>
            </a:r>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indent="1266825" algn="just"/>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              </a:t>
            </a:r>
            <a:r>
              <a:rPr lang="en-US" altLang="zh-CN" sz="1800" kern="100" dirty="0" err="1">
                <a:effectLst/>
                <a:latin typeface="宋体" panose="02010600030101010101" pitchFamily="2" charset="-122"/>
                <a:ea typeface="宋体" panose="02010600030101010101" pitchFamily="2" charset="-122"/>
              </a:rPr>
              <a:t>headnode</a:t>
            </a:r>
            <a:r>
              <a:rPr lang="en-US" altLang="zh-CN" sz="1800" kern="100" dirty="0">
                <a:effectLst/>
                <a:latin typeface="宋体" panose="02010600030101010101" pitchFamily="2" charset="-122"/>
                <a:ea typeface="宋体" panose="02010600030101010101" pitchFamily="2" charset="-122"/>
              </a:rPr>
              <a:t> &amp;operator=(</a:t>
            </a:r>
            <a:r>
              <a:rPr lang="en-US" altLang="zh-CN" sz="1800" kern="100" dirty="0" err="1">
                <a:effectLst/>
                <a:latin typeface="宋体" panose="02010600030101010101" pitchFamily="2" charset="-122"/>
                <a:ea typeface="宋体" panose="02010600030101010101" pitchFamily="2" charset="-122"/>
              </a:rPr>
              <a:t>headnode</a:t>
            </a:r>
            <a:r>
              <a:rPr lang="en-US" altLang="zh-CN" sz="1800" kern="100" dirty="0">
                <a:effectLst/>
                <a:latin typeface="宋体" panose="02010600030101010101" pitchFamily="2" charset="-122"/>
                <a:ea typeface="宋体" panose="02010600030101010101" pitchFamily="2" charset="-122"/>
              </a:rPr>
              <a:t> x)</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              {</a:t>
            </a:r>
            <a:endParaRPr lang="zh-CN" altLang="zh-CN" sz="1800" kern="100" dirty="0">
              <a:effectLst/>
              <a:latin typeface="Times New Roman" panose="02020603050405020304" pitchFamily="18" charset="0"/>
              <a:ea typeface="宋体" panose="02010600030101010101" pitchFamily="2" charset="-122"/>
            </a:endParaRPr>
          </a:p>
          <a:p>
            <a:pPr indent="1704340" algn="just"/>
            <a:r>
              <a:rPr lang="en-US" altLang="zh-CN" sz="1800" kern="100" dirty="0">
                <a:effectLst/>
                <a:latin typeface="宋体" panose="02010600030101010101" pitchFamily="2" charset="-122"/>
                <a:ea typeface="宋体" panose="02010600030101010101" pitchFamily="2" charset="-122"/>
              </a:rPr>
              <a:t>this-&gt;data=</a:t>
            </a:r>
            <a:r>
              <a:rPr lang="en-US" altLang="zh-CN" sz="1800" kern="100" dirty="0" err="1">
                <a:effectLst/>
                <a:latin typeface="宋体" panose="02010600030101010101" pitchFamily="2" charset="-122"/>
                <a:ea typeface="宋体" panose="02010600030101010101" pitchFamily="2" charset="-122"/>
              </a:rPr>
              <a:t>x.data</a:t>
            </a:r>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indent="1704340" algn="just"/>
            <a:r>
              <a:rPr lang="en-US" altLang="zh-CN" sz="1800" kern="100" dirty="0">
                <a:effectLst/>
                <a:latin typeface="宋体" panose="02010600030101010101" pitchFamily="2" charset="-122"/>
                <a:ea typeface="宋体" panose="02010600030101010101" pitchFamily="2" charset="-122"/>
              </a:rPr>
              <a:t>this-&gt;</a:t>
            </a:r>
            <a:r>
              <a:rPr lang="en-US" altLang="zh-CN" sz="1800" kern="100" dirty="0" err="1">
                <a:effectLst/>
                <a:latin typeface="宋体" panose="02010600030101010101" pitchFamily="2" charset="-122"/>
                <a:ea typeface="宋体" panose="02010600030101010101" pitchFamily="2" charset="-122"/>
              </a:rPr>
              <a:t>firstarc</a:t>
            </a:r>
            <a:r>
              <a:rPr lang="en-US" altLang="zh-CN" sz="1800" kern="100" dirty="0">
                <a:effectLst/>
                <a:latin typeface="宋体" panose="02010600030101010101" pitchFamily="2" charset="-122"/>
                <a:ea typeface="宋体" panose="02010600030101010101" pitchFamily="2" charset="-122"/>
              </a:rPr>
              <a:t>=</a:t>
            </a:r>
            <a:r>
              <a:rPr lang="en-US" altLang="zh-CN" sz="1800" kern="100" dirty="0" err="1">
                <a:effectLst/>
                <a:latin typeface="宋体" panose="02010600030101010101" pitchFamily="2" charset="-122"/>
                <a:ea typeface="宋体" panose="02010600030101010101" pitchFamily="2" charset="-122"/>
              </a:rPr>
              <a:t>x.firstarc</a:t>
            </a:r>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indent="1704340" algn="just"/>
            <a:r>
              <a:rPr lang="en-US" altLang="zh-CN" sz="1800" kern="100" dirty="0">
                <a:effectLst/>
                <a:latin typeface="宋体" panose="02010600030101010101" pitchFamily="2" charset="-122"/>
                <a:ea typeface="宋体" panose="02010600030101010101" pitchFamily="2" charset="-122"/>
              </a:rPr>
              <a:t>return *this;</a:t>
            </a:r>
            <a:endParaRPr lang="zh-CN" altLang="zh-CN" sz="1800" kern="100" dirty="0">
              <a:effectLst/>
              <a:latin typeface="Times New Roman" panose="02020603050405020304" pitchFamily="18" charset="0"/>
              <a:ea typeface="宋体" panose="02010600030101010101" pitchFamily="2" charset="-122"/>
            </a:endParaRPr>
          </a:p>
          <a:p>
            <a:pPr indent="1266825" algn="just"/>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              int operator==(</a:t>
            </a:r>
            <a:r>
              <a:rPr lang="en-US" altLang="zh-CN" sz="1800" kern="100" dirty="0" err="1">
                <a:effectLst/>
                <a:latin typeface="宋体" panose="02010600030101010101" pitchFamily="2" charset="-122"/>
                <a:ea typeface="宋体" panose="02010600030101010101" pitchFamily="2" charset="-122"/>
              </a:rPr>
              <a:t>headnode</a:t>
            </a:r>
            <a:r>
              <a:rPr lang="en-US" altLang="zh-CN" sz="1800" kern="100" dirty="0">
                <a:effectLst/>
                <a:latin typeface="宋体" panose="02010600030101010101" pitchFamily="2" charset="-122"/>
                <a:ea typeface="宋体" panose="02010600030101010101" pitchFamily="2" charset="-122"/>
              </a:rPr>
              <a:t> x)</a:t>
            </a:r>
            <a:endParaRPr lang="zh-CN" altLang="zh-CN" sz="1800" kern="100" dirty="0">
              <a:effectLst/>
              <a:latin typeface="Times New Roman" panose="02020603050405020304" pitchFamily="18" charset="0"/>
              <a:ea typeface="宋体" panose="02010600030101010101" pitchFamily="2" charset="-122"/>
            </a:endParaRPr>
          </a:p>
          <a:p>
            <a:pPr indent="1237615" algn="just"/>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indent="1704340" algn="just"/>
            <a:r>
              <a:rPr lang="en-US" altLang="zh-CN" sz="1800" kern="100" dirty="0">
                <a:effectLst/>
                <a:latin typeface="宋体" panose="02010600030101010101" pitchFamily="2" charset="-122"/>
                <a:ea typeface="宋体" panose="02010600030101010101" pitchFamily="2" charset="-122"/>
              </a:rPr>
              <a:t>return this-&gt;data==x.data?1:0;</a:t>
            </a:r>
            <a:endParaRPr lang="zh-CN" altLang="zh-CN" sz="1800" kern="100" dirty="0">
              <a:effectLst/>
              <a:latin typeface="Times New Roman" panose="02020603050405020304" pitchFamily="18" charset="0"/>
              <a:ea typeface="宋体" panose="02010600030101010101" pitchFamily="2" charset="-122"/>
            </a:endParaRPr>
          </a:p>
          <a:p>
            <a:pPr indent="1266825" algn="just"/>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                  operator char()</a:t>
            </a:r>
            <a:endParaRPr lang="zh-CN" altLang="zh-CN" sz="1800" kern="100" dirty="0">
              <a:effectLst/>
              <a:latin typeface="Times New Roman" panose="02020603050405020304" pitchFamily="18" charset="0"/>
              <a:ea typeface="宋体" panose="02010600030101010101" pitchFamily="2" charset="-122"/>
            </a:endParaRPr>
          </a:p>
          <a:p>
            <a:pPr indent="1200150" algn="just"/>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indent="1666875" algn="just"/>
            <a:r>
              <a:rPr lang="en-US" altLang="zh-CN" sz="1800" kern="100" dirty="0">
                <a:effectLst/>
                <a:latin typeface="宋体" panose="02010600030101010101" pitchFamily="2" charset="-122"/>
                <a:ea typeface="宋体" panose="02010600030101010101" pitchFamily="2" charset="-122"/>
              </a:rPr>
              <a:t>return data;</a:t>
            </a:r>
            <a:endParaRPr lang="zh-CN" altLang="zh-CN" sz="1800" kern="100" dirty="0">
              <a:effectLst/>
              <a:latin typeface="Times New Roman" panose="02020603050405020304" pitchFamily="18" charset="0"/>
              <a:ea typeface="宋体" panose="02010600030101010101" pitchFamily="2" charset="-122"/>
            </a:endParaRPr>
          </a:p>
          <a:p>
            <a:pPr indent="1200150" algn="just"/>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         };</a:t>
            </a:r>
            <a:endParaRPr lang="zh-CN" altLang="zh-CN" sz="1800" kern="100" dirty="0">
              <a:effectLst/>
              <a:latin typeface="Times New Roman" panose="02020603050405020304" pitchFamily="18" charset="0"/>
              <a:ea typeface="宋体" panose="02010600030101010101" pitchFamily="2" charset="-122"/>
            </a:endParaRPr>
          </a:p>
          <a:p>
            <a:r>
              <a:rPr lang="en-US" altLang="zh-CN" sz="1800" kern="100" dirty="0">
                <a:effectLst/>
                <a:latin typeface="宋体" panose="02010600030101010101" pitchFamily="2" charset="-122"/>
                <a:cs typeface="Times New Roman" panose="02020603050405020304" pitchFamily="18" charset="0"/>
              </a:rPr>
              <a:t>         </a:t>
            </a:r>
            <a:r>
              <a:rPr lang="en-US" altLang="zh-CN" sz="1800" kern="100" dirty="0" err="1">
                <a:effectLst/>
                <a:latin typeface="宋体" panose="02010600030101010101" pitchFamily="2" charset="-122"/>
                <a:cs typeface="Times New Roman" panose="02020603050405020304" pitchFamily="18" charset="0"/>
              </a:rPr>
              <a:t>seqlist</a:t>
            </a:r>
            <a:r>
              <a:rPr lang="en-US" altLang="zh-CN" sz="1800" kern="100" dirty="0">
                <a:effectLst/>
                <a:latin typeface="宋体" panose="02010600030101010101" pitchFamily="2" charset="-122"/>
                <a:cs typeface="Times New Roman" panose="02020603050405020304" pitchFamily="18" charset="0"/>
              </a:rPr>
              <a:t>&lt;</a:t>
            </a:r>
            <a:r>
              <a:rPr lang="en-US" altLang="zh-CN" sz="1800" kern="100" dirty="0" err="1">
                <a:effectLst/>
                <a:latin typeface="宋体" panose="02010600030101010101" pitchFamily="2" charset="-122"/>
                <a:cs typeface="Times New Roman" panose="02020603050405020304" pitchFamily="18" charset="0"/>
              </a:rPr>
              <a:t>headnode</a:t>
            </a:r>
            <a:r>
              <a:rPr lang="en-US" altLang="zh-CN" sz="1800" kern="100" dirty="0">
                <a:effectLst/>
                <a:latin typeface="宋体" panose="02010600030101010101" pitchFamily="2" charset="-122"/>
                <a:cs typeface="Times New Roman" panose="02020603050405020304" pitchFamily="18" charset="0"/>
              </a:rPr>
              <a:t>&gt; </a:t>
            </a:r>
            <a:r>
              <a:rPr lang="en-US" altLang="zh-CN" sz="1800" kern="100" dirty="0" err="1">
                <a:effectLst/>
                <a:latin typeface="宋体" panose="02010600030101010101" pitchFamily="2" charset="-122"/>
                <a:cs typeface="Times New Roman" panose="02020603050405020304" pitchFamily="18" charset="0"/>
              </a:rPr>
              <a:t>graph_adjlist</a:t>
            </a:r>
            <a:r>
              <a:rPr lang="en-US" altLang="zh-CN" sz="1800" kern="100" dirty="0">
                <a:effectLst/>
                <a:latin typeface="宋体" panose="02010600030101010101" pitchFamily="2" charset="-122"/>
                <a:cs typeface="Times New Roman" panose="02020603050405020304" pitchFamily="18" charset="0"/>
              </a:rPr>
              <a:t>(MAXSIZE);</a:t>
            </a:r>
            <a:endParaRPr lang="zh-CN" altLang="en-US" dirty="0"/>
          </a:p>
        </p:txBody>
      </p:sp>
      <p:sp>
        <p:nvSpPr>
          <p:cNvPr id="4" name="灯片编号占位符 3"/>
          <p:cNvSpPr>
            <a:spLocks noGrp="1"/>
          </p:cNvSpPr>
          <p:nvPr>
            <p:ph type="sldNum" sz="quarter" idx="5"/>
          </p:nvPr>
        </p:nvSpPr>
        <p:spPr/>
        <p:txBody>
          <a:bodyPr/>
          <a:lstStyle/>
          <a:p>
            <a:fld id="{358D460B-FCBF-4F68-A559-8E415D1DDEDB}" type="slidenum">
              <a:rPr lang="zh-CN" altLang="en-US" smtClean="0"/>
              <a:pPr/>
              <a:t>34</a:t>
            </a:fld>
            <a:endParaRPr lang="zh-CN" altLang="en-US"/>
          </a:p>
        </p:txBody>
      </p:sp>
    </p:spTree>
    <p:extLst>
      <p:ext uri="{BB962C8B-B14F-4D97-AF65-F5344CB8AC3E}">
        <p14:creationId xmlns:p14="http://schemas.microsoft.com/office/powerpoint/2010/main" val="1337184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304800" algn="just"/>
            <a:r>
              <a:rPr lang="en-US" altLang="zh-CN" sz="1800" kern="100" dirty="0">
                <a:effectLst/>
                <a:latin typeface="宋体" panose="02010600030101010101" pitchFamily="2" charset="-122"/>
                <a:ea typeface="宋体" panose="02010600030101010101" pitchFamily="2" charset="-122"/>
              </a:rPr>
              <a:t> class </a:t>
            </a:r>
            <a:r>
              <a:rPr lang="en-US" altLang="zh-CN" sz="1800" kern="100" dirty="0" err="1">
                <a:effectLst/>
                <a:latin typeface="宋体" panose="02010600030101010101" pitchFamily="2" charset="-122"/>
                <a:ea typeface="宋体" panose="02010600030101010101" pitchFamily="2" charset="-122"/>
              </a:rPr>
              <a:t>AnyStack</a:t>
            </a:r>
            <a:r>
              <a:rPr lang="en-US" altLang="zh-CN" sz="1800" kern="100" dirty="0">
                <a:effectLst/>
                <a:latin typeface="宋体" panose="02010600030101010101" pitchFamily="2" charset="-122"/>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定义堆栈类</a:t>
            </a:r>
          </a:p>
          <a:p>
            <a:pPr indent="304800" algn="just"/>
            <a:r>
              <a:rPr lang="en-US" altLang="zh-CN" sz="1800" kern="100" dirty="0">
                <a:effectLst/>
                <a:latin typeface="宋体" panose="02010600030101010101" pitchFamily="2" charset="-122"/>
                <a:ea typeface="宋体" panose="02010600030101010101" pitchFamily="2" charset="-122"/>
              </a:rPr>
              <a:t>    {</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省略，读者参考第</a:t>
            </a:r>
            <a:r>
              <a:rPr lang="en-US" altLang="zh-CN" sz="1800" kern="100" dirty="0">
                <a:effectLst/>
                <a:latin typeface="Times New Roman" panose="02020603050405020304" pitchFamily="18" charset="0"/>
                <a:ea typeface="宋体" panose="02010600030101010101" pitchFamily="2" charset="-122"/>
              </a:rPr>
              <a:t>3</a:t>
            </a:r>
            <a:r>
              <a:rPr lang="zh-CN" altLang="zh-CN" sz="1800" kern="100" dirty="0">
                <a:effectLst/>
                <a:latin typeface="Times New Roman" panose="02020603050405020304" pitchFamily="18" charset="0"/>
                <a:ea typeface="宋体" panose="02010600030101010101" pitchFamily="2" charset="-122"/>
              </a:rPr>
              <a:t>章</a:t>
            </a:r>
          </a:p>
          <a:p>
            <a:pPr indent="304800" algn="just"/>
            <a:r>
              <a:rPr lang="en-US" altLang="zh-CN" sz="1800" kern="100" dirty="0">
                <a:effectLst/>
                <a:latin typeface="宋体" panose="02010600030101010101" pitchFamily="2" charset="-122"/>
                <a:ea typeface="宋体" panose="02010600030101010101" pitchFamily="2" charset="-122"/>
              </a:rPr>
              <a:t>    }</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        void traverse­_</a:t>
            </a:r>
            <a:r>
              <a:rPr lang="en-US" altLang="zh-CN" sz="1800" kern="100" dirty="0" err="1">
                <a:effectLst/>
                <a:latin typeface="宋体" panose="02010600030101010101" pitchFamily="2" charset="-122"/>
                <a:ea typeface="宋体" panose="02010600030101010101" pitchFamily="2" charset="-122"/>
              </a:rPr>
              <a:t>dfs</a:t>
            </a:r>
            <a:r>
              <a:rPr lang="en-US" altLang="zh-CN" sz="1800" kern="100" dirty="0">
                <a:effectLst/>
                <a:latin typeface="宋体" panose="02010600030101010101" pitchFamily="2" charset="-122"/>
                <a:ea typeface="宋体" panose="02010600030101010101" pitchFamily="2" charset="-122"/>
              </a:rPr>
              <a:t>(</a:t>
            </a:r>
            <a:r>
              <a:rPr lang="en-US" altLang="zh-CN" sz="1800" kern="100" dirty="0" err="1">
                <a:effectLst/>
                <a:latin typeface="宋体" panose="02010600030101010101" pitchFamily="2" charset="-122"/>
                <a:ea typeface="宋体" panose="02010600030101010101" pitchFamily="2" charset="-122"/>
              </a:rPr>
              <a:t>seqlist</a:t>
            </a:r>
            <a:r>
              <a:rPr lang="en-US" altLang="zh-CN" sz="1800" kern="100" dirty="0">
                <a:effectLst/>
                <a:latin typeface="宋体" panose="02010600030101010101" pitchFamily="2" charset="-122"/>
                <a:ea typeface="宋体" panose="02010600030101010101" pitchFamily="2" charset="-122"/>
              </a:rPr>
              <a:t>&lt;</a:t>
            </a:r>
            <a:r>
              <a:rPr lang="en-US" altLang="zh-CN" sz="1800" kern="100" dirty="0" err="1">
                <a:effectLst/>
                <a:latin typeface="宋体" panose="02010600030101010101" pitchFamily="2" charset="-122"/>
                <a:ea typeface="宋体" panose="02010600030101010101" pitchFamily="2" charset="-122"/>
              </a:rPr>
              <a:t>headnode</a:t>
            </a:r>
            <a:r>
              <a:rPr lang="en-US" altLang="zh-CN" sz="1800" kern="100" dirty="0">
                <a:effectLst/>
                <a:latin typeface="宋体" panose="02010600030101010101" pitchFamily="2" charset="-122"/>
                <a:ea typeface="宋体" panose="02010600030101010101" pitchFamily="2" charset="-122"/>
              </a:rPr>
              <a:t>&gt;&amp;</a:t>
            </a:r>
            <a:r>
              <a:rPr lang="en-US" altLang="zh-CN" sz="1800" kern="100" dirty="0" err="1">
                <a:effectLst/>
                <a:latin typeface="宋体" panose="02010600030101010101" pitchFamily="2" charset="-122"/>
                <a:ea typeface="宋体" panose="02010600030101010101" pitchFamily="2" charset="-122"/>
              </a:rPr>
              <a:t>graph,headnode</a:t>
            </a:r>
            <a:r>
              <a:rPr lang="en-US" altLang="zh-CN" sz="1800" kern="100" dirty="0">
                <a:effectLst/>
                <a:latin typeface="宋体" panose="02010600030101010101" pitchFamily="2" charset="-122"/>
                <a:ea typeface="宋体" panose="02010600030101010101" pitchFamily="2" charset="-122"/>
              </a:rPr>
              <a:t> v)</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b="1" kern="100" dirty="0">
                <a:effectLst/>
                <a:latin typeface="宋体" panose="02010600030101010101" pitchFamily="2" charset="-122"/>
                <a:ea typeface="宋体" panose="02010600030101010101" pitchFamily="2" charset="-122"/>
              </a:rPr>
              <a:t>        </a:t>
            </a:r>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              </a:t>
            </a:r>
            <a:r>
              <a:rPr lang="en-US" altLang="zh-CN" sz="1800" kern="100" dirty="0" err="1">
                <a:effectLst/>
                <a:latin typeface="宋体" panose="02010600030101010101" pitchFamily="2" charset="-122"/>
                <a:ea typeface="宋体" panose="02010600030101010101" pitchFamily="2" charset="-122"/>
              </a:rPr>
              <a:t>AnyStack</a:t>
            </a:r>
            <a:r>
              <a:rPr lang="en-US" altLang="zh-CN" sz="1800" kern="100" dirty="0">
                <a:effectLst/>
                <a:latin typeface="宋体" panose="02010600030101010101" pitchFamily="2" charset="-122"/>
                <a:ea typeface="宋体" panose="02010600030101010101" pitchFamily="2" charset="-122"/>
              </a:rPr>
              <a:t> </a:t>
            </a:r>
            <a:r>
              <a:rPr lang="en-US" altLang="zh-CN" sz="1800" kern="100" dirty="0" err="1">
                <a:effectLst/>
                <a:latin typeface="宋体" panose="02010600030101010101" pitchFamily="2" charset="-122"/>
                <a:ea typeface="宋体" panose="02010600030101010101" pitchFamily="2" charset="-122"/>
              </a:rPr>
              <a:t>stackl</a:t>
            </a:r>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              BOOL visited[MAXSIZE];         //</a:t>
            </a:r>
            <a:r>
              <a:rPr lang="zh-CN" altLang="zh-CN" sz="1800" kern="100" dirty="0">
                <a:effectLst/>
                <a:latin typeface="Times New Roman" panose="02020603050405020304" pitchFamily="18" charset="0"/>
                <a:ea typeface="宋体" panose="02010600030101010101" pitchFamily="2" charset="-122"/>
              </a:rPr>
              <a:t>定义访问标志数组</a:t>
            </a:r>
          </a:p>
          <a:p>
            <a:pPr algn="just"/>
            <a:r>
              <a:rPr lang="en-US" altLang="zh-CN" sz="1800" kern="100" dirty="0">
                <a:effectLst/>
                <a:latin typeface="宋体" panose="02010600030101010101" pitchFamily="2" charset="-122"/>
                <a:ea typeface="宋体" panose="02010600030101010101" pitchFamily="2" charset="-122"/>
              </a:rPr>
              <a:t>              int </a:t>
            </a:r>
            <a:r>
              <a:rPr lang="en-US" altLang="zh-CN" sz="1800" kern="100" dirty="0" err="1">
                <a:effectLst/>
                <a:latin typeface="宋体" panose="02010600030101010101" pitchFamily="2" charset="-122"/>
                <a:ea typeface="宋体" panose="02010600030101010101" pitchFamily="2" charset="-122"/>
              </a:rPr>
              <a:t>i,j</a:t>
            </a:r>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              </a:t>
            </a:r>
            <a:r>
              <a:rPr lang="en-US" altLang="zh-CN" sz="1800" kern="100" dirty="0" err="1">
                <a:effectLst/>
                <a:latin typeface="宋体" panose="02010600030101010101" pitchFamily="2" charset="-122"/>
                <a:ea typeface="宋体" panose="02010600030101010101" pitchFamily="2" charset="-122"/>
              </a:rPr>
              <a:t>headnode</a:t>
            </a:r>
            <a:r>
              <a:rPr lang="en-US" altLang="zh-CN" sz="1800" kern="100" dirty="0">
                <a:effectLst/>
                <a:latin typeface="宋体" panose="02010600030101010101" pitchFamily="2" charset="-122"/>
                <a:ea typeface="宋体" panose="02010600030101010101" pitchFamily="2" charset="-122"/>
              </a:rPr>
              <a:t> x;</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              ARCNODE *p;</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              for(</a:t>
            </a:r>
            <a:r>
              <a:rPr lang="en-US" altLang="zh-CN" sz="1800" kern="100" dirty="0" err="1">
                <a:effectLst/>
                <a:latin typeface="宋体" panose="02010600030101010101" pitchFamily="2" charset="-122"/>
                <a:ea typeface="宋体" panose="02010600030101010101" pitchFamily="2" charset="-122"/>
              </a:rPr>
              <a:t>i</a:t>
            </a:r>
            <a:r>
              <a:rPr lang="en-US" altLang="zh-CN" sz="1800" kern="100" dirty="0">
                <a:effectLst/>
                <a:latin typeface="宋体" panose="02010600030101010101" pitchFamily="2" charset="-122"/>
                <a:ea typeface="宋体" panose="02010600030101010101" pitchFamily="2" charset="-122"/>
              </a:rPr>
              <a:t>=0;i&lt;</a:t>
            </a:r>
            <a:r>
              <a:rPr lang="en-US" altLang="zh-CN" sz="1800" kern="100" dirty="0" err="1">
                <a:effectLst/>
                <a:latin typeface="宋体" panose="02010600030101010101" pitchFamily="2" charset="-122"/>
                <a:ea typeface="宋体" panose="02010600030101010101" pitchFamily="2" charset="-122"/>
              </a:rPr>
              <a:t>MAXSIZE;i</a:t>
            </a:r>
            <a:r>
              <a:rPr lang="en-US" altLang="zh-CN" sz="1800" kern="100" dirty="0">
                <a:effectLst/>
                <a:latin typeface="宋体" panose="02010600030101010101" pitchFamily="2" charset="-122"/>
                <a:ea typeface="宋体" panose="02010600030101010101" pitchFamily="2" charset="-122"/>
              </a:rPr>
              <a:t>++) visited[</a:t>
            </a:r>
            <a:r>
              <a:rPr lang="en-US" altLang="zh-CN" sz="1800" kern="100" dirty="0" err="1">
                <a:effectLst/>
                <a:latin typeface="宋体" panose="02010600030101010101" pitchFamily="2" charset="-122"/>
                <a:ea typeface="宋体" panose="02010600030101010101" pitchFamily="2" charset="-122"/>
              </a:rPr>
              <a:t>i</a:t>
            </a:r>
            <a:r>
              <a:rPr lang="en-US" altLang="zh-CN" sz="1800" kern="100" dirty="0">
                <a:effectLst/>
                <a:latin typeface="宋体" panose="02010600030101010101" pitchFamily="2" charset="-122"/>
                <a:ea typeface="宋体" panose="02010600030101010101" pitchFamily="2" charset="-122"/>
              </a:rPr>
              <a:t>]=FALSE;  //</a:t>
            </a:r>
            <a:r>
              <a:rPr lang="zh-CN" altLang="zh-CN" sz="1800" kern="100" dirty="0">
                <a:effectLst/>
                <a:latin typeface="Times New Roman" panose="02020603050405020304" pitchFamily="18" charset="0"/>
                <a:ea typeface="宋体" panose="02010600030101010101" pitchFamily="2" charset="-122"/>
              </a:rPr>
              <a:t>标志数组置假</a:t>
            </a:r>
          </a:p>
          <a:p>
            <a:pPr algn="just"/>
            <a:r>
              <a:rPr lang="en-US" altLang="zh-CN" sz="1800" kern="100" dirty="0">
                <a:effectLst/>
                <a:latin typeface="宋体" panose="02010600030101010101" pitchFamily="2" charset="-122"/>
                <a:ea typeface="宋体" panose="02010600030101010101" pitchFamily="2" charset="-122"/>
              </a:rPr>
              <a:t>              j=</a:t>
            </a:r>
            <a:r>
              <a:rPr lang="en-US" altLang="zh-CN" sz="1800" kern="100" dirty="0" err="1">
                <a:effectLst/>
                <a:latin typeface="宋体" panose="02010600030101010101" pitchFamily="2" charset="-122"/>
                <a:ea typeface="宋体" panose="02010600030101010101" pitchFamily="2" charset="-122"/>
              </a:rPr>
              <a:t>graph.find_data</a:t>
            </a:r>
            <a:r>
              <a:rPr lang="en-US" altLang="zh-CN" sz="1800" kern="100" dirty="0">
                <a:effectLst/>
                <a:latin typeface="宋体" panose="02010600030101010101" pitchFamily="2" charset="-122"/>
                <a:ea typeface="宋体" panose="02010600030101010101" pitchFamily="2" charset="-122"/>
              </a:rPr>
              <a:t>(v);</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              x=</a:t>
            </a:r>
            <a:r>
              <a:rPr lang="en-US" altLang="zh-CN" sz="1800" kern="100" dirty="0" err="1">
                <a:effectLst/>
                <a:latin typeface="宋体" panose="02010600030101010101" pitchFamily="2" charset="-122"/>
                <a:ea typeface="宋体" panose="02010600030101010101" pitchFamily="2" charset="-122"/>
              </a:rPr>
              <a:t>graph.getdata</a:t>
            </a:r>
            <a:r>
              <a:rPr lang="en-US" altLang="zh-CN" sz="1800" kern="100" dirty="0">
                <a:effectLst/>
                <a:latin typeface="宋体" panose="02010600030101010101" pitchFamily="2" charset="-122"/>
                <a:ea typeface="宋体" panose="02010600030101010101" pitchFamily="2" charset="-122"/>
              </a:rPr>
              <a:t>(j);</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              </a:t>
            </a:r>
            <a:r>
              <a:rPr lang="en-US" altLang="zh-CN" sz="1800" kern="100" dirty="0" err="1">
                <a:effectLst/>
                <a:latin typeface="宋体" panose="02010600030101010101" pitchFamily="2" charset="-122"/>
                <a:ea typeface="宋体" panose="02010600030101010101" pitchFamily="2" charset="-122"/>
              </a:rPr>
              <a:t>cout</a:t>
            </a:r>
            <a:r>
              <a:rPr lang="en-US" altLang="zh-CN" sz="1800" kern="100" dirty="0">
                <a:effectLst/>
                <a:latin typeface="宋体" panose="02010600030101010101" pitchFamily="2" charset="-122"/>
                <a:ea typeface="宋体" panose="02010600030101010101" pitchFamily="2" charset="-122"/>
              </a:rPr>
              <a:t>&lt;&lt;</a:t>
            </a:r>
            <a:r>
              <a:rPr lang="en-US" altLang="zh-CN" sz="1800" kern="100" dirty="0" err="1">
                <a:effectLst/>
                <a:latin typeface="宋体" panose="02010600030101010101" pitchFamily="2" charset="-122"/>
                <a:ea typeface="宋体" panose="02010600030101010101" pitchFamily="2" charset="-122"/>
              </a:rPr>
              <a:t>graph.getdata</a:t>
            </a:r>
            <a:r>
              <a:rPr lang="en-US" altLang="zh-CN" sz="1800" kern="100" dirty="0">
                <a:effectLst/>
                <a:latin typeface="宋体" panose="02010600030101010101" pitchFamily="2" charset="-122"/>
                <a:ea typeface="宋体" panose="02010600030101010101" pitchFamily="2" charset="-122"/>
              </a:rPr>
              <a:t>(j)&lt;&lt;"---&gt;";    //</a:t>
            </a:r>
            <a:r>
              <a:rPr lang="zh-CN" altLang="zh-CN" sz="1800" kern="100" dirty="0">
                <a:effectLst/>
                <a:latin typeface="Times New Roman" panose="02020603050405020304" pitchFamily="18" charset="0"/>
                <a:ea typeface="宋体" panose="02010600030101010101" pitchFamily="2" charset="-122"/>
              </a:rPr>
              <a:t>输出第一遍历的顶点</a:t>
            </a:r>
          </a:p>
          <a:p>
            <a:pPr algn="just"/>
            <a:r>
              <a:rPr lang="en-US" altLang="zh-CN" sz="1800" kern="100" dirty="0">
                <a:effectLst/>
                <a:latin typeface="宋体" panose="02010600030101010101" pitchFamily="2" charset="-122"/>
                <a:ea typeface="宋体" panose="02010600030101010101" pitchFamily="2" charset="-122"/>
              </a:rPr>
              <a:t>              visited[j]=TRUE;                   //</a:t>
            </a:r>
            <a:r>
              <a:rPr lang="zh-CN" altLang="zh-CN" sz="1800" kern="100" dirty="0">
                <a:effectLst/>
                <a:latin typeface="Times New Roman" panose="02020603050405020304" pitchFamily="18" charset="0"/>
                <a:ea typeface="宋体" panose="02010600030101010101" pitchFamily="2" charset="-122"/>
              </a:rPr>
              <a:t>标志数组置真</a:t>
            </a:r>
          </a:p>
          <a:p>
            <a:pPr algn="just"/>
            <a:r>
              <a:rPr lang="en-US" altLang="zh-CN" sz="1800" kern="100" dirty="0">
                <a:effectLst/>
                <a:latin typeface="宋体" panose="02010600030101010101" pitchFamily="2" charset="-122"/>
                <a:ea typeface="宋体" panose="02010600030101010101" pitchFamily="2" charset="-122"/>
              </a:rPr>
              <a:t>              </a:t>
            </a:r>
            <a:r>
              <a:rPr lang="en-US" altLang="zh-CN" sz="1800" kern="100" dirty="0" err="1">
                <a:effectLst/>
                <a:latin typeface="宋体" panose="02010600030101010101" pitchFamily="2" charset="-122"/>
                <a:ea typeface="宋体" panose="02010600030101010101" pitchFamily="2" charset="-122"/>
              </a:rPr>
              <a:t>stackl.push</a:t>
            </a:r>
            <a:r>
              <a:rPr lang="en-US" altLang="zh-CN" sz="1800" kern="100" dirty="0">
                <a:effectLst/>
                <a:latin typeface="宋体" panose="02010600030101010101" pitchFamily="2" charset="-122"/>
                <a:ea typeface="宋体" panose="02010600030101010101" pitchFamily="2" charset="-122"/>
              </a:rPr>
              <a:t>(j);                    //</a:t>
            </a:r>
            <a:r>
              <a:rPr lang="zh-CN" altLang="zh-CN" sz="1800" kern="100" dirty="0">
                <a:effectLst/>
                <a:latin typeface="Times New Roman" panose="02020603050405020304" pitchFamily="18" charset="0"/>
                <a:ea typeface="宋体" panose="02010600030101010101" pitchFamily="2" charset="-122"/>
              </a:rPr>
              <a:t>访问过的顶点进栈</a:t>
            </a:r>
          </a:p>
          <a:p>
            <a:pPr algn="just"/>
            <a:r>
              <a:rPr lang="en-US" altLang="zh-CN" sz="1800" kern="100" dirty="0">
                <a:effectLst/>
                <a:latin typeface="宋体" panose="02010600030101010101" pitchFamily="2" charset="-122"/>
                <a:ea typeface="宋体" panose="02010600030101010101" pitchFamily="2" charset="-122"/>
              </a:rPr>
              <a:t>              p=x.get_d2();</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              while((!</a:t>
            </a:r>
            <a:r>
              <a:rPr lang="en-US" altLang="zh-CN" sz="1800" kern="100" dirty="0" err="1">
                <a:effectLst/>
                <a:latin typeface="宋体" panose="02010600030101010101" pitchFamily="2" charset="-122"/>
                <a:ea typeface="宋体" panose="02010600030101010101" pitchFamily="2" charset="-122"/>
              </a:rPr>
              <a:t>stackl.empty</a:t>
            </a:r>
            <a:r>
              <a:rPr lang="en-US" altLang="zh-CN" sz="1800" kern="100" dirty="0">
                <a:effectLst/>
                <a:latin typeface="宋体" panose="02010600030101010101" pitchFamily="2" charset="-122"/>
                <a:ea typeface="宋体" panose="02010600030101010101" pitchFamily="2" charset="-122"/>
              </a:rPr>
              <a:t>())||(p!=NULL))</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                   {</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                    while(p!=NULL)</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                         {</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                          if(visited[p-&gt;</a:t>
            </a:r>
            <a:r>
              <a:rPr lang="en-US" altLang="zh-CN" sz="1800" kern="100" dirty="0" err="1">
                <a:effectLst/>
                <a:latin typeface="宋体" panose="02010600030101010101" pitchFamily="2" charset="-122"/>
                <a:ea typeface="宋体" panose="02010600030101010101" pitchFamily="2" charset="-122"/>
              </a:rPr>
              <a:t>adjvex</a:t>
            </a:r>
            <a:r>
              <a:rPr lang="en-US" altLang="zh-CN" sz="1800" kern="100" dirty="0">
                <a:effectLst/>
                <a:latin typeface="宋体" panose="02010600030101010101" pitchFamily="2" charset="-122"/>
                <a:ea typeface="宋体" panose="02010600030101010101" pitchFamily="2" charset="-122"/>
              </a:rPr>
              <a:t>])   </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                            p=p-&gt;</a:t>
            </a:r>
            <a:r>
              <a:rPr lang="en-US" altLang="zh-CN" sz="1800" kern="100" dirty="0" err="1">
                <a:effectLst/>
                <a:latin typeface="宋体" panose="02010600030101010101" pitchFamily="2" charset="-122"/>
                <a:ea typeface="宋体" panose="02010600030101010101" pitchFamily="2" charset="-122"/>
              </a:rPr>
              <a:t>nextarc</a:t>
            </a:r>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                            else</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                            {</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                            x=</a:t>
            </a:r>
            <a:r>
              <a:rPr lang="en-US" altLang="zh-CN" sz="1800" kern="100" dirty="0" err="1">
                <a:effectLst/>
                <a:latin typeface="宋体" panose="02010600030101010101" pitchFamily="2" charset="-122"/>
                <a:ea typeface="宋体" panose="02010600030101010101" pitchFamily="2" charset="-122"/>
              </a:rPr>
              <a:t>graph.getdata</a:t>
            </a:r>
            <a:r>
              <a:rPr lang="en-US" altLang="zh-CN" sz="1800" kern="100" dirty="0">
                <a:effectLst/>
                <a:latin typeface="宋体" panose="02010600030101010101" pitchFamily="2" charset="-122"/>
                <a:ea typeface="宋体" panose="02010600030101010101" pitchFamily="2" charset="-122"/>
              </a:rPr>
              <a:t>(p-&gt;</a:t>
            </a:r>
            <a:r>
              <a:rPr lang="en-US" altLang="zh-CN" sz="1800" kern="100" dirty="0" err="1">
                <a:effectLst/>
                <a:latin typeface="宋体" panose="02010600030101010101" pitchFamily="2" charset="-122"/>
                <a:ea typeface="宋体" panose="02010600030101010101" pitchFamily="2" charset="-122"/>
              </a:rPr>
              <a:t>adjvex</a:t>
            </a:r>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                            </a:t>
            </a:r>
            <a:r>
              <a:rPr lang="en-US" altLang="zh-CN" sz="1800" kern="100" dirty="0" err="1">
                <a:effectLst/>
                <a:latin typeface="宋体" panose="02010600030101010101" pitchFamily="2" charset="-122"/>
                <a:ea typeface="宋体" panose="02010600030101010101" pitchFamily="2" charset="-122"/>
              </a:rPr>
              <a:t>cout</a:t>
            </a:r>
            <a:r>
              <a:rPr lang="en-US" altLang="zh-CN" sz="1800" kern="100" dirty="0">
                <a:effectLst/>
                <a:latin typeface="宋体" panose="02010600030101010101" pitchFamily="2" charset="-122"/>
                <a:ea typeface="宋体" panose="02010600030101010101" pitchFamily="2" charset="-122"/>
              </a:rPr>
              <a:t>&lt;&lt;x&lt;&lt;"---&gt;";           //</a:t>
            </a:r>
            <a:r>
              <a:rPr lang="zh-CN" altLang="zh-CN" sz="1800" kern="100" dirty="0">
                <a:effectLst/>
                <a:latin typeface="Times New Roman" panose="02020603050405020304" pitchFamily="18" charset="0"/>
                <a:ea typeface="宋体" panose="02010600030101010101" pitchFamily="2" charset="-122"/>
              </a:rPr>
              <a:t>输出遍历的顶点</a:t>
            </a:r>
          </a:p>
          <a:p>
            <a:pPr algn="just"/>
            <a:r>
              <a:rPr lang="en-US" altLang="zh-CN" sz="1800" kern="100" dirty="0">
                <a:effectLst/>
                <a:latin typeface="宋体" panose="02010600030101010101" pitchFamily="2" charset="-122"/>
                <a:ea typeface="宋体" panose="02010600030101010101" pitchFamily="2" charset="-122"/>
              </a:rPr>
              <a:t>                            visited[p-&gt;</a:t>
            </a:r>
            <a:r>
              <a:rPr lang="en-US" altLang="zh-CN" sz="1800" kern="100" dirty="0" err="1">
                <a:effectLst/>
                <a:latin typeface="宋体" panose="02010600030101010101" pitchFamily="2" charset="-122"/>
                <a:ea typeface="宋体" panose="02010600030101010101" pitchFamily="2" charset="-122"/>
              </a:rPr>
              <a:t>adjvex</a:t>
            </a:r>
            <a:r>
              <a:rPr lang="en-US" altLang="zh-CN" sz="1800" kern="100" dirty="0">
                <a:effectLst/>
                <a:latin typeface="宋体" panose="02010600030101010101" pitchFamily="2" charset="-122"/>
                <a:ea typeface="宋体" panose="02010600030101010101" pitchFamily="2" charset="-122"/>
              </a:rPr>
              <a:t>]=TRUE;   //</a:t>
            </a:r>
            <a:r>
              <a:rPr lang="zh-CN" altLang="zh-CN" sz="1800" kern="100" dirty="0">
                <a:effectLst/>
                <a:latin typeface="Times New Roman" panose="02020603050405020304" pitchFamily="18" charset="0"/>
                <a:ea typeface="宋体" panose="02010600030101010101" pitchFamily="2" charset="-122"/>
              </a:rPr>
              <a:t>标志位置真</a:t>
            </a:r>
          </a:p>
          <a:p>
            <a:pPr algn="just"/>
            <a:r>
              <a:rPr lang="en-US" altLang="zh-CN" sz="1800" kern="100" dirty="0">
                <a:effectLst/>
                <a:latin typeface="宋体" panose="02010600030101010101" pitchFamily="2" charset="-122"/>
                <a:ea typeface="宋体" panose="02010600030101010101" pitchFamily="2" charset="-122"/>
              </a:rPr>
              <a:t>                            stack1.push(p-&gt;</a:t>
            </a:r>
            <a:r>
              <a:rPr lang="en-US" altLang="zh-CN" sz="1800" kern="100" dirty="0" err="1">
                <a:effectLst/>
                <a:latin typeface="宋体" panose="02010600030101010101" pitchFamily="2" charset="-122"/>
                <a:ea typeface="宋体" panose="02010600030101010101" pitchFamily="2" charset="-122"/>
              </a:rPr>
              <a:t>adjvex</a:t>
            </a:r>
            <a:r>
              <a:rPr lang="en-US" altLang="zh-CN" sz="1800" kern="100" dirty="0">
                <a:effectLst/>
                <a:latin typeface="宋体" panose="02010600030101010101" pitchFamily="2" charset="-122"/>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顶点进栈</a:t>
            </a:r>
          </a:p>
          <a:p>
            <a:pPr algn="just"/>
            <a:r>
              <a:rPr lang="en-US" altLang="zh-CN" sz="1800" kern="100" dirty="0">
                <a:effectLst/>
                <a:latin typeface="宋体" panose="02010600030101010101" pitchFamily="2" charset="-122"/>
                <a:ea typeface="宋体" panose="02010600030101010101" pitchFamily="2" charset="-122"/>
              </a:rPr>
              <a:t>                            p=x.get_d2();</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                         }</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                     }</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                     if(!stack1.empty())     //</a:t>
            </a:r>
            <a:r>
              <a:rPr lang="zh-CN" altLang="zh-CN" sz="1800" kern="100" dirty="0">
                <a:effectLst/>
                <a:latin typeface="Times New Roman" panose="02020603050405020304" pitchFamily="18" charset="0"/>
                <a:ea typeface="宋体" panose="02010600030101010101" pitchFamily="2" charset="-122"/>
              </a:rPr>
              <a:t>栈不空，继续遍历</a:t>
            </a:r>
          </a:p>
          <a:p>
            <a:pPr algn="just"/>
            <a:r>
              <a:rPr lang="en-US" altLang="zh-CN" sz="1800" kern="100" dirty="0">
                <a:effectLst/>
                <a:latin typeface="宋体" panose="02010600030101010101" pitchFamily="2" charset="-122"/>
                <a:ea typeface="宋体" panose="02010600030101010101" pitchFamily="2" charset="-122"/>
              </a:rPr>
              <a:t>                     {</a:t>
            </a:r>
            <a:endParaRPr lang="zh-CN" altLang="zh-CN" sz="1800" kern="100" dirty="0">
              <a:effectLst/>
              <a:latin typeface="Times New Roman" panose="02020603050405020304" pitchFamily="18" charset="0"/>
              <a:ea typeface="宋体" panose="02010600030101010101" pitchFamily="2" charset="-122"/>
            </a:endParaRPr>
          </a:p>
          <a:p>
            <a:pPr marL="1620520" indent="-1620520" algn="just"/>
            <a:r>
              <a:rPr lang="en-US" altLang="zh-CN" sz="1800" kern="100" dirty="0">
                <a:effectLst/>
                <a:latin typeface="宋体" panose="02010600030101010101" pitchFamily="2" charset="-122"/>
                <a:ea typeface="宋体" panose="02010600030101010101" pitchFamily="2" charset="-122"/>
              </a:rPr>
              <a:t>                     j=stack1.pop();</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                     x=</a:t>
            </a:r>
            <a:r>
              <a:rPr lang="en-US" altLang="zh-CN" sz="1800" kern="100" dirty="0" err="1">
                <a:effectLst/>
                <a:latin typeface="宋体" panose="02010600030101010101" pitchFamily="2" charset="-122"/>
                <a:ea typeface="宋体" panose="02010600030101010101" pitchFamily="2" charset="-122"/>
              </a:rPr>
              <a:t>graph.getdata</a:t>
            </a:r>
            <a:r>
              <a:rPr lang="en-US" altLang="zh-CN" sz="1800" kern="100" dirty="0">
                <a:effectLst/>
                <a:latin typeface="宋体" panose="02010600030101010101" pitchFamily="2" charset="-122"/>
                <a:ea typeface="宋体" panose="02010600030101010101" pitchFamily="2" charset="-122"/>
              </a:rPr>
              <a:t>(j);</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                     p=x.get_d2();</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                     p=p-&gt;</a:t>
            </a:r>
            <a:r>
              <a:rPr lang="en-US" altLang="zh-CN" sz="1800" kern="100" dirty="0" err="1">
                <a:effectLst/>
                <a:latin typeface="宋体" panose="02010600030101010101" pitchFamily="2" charset="-122"/>
                <a:ea typeface="宋体" panose="02010600030101010101" pitchFamily="2" charset="-122"/>
              </a:rPr>
              <a:t>nextarc</a:t>
            </a:r>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                     }</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                 }</a:t>
            </a:r>
            <a:endParaRPr lang="zh-CN" altLang="zh-CN" sz="1800" kern="100" dirty="0">
              <a:effectLst/>
              <a:latin typeface="Times New Roman" panose="02020603050405020304" pitchFamily="18" charset="0"/>
              <a:ea typeface="宋体" panose="02010600030101010101" pitchFamily="2" charset="-122"/>
            </a:endParaRPr>
          </a:p>
          <a:p>
            <a:pPr marL="1620520" indent="-1620520" algn="just"/>
            <a:r>
              <a:rPr lang="en-US" altLang="zh-CN" sz="1800" kern="100" dirty="0">
                <a:effectLst/>
                <a:latin typeface="宋体" panose="02010600030101010101" pitchFamily="2" charset="-122"/>
                <a:ea typeface="宋体" panose="02010600030101010101" pitchFamily="2" charset="-122"/>
              </a:rPr>
              <a:t>             };        </a:t>
            </a:r>
            <a:endParaRPr lang="zh-CN" altLang="zh-CN" sz="1800" kern="100" dirty="0">
              <a:effectLst/>
              <a:latin typeface="Times New Roman" panose="02020603050405020304" pitchFamily="18" charset="0"/>
              <a:ea typeface="宋体" panose="02010600030101010101" pitchFamily="2" charset="-122"/>
            </a:endParaRPr>
          </a:p>
          <a:p>
            <a:pPr marL="1620520" indent="-1620520" algn="just"/>
            <a:r>
              <a:rPr lang="en-US" altLang="zh-CN" sz="1800" kern="100" dirty="0">
                <a:effectLst/>
                <a:latin typeface="宋体" panose="02010600030101010101" pitchFamily="2" charset="-122"/>
                <a:ea typeface="宋体" panose="02010600030101010101" pitchFamily="2" charset="-122"/>
              </a:rPr>
              <a:t> </a:t>
            </a:r>
            <a:endParaRPr lang="zh-CN" altLang="en-US" dirty="0"/>
          </a:p>
        </p:txBody>
      </p:sp>
      <p:sp>
        <p:nvSpPr>
          <p:cNvPr id="4" name="灯片编号占位符 3"/>
          <p:cNvSpPr>
            <a:spLocks noGrp="1"/>
          </p:cNvSpPr>
          <p:nvPr>
            <p:ph type="sldNum" sz="quarter" idx="5"/>
          </p:nvPr>
        </p:nvSpPr>
        <p:spPr/>
        <p:txBody>
          <a:bodyPr/>
          <a:lstStyle/>
          <a:p>
            <a:fld id="{358D460B-FCBF-4F68-A559-8E415D1DDEDB}" type="slidenum">
              <a:rPr lang="zh-CN" altLang="en-US" smtClean="0"/>
              <a:pPr/>
              <a:t>49</a:t>
            </a:fld>
            <a:endParaRPr lang="zh-CN" altLang="en-US"/>
          </a:p>
        </p:txBody>
      </p:sp>
    </p:spTree>
    <p:extLst>
      <p:ext uri="{BB962C8B-B14F-4D97-AF65-F5344CB8AC3E}">
        <p14:creationId xmlns:p14="http://schemas.microsoft.com/office/powerpoint/2010/main" val="8588018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304800" algn="just"/>
            <a:r>
              <a:rPr lang="en-US" altLang="zh-CN" sz="1800" kern="100" dirty="0">
                <a:effectLst/>
                <a:latin typeface="宋体" panose="02010600030101010101" pitchFamily="2" charset="-122"/>
                <a:ea typeface="宋体" panose="02010600030101010101" pitchFamily="2" charset="-122"/>
              </a:rPr>
              <a:t>const int MAXSIZE=1000;                        </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class </a:t>
            </a:r>
            <a:r>
              <a:rPr lang="en-US" altLang="zh-CN" sz="1800" kern="100" dirty="0" err="1">
                <a:effectLst/>
                <a:latin typeface="宋体" panose="02010600030101010101" pitchFamily="2" charset="-122"/>
                <a:ea typeface="宋体" panose="02010600030101010101" pitchFamily="2" charset="-122"/>
              </a:rPr>
              <a:t>AnyQueue</a:t>
            </a:r>
            <a:r>
              <a:rPr lang="en-US" altLang="zh-CN" sz="1800" kern="100" dirty="0">
                <a:effectLst/>
                <a:latin typeface="宋体" panose="02010600030101010101" pitchFamily="2" charset="-122"/>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定义队列类</a:t>
            </a:r>
          </a:p>
          <a:p>
            <a:pPr indent="304800" algn="just"/>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省略，读者参考第</a:t>
            </a:r>
            <a:r>
              <a:rPr lang="en-US" altLang="zh-CN" sz="1800" kern="100" dirty="0">
                <a:effectLst/>
                <a:latin typeface="Times New Roman" panose="02020603050405020304" pitchFamily="18" charset="0"/>
                <a:ea typeface="宋体" panose="02010600030101010101" pitchFamily="2" charset="-122"/>
              </a:rPr>
              <a:t>3</a:t>
            </a:r>
            <a:r>
              <a:rPr lang="zh-CN" altLang="zh-CN" sz="1800" kern="100" dirty="0">
                <a:effectLst/>
                <a:latin typeface="Times New Roman" panose="02020603050405020304" pitchFamily="18" charset="0"/>
                <a:ea typeface="宋体" panose="02010600030101010101" pitchFamily="2" charset="-122"/>
              </a:rPr>
              <a:t>章</a:t>
            </a:r>
          </a:p>
          <a:p>
            <a:pPr indent="304800" algn="just"/>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void </a:t>
            </a:r>
            <a:r>
              <a:rPr lang="en-US" altLang="zh-CN" sz="1800" kern="100" dirty="0" err="1">
                <a:effectLst/>
                <a:latin typeface="宋体" panose="02010600030101010101" pitchFamily="2" charset="-122"/>
                <a:ea typeface="宋体" panose="02010600030101010101" pitchFamily="2" charset="-122"/>
              </a:rPr>
              <a:t>traverse_bfs</a:t>
            </a:r>
            <a:r>
              <a:rPr lang="en-US" altLang="zh-CN" sz="1800" kern="100" dirty="0">
                <a:effectLst/>
                <a:latin typeface="宋体" panose="02010600030101010101" pitchFamily="2" charset="-122"/>
                <a:ea typeface="宋体" panose="02010600030101010101" pitchFamily="2" charset="-122"/>
              </a:rPr>
              <a:t>(</a:t>
            </a:r>
            <a:r>
              <a:rPr lang="en-US" altLang="zh-CN" sz="1800" kern="100" dirty="0" err="1">
                <a:effectLst/>
                <a:latin typeface="宋体" panose="02010600030101010101" pitchFamily="2" charset="-122"/>
                <a:ea typeface="宋体" panose="02010600030101010101" pitchFamily="2" charset="-122"/>
              </a:rPr>
              <a:t>seqlist</a:t>
            </a:r>
            <a:r>
              <a:rPr lang="en-US" altLang="zh-CN" sz="1800" kern="100" dirty="0">
                <a:effectLst/>
                <a:latin typeface="宋体" panose="02010600030101010101" pitchFamily="2" charset="-122"/>
                <a:ea typeface="宋体" panose="02010600030101010101" pitchFamily="2" charset="-122"/>
              </a:rPr>
              <a:t>&lt;</a:t>
            </a:r>
            <a:r>
              <a:rPr lang="en-US" altLang="zh-CN" sz="1800" kern="100" dirty="0" err="1">
                <a:effectLst/>
                <a:latin typeface="宋体" panose="02010600030101010101" pitchFamily="2" charset="-122"/>
                <a:ea typeface="宋体" panose="02010600030101010101" pitchFamily="2" charset="-122"/>
              </a:rPr>
              <a:t>headnode</a:t>
            </a:r>
            <a:r>
              <a:rPr lang="en-US" altLang="zh-CN" sz="1800" kern="100" dirty="0">
                <a:effectLst/>
                <a:latin typeface="宋体" panose="02010600030101010101" pitchFamily="2" charset="-122"/>
                <a:ea typeface="宋体" panose="02010600030101010101" pitchFamily="2" charset="-122"/>
              </a:rPr>
              <a:t>&gt; &amp;</a:t>
            </a:r>
            <a:r>
              <a:rPr lang="en-US" altLang="zh-CN" sz="1800" kern="100" dirty="0" err="1">
                <a:effectLst/>
                <a:latin typeface="宋体" panose="02010600030101010101" pitchFamily="2" charset="-122"/>
                <a:ea typeface="宋体" panose="02010600030101010101" pitchFamily="2" charset="-122"/>
              </a:rPr>
              <a:t>graph,headnode</a:t>
            </a:r>
            <a:r>
              <a:rPr lang="en-US" altLang="zh-CN" sz="1800" kern="100" dirty="0">
                <a:effectLst/>
                <a:latin typeface="宋体" panose="02010600030101010101" pitchFamily="2" charset="-122"/>
                <a:ea typeface="宋体" panose="02010600030101010101" pitchFamily="2" charset="-122"/>
              </a:rPr>
              <a:t> v)</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      </a:t>
            </a:r>
            <a:r>
              <a:rPr lang="en-US" altLang="zh-CN" sz="1800" kern="100" dirty="0" err="1">
                <a:effectLst/>
                <a:latin typeface="宋体" panose="02010600030101010101" pitchFamily="2" charset="-122"/>
                <a:ea typeface="宋体" panose="02010600030101010101" pitchFamily="2" charset="-122"/>
              </a:rPr>
              <a:t>AnyQueue</a:t>
            </a:r>
            <a:r>
              <a:rPr lang="en-US" altLang="zh-CN" sz="1800" kern="100" dirty="0">
                <a:effectLst/>
                <a:latin typeface="宋体" panose="02010600030101010101" pitchFamily="2" charset="-122"/>
                <a:ea typeface="宋体" panose="02010600030101010101" pitchFamily="2" charset="-122"/>
              </a:rPr>
              <a:t> </a:t>
            </a:r>
            <a:r>
              <a:rPr lang="en-US" altLang="zh-CN" sz="1800" kern="100" dirty="0" err="1">
                <a:effectLst/>
                <a:latin typeface="宋体" panose="02010600030101010101" pitchFamily="2" charset="-122"/>
                <a:ea typeface="宋体" panose="02010600030101010101" pitchFamily="2" charset="-122"/>
              </a:rPr>
              <a:t>queuel</a:t>
            </a:r>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      BOOL visited[MAXSIZE];             //</a:t>
            </a:r>
            <a:r>
              <a:rPr lang="zh-CN" altLang="zh-CN" sz="1800" kern="100" dirty="0">
                <a:effectLst/>
                <a:latin typeface="Times New Roman" panose="02020603050405020304" pitchFamily="18" charset="0"/>
                <a:ea typeface="宋体" panose="02010600030101010101" pitchFamily="2" charset="-122"/>
              </a:rPr>
              <a:t>定义访问标志数组</a:t>
            </a:r>
          </a:p>
          <a:p>
            <a:pPr indent="304800" algn="just"/>
            <a:r>
              <a:rPr lang="en-US" altLang="zh-CN" sz="1800" kern="100" dirty="0">
                <a:effectLst/>
                <a:latin typeface="宋体" panose="02010600030101010101" pitchFamily="2" charset="-122"/>
                <a:ea typeface="宋体" panose="02010600030101010101" pitchFamily="2" charset="-122"/>
              </a:rPr>
              <a:t>      int </a:t>
            </a:r>
            <a:r>
              <a:rPr lang="en-US" altLang="zh-CN" sz="1800" kern="100" dirty="0" err="1">
                <a:effectLst/>
                <a:latin typeface="宋体" panose="02010600030101010101" pitchFamily="2" charset="-122"/>
                <a:ea typeface="宋体" panose="02010600030101010101" pitchFamily="2" charset="-122"/>
              </a:rPr>
              <a:t>i,j</a:t>
            </a:r>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      </a:t>
            </a:r>
            <a:r>
              <a:rPr lang="en-US" altLang="zh-CN" sz="1800" kern="100" dirty="0" err="1">
                <a:effectLst/>
                <a:latin typeface="宋体" panose="02010600030101010101" pitchFamily="2" charset="-122"/>
                <a:ea typeface="宋体" panose="02010600030101010101" pitchFamily="2" charset="-122"/>
              </a:rPr>
              <a:t>headnode</a:t>
            </a:r>
            <a:r>
              <a:rPr lang="en-US" altLang="zh-CN" sz="1800" kern="100" dirty="0">
                <a:effectLst/>
                <a:latin typeface="宋体" panose="02010600030101010101" pitchFamily="2" charset="-122"/>
                <a:ea typeface="宋体" panose="02010600030101010101" pitchFamily="2" charset="-122"/>
              </a:rPr>
              <a:t> x;</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      ARCNODE *p;</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      for(</a:t>
            </a:r>
            <a:r>
              <a:rPr lang="en-US" altLang="zh-CN" sz="1800" kern="100" dirty="0" err="1">
                <a:effectLst/>
                <a:latin typeface="宋体" panose="02010600030101010101" pitchFamily="2" charset="-122"/>
                <a:ea typeface="宋体" panose="02010600030101010101" pitchFamily="2" charset="-122"/>
              </a:rPr>
              <a:t>i</a:t>
            </a:r>
            <a:r>
              <a:rPr lang="en-US" altLang="zh-CN" sz="1800" kern="100" dirty="0">
                <a:effectLst/>
                <a:latin typeface="宋体" panose="02010600030101010101" pitchFamily="2" charset="-122"/>
                <a:ea typeface="宋体" panose="02010600030101010101" pitchFamily="2" charset="-122"/>
              </a:rPr>
              <a:t>=0;i&lt;</a:t>
            </a:r>
            <a:r>
              <a:rPr lang="en-US" altLang="zh-CN" sz="1800" kern="100" dirty="0" err="1">
                <a:effectLst/>
                <a:latin typeface="宋体" panose="02010600030101010101" pitchFamily="2" charset="-122"/>
                <a:ea typeface="宋体" panose="02010600030101010101" pitchFamily="2" charset="-122"/>
              </a:rPr>
              <a:t>MAXSIZE;i</a:t>
            </a:r>
            <a:r>
              <a:rPr lang="en-US" altLang="zh-CN" sz="1800" kern="100" dirty="0">
                <a:effectLst/>
                <a:latin typeface="宋体" panose="02010600030101010101" pitchFamily="2" charset="-122"/>
                <a:ea typeface="宋体" panose="02010600030101010101" pitchFamily="2" charset="-122"/>
              </a:rPr>
              <a:t>++) visited[</a:t>
            </a:r>
            <a:r>
              <a:rPr lang="en-US" altLang="zh-CN" sz="1800" kern="100" dirty="0" err="1">
                <a:effectLst/>
                <a:latin typeface="宋体" panose="02010600030101010101" pitchFamily="2" charset="-122"/>
                <a:ea typeface="宋体" panose="02010600030101010101" pitchFamily="2" charset="-122"/>
              </a:rPr>
              <a:t>i</a:t>
            </a:r>
            <a:r>
              <a:rPr lang="en-US" altLang="zh-CN" sz="1800" kern="100" dirty="0">
                <a:effectLst/>
                <a:latin typeface="宋体" panose="02010600030101010101" pitchFamily="2" charset="-122"/>
                <a:ea typeface="宋体" panose="02010600030101010101" pitchFamily="2" charset="-122"/>
              </a:rPr>
              <a:t>]=FALSE;  //</a:t>
            </a:r>
            <a:r>
              <a:rPr lang="zh-CN" altLang="zh-CN" sz="1800" kern="100" dirty="0">
                <a:effectLst/>
                <a:latin typeface="Times New Roman" panose="02020603050405020304" pitchFamily="18" charset="0"/>
                <a:ea typeface="宋体" panose="02010600030101010101" pitchFamily="2" charset="-122"/>
              </a:rPr>
              <a:t>标志数组全置假</a:t>
            </a:r>
          </a:p>
          <a:p>
            <a:pPr indent="304800" algn="just"/>
            <a:r>
              <a:rPr lang="en-US" altLang="zh-CN" sz="1800" kern="100" dirty="0">
                <a:effectLst/>
                <a:latin typeface="宋体" panose="02010600030101010101" pitchFamily="2" charset="-122"/>
                <a:ea typeface="宋体" panose="02010600030101010101" pitchFamily="2" charset="-122"/>
              </a:rPr>
              <a:t>      j=graph. </a:t>
            </a:r>
            <a:r>
              <a:rPr lang="en-US" altLang="zh-CN" sz="1800" kern="100" dirty="0" err="1">
                <a:effectLst/>
                <a:latin typeface="宋体" panose="02010600030101010101" pitchFamily="2" charset="-122"/>
                <a:ea typeface="宋体" panose="02010600030101010101" pitchFamily="2" charset="-122"/>
              </a:rPr>
              <a:t>find_data</a:t>
            </a:r>
            <a:r>
              <a:rPr lang="en-US" altLang="zh-CN" sz="1800" kern="100" dirty="0">
                <a:effectLst/>
                <a:latin typeface="宋体" panose="02010600030101010101" pitchFamily="2" charset="-122"/>
                <a:ea typeface="宋体" panose="02010600030101010101" pitchFamily="2" charset="-122"/>
              </a:rPr>
              <a:t>(v);</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      x=graph. </a:t>
            </a:r>
            <a:r>
              <a:rPr lang="en-US" altLang="zh-CN" sz="1800" kern="100" dirty="0" err="1">
                <a:effectLst/>
                <a:latin typeface="宋体" panose="02010600030101010101" pitchFamily="2" charset="-122"/>
                <a:ea typeface="宋体" panose="02010600030101010101" pitchFamily="2" charset="-122"/>
              </a:rPr>
              <a:t>getdata</a:t>
            </a:r>
            <a:r>
              <a:rPr lang="en-US" altLang="zh-CN" sz="1800" kern="100" dirty="0">
                <a:effectLst/>
                <a:latin typeface="宋体" panose="02010600030101010101" pitchFamily="2" charset="-122"/>
                <a:ea typeface="宋体" panose="02010600030101010101" pitchFamily="2" charset="-122"/>
              </a:rPr>
              <a:t>(j);</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      </a:t>
            </a:r>
            <a:r>
              <a:rPr lang="en-US" altLang="zh-CN" sz="1800" kern="100" dirty="0" err="1">
                <a:effectLst/>
                <a:latin typeface="宋体" panose="02010600030101010101" pitchFamily="2" charset="-122"/>
                <a:ea typeface="宋体" panose="02010600030101010101" pitchFamily="2" charset="-122"/>
              </a:rPr>
              <a:t>cout</a:t>
            </a:r>
            <a:r>
              <a:rPr lang="en-US" altLang="zh-CN" sz="1800" kern="100" dirty="0">
                <a:effectLst/>
                <a:latin typeface="宋体" panose="02010600030101010101" pitchFamily="2" charset="-122"/>
                <a:ea typeface="宋体" panose="02010600030101010101" pitchFamily="2" charset="-122"/>
              </a:rPr>
              <a:t>&lt;&lt;x&lt;&lt;"---&gt;";                   //</a:t>
            </a:r>
            <a:r>
              <a:rPr lang="zh-CN" altLang="zh-CN" sz="1800" kern="100" dirty="0">
                <a:effectLst/>
                <a:latin typeface="Times New Roman" panose="02020603050405020304" pitchFamily="18" charset="0"/>
                <a:ea typeface="宋体" panose="02010600030101010101" pitchFamily="2" charset="-122"/>
              </a:rPr>
              <a:t>输出第一个遍历的顶点</a:t>
            </a:r>
          </a:p>
          <a:p>
            <a:pPr indent="304800" algn="just"/>
            <a:r>
              <a:rPr lang="en-US" altLang="zh-CN" sz="1800" kern="100" dirty="0">
                <a:effectLst/>
                <a:latin typeface="宋体" panose="02010600030101010101" pitchFamily="2" charset="-122"/>
                <a:ea typeface="宋体" panose="02010600030101010101" pitchFamily="2" charset="-122"/>
              </a:rPr>
              <a:t>      visited[j]=TRUE;                   //</a:t>
            </a:r>
            <a:r>
              <a:rPr lang="zh-CN" altLang="zh-CN" sz="1800" kern="100" dirty="0">
                <a:effectLst/>
                <a:latin typeface="Times New Roman" panose="02020603050405020304" pitchFamily="18" charset="0"/>
                <a:ea typeface="宋体" panose="02010600030101010101" pitchFamily="2" charset="-122"/>
              </a:rPr>
              <a:t>相应的标志位置真</a:t>
            </a:r>
          </a:p>
          <a:p>
            <a:pPr indent="304800" algn="just"/>
            <a:r>
              <a:rPr lang="en-US" altLang="zh-CN" sz="1800" kern="100" dirty="0">
                <a:effectLst/>
                <a:latin typeface="宋体" panose="02010600030101010101" pitchFamily="2" charset="-122"/>
                <a:ea typeface="宋体" panose="02010600030101010101" pitchFamily="2" charset="-122"/>
              </a:rPr>
              <a:t>      </a:t>
            </a:r>
            <a:r>
              <a:rPr lang="en-US" altLang="zh-CN" sz="1800" kern="100" dirty="0" err="1">
                <a:effectLst/>
                <a:latin typeface="宋体" panose="02010600030101010101" pitchFamily="2" charset="-122"/>
                <a:ea typeface="宋体" panose="02010600030101010101" pitchFamily="2" charset="-122"/>
              </a:rPr>
              <a:t>queuel</a:t>
            </a:r>
            <a:r>
              <a:rPr lang="en-US" altLang="zh-CN" sz="1800" kern="100" dirty="0">
                <a:effectLst/>
                <a:latin typeface="宋体" panose="02010600030101010101" pitchFamily="2" charset="-122"/>
                <a:ea typeface="宋体" panose="02010600030101010101" pitchFamily="2" charset="-122"/>
              </a:rPr>
              <a:t>. </a:t>
            </a:r>
            <a:r>
              <a:rPr lang="en-US" altLang="zh-CN" sz="1800" kern="100" dirty="0" err="1">
                <a:effectLst/>
                <a:latin typeface="宋体" panose="02010600030101010101" pitchFamily="2" charset="-122"/>
                <a:ea typeface="宋体" panose="02010600030101010101" pitchFamily="2" charset="-122"/>
              </a:rPr>
              <a:t>Addqueue</a:t>
            </a:r>
            <a:r>
              <a:rPr lang="en-US" altLang="zh-CN" sz="1800" kern="100" dirty="0">
                <a:effectLst/>
                <a:latin typeface="宋体" panose="02010600030101010101" pitchFamily="2" charset="-122"/>
                <a:ea typeface="宋体" panose="02010600030101010101" pitchFamily="2" charset="-122"/>
              </a:rPr>
              <a:t>(j);               //</a:t>
            </a:r>
            <a:r>
              <a:rPr lang="zh-CN" altLang="zh-CN" sz="1800" kern="100" dirty="0">
                <a:effectLst/>
                <a:latin typeface="Times New Roman" panose="02020603050405020304" pitchFamily="18" charset="0"/>
                <a:ea typeface="宋体" panose="02010600030101010101" pitchFamily="2" charset="-122"/>
              </a:rPr>
              <a:t>顶点进队列</a:t>
            </a:r>
          </a:p>
          <a:p>
            <a:pPr indent="304800" algn="just"/>
            <a:r>
              <a:rPr lang="fr-FR" altLang="zh-CN" sz="1800" kern="100" dirty="0">
                <a:effectLst/>
                <a:latin typeface="宋体" panose="02010600030101010101" pitchFamily="2" charset="-122"/>
                <a:ea typeface="宋体" panose="02010600030101010101" pitchFamily="2" charset="-122"/>
              </a:rPr>
              <a:t>      while (!queuel. empty())</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fr-FR" altLang="zh-CN" sz="1800" kern="100" dirty="0">
                <a:effectLst/>
                <a:latin typeface="宋体" panose="02010600030101010101" pitchFamily="2" charset="-122"/>
                <a:ea typeface="宋体" panose="02010600030101010101" pitchFamily="2" charset="-122"/>
              </a:rPr>
              <a:t>      {</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fr-FR" altLang="zh-CN" sz="1800" kern="100" dirty="0">
                <a:effectLst/>
                <a:latin typeface="宋体" panose="02010600030101010101" pitchFamily="2" charset="-122"/>
                <a:ea typeface="宋体" panose="02010600030101010101" pitchFamily="2" charset="-122"/>
              </a:rPr>
              <a:t>              j=queuel. delqueue();</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fr-FR" altLang="zh-CN" sz="1800" kern="100" dirty="0">
                <a:effectLst/>
                <a:latin typeface="宋体" panose="02010600030101010101" pitchFamily="2" charset="-122"/>
                <a:ea typeface="宋体" panose="02010600030101010101" pitchFamily="2" charset="-122"/>
              </a:rPr>
              <a:t>              x=graph. getdata(j);</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fr-FR" altLang="zh-CN" sz="1800" kern="100" dirty="0">
                <a:effectLst/>
                <a:latin typeface="宋体" panose="02010600030101010101" pitchFamily="2" charset="-122"/>
                <a:ea typeface="宋体" panose="02010600030101010101" pitchFamily="2" charset="-122"/>
              </a:rPr>
              <a:t>              </a:t>
            </a:r>
            <a:r>
              <a:rPr lang="en-US" altLang="zh-CN" sz="1800" kern="100" dirty="0">
                <a:effectLst/>
                <a:latin typeface="宋体" panose="02010600030101010101" pitchFamily="2" charset="-122"/>
                <a:ea typeface="宋体" panose="02010600030101010101" pitchFamily="2" charset="-122"/>
              </a:rPr>
              <a:t>p=x.get_d2();</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              while(p!=NULL)</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              {</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                   if(visited[p-&gt;</a:t>
            </a:r>
            <a:r>
              <a:rPr lang="en-US" altLang="zh-CN" sz="1800" kern="100" dirty="0" err="1">
                <a:effectLst/>
                <a:latin typeface="宋体" panose="02010600030101010101" pitchFamily="2" charset="-122"/>
                <a:ea typeface="宋体" panose="02010600030101010101" pitchFamily="2" charset="-122"/>
              </a:rPr>
              <a:t>adjvex</a:t>
            </a:r>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                      p=p-&gt;</a:t>
            </a:r>
            <a:r>
              <a:rPr lang="en-US" altLang="zh-CN" sz="1800" kern="100" dirty="0" err="1">
                <a:effectLst/>
                <a:latin typeface="宋体" panose="02010600030101010101" pitchFamily="2" charset="-122"/>
                <a:ea typeface="宋体" panose="02010600030101010101" pitchFamily="2" charset="-122"/>
              </a:rPr>
              <a:t>nextarc</a:t>
            </a:r>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                   else</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                  {</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                        x=</a:t>
            </a:r>
            <a:r>
              <a:rPr lang="en-US" altLang="zh-CN" sz="1800" kern="100" dirty="0" err="1">
                <a:effectLst/>
                <a:latin typeface="宋体" panose="02010600030101010101" pitchFamily="2" charset="-122"/>
                <a:ea typeface="宋体" panose="02010600030101010101" pitchFamily="2" charset="-122"/>
              </a:rPr>
              <a:t>graph.getdata</a:t>
            </a:r>
            <a:r>
              <a:rPr lang="en-US" altLang="zh-CN" sz="1800" kern="100" dirty="0">
                <a:effectLst/>
                <a:latin typeface="宋体" panose="02010600030101010101" pitchFamily="2" charset="-122"/>
                <a:ea typeface="宋体" panose="02010600030101010101" pitchFamily="2" charset="-122"/>
              </a:rPr>
              <a:t>(p-&gt;</a:t>
            </a:r>
            <a:r>
              <a:rPr lang="en-US" altLang="zh-CN" sz="1800" kern="100" dirty="0" err="1">
                <a:effectLst/>
                <a:latin typeface="宋体" panose="02010600030101010101" pitchFamily="2" charset="-122"/>
                <a:ea typeface="宋体" panose="02010600030101010101" pitchFamily="2" charset="-122"/>
              </a:rPr>
              <a:t>adjvex</a:t>
            </a:r>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                        </a:t>
            </a:r>
            <a:r>
              <a:rPr lang="en-US" altLang="zh-CN" sz="1800" kern="100" dirty="0" err="1">
                <a:effectLst/>
                <a:latin typeface="宋体" panose="02010600030101010101" pitchFamily="2" charset="-122"/>
                <a:ea typeface="宋体" panose="02010600030101010101" pitchFamily="2" charset="-122"/>
              </a:rPr>
              <a:t>cout</a:t>
            </a:r>
            <a:r>
              <a:rPr lang="en-US" altLang="zh-CN" sz="1800" kern="100" dirty="0">
                <a:effectLst/>
                <a:latin typeface="宋体" panose="02010600030101010101" pitchFamily="2" charset="-122"/>
                <a:ea typeface="宋体" panose="02010600030101010101" pitchFamily="2" charset="-122"/>
              </a:rPr>
              <a:t>&lt;&lt;x&lt;&lt;"---&gt;";          //</a:t>
            </a:r>
            <a:r>
              <a:rPr lang="zh-CN" altLang="zh-CN" sz="1800" kern="100" dirty="0">
                <a:effectLst/>
                <a:latin typeface="Times New Roman" panose="02020603050405020304" pitchFamily="18" charset="0"/>
                <a:ea typeface="宋体" panose="02010600030101010101" pitchFamily="2" charset="-122"/>
              </a:rPr>
              <a:t>输出遍历的顶点</a:t>
            </a:r>
          </a:p>
          <a:p>
            <a:pPr indent="304800" algn="just"/>
            <a:r>
              <a:rPr lang="en-US" altLang="zh-CN" sz="1800" kern="100" dirty="0">
                <a:effectLst/>
                <a:latin typeface="宋体" panose="02010600030101010101" pitchFamily="2" charset="-122"/>
                <a:ea typeface="宋体" panose="02010600030101010101" pitchFamily="2" charset="-122"/>
              </a:rPr>
              <a:t>                        visited[p-&gt;</a:t>
            </a:r>
            <a:r>
              <a:rPr lang="en-US" altLang="zh-CN" sz="1800" kern="100" dirty="0" err="1">
                <a:effectLst/>
                <a:latin typeface="宋体" panose="02010600030101010101" pitchFamily="2" charset="-122"/>
                <a:ea typeface="宋体" panose="02010600030101010101" pitchFamily="2" charset="-122"/>
              </a:rPr>
              <a:t>adjvex</a:t>
            </a:r>
            <a:r>
              <a:rPr lang="en-US" altLang="zh-CN" sz="1800" kern="100" dirty="0">
                <a:effectLst/>
                <a:latin typeface="宋体" panose="02010600030101010101" pitchFamily="2" charset="-122"/>
                <a:ea typeface="宋体" panose="02010600030101010101" pitchFamily="2" charset="-122"/>
              </a:rPr>
              <a:t>]=TRUE;  //</a:t>
            </a:r>
            <a:r>
              <a:rPr lang="zh-CN" altLang="zh-CN" sz="1800" kern="100" dirty="0">
                <a:effectLst/>
                <a:latin typeface="Times New Roman" panose="02020603050405020304" pitchFamily="18" charset="0"/>
                <a:ea typeface="宋体" panose="02010600030101010101" pitchFamily="2" charset="-122"/>
              </a:rPr>
              <a:t>标志位置真</a:t>
            </a:r>
          </a:p>
          <a:p>
            <a:pPr indent="304800" algn="just"/>
            <a:r>
              <a:rPr lang="en-US" altLang="zh-CN" sz="1800" kern="100" dirty="0">
                <a:effectLst/>
                <a:latin typeface="宋体" panose="02010600030101010101" pitchFamily="2" charset="-122"/>
                <a:ea typeface="宋体" panose="02010600030101010101" pitchFamily="2" charset="-122"/>
              </a:rPr>
              <a:t>                        </a:t>
            </a:r>
            <a:r>
              <a:rPr lang="en-US" altLang="zh-CN" sz="1800" kern="100" dirty="0" err="1">
                <a:effectLst/>
                <a:latin typeface="宋体" panose="02010600030101010101" pitchFamily="2" charset="-122"/>
                <a:ea typeface="宋体" panose="02010600030101010101" pitchFamily="2" charset="-122"/>
              </a:rPr>
              <a:t>queuel</a:t>
            </a:r>
            <a:r>
              <a:rPr lang="en-US" altLang="zh-CN" sz="1800" kern="100" dirty="0">
                <a:effectLst/>
                <a:latin typeface="宋体" panose="02010600030101010101" pitchFamily="2" charset="-122"/>
                <a:ea typeface="宋体" panose="02010600030101010101" pitchFamily="2" charset="-122"/>
              </a:rPr>
              <a:t>. </a:t>
            </a:r>
            <a:r>
              <a:rPr lang="en-US" altLang="zh-CN" sz="1800" kern="100" dirty="0" err="1">
                <a:effectLst/>
                <a:latin typeface="宋体" panose="02010600030101010101" pitchFamily="2" charset="-122"/>
                <a:ea typeface="宋体" panose="02010600030101010101" pitchFamily="2" charset="-122"/>
              </a:rPr>
              <a:t>addqueue</a:t>
            </a:r>
            <a:r>
              <a:rPr lang="en-US" altLang="zh-CN" sz="1800" kern="100" dirty="0">
                <a:effectLst/>
                <a:latin typeface="宋体" panose="02010600030101010101" pitchFamily="2" charset="-122"/>
                <a:ea typeface="宋体" panose="02010600030101010101" pitchFamily="2" charset="-122"/>
              </a:rPr>
              <a:t>(p-&gt;</a:t>
            </a:r>
            <a:r>
              <a:rPr lang="en-US" altLang="zh-CN" sz="1800" kern="100" dirty="0" err="1">
                <a:effectLst/>
                <a:latin typeface="宋体" panose="02010600030101010101" pitchFamily="2" charset="-122"/>
                <a:ea typeface="宋体" panose="02010600030101010101" pitchFamily="2" charset="-122"/>
              </a:rPr>
              <a:t>adjvex</a:t>
            </a:r>
            <a:r>
              <a:rPr lang="en-US" altLang="zh-CN" sz="1800" kern="100" dirty="0">
                <a:effectLst/>
                <a:latin typeface="宋体" panose="02010600030101010101" pitchFamily="2" charset="-122"/>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                   };</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               };</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         };</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宋体" panose="02010600030101010101" pitchFamily="2" charset="-122"/>
                <a:ea typeface="宋体" panose="02010600030101010101" pitchFamily="2" charset="-122"/>
              </a:rPr>
              <a:t>     };</a:t>
            </a:r>
            <a:endParaRPr lang="zh-CN" altLang="zh-CN" sz="1800" kern="100" dirty="0">
              <a:effectLst/>
              <a:latin typeface="Times New Roman" panose="02020603050405020304" pitchFamily="18" charset="0"/>
              <a:ea typeface="宋体" panose="02010600030101010101" pitchFamily="2" charset="-122"/>
            </a:endParaRPr>
          </a:p>
          <a:p>
            <a:endParaRPr lang="en-US" altLang="zh-CN" dirty="0"/>
          </a:p>
          <a:p>
            <a:r>
              <a:rPr lang="en-US" altLang="zh-CN" dirty="0"/>
              <a:t>#include &lt;iostream&gt;</a:t>
            </a:r>
          </a:p>
          <a:p>
            <a:r>
              <a:rPr lang="en-US" altLang="zh-CN" dirty="0"/>
              <a:t>#include &lt;vector&gt;</a:t>
            </a:r>
          </a:p>
          <a:p>
            <a:r>
              <a:rPr lang="en-US" altLang="zh-CN" dirty="0"/>
              <a:t>#include &lt;</a:t>
            </a:r>
            <a:r>
              <a:rPr lang="en-US" altLang="zh-CN" dirty="0" err="1"/>
              <a:t>unordered_set</a:t>
            </a:r>
            <a:r>
              <a:rPr lang="en-US" altLang="zh-CN" dirty="0"/>
              <a:t>&gt;</a:t>
            </a:r>
          </a:p>
          <a:p>
            <a:r>
              <a:rPr lang="en-US" altLang="zh-CN" dirty="0"/>
              <a:t>#include &lt;stack&gt; // </a:t>
            </a:r>
            <a:r>
              <a:rPr lang="zh-CN" altLang="en-US" dirty="0"/>
              <a:t>使用栈来模拟队列的行为（后进先出）</a:t>
            </a:r>
          </a:p>
          <a:p>
            <a:r>
              <a:rPr lang="zh-CN" altLang="en-US" dirty="0"/>
              <a:t> </a:t>
            </a:r>
          </a:p>
          <a:p>
            <a:r>
              <a:rPr lang="en-US" altLang="zh-CN" dirty="0"/>
              <a:t>void </a:t>
            </a:r>
            <a:r>
              <a:rPr lang="en-US" altLang="zh-CN" dirty="0" err="1"/>
              <a:t>bfsHelper</a:t>
            </a:r>
            <a:r>
              <a:rPr lang="en-US" altLang="zh-CN" dirty="0"/>
              <a:t>(int current, const std::vector&lt;std::vector&lt;int&gt;&gt;&amp; graph, std::</a:t>
            </a:r>
            <a:r>
              <a:rPr lang="en-US" altLang="zh-CN" dirty="0" err="1"/>
              <a:t>unordered_set</a:t>
            </a:r>
            <a:r>
              <a:rPr lang="en-US" altLang="zh-CN" dirty="0"/>
              <a:t>&lt;int&gt;&amp; visited) {</a:t>
            </a:r>
          </a:p>
          <a:p>
            <a:r>
              <a:rPr lang="en-US" altLang="zh-CN" dirty="0"/>
              <a:t>    static std::stack&lt;int&gt; s; // </a:t>
            </a:r>
            <a:r>
              <a:rPr lang="zh-CN" altLang="en-US" dirty="0"/>
              <a:t>使用静态栈来模拟队列的行为（后进先出）</a:t>
            </a:r>
          </a:p>
          <a:p>
            <a:r>
              <a:rPr lang="zh-CN" altLang="en-US" dirty="0"/>
              <a:t>    </a:t>
            </a:r>
            <a:r>
              <a:rPr lang="en-US" altLang="zh-CN" dirty="0"/>
              <a:t>if (</a:t>
            </a:r>
            <a:r>
              <a:rPr lang="en-US" altLang="zh-CN" dirty="0" err="1"/>
              <a:t>visited.find</a:t>
            </a:r>
            <a:r>
              <a:rPr lang="en-US" altLang="zh-CN" dirty="0"/>
              <a:t>(current) == </a:t>
            </a:r>
            <a:r>
              <a:rPr lang="en-US" altLang="zh-CN" dirty="0" err="1"/>
              <a:t>visited.end</a:t>
            </a:r>
            <a:r>
              <a:rPr lang="en-US" altLang="zh-CN" dirty="0"/>
              <a:t>()) { // </a:t>
            </a:r>
            <a:r>
              <a:rPr lang="zh-CN" altLang="en-US" dirty="0"/>
              <a:t>如果当前节点未访问过，则访问它并标记为已访问</a:t>
            </a:r>
          </a:p>
          <a:p>
            <a:r>
              <a:rPr lang="zh-CN" altLang="en-US" dirty="0"/>
              <a:t>        </a:t>
            </a:r>
            <a:r>
              <a:rPr lang="en-US" altLang="zh-CN" dirty="0" err="1"/>
              <a:t>visited.insert</a:t>
            </a:r>
            <a:r>
              <a:rPr lang="en-US" altLang="zh-CN" dirty="0"/>
              <a:t>(current);</a:t>
            </a:r>
          </a:p>
          <a:p>
            <a:r>
              <a:rPr lang="en-US" altLang="zh-CN" dirty="0"/>
              <a:t>        std::</a:t>
            </a:r>
            <a:r>
              <a:rPr lang="en-US" altLang="zh-CN" dirty="0" err="1"/>
              <a:t>cout</a:t>
            </a:r>
            <a:r>
              <a:rPr lang="en-US" altLang="zh-CN" dirty="0"/>
              <a:t> &lt;&lt; current &lt;&lt; " "; // </a:t>
            </a:r>
            <a:r>
              <a:rPr lang="zh-CN" altLang="en-US" dirty="0"/>
              <a:t>打印当前节点以模拟队列的前进操作（实际上这里是后进先出）</a:t>
            </a:r>
          </a:p>
          <a:p>
            <a:r>
              <a:rPr lang="zh-CN" altLang="en-US" dirty="0"/>
              <a:t>        </a:t>
            </a:r>
            <a:r>
              <a:rPr lang="en-US" altLang="zh-CN" dirty="0" err="1"/>
              <a:t>s.push</a:t>
            </a:r>
            <a:r>
              <a:rPr lang="en-US" altLang="zh-CN" dirty="0"/>
              <a:t>(current); // </a:t>
            </a:r>
            <a:r>
              <a:rPr lang="zh-CN" altLang="en-US" dirty="0"/>
              <a:t>将当前节点压入栈中（模拟入队）</a:t>
            </a:r>
          </a:p>
          <a:p>
            <a:r>
              <a:rPr lang="zh-CN" altLang="en-US" dirty="0"/>
              <a:t>    </a:t>
            </a:r>
            <a:r>
              <a:rPr lang="en-US" altLang="zh-CN" dirty="0"/>
              <a:t>} else { // </a:t>
            </a:r>
            <a:r>
              <a:rPr lang="zh-CN" altLang="en-US" dirty="0"/>
              <a:t>如果当前节点已访问过，则从栈中弹出并继续检查其邻居，直到栈为空（模拟队列的出队操作）</a:t>
            </a:r>
          </a:p>
          <a:p>
            <a:r>
              <a:rPr lang="zh-CN" altLang="en-US" dirty="0"/>
              <a:t>        </a:t>
            </a:r>
            <a:r>
              <a:rPr lang="en-US" altLang="zh-CN" dirty="0" err="1"/>
              <a:t>s.pop</a:t>
            </a:r>
            <a:r>
              <a:rPr lang="en-US" altLang="zh-CN" dirty="0"/>
              <a:t>(); // </a:t>
            </a:r>
            <a:r>
              <a:rPr lang="zh-CN" altLang="en-US" dirty="0"/>
              <a:t>出队操作实际上在这里执行，但由于递归的特性，我们在这里处理它以保持逻辑清晰</a:t>
            </a:r>
          </a:p>
          <a:p>
            <a:r>
              <a:rPr lang="zh-CN" altLang="en-US" dirty="0"/>
              <a:t>    </a:t>
            </a:r>
            <a:r>
              <a:rPr lang="en-US" altLang="zh-CN" dirty="0"/>
              <a:t>}</a:t>
            </a:r>
          </a:p>
          <a:p>
            <a:r>
              <a:rPr lang="en-US" altLang="zh-CN" dirty="0"/>
              <a:t>    if (!</a:t>
            </a:r>
            <a:r>
              <a:rPr lang="en-US" altLang="zh-CN" dirty="0" err="1"/>
              <a:t>s.empty</a:t>
            </a:r>
            <a:r>
              <a:rPr lang="en-US" altLang="zh-CN" dirty="0"/>
              <a:t>()) { // </a:t>
            </a:r>
            <a:r>
              <a:rPr lang="zh-CN" altLang="en-US" dirty="0"/>
              <a:t>如果栈不为空，则继续处理下一个节点（实际上是上一个节点的邻居）</a:t>
            </a:r>
          </a:p>
          <a:p>
            <a:r>
              <a:rPr lang="zh-CN" altLang="en-US" dirty="0"/>
              <a:t>        </a:t>
            </a:r>
            <a:r>
              <a:rPr lang="en-US" altLang="zh-CN" dirty="0" err="1"/>
              <a:t>bfsHelper</a:t>
            </a:r>
            <a:r>
              <a:rPr lang="en-US" altLang="zh-CN" dirty="0"/>
              <a:t>(</a:t>
            </a:r>
            <a:r>
              <a:rPr lang="en-US" altLang="zh-CN" dirty="0" err="1"/>
              <a:t>s.top</a:t>
            </a:r>
            <a:r>
              <a:rPr lang="en-US" altLang="zh-CN" dirty="0"/>
              <a:t>(), graph, visited); // </a:t>
            </a:r>
            <a:r>
              <a:rPr lang="zh-CN" altLang="en-US" dirty="0"/>
              <a:t>递归调用，但不实际“出队”，因为我们已经通过递归调用处理了这一点。</a:t>
            </a:r>
          </a:p>
          <a:p>
            <a:r>
              <a:rPr lang="zh-CN" altLang="en-US" dirty="0"/>
              <a:t>    </a:t>
            </a:r>
            <a:r>
              <a:rPr lang="en-US" altLang="zh-CN" dirty="0"/>
              <a:t>} else { // </a:t>
            </a:r>
            <a:r>
              <a:rPr lang="zh-CN" altLang="en-US" dirty="0"/>
              <a:t>当栈为空时，我们实际上完成了对当前节点的所有邻居的处理，可以开始处理下一个节点的邻居（如果有的话）</a:t>
            </a:r>
          </a:p>
          <a:p>
            <a:r>
              <a:rPr lang="zh-CN" altLang="en-US" dirty="0"/>
              <a:t>        </a:t>
            </a:r>
            <a:r>
              <a:rPr lang="en-US" altLang="zh-CN" dirty="0"/>
              <a:t>for (int neighbor : graph[current]) { // </a:t>
            </a:r>
            <a:r>
              <a:rPr lang="zh-CN" altLang="en-US" dirty="0"/>
              <a:t>处理当前节点的所有未访问的邻居（实际上是上一个节点的邻居）</a:t>
            </a:r>
          </a:p>
          <a:p>
            <a:r>
              <a:rPr lang="zh-CN" altLang="en-US" dirty="0"/>
              <a:t>            </a:t>
            </a:r>
            <a:r>
              <a:rPr lang="en-US" altLang="zh-CN" dirty="0"/>
              <a:t>if (</a:t>
            </a:r>
            <a:r>
              <a:rPr lang="en-US" altLang="zh-CN" dirty="0" err="1"/>
              <a:t>visited.find</a:t>
            </a:r>
            <a:r>
              <a:rPr lang="en-US" altLang="zh-CN" dirty="0"/>
              <a:t>(neighbor) == </a:t>
            </a:r>
            <a:r>
              <a:rPr lang="en-US" altLang="zh-CN" dirty="0" err="1"/>
              <a:t>visited.end</a:t>
            </a:r>
            <a:r>
              <a:rPr lang="en-US" altLang="zh-CN" dirty="0"/>
              <a:t>()) { // </a:t>
            </a:r>
            <a:r>
              <a:rPr lang="zh-CN" altLang="en-US" dirty="0"/>
              <a:t>如果邻居未访问过，则将其加入待处理队列（实际上是栈）并递归调用它。</a:t>
            </a:r>
          </a:p>
          <a:p>
            <a:r>
              <a:rPr lang="zh-CN" altLang="en-US" dirty="0"/>
              <a:t>                </a:t>
            </a:r>
            <a:r>
              <a:rPr lang="en-US" altLang="zh-CN" dirty="0" err="1"/>
              <a:t>s.push</a:t>
            </a:r>
            <a:r>
              <a:rPr lang="en-US" altLang="zh-CN" dirty="0"/>
              <a:t>(neighbor); // </a:t>
            </a:r>
            <a:r>
              <a:rPr lang="zh-CN" altLang="en-US" dirty="0"/>
              <a:t>入队操作实际上是递归调用之前的准备工作。</a:t>
            </a:r>
          </a:p>
          <a:p>
            <a:r>
              <a:rPr lang="zh-CN" altLang="en-US" dirty="0"/>
              <a:t>                </a:t>
            </a:r>
            <a:r>
              <a:rPr lang="en-US" altLang="zh-CN" dirty="0" err="1"/>
              <a:t>bfsHelper</a:t>
            </a:r>
            <a:r>
              <a:rPr lang="en-US" altLang="zh-CN" dirty="0"/>
              <a:t>(neighbor, graph, visited); // </a:t>
            </a:r>
            <a:r>
              <a:rPr lang="zh-CN" altLang="en-US" dirty="0"/>
              <a:t>递归调用以处理该邻居。</a:t>
            </a:r>
          </a:p>
          <a:p>
            <a:r>
              <a:rPr lang="zh-CN" altLang="en-US" dirty="0"/>
              <a:t>            </a:t>
            </a:r>
            <a:r>
              <a:rPr lang="en-US" altLang="zh-CN" dirty="0"/>
              <a:t>}</a:t>
            </a:r>
          </a:p>
          <a:p>
            <a:r>
              <a:rPr lang="en-US" altLang="zh-CN" dirty="0"/>
              <a:t>        }</a:t>
            </a:r>
          </a:p>
          <a:p>
            <a:r>
              <a:rPr lang="en-US" altLang="zh-CN" dirty="0"/>
              <a:t>    }</a:t>
            </a:r>
          </a:p>
          <a:p>
            <a:r>
              <a:rPr lang="en-US" altLang="zh-CN" dirty="0"/>
              <a:t>}</a:t>
            </a:r>
          </a:p>
          <a:p>
            <a:r>
              <a:rPr lang="en-US" altLang="zh-CN" dirty="0"/>
              <a:t> </a:t>
            </a:r>
          </a:p>
          <a:p>
            <a:r>
              <a:rPr lang="en-US" altLang="zh-CN" dirty="0"/>
              <a:t>void </a:t>
            </a:r>
            <a:r>
              <a:rPr lang="en-US" altLang="zh-CN" dirty="0" err="1"/>
              <a:t>bfs</a:t>
            </a:r>
            <a:r>
              <a:rPr lang="en-US" altLang="zh-CN" dirty="0"/>
              <a:t>(int start, const std::vector&lt;std::vector&lt;int&gt;&gt;&amp; graph) {</a:t>
            </a:r>
          </a:p>
          <a:p>
            <a:r>
              <a:rPr lang="en-US" altLang="zh-CN" dirty="0"/>
              <a:t>    std::unordered_</a:t>
            </a:r>
            <a:endParaRPr lang="zh-CN" altLang="en-US" dirty="0"/>
          </a:p>
        </p:txBody>
      </p:sp>
      <p:sp>
        <p:nvSpPr>
          <p:cNvPr id="4" name="灯片编号占位符 3"/>
          <p:cNvSpPr>
            <a:spLocks noGrp="1"/>
          </p:cNvSpPr>
          <p:nvPr>
            <p:ph type="sldNum" sz="quarter" idx="5"/>
          </p:nvPr>
        </p:nvSpPr>
        <p:spPr/>
        <p:txBody>
          <a:bodyPr/>
          <a:lstStyle/>
          <a:p>
            <a:fld id="{358D460B-FCBF-4F68-A559-8E415D1DDEDB}" type="slidenum">
              <a:rPr lang="zh-CN" altLang="en-US" smtClean="0"/>
              <a:pPr/>
              <a:t>55</a:t>
            </a:fld>
            <a:endParaRPr lang="zh-CN" altLang="en-US"/>
          </a:p>
        </p:txBody>
      </p:sp>
    </p:spTree>
    <p:extLst>
      <p:ext uri="{BB962C8B-B14F-4D97-AF65-F5344CB8AC3E}">
        <p14:creationId xmlns:p14="http://schemas.microsoft.com/office/powerpoint/2010/main" val="20811741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参考程序图类</a:t>
            </a:r>
            <a:r>
              <a:rPr lang="en-US" altLang="zh-CN" dirty="0"/>
              <a:t>-V2.CPP</a:t>
            </a:r>
            <a:endParaRPr lang="zh-CN" altLang="en-US" dirty="0"/>
          </a:p>
        </p:txBody>
      </p:sp>
      <p:sp>
        <p:nvSpPr>
          <p:cNvPr id="4" name="灯片编号占位符 3"/>
          <p:cNvSpPr>
            <a:spLocks noGrp="1"/>
          </p:cNvSpPr>
          <p:nvPr>
            <p:ph type="sldNum" sz="quarter" idx="5"/>
          </p:nvPr>
        </p:nvSpPr>
        <p:spPr/>
        <p:txBody>
          <a:bodyPr/>
          <a:lstStyle/>
          <a:p>
            <a:fld id="{358D460B-FCBF-4F68-A559-8E415D1DDEDB}" type="slidenum">
              <a:rPr lang="zh-CN" altLang="en-US" smtClean="0"/>
              <a:pPr/>
              <a:t>57</a:t>
            </a:fld>
            <a:endParaRPr lang="zh-CN" altLang="en-US"/>
          </a:p>
        </p:txBody>
      </p:sp>
    </p:spTree>
    <p:extLst>
      <p:ext uri="{BB962C8B-B14F-4D97-AF65-F5344CB8AC3E}">
        <p14:creationId xmlns:p14="http://schemas.microsoft.com/office/powerpoint/2010/main" val="22293619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DAG</a:t>
            </a:r>
            <a:r>
              <a:rPr lang="zh-CN" altLang="en-US" dirty="0"/>
              <a:t>有向无环图</a:t>
            </a:r>
          </a:p>
        </p:txBody>
      </p:sp>
      <p:sp>
        <p:nvSpPr>
          <p:cNvPr id="4" name="灯片编号占位符 3"/>
          <p:cNvSpPr>
            <a:spLocks noGrp="1"/>
          </p:cNvSpPr>
          <p:nvPr>
            <p:ph type="sldNum" sz="quarter" idx="5"/>
          </p:nvPr>
        </p:nvSpPr>
        <p:spPr/>
        <p:txBody>
          <a:bodyPr/>
          <a:lstStyle/>
          <a:p>
            <a:fld id="{358D460B-FCBF-4F68-A559-8E415D1DDEDB}" type="slidenum">
              <a:rPr lang="zh-CN" altLang="en-US" smtClean="0"/>
              <a:pPr/>
              <a:t>58</a:t>
            </a:fld>
            <a:endParaRPr lang="zh-CN" altLang="en-US"/>
          </a:p>
        </p:txBody>
      </p:sp>
    </p:spTree>
    <p:extLst>
      <p:ext uri="{BB962C8B-B14F-4D97-AF65-F5344CB8AC3E}">
        <p14:creationId xmlns:p14="http://schemas.microsoft.com/office/powerpoint/2010/main" val="13281762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参考程序图类</a:t>
            </a:r>
            <a:r>
              <a:rPr lang="en-US" altLang="zh-CN" dirty="0"/>
              <a:t>-V3-AOV.cpp</a:t>
            </a:r>
            <a:endParaRPr lang="zh-CN" altLang="en-US" dirty="0"/>
          </a:p>
        </p:txBody>
      </p:sp>
      <p:sp>
        <p:nvSpPr>
          <p:cNvPr id="4" name="灯片编号占位符 3"/>
          <p:cNvSpPr>
            <a:spLocks noGrp="1"/>
          </p:cNvSpPr>
          <p:nvPr>
            <p:ph type="sldNum" sz="quarter" idx="5"/>
          </p:nvPr>
        </p:nvSpPr>
        <p:spPr/>
        <p:txBody>
          <a:bodyPr/>
          <a:lstStyle/>
          <a:p>
            <a:fld id="{358D460B-FCBF-4F68-A559-8E415D1DDEDB}" type="slidenum">
              <a:rPr lang="zh-CN" altLang="en-US" smtClean="0"/>
              <a:pPr/>
              <a:t>60</a:t>
            </a:fld>
            <a:endParaRPr lang="zh-CN" altLang="en-US"/>
          </a:p>
        </p:txBody>
      </p:sp>
    </p:spTree>
    <p:extLst>
      <p:ext uri="{BB962C8B-B14F-4D97-AF65-F5344CB8AC3E}">
        <p14:creationId xmlns:p14="http://schemas.microsoft.com/office/powerpoint/2010/main" val="26696558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如何拓扑排序：</a:t>
            </a:r>
            <a:endParaRPr lang="en-US" altLang="zh-CN" dirty="0"/>
          </a:p>
          <a:p>
            <a:r>
              <a:rPr lang="en-US" altLang="zh-CN" dirty="0"/>
              <a:t>1</a:t>
            </a:r>
            <a:r>
              <a:rPr lang="zh-CN" altLang="en-US" dirty="0"/>
              <a:t>、找出图中入度为</a:t>
            </a:r>
            <a:r>
              <a:rPr lang="en-US" altLang="zh-CN" dirty="0"/>
              <a:t>0</a:t>
            </a:r>
            <a:r>
              <a:rPr lang="zh-CN" altLang="en-US" dirty="0"/>
              <a:t>的顶点，然后输出</a:t>
            </a:r>
            <a:endParaRPr lang="en-US" altLang="zh-CN" dirty="0"/>
          </a:p>
          <a:p>
            <a:r>
              <a:rPr lang="en-US" altLang="zh-CN" dirty="0"/>
              <a:t>2</a:t>
            </a:r>
            <a:r>
              <a:rPr lang="zh-CN" altLang="en-US" dirty="0"/>
              <a:t>、删除与该顶点相连的弧</a:t>
            </a:r>
            <a:endParaRPr lang="en-US" altLang="zh-CN" dirty="0"/>
          </a:p>
          <a:p>
            <a:r>
              <a:rPr lang="en-US" altLang="zh-CN" dirty="0"/>
              <a:t>3</a:t>
            </a:r>
            <a:r>
              <a:rPr lang="zh-CN" altLang="en-US" dirty="0"/>
              <a:t>、重复</a:t>
            </a:r>
            <a:r>
              <a:rPr lang="en-US" altLang="zh-CN" dirty="0"/>
              <a:t>1</a:t>
            </a:r>
            <a:r>
              <a:rPr lang="zh-CN" altLang="en-US" dirty="0"/>
              <a:t>、</a:t>
            </a:r>
            <a:r>
              <a:rPr lang="en-US" altLang="zh-CN" dirty="0"/>
              <a:t>2</a:t>
            </a:r>
            <a:r>
              <a:rPr lang="zh-CN" altLang="en-US" dirty="0"/>
              <a:t>操作，直到图中没有顶点，或者直到没有入度为</a:t>
            </a:r>
            <a:r>
              <a:rPr lang="en-US" altLang="zh-CN" dirty="0"/>
              <a:t>0</a:t>
            </a:r>
            <a:r>
              <a:rPr lang="zh-CN" altLang="en-US" dirty="0"/>
              <a:t>的顶点为止</a:t>
            </a:r>
          </a:p>
        </p:txBody>
      </p:sp>
      <p:sp>
        <p:nvSpPr>
          <p:cNvPr id="4" name="灯片编号占位符 3"/>
          <p:cNvSpPr>
            <a:spLocks noGrp="1"/>
          </p:cNvSpPr>
          <p:nvPr>
            <p:ph type="sldNum" sz="quarter" idx="5"/>
          </p:nvPr>
        </p:nvSpPr>
        <p:spPr/>
        <p:txBody>
          <a:bodyPr/>
          <a:lstStyle/>
          <a:p>
            <a:fld id="{358D460B-FCBF-4F68-A559-8E415D1DDEDB}" type="slidenum">
              <a:rPr lang="zh-CN" altLang="en-US" smtClean="0"/>
              <a:pPr/>
              <a:t>61</a:t>
            </a:fld>
            <a:endParaRPr lang="zh-CN" altLang="en-US"/>
          </a:p>
        </p:txBody>
      </p:sp>
    </p:spTree>
    <p:extLst>
      <p:ext uri="{BB962C8B-B14F-4D97-AF65-F5344CB8AC3E}">
        <p14:creationId xmlns:p14="http://schemas.microsoft.com/office/powerpoint/2010/main" val="19466983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58D460B-FCBF-4F68-A559-8E415D1DDEDB}" type="slidenum">
              <a:rPr lang="zh-CN" altLang="en-US" smtClean="0"/>
              <a:pPr/>
              <a:t>64</a:t>
            </a:fld>
            <a:endParaRPr lang="zh-CN" altLang="en-US"/>
          </a:p>
        </p:txBody>
      </p:sp>
    </p:spTree>
    <p:extLst>
      <p:ext uri="{BB962C8B-B14F-4D97-AF65-F5344CB8AC3E}">
        <p14:creationId xmlns:p14="http://schemas.microsoft.com/office/powerpoint/2010/main" val="2358643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参考程序图类</a:t>
            </a:r>
            <a:r>
              <a:rPr lang="en-US" altLang="zh-CN" dirty="0"/>
              <a:t>-V3-AOV.cpp</a:t>
            </a:r>
            <a:endParaRPr lang="zh-CN" altLang="en-US" dirty="0"/>
          </a:p>
        </p:txBody>
      </p:sp>
      <p:sp>
        <p:nvSpPr>
          <p:cNvPr id="4" name="灯片编号占位符 3"/>
          <p:cNvSpPr>
            <a:spLocks noGrp="1"/>
          </p:cNvSpPr>
          <p:nvPr>
            <p:ph type="sldNum" sz="quarter" idx="5"/>
          </p:nvPr>
        </p:nvSpPr>
        <p:spPr/>
        <p:txBody>
          <a:bodyPr/>
          <a:lstStyle/>
          <a:p>
            <a:fld id="{358D460B-FCBF-4F68-A559-8E415D1DDEDB}" type="slidenum">
              <a:rPr lang="zh-CN" altLang="en-US" smtClean="0"/>
              <a:pPr/>
              <a:t>65</a:t>
            </a:fld>
            <a:endParaRPr lang="zh-CN" altLang="en-US"/>
          </a:p>
        </p:txBody>
      </p:sp>
    </p:spTree>
    <p:extLst>
      <p:ext uri="{BB962C8B-B14F-4D97-AF65-F5344CB8AC3E}">
        <p14:creationId xmlns:p14="http://schemas.microsoft.com/office/powerpoint/2010/main" val="4637253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58D460B-FCBF-4F68-A559-8E415D1DDEDB}" type="slidenum">
              <a:rPr lang="zh-CN" altLang="en-US" smtClean="0"/>
              <a:pPr/>
              <a:t>66</a:t>
            </a:fld>
            <a:endParaRPr lang="zh-CN" altLang="en-US"/>
          </a:p>
        </p:txBody>
      </p:sp>
    </p:spTree>
    <p:extLst>
      <p:ext uri="{BB962C8B-B14F-4D97-AF65-F5344CB8AC3E}">
        <p14:creationId xmlns:p14="http://schemas.microsoft.com/office/powerpoint/2010/main" val="40633714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58D460B-FCBF-4F68-A559-8E415D1DDEDB}" type="slidenum">
              <a:rPr lang="zh-CN" altLang="en-US" smtClean="0"/>
              <a:pPr/>
              <a:t>67</a:t>
            </a:fld>
            <a:endParaRPr lang="zh-CN" altLang="en-US"/>
          </a:p>
        </p:txBody>
      </p:sp>
    </p:spTree>
    <p:extLst>
      <p:ext uri="{BB962C8B-B14F-4D97-AF65-F5344CB8AC3E}">
        <p14:creationId xmlns:p14="http://schemas.microsoft.com/office/powerpoint/2010/main" val="1164427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参考程序图类</a:t>
            </a:r>
            <a:r>
              <a:rPr lang="en-US" altLang="zh-CN" dirty="0"/>
              <a:t>-V4-</a:t>
            </a:r>
            <a:r>
              <a:rPr lang="zh-CN" altLang="en-US" dirty="0"/>
              <a:t>最短路径</a:t>
            </a:r>
            <a:r>
              <a:rPr lang="en-US" altLang="zh-CN" dirty="0"/>
              <a:t>.</a:t>
            </a:r>
            <a:r>
              <a:rPr lang="en-US" altLang="zh-CN" dirty="0" err="1"/>
              <a:t>cpp</a:t>
            </a:r>
            <a:endParaRPr lang="zh-CN" altLang="en-US" dirty="0"/>
          </a:p>
        </p:txBody>
      </p:sp>
      <p:sp>
        <p:nvSpPr>
          <p:cNvPr id="4" name="灯片编号占位符 3"/>
          <p:cNvSpPr>
            <a:spLocks noGrp="1"/>
          </p:cNvSpPr>
          <p:nvPr>
            <p:ph type="sldNum" sz="quarter" idx="5"/>
          </p:nvPr>
        </p:nvSpPr>
        <p:spPr/>
        <p:txBody>
          <a:bodyPr/>
          <a:lstStyle/>
          <a:p>
            <a:fld id="{358D460B-FCBF-4F68-A559-8E415D1DDEDB}" type="slidenum">
              <a:rPr lang="zh-CN" altLang="en-US" smtClean="0"/>
              <a:pPr/>
              <a:t>81</a:t>
            </a:fld>
            <a:endParaRPr lang="zh-CN" altLang="en-US"/>
          </a:p>
        </p:txBody>
      </p:sp>
    </p:spTree>
    <p:extLst>
      <p:ext uri="{BB962C8B-B14F-4D97-AF65-F5344CB8AC3E}">
        <p14:creationId xmlns:p14="http://schemas.microsoft.com/office/powerpoint/2010/main" val="432857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17112" y="1730403"/>
            <a:ext cx="5648623" cy="1204306"/>
          </a:xfrm>
        </p:spPr>
        <p:txBody>
          <a:bodyPr bIns="9144" anchor="b"/>
          <a:lstStyle>
            <a:lvl1pPr>
              <a:defRPr sz="3200"/>
            </a:lvl1pPr>
          </a:lstStyle>
          <a:p>
            <a:r>
              <a:rPr lang="zh-CN" altLang="en-US" dirty="0"/>
              <a:t>单击此处编辑母版标题样式</a:t>
            </a:r>
            <a:endParaRPr lang="en-US" dirty="0"/>
          </a:p>
        </p:txBody>
      </p:sp>
      <p:sp>
        <p:nvSpPr>
          <p:cNvPr id="3" name="Subtitle 2"/>
          <p:cNvSpPr>
            <a:spLocks noGrp="1"/>
          </p:cNvSpPr>
          <p:nvPr>
            <p:ph type="subTitle" idx="1"/>
          </p:nvPr>
        </p:nvSpPr>
        <p:spPr>
          <a:xfrm>
            <a:off x="2632869" y="5517232"/>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79947EC6-CB47-4768-9811-6E3B54093484}" type="datetime1">
              <a:rPr lang="zh-CN" altLang="en-US" smtClean="0"/>
              <a:pPr/>
              <a:t>2025/5/4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27584" y="895707"/>
            <a:ext cx="7520940" cy="548640"/>
          </a:xfrm>
        </p:spPr>
        <p:txBody>
          <a:bodyPr/>
          <a:lstStyle>
            <a:lvl1pPr>
              <a:defRPr>
                <a:latin typeface="黑体" panose="02010609060101010101" pitchFamily="49" charset="-122"/>
                <a:ea typeface="黑体" panose="02010609060101010101" pitchFamily="49"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827584" y="1628800"/>
            <a:ext cx="7520940" cy="3579849"/>
          </a:xfrm>
        </p:spPr>
        <p:txBody>
          <a:bodyPr>
            <a:normAutofit/>
          </a:bodyPr>
          <a:lstStyle>
            <a:lvl1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1pPr>
            <a:lvl2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2pPr>
            <a:lvl3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3pPr>
            <a:lvl4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4pPr>
            <a:lvl5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7504" y="116632"/>
            <a:ext cx="798104" cy="7991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矩形 7"/>
          <p:cNvSpPr/>
          <p:nvPr userDrawn="1"/>
        </p:nvSpPr>
        <p:spPr>
          <a:xfrm>
            <a:off x="933802" y="146299"/>
            <a:ext cx="4267944" cy="461665"/>
          </a:xfrm>
          <a:prstGeom prst="rect">
            <a:avLst/>
          </a:prstGeom>
        </p:spPr>
        <p:txBody>
          <a:bodyPr wrap="square">
            <a:spAutoFit/>
          </a:bodyPr>
          <a:lstStyle/>
          <a:p>
            <a:r>
              <a:rPr lang="zh-CN" altLang="en-US" sz="2400" cap="all" dirty="0">
                <a:solidFill>
                  <a:srgbClr val="0000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cs typeface="+mj-cs"/>
              </a:rPr>
              <a:t>数据结构与算法</a:t>
            </a:r>
            <a:endParaRPr lang="zh-CN" altLang="en-US" sz="2400" dirty="0">
              <a:latin typeface="方正舒体" panose="02010601030101010101" pitchFamily="2" charset="-122"/>
              <a:ea typeface="方正舒体" panose="02010601030101010101" pitchFamily="2" charset="-122"/>
            </a:endParaRPr>
          </a:p>
        </p:txBody>
      </p:sp>
      <p:sp>
        <p:nvSpPr>
          <p:cNvPr id="10" name="TextBox 9"/>
          <p:cNvSpPr txBox="1"/>
          <p:nvPr userDrawn="1"/>
        </p:nvSpPr>
        <p:spPr>
          <a:xfrm>
            <a:off x="3779912" y="6453336"/>
            <a:ext cx="4104456" cy="369332"/>
          </a:xfrm>
          <a:prstGeom prst="rect">
            <a:avLst/>
          </a:prstGeom>
          <a:noFill/>
        </p:spPr>
        <p:txBody>
          <a:bodyPr wrap="square" rtlCol="0">
            <a:spAutoFit/>
          </a:bodyPr>
          <a:lstStyle/>
          <a:p>
            <a:r>
              <a:rPr lang="zh-CN" altLang="en-US" dirty="0">
                <a:solidFill>
                  <a:schemeClr val="bg1"/>
                </a:solidFill>
              </a:rPr>
              <a:t>西安交通大学计算机科学与技术系</a:t>
            </a:r>
          </a:p>
        </p:txBody>
      </p:sp>
      <p:sp>
        <p:nvSpPr>
          <p:cNvPr id="11" name="TextBox 10"/>
          <p:cNvSpPr txBox="1"/>
          <p:nvPr userDrawn="1"/>
        </p:nvSpPr>
        <p:spPr>
          <a:xfrm>
            <a:off x="8244408" y="6441217"/>
            <a:ext cx="792088" cy="369332"/>
          </a:xfrm>
          <a:prstGeom prst="rect">
            <a:avLst/>
          </a:prstGeom>
          <a:noFill/>
        </p:spPr>
        <p:txBody>
          <a:bodyPr wrap="square" rtlCol="0">
            <a:spAutoFit/>
          </a:bodyPr>
          <a:lstStyle/>
          <a:p>
            <a:fld id="{D6FB1EF2-4E04-428D-9A98-735957314976}" type="slidenum">
              <a:rPr lang="zh-CN" altLang="en-US" smtClean="0">
                <a:solidFill>
                  <a:schemeClr val="bg1"/>
                </a:solidFill>
              </a:rPr>
              <a:pPr/>
              <a:t>‹#›</a:t>
            </a:fld>
            <a:endParaRPr lang="zh-CN" altLang="en-US" dirty="0">
              <a:solidFill>
                <a:schemeClr val="bg1"/>
              </a:solidFill>
            </a:endParaRPr>
          </a:p>
        </p:txBody>
      </p:sp>
      <p:sp>
        <p:nvSpPr>
          <p:cNvPr id="12" name="TextBox 11"/>
          <p:cNvSpPr txBox="1"/>
          <p:nvPr userDrawn="1"/>
        </p:nvSpPr>
        <p:spPr>
          <a:xfrm>
            <a:off x="179512" y="6441217"/>
            <a:ext cx="1512168" cy="369332"/>
          </a:xfrm>
          <a:prstGeom prst="rect">
            <a:avLst/>
          </a:prstGeom>
          <a:noFill/>
        </p:spPr>
        <p:txBody>
          <a:bodyPr wrap="square" rtlCol="0">
            <a:spAutoFit/>
          </a:bodyPr>
          <a:lstStyle/>
          <a:p>
            <a:fld id="{97E45E91-62C1-4B21-99FE-3F5E35A83FD2}" type="datetime1">
              <a:rPr lang="zh-CN" altLang="en-US" smtClean="0">
                <a:solidFill>
                  <a:schemeClr val="bg1"/>
                </a:solidFill>
                <a:latin typeface="黑体" panose="02010609060101010101" pitchFamily="49" charset="-122"/>
                <a:ea typeface="黑体" panose="02010609060101010101" pitchFamily="49" charset="-122"/>
              </a:rPr>
              <a:pPr/>
              <a:t>2025/5/4</a:t>
            </a:fld>
            <a:endParaRPr lang="zh-CN" altLang="en-US" dirty="0">
              <a:solidFill>
                <a:schemeClr val="bg1"/>
              </a:solidFill>
              <a:latin typeface="黑体" panose="02010609060101010101" pitchFamily="49" charset="-122"/>
              <a:ea typeface="黑体" panose="02010609060101010101" pitchFamily="49"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a:t>单击此处编辑母版标题样式</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a:t>单击此处编辑母版文本样式</a:t>
            </a:r>
          </a:p>
        </p:txBody>
      </p:sp>
      <p:sp>
        <p:nvSpPr>
          <p:cNvPr id="4" name="Date Placeholder 3"/>
          <p:cNvSpPr>
            <a:spLocks noGrp="1"/>
          </p:cNvSpPr>
          <p:nvPr>
            <p:ph type="dt" sz="half" idx="10"/>
          </p:nvPr>
        </p:nvSpPr>
        <p:spPr/>
        <p:txBody>
          <a:bodyPr/>
          <a:lstStyle/>
          <a:p>
            <a:fld id="{96FF9C47-783F-4BA3-8F44-C651CC1C7843}" type="datetime1">
              <a:rPr lang="zh-CN" altLang="en-US" smtClean="0"/>
              <a:pPr/>
              <a:t>2025/5/4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0A34DB96-0AE5-4520-9185-F689CCFB8160}" type="datetime1">
              <a:rPr lang="zh-CN" altLang="en-US" smtClean="0"/>
              <a:pPr/>
              <a:t>2025/5/4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8" name="Title 7"/>
          <p:cNvSpPr>
            <a:spLocks noGrp="1"/>
          </p:cNvSpPr>
          <p:nvPr>
            <p:ph type="title"/>
          </p:nvPr>
        </p:nvSpPr>
        <p:spPr/>
        <p:txBody>
          <a:bodyPr/>
          <a:lstStyle/>
          <a:p>
            <a:r>
              <a:rPr lang="zh-CN" altLang="en-US"/>
              <a:t>单击此处编辑母版标题样式</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a:t>单击此处编辑母版文本样式</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a:t>单击此处编辑母版文本样式</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B5BD1D45-E3BC-449A-A2CA-DC7EEC7FF1AB}" type="datetime1">
              <a:rPr lang="zh-CN" altLang="en-US" smtClean="0"/>
              <a:pPr/>
              <a:t>2025/5/4</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B7996B2F-325E-4DB5-B672-90AD506B448C}" type="datetime1">
              <a:rPr lang="zh-CN" altLang="en-US" smtClean="0"/>
              <a:pPr/>
              <a:t>2025/5/4</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6B2991-BBE5-4E69-A281-1A8B0AE9CDD7}" type="datetime1">
              <a:rPr lang="zh-CN" altLang="en-US" smtClean="0"/>
              <a:pPr/>
              <a:t>2025/5/4</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a:t>单击此处编辑母版标题样式</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zh-CN" altLang="en-US"/>
              <a:t>单击此处编辑母版文本样式</a:t>
            </a:r>
          </a:p>
        </p:txBody>
      </p:sp>
      <p:sp>
        <p:nvSpPr>
          <p:cNvPr id="5" name="Date Placeholder 4"/>
          <p:cNvSpPr>
            <a:spLocks noGrp="1"/>
          </p:cNvSpPr>
          <p:nvPr>
            <p:ph type="dt" sz="half" idx="10"/>
          </p:nvPr>
        </p:nvSpPr>
        <p:spPr/>
        <p:txBody>
          <a:bodyPr/>
          <a:lstStyle/>
          <a:p>
            <a:fld id="{998D44D8-17C8-4EF3-AEA6-26CE6DA18EE0}" type="datetime1">
              <a:rPr lang="zh-CN" altLang="en-US" smtClean="0"/>
              <a:pPr/>
              <a:t>2025/5/4</a:t>
            </a:fld>
            <a:endParaRPr lang="zh-CN" altLang="en-US"/>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zh-CN" altLang="en-US"/>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zh-CN" altLang="en-US"/>
              <a:t>单击图标添加图片</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zh-CN" altLang="en-US"/>
              <a:t>单击此处编辑母版标题样式</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FB116A5A-BD99-4717-BAC1-7A32521A6EAD}" type="datetime1">
              <a:rPr lang="zh-CN" altLang="en-US" smtClean="0"/>
              <a:pPr/>
              <a:t>2025/5/4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5D1CC93F-9B3C-4EE7-9870-3D016680E837}" type="datetime1">
              <a:rPr lang="zh-CN" altLang="en-US" smtClean="0"/>
              <a:pPr/>
              <a:t>2025/5/4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9D16CA2C-5ACD-411C-BC33-FE293CBE3AB9}" type="datetime1">
              <a:rPr lang="zh-CN" altLang="en-US" smtClean="0"/>
              <a:pPr/>
              <a:t>2025/5/4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6309319"/>
            <a:ext cx="3574257" cy="548681"/>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6309319"/>
            <a:ext cx="9146380" cy="548682"/>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251520" y="6451667"/>
            <a:ext cx="1533226" cy="263984"/>
          </a:xfrm>
          <a:prstGeom prst="rect">
            <a:avLst/>
          </a:prstGeom>
        </p:spPr>
        <p:txBody>
          <a:bodyPr vert="horz" lIns="91440" tIns="45720" rIns="91440" bIns="45720" rtlCol="0" anchor="ctr"/>
          <a:lstStyle>
            <a:lvl1pPr algn="l">
              <a:defRPr sz="1200">
                <a:solidFill>
                  <a:srgbClr val="FFFFFF"/>
                </a:solidFill>
              </a:defRPr>
            </a:lvl1pPr>
          </a:lstStyle>
          <a:p>
            <a:fld id="{42F99069-F18D-4F57-97B5-E5E224D09DA9}" type="datetime1">
              <a:rPr lang="zh-CN" altLang="en-US" smtClean="0"/>
              <a:pPr/>
              <a:t>2025/5/4</a:t>
            </a:fld>
            <a:endParaRPr lang="zh-CN" altLang="en-US"/>
          </a:p>
        </p:txBody>
      </p:sp>
      <p:sp>
        <p:nvSpPr>
          <p:cNvPr id="5" name="Footer Placeholder 4"/>
          <p:cNvSpPr>
            <a:spLocks noGrp="1"/>
          </p:cNvSpPr>
          <p:nvPr>
            <p:ph type="ftr" sz="quarter" idx="3"/>
          </p:nvPr>
        </p:nvSpPr>
        <p:spPr>
          <a:xfrm>
            <a:off x="3561570" y="6446499"/>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8460432" y="6332199"/>
            <a:ext cx="502920" cy="502920"/>
          </a:xfrm>
          <a:prstGeom prst="ellipse">
            <a:avLst/>
          </a:prstGeom>
          <a:ln w="19050">
            <a:solidFill>
              <a:srgbClr val="FFFFFF"/>
            </a:solidFill>
          </a:ln>
        </p:spPr>
        <p:txBody>
          <a:bodyPr vert="horz" lIns="9144" tIns="9144" rIns="9144" bIns="9144" rtlCol="0" anchor="ctr">
            <a:normAutofit/>
          </a:bodyPr>
          <a:lstStyle>
            <a:lvl1pPr algn="ctr">
              <a:defRPr sz="1650">
                <a:solidFill>
                  <a:srgbClr val="FFFFFF"/>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hf sldNum="0" hdr="0" ftr="0"/>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33.png"/><Relationship Id="rId4" Type="http://schemas.openxmlformats.org/officeDocument/2006/relationships/image" Target="../media/image32.w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5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7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506556" y="1628800"/>
            <a:ext cx="5648623" cy="1204306"/>
          </a:xfrm>
        </p:spPr>
        <p:txBody>
          <a:bodyPr/>
          <a:lstStyle/>
          <a:p>
            <a:r>
              <a:rPr lang="zh-CN" altLang="zh-CN" sz="4400" b="1" dirty="0"/>
              <a:t>第</a:t>
            </a:r>
            <a:r>
              <a:rPr lang="en-US" altLang="zh-CN" sz="4400" b="1" dirty="0"/>
              <a:t>6</a:t>
            </a:r>
            <a:r>
              <a:rPr lang="zh-CN" altLang="zh-CN" sz="4400" b="1" dirty="0"/>
              <a:t>章 图</a:t>
            </a:r>
            <a:endParaRPr lang="zh-CN" altLang="zh-CN" sz="4400" dirty="0"/>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504" y="116632"/>
            <a:ext cx="798104" cy="7991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933802" y="146299"/>
            <a:ext cx="4267944" cy="461665"/>
          </a:xfrm>
          <a:prstGeom prst="rect">
            <a:avLst/>
          </a:prstGeom>
        </p:spPr>
        <p:txBody>
          <a:bodyPr wrap="square">
            <a:spAutoFit/>
          </a:bodyPr>
          <a:lstStyle/>
          <a:p>
            <a:r>
              <a:rPr lang="zh-CN" altLang="en-US" sz="2400" cap="all" dirty="0">
                <a:solidFill>
                  <a:srgbClr val="0000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cs typeface="+mj-cs"/>
              </a:rPr>
              <a:t>数据结构与算法</a:t>
            </a:r>
            <a:endParaRPr lang="zh-CN" altLang="en-US" sz="2400" dirty="0">
              <a:latin typeface="方正舒体" panose="02010601030101010101" pitchFamily="2" charset="-122"/>
              <a:ea typeface="方正舒体" panose="02010601030101010101" pitchFamily="2" charset="-122"/>
            </a:endParaRPr>
          </a:p>
        </p:txBody>
      </p:sp>
      <p:sp>
        <p:nvSpPr>
          <p:cNvPr id="6" name="圆角矩形 5"/>
          <p:cNvSpPr/>
          <p:nvPr/>
        </p:nvSpPr>
        <p:spPr>
          <a:xfrm>
            <a:off x="4355975" y="2852936"/>
            <a:ext cx="4852745" cy="2664296"/>
          </a:xfrm>
          <a:prstGeom prst="round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nSpc>
                <a:spcPct val="120000"/>
              </a:lnSpc>
            </a:pPr>
            <a:r>
              <a:rPr lang="zh-CN" altLang="zh-CN" sz="3200" b="1" dirty="0">
                <a:effectLst>
                  <a:outerShdw blurRad="38100" dist="38100" dir="2700000" algn="tl">
                    <a:srgbClr val="000000">
                      <a:alpha val="43137"/>
                    </a:srgbClr>
                  </a:outerShdw>
                </a:effectLst>
              </a:rPr>
              <a:t>知识要点</a:t>
            </a:r>
            <a:endParaRPr lang="en-US" altLang="zh-CN" sz="2400" dirty="0"/>
          </a:p>
          <a:p>
            <a:r>
              <a:rPr lang="en-US" altLang="zh-CN" sz="2000" dirty="0"/>
              <a:t>(1) </a:t>
            </a:r>
            <a:r>
              <a:rPr lang="zh-CN" altLang="zh-CN" sz="2000" dirty="0"/>
              <a:t>掌握图的定义和术语，熟悉图的各种存储结构；</a:t>
            </a:r>
          </a:p>
          <a:p>
            <a:r>
              <a:rPr lang="en-US" altLang="zh-CN" sz="2000" dirty="0"/>
              <a:t>(2) </a:t>
            </a:r>
            <a:r>
              <a:rPr lang="zh-CN" altLang="zh-CN" sz="2000" dirty="0"/>
              <a:t>熟练掌握图的两种遍历策略；</a:t>
            </a:r>
          </a:p>
          <a:p>
            <a:r>
              <a:rPr lang="en-US" altLang="zh-CN" sz="2000" dirty="0"/>
              <a:t>(3) </a:t>
            </a:r>
            <a:r>
              <a:rPr lang="zh-CN" altLang="zh-CN" sz="2000" dirty="0"/>
              <a:t>理解图的各种应用算法。</a:t>
            </a:r>
          </a:p>
        </p:txBody>
      </p:sp>
      <p:sp>
        <p:nvSpPr>
          <p:cNvPr id="7" name="副标题 2"/>
          <p:cNvSpPr txBox="1">
            <a:spLocks/>
          </p:cNvSpPr>
          <p:nvPr/>
        </p:nvSpPr>
        <p:spPr>
          <a:xfrm>
            <a:off x="3563889" y="5949280"/>
            <a:ext cx="5976664" cy="886002"/>
          </a:xfrm>
          <a:prstGeom prst="rect">
            <a:avLst/>
          </a:prstGeom>
        </p:spPr>
        <p:txBody>
          <a:bodyPr vert="horz" lIns="91440" tIns="9144" rIns="91440" bIns="45720" rtlCol="0">
            <a:normAutofit/>
          </a:bodyPr>
          <a:lstStyle>
            <a:lvl1pPr marL="0" indent="0" algn="l" defTabSz="914400" rtl="0" eaLnBrk="1" latinLnBrk="0" hangingPunct="1">
              <a:spcBef>
                <a:spcPts val="800"/>
              </a:spcBef>
              <a:buFont typeface="Arial" pitchFamily="34" charse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2pPr>
            <a:lvl3pPr marL="9144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3pPr>
            <a:lvl4pPr marL="13716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4pPr>
            <a:lvl5pPr marL="18288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5pPr>
            <a:lvl6pPr marL="22860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6pPr>
            <a:lvl7pPr marL="27432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7pPr>
            <a:lvl8pPr marL="32004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8pPr>
            <a:lvl9pPr marL="36576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9pPr>
          </a:lstStyle>
          <a:p>
            <a:pPr algn="ctr"/>
            <a:r>
              <a:rPr lang="zh-CN" altLang="en-US" sz="1800" i="1" dirty="0">
                <a:latin typeface="华文行楷" panose="02010800040101010101" pitchFamily="2" charset="-122"/>
                <a:ea typeface="华文行楷" panose="02010800040101010101" pitchFamily="2" charset="-122"/>
              </a:rPr>
              <a:t>西安交通大学计算机科学与技术系</a:t>
            </a:r>
          </a:p>
          <a:p>
            <a:pPr algn="ctr"/>
            <a:r>
              <a:rPr lang="en-US" altLang="zh-CN" sz="1800" i="1" dirty="0">
                <a:latin typeface="华文行楷" panose="02010800040101010101" pitchFamily="2" charset="-122"/>
                <a:ea typeface="华文行楷" panose="02010800040101010101" pitchFamily="2" charset="-122"/>
              </a:rPr>
              <a:t>2016</a:t>
            </a:r>
            <a:endParaRPr lang="zh-CN" altLang="en-US" sz="1800" i="1" dirty="0">
              <a:latin typeface="华文行楷" panose="02010800040101010101" pitchFamily="2" charset="-122"/>
              <a:ea typeface="华文行楷" panose="02010800040101010101" pitchFamily="2" charset="-122"/>
            </a:endParaRPr>
          </a:p>
        </p:txBody>
      </p:sp>
      <p:sp>
        <p:nvSpPr>
          <p:cNvPr id="8" name="日期占位符 5"/>
          <p:cNvSpPr>
            <a:spLocks noGrp="1"/>
          </p:cNvSpPr>
          <p:nvPr>
            <p:ph type="dt" sz="half" idx="10"/>
          </p:nvPr>
        </p:nvSpPr>
        <p:spPr>
          <a:xfrm>
            <a:off x="-36512" y="6485577"/>
            <a:ext cx="1123132" cy="227149"/>
          </a:xfrm>
        </p:spPr>
        <p:txBody>
          <a:bodyPr/>
          <a:lstStyle/>
          <a:p>
            <a:fld id="{FE3E9456-702B-478D-AFB3-A22B853B09FE}" type="datetime1">
              <a:rPr lang="zh-CN" altLang="en-US" smtClean="0"/>
              <a:pPr/>
              <a:t>2025/5/4</a:t>
            </a:fld>
            <a:endParaRPr lang="zh-CN" altLang="en-US" dirty="0"/>
          </a:p>
        </p:txBody>
      </p:sp>
    </p:spTree>
    <p:extLst>
      <p:ext uri="{BB962C8B-B14F-4D97-AF65-F5344CB8AC3E}">
        <p14:creationId xmlns:p14="http://schemas.microsoft.com/office/powerpoint/2010/main" val="262741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6.1  </a:t>
            </a:r>
            <a:r>
              <a:rPr lang="zh-CN" altLang="zh-CN" b="1" dirty="0"/>
              <a:t>图的定义和术语</a:t>
            </a:r>
            <a:endParaRPr lang="zh-CN" altLang="en-US" dirty="0"/>
          </a:p>
        </p:txBody>
      </p:sp>
      <p:sp>
        <p:nvSpPr>
          <p:cNvPr id="3" name="内容占位符 2"/>
          <p:cNvSpPr>
            <a:spLocks noGrp="1"/>
          </p:cNvSpPr>
          <p:nvPr>
            <p:ph idx="1"/>
          </p:nvPr>
        </p:nvSpPr>
        <p:spPr>
          <a:xfrm>
            <a:off x="827584" y="1628800"/>
            <a:ext cx="7920880" cy="4536504"/>
          </a:xfrm>
        </p:spPr>
        <p:txBody>
          <a:bodyPr>
            <a:normAutofit fontScale="92500" lnSpcReduction="10000"/>
          </a:bodyPr>
          <a:lstStyle/>
          <a:p>
            <a:pPr>
              <a:buFont typeface="Wingdings" panose="05000000000000000000" pitchFamily="2" charset="2"/>
              <a:buChar char="l"/>
            </a:pPr>
            <a:r>
              <a:rPr lang="zh-CN" altLang="zh-CN" dirty="0">
                <a:solidFill>
                  <a:srgbClr val="FF0000"/>
                </a:solidFill>
              </a:rPr>
              <a:t>图</a:t>
            </a:r>
            <a:r>
              <a:rPr lang="en-US" altLang="zh-CN" dirty="0">
                <a:solidFill>
                  <a:srgbClr val="FF0000"/>
                </a:solidFill>
              </a:rPr>
              <a:t>G</a:t>
            </a:r>
            <a:r>
              <a:rPr lang="zh-CN" altLang="zh-CN" b="0" dirty="0"/>
              <a:t>是由表示数据元素的集合</a:t>
            </a:r>
            <a:r>
              <a:rPr lang="en-US" altLang="zh-CN" b="0" dirty="0"/>
              <a:t>V</a:t>
            </a:r>
            <a:r>
              <a:rPr lang="zh-CN" altLang="zh-CN" b="0" dirty="0"/>
              <a:t>和表示数据元素之间关系的集合</a:t>
            </a:r>
            <a:r>
              <a:rPr lang="en-US" altLang="zh-CN" b="0" dirty="0"/>
              <a:t>E</a:t>
            </a:r>
            <a:r>
              <a:rPr lang="zh-CN" altLang="zh-CN" b="0" dirty="0"/>
              <a:t>组成，</a:t>
            </a:r>
            <a:r>
              <a:rPr lang="zh-CN" altLang="zh-CN" dirty="0">
                <a:solidFill>
                  <a:srgbClr val="FF0000"/>
                </a:solidFill>
              </a:rPr>
              <a:t>记为</a:t>
            </a:r>
            <a:r>
              <a:rPr lang="en-US" altLang="zh-CN" dirty="0">
                <a:solidFill>
                  <a:srgbClr val="FF0000"/>
                </a:solidFill>
              </a:rPr>
              <a:t>G = ( V, E )</a:t>
            </a:r>
            <a:r>
              <a:rPr lang="zh-CN" altLang="zh-CN" b="0" dirty="0"/>
              <a:t>。</a:t>
            </a:r>
            <a:endParaRPr lang="en-US" altLang="zh-CN" b="0" dirty="0"/>
          </a:p>
          <a:p>
            <a:pPr>
              <a:buFont typeface="Wingdings" panose="05000000000000000000" pitchFamily="2" charset="2"/>
              <a:buChar char="l"/>
            </a:pPr>
            <a:r>
              <a:rPr lang="zh-CN" altLang="zh-CN" b="0" dirty="0"/>
              <a:t>在图中，数据元素通常称作</a:t>
            </a:r>
            <a:r>
              <a:rPr lang="zh-CN" altLang="zh-CN" dirty="0">
                <a:solidFill>
                  <a:srgbClr val="FF0000"/>
                </a:solidFill>
              </a:rPr>
              <a:t>顶点</a:t>
            </a:r>
            <a:r>
              <a:rPr lang="zh-CN" altLang="zh-CN" b="0" dirty="0"/>
              <a:t>，</a:t>
            </a:r>
            <a:r>
              <a:rPr lang="en-US" altLang="zh-CN" b="0" dirty="0"/>
              <a:t>V</a:t>
            </a:r>
            <a:r>
              <a:rPr lang="zh-CN" altLang="zh-CN" b="0" dirty="0"/>
              <a:t>是有限非空的顶点集合；</a:t>
            </a:r>
            <a:endParaRPr lang="en-US" altLang="zh-CN" b="0" dirty="0"/>
          </a:p>
          <a:p>
            <a:pPr>
              <a:buFont typeface="Wingdings" panose="05000000000000000000" pitchFamily="2" charset="2"/>
              <a:buChar char="l"/>
            </a:pPr>
            <a:r>
              <a:rPr lang="zh-CN" altLang="zh-CN" b="0" dirty="0"/>
              <a:t>顶点的偶对称为</a:t>
            </a:r>
            <a:r>
              <a:rPr lang="zh-CN" altLang="zh-CN" dirty="0">
                <a:solidFill>
                  <a:srgbClr val="FF0000"/>
                </a:solidFill>
              </a:rPr>
              <a:t>边</a:t>
            </a:r>
            <a:r>
              <a:rPr lang="zh-CN" altLang="zh-CN" b="0" dirty="0"/>
              <a:t>，</a:t>
            </a:r>
            <a:r>
              <a:rPr lang="en-US" altLang="zh-CN" b="0" dirty="0"/>
              <a:t>E</a:t>
            </a:r>
            <a:r>
              <a:rPr lang="zh-CN" altLang="zh-CN" b="0" dirty="0"/>
              <a:t>是两个顶点之间具有关系的边集合。</a:t>
            </a:r>
            <a:endParaRPr lang="en-US" altLang="zh-CN" b="0" dirty="0"/>
          </a:p>
          <a:p>
            <a:pPr>
              <a:buFont typeface="Wingdings" panose="05000000000000000000" pitchFamily="2" charset="2"/>
              <a:buChar char="l"/>
            </a:pPr>
            <a:r>
              <a:rPr lang="zh-CN" altLang="zh-CN" b="0" dirty="0"/>
              <a:t>一个</a:t>
            </a:r>
            <a:r>
              <a:rPr lang="zh-CN" altLang="zh-CN" dirty="0">
                <a:solidFill>
                  <a:srgbClr val="FF0000"/>
                </a:solidFill>
              </a:rPr>
              <a:t>图可以形式化定义为</a:t>
            </a:r>
            <a:r>
              <a:rPr lang="zh-CN" altLang="zh-CN" b="0" dirty="0"/>
              <a:t>：</a:t>
            </a:r>
          </a:p>
          <a:p>
            <a:r>
              <a:rPr lang="en-US" altLang="zh-CN" b="0" dirty="0"/>
              <a:t>	G = ( V, E )</a:t>
            </a:r>
            <a:endParaRPr lang="zh-CN" altLang="zh-CN" b="0" dirty="0"/>
          </a:p>
          <a:p>
            <a:r>
              <a:rPr lang="en-US" altLang="zh-CN" b="0" dirty="0"/>
              <a:t>	V = {v</a:t>
            </a:r>
            <a:r>
              <a:rPr lang="en-US" altLang="zh-CN" b="0" baseline="-25000" dirty="0"/>
              <a:t>i</a:t>
            </a:r>
            <a:r>
              <a:rPr lang="en-US" altLang="zh-CN" b="0" dirty="0"/>
              <a:t> | v</a:t>
            </a:r>
            <a:r>
              <a:rPr lang="en-US" altLang="zh-CN" b="0" baseline="-25000" dirty="0"/>
              <a:t>i</a:t>
            </a:r>
            <a:r>
              <a:rPr lang="zh-CN" altLang="zh-CN" b="0" dirty="0"/>
              <a:t>∈数据对象</a:t>
            </a:r>
            <a:r>
              <a:rPr lang="en-US" altLang="zh-CN" b="0" dirty="0"/>
              <a:t>}</a:t>
            </a:r>
            <a:endParaRPr lang="zh-CN" altLang="zh-CN" b="0" dirty="0"/>
          </a:p>
          <a:p>
            <a:r>
              <a:rPr lang="en-US" altLang="zh-CN" b="0" dirty="0"/>
              <a:t>	E = {&lt;v</a:t>
            </a:r>
            <a:r>
              <a:rPr lang="en-US" altLang="zh-CN" b="0" baseline="-25000" dirty="0"/>
              <a:t>i</a:t>
            </a:r>
            <a:r>
              <a:rPr lang="en-US" altLang="zh-CN" b="0" dirty="0"/>
              <a:t>, </a:t>
            </a:r>
            <a:r>
              <a:rPr lang="en-US" altLang="zh-CN" b="0" dirty="0" err="1"/>
              <a:t>v</a:t>
            </a:r>
            <a:r>
              <a:rPr lang="en-US" altLang="zh-CN" b="0" baseline="-25000" dirty="0" err="1"/>
              <a:t>j</a:t>
            </a:r>
            <a:r>
              <a:rPr lang="en-US" altLang="zh-CN" b="0" dirty="0"/>
              <a:t>&gt; | v</a:t>
            </a:r>
            <a:r>
              <a:rPr lang="en-US" altLang="zh-CN" b="0" baseline="-25000" dirty="0"/>
              <a:t>i</a:t>
            </a:r>
            <a:r>
              <a:rPr lang="en-US" altLang="zh-CN" b="0" dirty="0"/>
              <a:t>, </a:t>
            </a:r>
            <a:r>
              <a:rPr lang="en-US" altLang="zh-CN" b="0" dirty="0" err="1"/>
              <a:t>v</a:t>
            </a:r>
            <a:r>
              <a:rPr lang="en-US" altLang="zh-CN" b="0" baseline="-25000" dirty="0" err="1"/>
              <a:t>j</a:t>
            </a:r>
            <a:r>
              <a:rPr lang="zh-CN" altLang="zh-CN" b="0" dirty="0"/>
              <a:t>∈</a:t>
            </a:r>
            <a:r>
              <a:rPr lang="en-US" altLang="zh-CN" b="0" dirty="0"/>
              <a:t>V</a:t>
            </a:r>
            <a:r>
              <a:rPr lang="zh-CN" altLang="zh-CN" b="0" dirty="0"/>
              <a:t>∧</a:t>
            </a:r>
            <a:r>
              <a:rPr lang="en-US" altLang="zh-CN" b="0" dirty="0"/>
              <a:t>P(v</a:t>
            </a:r>
            <a:r>
              <a:rPr lang="en-US" altLang="zh-CN" b="0" baseline="-25000" dirty="0"/>
              <a:t>i</a:t>
            </a:r>
            <a:r>
              <a:rPr lang="en-US" altLang="zh-CN" b="0" dirty="0"/>
              <a:t>, </a:t>
            </a:r>
            <a:r>
              <a:rPr lang="en-US" altLang="zh-CN" b="0" dirty="0" err="1"/>
              <a:t>v</a:t>
            </a:r>
            <a:r>
              <a:rPr lang="en-US" altLang="zh-CN" b="0" baseline="-25000" dirty="0" err="1"/>
              <a:t>j</a:t>
            </a:r>
            <a:r>
              <a:rPr lang="en-US" altLang="zh-CN" b="0" dirty="0"/>
              <a:t>)}</a:t>
            </a:r>
            <a:endParaRPr lang="zh-CN" altLang="zh-CN" b="0" dirty="0"/>
          </a:p>
          <a:p>
            <a:r>
              <a:rPr lang="en-US" altLang="zh-CN" b="0" dirty="0"/>
              <a:t>	</a:t>
            </a:r>
            <a:r>
              <a:rPr lang="zh-CN" altLang="zh-CN" b="0" dirty="0"/>
              <a:t>其中，</a:t>
            </a:r>
            <a:r>
              <a:rPr lang="en-US" altLang="zh-CN" b="0" dirty="0"/>
              <a:t>v</a:t>
            </a:r>
            <a:r>
              <a:rPr lang="en-US" altLang="zh-CN" b="0" baseline="-25000" dirty="0"/>
              <a:t>i</a:t>
            </a:r>
            <a:r>
              <a:rPr lang="en-US" altLang="zh-CN" b="0" dirty="0"/>
              <a:t>, </a:t>
            </a:r>
            <a:r>
              <a:rPr lang="en-US" altLang="zh-CN" b="0" dirty="0" err="1"/>
              <a:t>v</a:t>
            </a:r>
            <a:r>
              <a:rPr lang="en-US" altLang="zh-CN" b="0" baseline="-25000" dirty="0" err="1"/>
              <a:t>j</a:t>
            </a:r>
            <a:r>
              <a:rPr lang="zh-CN" altLang="zh-CN" b="0" dirty="0"/>
              <a:t>为数据元素，称为顶点，</a:t>
            </a:r>
            <a:r>
              <a:rPr lang="en-US" altLang="zh-CN" b="0" dirty="0"/>
              <a:t>P(v</a:t>
            </a:r>
            <a:r>
              <a:rPr lang="en-US" altLang="zh-CN" b="0" baseline="-25000" dirty="0"/>
              <a:t>i</a:t>
            </a:r>
            <a:r>
              <a:rPr lang="en-US" altLang="zh-CN" b="0" dirty="0"/>
              <a:t>, </a:t>
            </a:r>
            <a:r>
              <a:rPr lang="en-US" altLang="zh-CN" b="0" dirty="0" err="1"/>
              <a:t>v</a:t>
            </a:r>
            <a:r>
              <a:rPr lang="en-US" altLang="zh-CN" b="0" baseline="-25000" dirty="0" err="1"/>
              <a:t>j</a:t>
            </a:r>
            <a:r>
              <a:rPr lang="en-US" altLang="zh-CN" b="0" dirty="0"/>
              <a:t>)</a:t>
            </a:r>
            <a:r>
              <a:rPr lang="zh-CN" altLang="zh-CN" b="0" dirty="0"/>
              <a:t>表示在顶点</a:t>
            </a:r>
            <a:r>
              <a:rPr lang="en-US" altLang="zh-CN" b="0" dirty="0"/>
              <a:t>v</a:t>
            </a:r>
            <a:r>
              <a:rPr lang="en-US" altLang="zh-CN" b="0" baseline="-25000" dirty="0"/>
              <a:t>i</a:t>
            </a:r>
            <a:r>
              <a:rPr lang="zh-CN" altLang="zh-CN" b="0" dirty="0"/>
              <a:t>和顶点</a:t>
            </a:r>
            <a:r>
              <a:rPr lang="en-US" altLang="zh-CN" b="0" dirty="0" err="1"/>
              <a:t>v</a:t>
            </a:r>
            <a:r>
              <a:rPr lang="en-US" altLang="zh-CN" b="0" baseline="-25000" dirty="0" err="1"/>
              <a:t>j</a:t>
            </a:r>
            <a:r>
              <a:rPr lang="zh-CN" altLang="zh-CN" b="0" dirty="0"/>
              <a:t>之间有一条边，即</a:t>
            </a:r>
            <a:r>
              <a:rPr lang="en-US" altLang="zh-CN" b="0" dirty="0"/>
              <a:t>v</a:t>
            </a:r>
            <a:r>
              <a:rPr lang="en-US" altLang="zh-CN" b="0" baseline="-25000" dirty="0"/>
              <a:t>i</a:t>
            </a:r>
            <a:r>
              <a:rPr lang="zh-CN" altLang="zh-CN" b="0" dirty="0"/>
              <a:t>和</a:t>
            </a:r>
            <a:r>
              <a:rPr lang="en-US" altLang="zh-CN" b="0" dirty="0" err="1"/>
              <a:t>v</a:t>
            </a:r>
            <a:r>
              <a:rPr lang="en-US" altLang="zh-CN" b="0" baseline="-25000" dirty="0" err="1"/>
              <a:t>j</a:t>
            </a:r>
            <a:r>
              <a:rPr lang="zh-CN" altLang="zh-CN" b="0" dirty="0"/>
              <a:t>之间存在一个关系。</a:t>
            </a:r>
          </a:p>
          <a:p>
            <a:endParaRPr lang="zh-CN" altLang="en-US" dirty="0"/>
          </a:p>
        </p:txBody>
      </p:sp>
    </p:spTree>
    <p:extLst>
      <p:ext uri="{BB962C8B-B14F-4D97-AF65-F5344CB8AC3E}">
        <p14:creationId xmlns:p14="http://schemas.microsoft.com/office/powerpoint/2010/main" val="539862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124744"/>
            <a:ext cx="7520940" cy="3579849"/>
          </a:xfrm>
        </p:spPr>
        <p:txBody>
          <a:bodyPr/>
          <a:lstStyle/>
          <a:p>
            <a:pPr marL="0" indent="0"/>
            <a:r>
              <a:rPr lang="zh-CN" altLang="zh-CN" b="0" dirty="0"/>
              <a:t>若顶点</a:t>
            </a:r>
            <a:r>
              <a:rPr lang="en-US" altLang="zh-CN" b="0" dirty="0"/>
              <a:t>v</a:t>
            </a:r>
            <a:r>
              <a:rPr lang="en-US" altLang="zh-CN" b="0" baseline="-25000" dirty="0"/>
              <a:t>i</a:t>
            </a:r>
            <a:r>
              <a:rPr lang="zh-CN" altLang="zh-CN" b="0" dirty="0"/>
              <a:t>和</a:t>
            </a:r>
            <a:r>
              <a:rPr lang="en-US" altLang="zh-CN" b="0" dirty="0" err="1"/>
              <a:t>v</a:t>
            </a:r>
            <a:r>
              <a:rPr lang="en-US" altLang="zh-CN" b="0" baseline="-25000" dirty="0" err="1"/>
              <a:t>j</a:t>
            </a:r>
            <a:r>
              <a:rPr lang="zh-CN" altLang="zh-CN" b="0" dirty="0"/>
              <a:t>之间的</a:t>
            </a:r>
            <a:r>
              <a:rPr lang="zh-CN" altLang="zh-CN" b="0" dirty="0">
                <a:solidFill>
                  <a:srgbClr val="FF0000"/>
                </a:solidFill>
              </a:rPr>
              <a:t>边没有方向</a:t>
            </a:r>
            <a:r>
              <a:rPr lang="zh-CN" altLang="zh-CN" b="0" dirty="0"/>
              <a:t>，则称这条边为</a:t>
            </a:r>
            <a:r>
              <a:rPr lang="zh-CN" altLang="zh-CN" dirty="0">
                <a:solidFill>
                  <a:srgbClr val="FF0000"/>
                </a:solidFill>
              </a:rPr>
              <a:t>无向边</a:t>
            </a:r>
            <a:r>
              <a:rPr lang="zh-CN" altLang="zh-CN" b="0" dirty="0"/>
              <a:t>，表示为</a:t>
            </a:r>
            <a:r>
              <a:rPr lang="en-US" altLang="zh-CN" b="0" dirty="0"/>
              <a:t>(v</a:t>
            </a:r>
            <a:r>
              <a:rPr lang="en-US" altLang="zh-CN" b="0" baseline="-25000" dirty="0"/>
              <a:t>i</a:t>
            </a:r>
            <a:r>
              <a:rPr lang="en-US" altLang="zh-CN" b="0" dirty="0"/>
              <a:t>, </a:t>
            </a:r>
            <a:r>
              <a:rPr lang="en-US" altLang="zh-CN" b="0" dirty="0" err="1"/>
              <a:t>v</a:t>
            </a:r>
            <a:r>
              <a:rPr lang="en-US" altLang="zh-CN" b="0" baseline="-25000" dirty="0" err="1"/>
              <a:t>j</a:t>
            </a:r>
            <a:r>
              <a:rPr lang="en-US" altLang="zh-CN" b="0" dirty="0"/>
              <a:t>)</a:t>
            </a:r>
            <a:r>
              <a:rPr lang="zh-CN" altLang="zh-CN" b="0" dirty="0"/>
              <a:t>。如果图中任意两个顶点之间的边都是无向边，则称该图为</a:t>
            </a:r>
            <a:r>
              <a:rPr lang="zh-CN" altLang="zh-CN" dirty="0">
                <a:solidFill>
                  <a:srgbClr val="FF0000"/>
                </a:solidFill>
              </a:rPr>
              <a:t>无向图</a:t>
            </a:r>
            <a:r>
              <a:rPr lang="en-US" altLang="zh-CN" b="0" dirty="0"/>
              <a:t>(</a:t>
            </a:r>
            <a:r>
              <a:rPr lang="en-US" altLang="zh-CN" b="0" dirty="0" err="1"/>
              <a:t>Undigraph</a:t>
            </a:r>
            <a:r>
              <a:rPr lang="en-US" altLang="zh-CN" b="0" dirty="0"/>
              <a:t>)</a:t>
            </a:r>
            <a:r>
              <a:rPr lang="zh-CN" altLang="zh-CN" b="0" dirty="0"/>
              <a:t>。</a:t>
            </a:r>
            <a:endParaRPr lang="zh-CN" altLang="en-US" b="0" dirty="0"/>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7584" y="2708920"/>
            <a:ext cx="2990850" cy="2828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3666578" y="2924944"/>
            <a:ext cx="5297910" cy="1938992"/>
          </a:xfrm>
          <a:prstGeom prst="rect">
            <a:avLst/>
          </a:prstGeom>
        </p:spPr>
        <p:txBody>
          <a:bodyPr wrap="square">
            <a:spAutoFit/>
          </a:bodyPr>
          <a:lstStyle/>
          <a:p>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无向图</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G</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1</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，可形式化的表示为：</a:t>
            </a:r>
          </a:p>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G</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 (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E</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V(G</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3</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4</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5</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E(G</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3</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4</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4</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p>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5</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3</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4</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4</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5</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矩形 4"/>
          <p:cNvSpPr/>
          <p:nvPr/>
        </p:nvSpPr>
        <p:spPr>
          <a:xfrm>
            <a:off x="3666578" y="5030013"/>
            <a:ext cx="5297910" cy="1200329"/>
          </a:xfrm>
          <a:prstGeom prst="rect">
            <a:avLst/>
          </a:prstGeom>
        </p:spPr>
        <p:txBody>
          <a:bodyPr wrap="square">
            <a:spAutoFit/>
          </a:bodyPr>
          <a:lstStyle/>
          <a:p>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在无向图中，对于任何</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i</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err="1">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aseline="-25000" dirty="0" err="1">
                <a:latin typeface="Times New Roman" panose="02020603050405020304" pitchFamily="18" charset="0"/>
                <a:ea typeface="楷体" panose="02010609060101010101" pitchFamily="49" charset="-122"/>
                <a:cs typeface="Times New Roman" panose="02020603050405020304" pitchFamily="18" charset="0"/>
              </a:rPr>
              <a:t>j</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E</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，必有</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err="1">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aseline="-25000" dirty="0" err="1">
                <a:latin typeface="Times New Roman" panose="02020603050405020304" pitchFamily="18" charset="0"/>
                <a:ea typeface="楷体" panose="02010609060101010101" pitchFamily="49" charset="-122"/>
                <a:cs typeface="Times New Roman" panose="02020603050405020304" pitchFamily="18" charset="0"/>
              </a:rPr>
              <a:t>j</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i</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E</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，即</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E</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是对称的，</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i</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err="1">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aseline="-25000" dirty="0" err="1">
                <a:latin typeface="Times New Roman" panose="02020603050405020304" pitchFamily="18" charset="0"/>
                <a:ea typeface="楷体" panose="02010609060101010101" pitchFamily="49" charset="-122"/>
                <a:cs typeface="Times New Roman" panose="02020603050405020304" pitchFamily="18" charset="0"/>
              </a:rPr>
              <a:t>j</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err="1">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aseline="-25000" dirty="0" err="1">
                <a:latin typeface="Times New Roman" panose="02020603050405020304" pitchFamily="18" charset="0"/>
                <a:ea typeface="楷体" panose="02010609060101010101" pitchFamily="49" charset="-122"/>
                <a:cs typeface="Times New Roman" panose="02020603050405020304" pitchFamily="18" charset="0"/>
              </a:rPr>
              <a:t>j</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i</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代表的是同一条边。</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215010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24744"/>
            <a:ext cx="7520940" cy="3579849"/>
          </a:xfrm>
        </p:spPr>
        <p:txBody>
          <a:bodyPr/>
          <a:lstStyle/>
          <a:p>
            <a:pPr marL="0" indent="0"/>
            <a:r>
              <a:rPr lang="zh-CN" altLang="zh-CN" b="0" dirty="0"/>
              <a:t>若顶点</a:t>
            </a:r>
            <a:r>
              <a:rPr lang="en-US" altLang="zh-CN" b="0" dirty="0"/>
              <a:t>v</a:t>
            </a:r>
            <a:r>
              <a:rPr lang="en-US" altLang="zh-CN" b="0" baseline="-25000" dirty="0"/>
              <a:t>i</a:t>
            </a:r>
            <a:r>
              <a:rPr lang="zh-CN" altLang="zh-CN" b="0" dirty="0"/>
              <a:t>和</a:t>
            </a:r>
            <a:r>
              <a:rPr lang="en-US" altLang="zh-CN" b="0" dirty="0" err="1"/>
              <a:t>v</a:t>
            </a:r>
            <a:r>
              <a:rPr lang="en-US" altLang="zh-CN" b="0" baseline="-25000" dirty="0" err="1"/>
              <a:t>j</a:t>
            </a:r>
            <a:r>
              <a:rPr lang="zh-CN" altLang="zh-CN" b="0" dirty="0"/>
              <a:t>之间的</a:t>
            </a:r>
            <a:r>
              <a:rPr lang="zh-CN" altLang="zh-CN" b="0" dirty="0">
                <a:solidFill>
                  <a:srgbClr val="FF0000"/>
                </a:solidFill>
              </a:rPr>
              <a:t>边有方向</a:t>
            </a:r>
            <a:r>
              <a:rPr lang="zh-CN" altLang="zh-CN" b="0" dirty="0"/>
              <a:t>，则称这条边为</a:t>
            </a:r>
            <a:r>
              <a:rPr lang="zh-CN" altLang="zh-CN" dirty="0">
                <a:solidFill>
                  <a:srgbClr val="FF0000"/>
                </a:solidFill>
              </a:rPr>
              <a:t>有向边</a:t>
            </a:r>
            <a:r>
              <a:rPr lang="zh-CN" altLang="zh-CN" b="0" dirty="0"/>
              <a:t>，表示为</a:t>
            </a:r>
            <a:r>
              <a:rPr lang="en-US" altLang="zh-CN" b="0" dirty="0"/>
              <a:t>&lt;v</a:t>
            </a:r>
            <a:r>
              <a:rPr lang="en-US" altLang="zh-CN" b="0" baseline="-25000" dirty="0"/>
              <a:t>i</a:t>
            </a:r>
            <a:r>
              <a:rPr lang="zh-CN" altLang="zh-CN" b="0" dirty="0"/>
              <a:t>，</a:t>
            </a:r>
            <a:r>
              <a:rPr lang="en-US" altLang="zh-CN" b="0" dirty="0" err="1"/>
              <a:t>v</a:t>
            </a:r>
            <a:r>
              <a:rPr lang="en-US" altLang="zh-CN" b="0" baseline="-25000" dirty="0" err="1"/>
              <a:t>j</a:t>
            </a:r>
            <a:r>
              <a:rPr lang="en-US" altLang="zh-CN" b="0" dirty="0"/>
              <a:t>&gt;</a:t>
            </a:r>
            <a:r>
              <a:rPr lang="zh-CN" altLang="zh-CN" b="0" dirty="0"/>
              <a:t>。如果图中任意两个顶点之间的边都是有向边，则称该图为</a:t>
            </a:r>
            <a:r>
              <a:rPr lang="zh-CN" altLang="zh-CN" dirty="0">
                <a:solidFill>
                  <a:srgbClr val="FF0000"/>
                </a:solidFill>
              </a:rPr>
              <a:t>有向图</a:t>
            </a:r>
            <a:r>
              <a:rPr lang="en-US" altLang="zh-CN" b="0" dirty="0"/>
              <a:t>(Digraph)</a:t>
            </a:r>
            <a:r>
              <a:rPr lang="zh-CN" altLang="zh-CN" b="0" dirty="0"/>
              <a:t>。在有向图中，</a:t>
            </a:r>
            <a:r>
              <a:rPr lang="en-US" altLang="zh-CN" b="0" dirty="0"/>
              <a:t>&lt;v</a:t>
            </a:r>
            <a:r>
              <a:rPr lang="en-US" altLang="zh-CN" b="0" baseline="-25000" dirty="0"/>
              <a:t>i</a:t>
            </a:r>
            <a:r>
              <a:rPr lang="en-US" altLang="zh-CN" b="0" dirty="0"/>
              <a:t>, </a:t>
            </a:r>
            <a:r>
              <a:rPr lang="en-US" altLang="zh-CN" b="0" dirty="0" err="1"/>
              <a:t>v</a:t>
            </a:r>
            <a:r>
              <a:rPr lang="en-US" altLang="zh-CN" b="0" baseline="-25000" dirty="0" err="1"/>
              <a:t>j</a:t>
            </a:r>
            <a:r>
              <a:rPr lang="en-US" altLang="zh-CN" b="0" dirty="0"/>
              <a:t>&gt;</a:t>
            </a:r>
            <a:r>
              <a:rPr lang="zh-CN" altLang="zh-CN" b="0" dirty="0"/>
              <a:t>表示从</a:t>
            </a:r>
            <a:r>
              <a:rPr lang="en-US" altLang="zh-CN" b="0" dirty="0"/>
              <a:t>v</a:t>
            </a:r>
            <a:r>
              <a:rPr lang="en-US" altLang="zh-CN" b="0" baseline="-25000" dirty="0"/>
              <a:t>i</a:t>
            </a:r>
            <a:r>
              <a:rPr lang="zh-CN" altLang="zh-CN" b="0" dirty="0"/>
              <a:t>到</a:t>
            </a:r>
            <a:r>
              <a:rPr lang="en-US" altLang="zh-CN" b="0" dirty="0" err="1"/>
              <a:t>v</a:t>
            </a:r>
            <a:r>
              <a:rPr lang="en-US" altLang="zh-CN" b="0" baseline="-25000" dirty="0" err="1"/>
              <a:t>j</a:t>
            </a:r>
            <a:r>
              <a:rPr lang="zh-CN" altLang="zh-CN" b="0" dirty="0"/>
              <a:t>的一条</a:t>
            </a:r>
            <a:r>
              <a:rPr lang="zh-CN" altLang="zh-CN" b="0" dirty="0">
                <a:solidFill>
                  <a:srgbClr val="FF0000"/>
                </a:solidFill>
              </a:rPr>
              <a:t>弧</a:t>
            </a:r>
            <a:r>
              <a:rPr lang="zh-CN" altLang="zh-CN" b="0" dirty="0"/>
              <a:t>，称</a:t>
            </a:r>
            <a:r>
              <a:rPr lang="en-US" altLang="zh-CN" b="0" dirty="0"/>
              <a:t>v</a:t>
            </a:r>
            <a:r>
              <a:rPr lang="en-US" altLang="zh-CN" b="0" baseline="-25000" dirty="0"/>
              <a:t>i</a:t>
            </a:r>
            <a:r>
              <a:rPr lang="zh-CN" altLang="zh-CN" b="0" dirty="0"/>
              <a:t>为</a:t>
            </a:r>
            <a:r>
              <a:rPr lang="zh-CN" altLang="zh-CN" b="0" dirty="0">
                <a:solidFill>
                  <a:srgbClr val="FF0000"/>
                </a:solidFill>
              </a:rPr>
              <a:t>弧尾或起点</a:t>
            </a:r>
            <a:r>
              <a:rPr lang="zh-CN" altLang="zh-CN" b="0" dirty="0"/>
              <a:t>， </a:t>
            </a:r>
            <a:r>
              <a:rPr lang="en-US" altLang="zh-CN" b="0" dirty="0" err="1"/>
              <a:t>v</a:t>
            </a:r>
            <a:r>
              <a:rPr lang="en-US" altLang="zh-CN" b="0" baseline="-25000" dirty="0" err="1"/>
              <a:t>j</a:t>
            </a:r>
            <a:r>
              <a:rPr lang="zh-CN" altLang="zh-CN" b="0" dirty="0"/>
              <a:t>为</a:t>
            </a:r>
            <a:r>
              <a:rPr lang="zh-CN" altLang="zh-CN" b="0" dirty="0">
                <a:solidFill>
                  <a:srgbClr val="FF0000"/>
                </a:solidFill>
              </a:rPr>
              <a:t>弧头或终点</a:t>
            </a:r>
            <a:r>
              <a:rPr lang="zh-CN" altLang="zh-CN" b="0" dirty="0"/>
              <a:t>。</a:t>
            </a:r>
            <a:endParaRPr lang="zh-CN" altLang="en-US" b="0" dirty="0"/>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7584" y="3416691"/>
            <a:ext cx="2628900" cy="2733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3995936" y="3789040"/>
            <a:ext cx="4968552" cy="1938992"/>
          </a:xfrm>
          <a:prstGeom prst="rect">
            <a:avLst/>
          </a:prstGeom>
        </p:spPr>
        <p:txBody>
          <a:bodyPr wrap="square">
            <a:spAutoFit/>
          </a:bodyPr>
          <a:lstStyle/>
          <a:p>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有向图</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G</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，可形式化的表示为：</a:t>
            </a:r>
          </a:p>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G</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E</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V(G</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3</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4</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5</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E(G</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 {&lt;v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&gt;, &lt;v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4</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&gt;, &lt;v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3</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&gt;, </a:t>
            </a:r>
          </a:p>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&lt;v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3</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5</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&gt;,&lt;v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4</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5</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&gt;, &lt;v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5</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&gt; }</a:t>
            </a: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543008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1000100" y="928670"/>
            <a:ext cx="7929618" cy="3579849"/>
          </a:xfrm>
        </p:spPr>
        <p:txBody>
          <a:bodyPr>
            <a:normAutofit/>
          </a:bodyPr>
          <a:lstStyle/>
          <a:p>
            <a:pPr>
              <a:buFont typeface="Arial" pitchFamily="34" charset="0"/>
              <a:buChar char="•"/>
            </a:pPr>
            <a:r>
              <a:rPr lang="zh-CN" altLang="en-US" b="0" dirty="0"/>
              <a:t>在无向图</a:t>
            </a:r>
            <a:r>
              <a:rPr lang="en-US" b="0" dirty="0"/>
              <a:t>G = ( V, E )</a:t>
            </a:r>
            <a:r>
              <a:rPr lang="zh-CN" altLang="en-US" b="0" dirty="0"/>
              <a:t>中，若</a:t>
            </a:r>
            <a:r>
              <a:rPr lang="en-US" b="0" dirty="0"/>
              <a:t>(v</a:t>
            </a:r>
            <a:r>
              <a:rPr lang="en-US" b="0" baseline="-25000" dirty="0"/>
              <a:t>i</a:t>
            </a:r>
            <a:r>
              <a:rPr lang="en-US" b="0" dirty="0"/>
              <a:t>, </a:t>
            </a:r>
            <a:r>
              <a:rPr lang="en-US" b="0" dirty="0" err="1"/>
              <a:t>v</a:t>
            </a:r>
            <a:r>
              <a:rPr lang="en-US" b="0" baseline="-25000" dirty="0" err="1"/>
              <a:t>j</a:t>
            </a:r>
            <a:r>
              <a:rPr lang="en-US" b="0" dirty="0"/>
              <a:t>)</a:t>
            </a:r>
            <a:r>
              <a:rPr lang="zh-CN" altLang="en-US" b="0" dirty="0"/>
              <a:t>∈</a:t>
            </a:r>
            <a:r>
              <a:rPr lang="en-US" b="0" dirty="0"/>
              <a:t>E</a:t>
            </a:r>
            <a:r>
              <a:rPr lang="zh-CN" altLang="en-US" b="0" dirty="0"/>
              <a:t>，则称顶点</a:t>
            </a:r>
            <a:r>
              <a:rPr lang="en-US" b="0" dirty="0"/>
              <a:t>v</a:t>
            </a:r>
            <a:r>
              <a:rPr lang="en-US" b="0" baseline="-25000" dirty="0"/>
              <a:t>i</a:t>
            </a:r>
            <a:r>
              <a:rPr lang="zh-CN" altLang="en-US" b="0" dirty="0"/>
              <a:t>和</a:t>
            </a:r>
            <a:r>
              <a:rPr lang="en-US" b="0" dirty="0" err="1"/>
              <a:t>v</a:t>
            </a:r>
            <a:r>
              <a:rPr lang="en-US" b="0" baseline="-25000" dirty="0" err="1"/>
              <a:t>j</a:t>
            </a:r>
            <a:r>
              <a:rPr lang="zh-CN" altLang="en-US" b="0" dirty="0">
                <a:solidFill>
                  <a:srgbClr val="FF0000"/>
                </a:solidFill>
              </a:rPr>
              <a:t>互为邻接点</a:t>
            </a:r>
            <a:r>
              <a:rPr lang="zh-CN" altLang="en-US" b="0" dirty="0"/>
              <a:t>，或称</a:t>
            </a:r>
            <a:r>
              <a:rPr lang="en-US" b="0" dirty="0"/>
              <a:t>v</a:t>
            </a:r>
            <a:r>
              <a:rPr lang="en-US" b="0" baseline="-25000" dirty="0"/>
              <a:t>i</a:t>
            </a:r>
            <a:r>
              <a:rPr lang="zh-CN" altLang="en-US" b="0" dirty="0"/>
              <a:t>和</a:t>
            </a:r>
            <a:r>
              <a:rPr lang="en-US" b="0" dirty="0" err="1"/>
              <a:t>v</a:t>
            </a:r>
            <a:r>
              <a:rPr lang="en-US" b="0" baseline="-25000" dirty="0" err="1"/>
              <a:t>j</a:t>
            </a:r>
            <a:r>
              <a:rPr lang="zh-CN" altLang="en-US" b="0" dirty="0">
                <a:solidFill>
                  <a:srgbClr val="FF0000"/>
                </a:solidFill>
              </a:rPr>
              <a:t>相邻接</a:t>
            </a:r>
            <a:r>
              <a:rPr lang="zh-CN" altLang="en-US" b="0" dirty="0"/>
              <a:t>，并称边</a:t>
            </a:r>
            <a:r>
              <a:rPr lang="en-US" b="0" dirty="0"/>
              <a:t>(v</a:t>
            </a:r>
            <a:r>
              <a:rPr lang="en-US" b="0" baseline="-25000" dirty="0"/>
              <a:t>i</a:t>
            </a:r>
            <a:r>
              <a:rPr lang="en-US" b="0" dirty="0"/>
              <a:t>, </a:t>
            </a:r>
            <a:r>
              <a:rPr lang="en-US" b="0" dirty="0" err="1"/>
              <a:t>v</a:t>
            </a:r>
            <a:r>
              <a:rPr lang="en-US" b="0" baseline="-25000" dirty="0" err="1"/>
              <a:t>j</a:t>
            </a:r>
            <a:r>
              <a:rPr lang="en-US" b="0" dirty="0"/>
              <a:t>)</a:t>
            </a:r>
            <a:r>
              <a:rPr lang="zh-CN" altLang="en-US" b="0" dirty="0"/>
              <a:t>依附于顶点</a:t>
            </a:r>
            <a:r>
              <a:rPr lang="en-US" b="0" dirty="0"/>
              <a:t>v</a:t>
            </a:r>
            <a:r>
              <a:rPr lang="en-US" b="0" baseline="-25000" dirty="0"/>
              <a:t>i</a:t>
            </a:r>
            <a:r>
              <a:rPr lang="zh-CN" altLang="en-US" b="0" dirty="0"/>
              <a:t>和</a:t>
            </a:r>
            <a:r>
              <a:rPr lang="en-US" b="0" dirty="0" err="1"/>
              <a:t>v</a:t>
            </a:r>
            <a:r>
              <a:rPr lang="en-US" b="0" baseline="-25000" dirty="0" err="1"/>
              <a:t>j</a:t>
            </a:r>
            <a:r>
              <a:rPr lang="zh-CN" altLang="en-US" b="0" dirty="0"/>
              <a:t>，或者说边</a:t>
            </a:r>
            <a:r>
              <a:rPr lang="en-US" b="0" dirty="0"/>
              <a:t>(v</a:t>
            </a:r>
            <a:r>
              <a:rPr lang="en-US" b="0" baseline="-25000" dirty="0"/>
              <a:t>i</a:t>
            </a:r>
            <a:r>
              <a:rPr lang="en-US" b="0" dirty="0"/>
              <a:t>, </a:t>
            </a:r>
            <a:r>
              <a:rPr lang="en-US" b="0" dirty="0" err="1"/>
              <a:t>v</a:t>
            </a:r>
            <a:r>
              <a:rPr lang="en-US" b="0" baseline="-25000" dirty="0" err="1"/>
              <a:t>j</a:t>
            </a:r>
            <a:r>
              <a:rPr lang="en-US" b="0" dirty="0"/>
              <a:t>)</a:t>
            </a:r>
            <a:r>
              <a:rPr lang="zh-CN" altLang="en-US" b="0" dirty="0">
                <a:solidFill>
                  <a:srgbClr val="FF0000"/>
                </a:solidFill>
              </a:rPr>
              <a:t>与顶点相关联</a:t>
            </a:r>
            <a:r>
              <a:rPr lang="zh-CN" altLang="en-US" b="0" dirty="0"/>
              <a:t>。</a:t>
            </a:r>
            <a:endParaRPr lang="en-US" altLang="zh-CN" b="0" dirty="0"/>
          </a:p>
          <a:p>
            <a:pPr>
              <a:buFont typeface="Arial" pitchFamily="34" charset="0"/>
              <a:buChar char="•"/>
            </a:pPr>
            <a:r>
              <a:rPr lang="zh-CN" altLang="en-US" b="0" dirty="0"/>
              <a:t>在有向图</a:t>
            </a:r>
            <a:r>
              <a:rPr lang="en-US" b="0" dirty="0"/>
              <a:t>G = ( V, E )</a:t>
            </a:r>
            <a:r>
              <a:rPr lang="zh-CN" altLang="en-US" b="0" dirty="0"/>
              <a:t>中，若</a:t>
            </a:r>
            <a:r>
              <a:rPr lang="en-US" b="0" dirty="0"/>
              <a:t>&lt;v</a:t>
            </a:r>
            <a:r>
              <a:rPr lang="en-US" b="0" baseline="-25000" dirty="0"/>
              <a:t>i</a:t>
            </a:r>
            <a:r>
              <a:rPr lang="en-US" b="0" dirty="0"/>
              <a:t>, </a:t>
            </a:r>
            <a:r>
              <a:rPr lang="en-US" b="0" dirty="0" err="1"/>
              <a:t>v</a:t>
            </a:r>
            <a:r>
              <a:rPr lang="en-US" b="0" baseline="-25000" dirty="0" err="1"/>
              <a:t>j</a:t>
            </a:r>
            <a:r>
              <a:rPr lang="en-US" b="0" dirty="0"/>
              <a:t>&gt;</a:t>
            </a:r>
            <a:r>
              <a:rPr lang="zh-CN" altLang="en-US" b="0" dirty="0"/>
              <a:t>∈</a:t>
            </a:r>
            <a:r>
              <a:rPr lang="en-US" b="0" dirty="0"/>
              <a:t>E</a:t>
            </a:r>
            <a:r>
              <a:rPr lang="zh-CN" altLang="en-US" b="0" dirty="0"/>
              <a:t>，则称顶点</a:t>
            </a:r>
            <a:r>
              <a:rPr lang="en-US" b="0" dirty="0"/>
              <a:t>v</a:t>
            </a:r>
            <a:r>
              <a:rPr lang="en-US" b="0" baseline="-25000" dirty="0"/>
              <a:t>i</a:t>
            </a:r>
            <a:r>
              <a:rPr lang="zh-CN" altLang="en-US" b="0" dirty="0">
                <a:solidFill>
                  <a:srgbClr val="FF0000"/>
                </a:solidFill>
              </a:rPr>
              <a:t>邻接到</a:t>
            </a:r>
            <a:r>
              <a:rPr lang="zh-CN" altLang="en-US" b="0" dirty="0"/>
              <a:t>顶点</a:t>
            </a:r>
            <a:r>
              <a:rPr lang="en-US" b="0" dirty="0" err="1"/>
              <a:t>v</a:t>
            </a:r>
            <a:r>
              <a:rPr lang="en-US" b="0" baseline="-25000" dirty="0" err="1"/>
              <a:t>j</a:t>
            </a:r>
            <a:r>
              <a:rPr lang="zh-CN" altLang="en-US" b="0" dirty="0"/>
              <a:t>，顶点</a:t>
            </a:r>
            <a:r>
              <a:rPr lang="en-US" b="0" dirty="0" err="1"/>
              <a:t>v</a:t>
            </a:r>
            <a:r>
              <a:rPr lang="en-US" b="0" baseline="-25000" dirty="0" err="1"/>
              <a:t>j</a:t>
            </a:r>
            <a:r>
              <a:rPr lang="zh-CN" altLang="en-US" b="0" dirty="0"/>
              <a:t>邻接自顶点</a:t>
            </a:r>
            <a:r>
              <a:rPr lang="en-US" b="0" dirty="0"/>
              <a:t>v</a:t>
            </a:r>
            <a:r>
              <a:rPr lang="en-US" b="0" baseline="-25000" dirty="0"/>
              <a:t>i</a:t>
            </a:r>
            <a:r>
              <a:rPr lang="zh-CN" altLang="en-US" b="0" dirty="0"/>
              <a:t>，并称弧</a:t>
            </a:r>
            <a:r>
              <a:rPr lang="en-US" b="0" dirty="0"/>
              <a:t>&lt;v</a:t>
            </a:r>
            <a:r>
              <a:rPr lang="en-US" b="0" baseline="-25000" dirty="0"/>
              <a:t>i</a:t>
            </a:r>
            <a:r>
              <a:rPr lang="en-US" b="0" dirty="0"/>
              <a:t>, </a:t>
            </a:r>
            <a:r>
              <a:rPr lang="en-US" b="0" dirty="0" err="1"/>
              <a:t>v</a:t>
            </a:r>
            <a:r>
              <a:rPr lang="en-US" b="0" baseline="-25000" dirty="0" err="1"/>
              <a:t>j</a:t>
            </a:r>
            <a:r>
              <a:rPr lang="en-US" b="0" dirty="0"/>
              <a:t>&gt;</a:t>
            </a:r>
            <a:r>
              <a:rPr lang="zh-CN" altLang="en-US" b="0" dirty="0"/>
              <a:t>和顶点</a:t>
            </a:r>
            <a:r>
              <a:rPr lang="en-US" b="0" dirty="0"/>
              <a:t>v</a:t>
            </a:r>
            <a:r>
              <a:rPr lang="en-US" b="0" baseline="-25000" dirty="0"/>
              <a:t>i</a:t>
            </a:r>
            <a:r>
              <a:rPr lang="zh-CN" altLang="en-US" b="0" dirty="0"/>
              <a:t>和</a:t>
            </a:r>
            <a:r>
              <a:rPr lang="en-US" b="0" dirty="0" err="1"/>
              <a:t>v</a:t>
            </a:r>
            <a:r>
              <a:rPr lang="en-US" b="0" baseline="-25000" dirty="0" err="1"/>
              <a:t>j</a:t>
            </a:r>
            <a:r>
              <a:rPr lang="zh-CN" altLang="en-US" b="0" dirty="0"/>
              <a:t>相关联。</a:t>
            </a:r>
            <a:endParaRPr lang="en-US" altLang="zh-CN" b="0" dirty="0"/>
          </a:p>
          <a:p>
            <a:pPr>
              <a:buFont typeface="Arial" pitchFamily="34" charset="0"/>
              <a:buChar char="•"/>
            </a:pPr>
            <a:r>
              <a:rPr lang="zh-CN" altLang="zh-CN" dirty="0">
                <a:solidFill>
                  <a:srgbClr val="FF0000"/>
                </a:solidFill>
              </a:rPr>
              <a:t>带权图</a:t>
            </a:r>
            <a:r>
              <a:rPr lang="en-US" altLang="zh-CN" b="0" dirty="0"/>
              <a:t>(Weighted graph)</a:t>
            </a:r>
            <a:r>
              <a:rPr lang="zh-CN" altLang="zh-CN" b="0" dirty="0"/>
              <a:t>又称为</a:t>
            </a:r>
            <a:r>
              <a:rPr lang="zh-CN" altLang="zh-CN" dirty="0">
                <a:solidFill>
                  <a:srgbClr val="FF0000"/>
                </a:solidFill>
              </a:rPr>
              <a:t>网</a:t>
            </a:r>
            <a:r>
              <a:rPr lang="zh-CN" altLang="zh-CN" b="0" dirty="0"/>
              <a:t>，图中的边都有权值</a:t>
            </a:r>
            <a:r>
              <a:rPr lang="zh-CN" altLang="en-US" b="0" dirty="0"/>
              <a:t>。</a:t>
            </a:r>
          </a:p>
          <a:p>
            <a:pPr>
              <a:buFont typeface="Arial" pitchFamily="34" charset="0"/>
              <a:buChar char="•"/>
            </a:pPr>
            <a:endParaRPr lang="zh-CN" altLang="en-US" b="0" dirty="0"/>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71868" y="4383485"/>
            <a:ext cx="2571768" cy="19258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86776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124744"/>
            <a:ext cx="7520940" cy="3579849"/>
          </a:xfrm>
        </p:spPr>
        <p:txBody>
          <a:bodyPr/>
          <a:lstStyle/>
          <a:p>
            <a:r>
              <a:rPr lang="zh-CN" altLang="zh-CN" b="0" dirty="0"/>
              <a:t>设有两个图</a:t>
            </a:r>
            <a:r>
              <a:rPr lang="en-US" altLang="zh-CN" b="0" dirty="0"/>
              <a:t>G = ( V, E )</a:t>
            </a:r>
            <a:r>
              <a:rPr lang="zh-CN" altLang="zh-CN" b="0" dirty="0"/>
              <a:t>和</a:t>
            </a:r>
            <a:r>
              <a:rPr lang="en-US" altLang="zh-CN" b="0" dirty="0"/>
              <a:t>G</a:t>
            </a:r>
            <a:r>
              <a:rPr lang="en-US" altLang="zh-CN" b="0" i="1" dirty="0"/>
              <a:t>'</a:t>
            </a:r>
            <a:r>
              <a:rPr lang="en-US" altLang="zh-CN" b="0" dirty="0"/>
              <a:t> = ( V</a:t>
            </a:r>
            <a:r>
              <a:rPr lang="en-US" altLang="zh-CN" b="0" i="1" dirty="0"/>
              <a:t>'</a:t>
            </a:r>
            <a:r>
              <a:rPr lang="en-US" altLang="zh-CN" b="0" dirty="0"/>
              <a:t>, E</a:t>
            </a:r>
            <a:r>
              <a:rPr lang="en-US" altLang="zh-CN" b="0" i="1" dirty="0"/>
              <a:t>'</a:t>
            </a:r>
            <a:r>
              <a:rPr lang="en-US" altLang="zh-CN" b="0" dirty="0"/>
              <a:t> )</a:t>
            </a:r>
            <a:r>
              <a:rPr lang="zh-CN" altLang="zh-CN" b="0" dirty="0"/>
              <a:t>，如果</a:t>
            </a:r>
            <a:r>
              <a:rPr lang="en-US" altLang="zh-CN" b="0" dirty="0"/>
              <a:t>V</a:t>
            </a:r>
            <a:r>
              <a:rPr lang="en-US" altLang="zh-CN" b="0" i="1" dirty="0"/>
              <a:t>'</a:t>
            </a:r>
            <a:r>
              <a:rPr lang="en-US" altLang="zh-CN" b="0" dirty="0"/>
              <a:t> ⊆ V</a:t>
            </a:r>
            <a:r>
              <a:rPr lang="zh-CN" altLang="zh-CN" b="0" dirty="0"/>
              <a:t>，</a:t>
            </a:r>
            <a:r>
              <a:rPr lang="en-US" altLang="zh-CN" b="0" dirty="0"/>
              <a:t>E</a:t>
            </a:r>
            <a:r>
              <a:rPr lang="en-US" altLang="zh-CN" b="0" i="1" dirty="0"/>
              <a:t>'</a:t>
            </a:r>
            <a:r>
              <a:rPr lang="en-US" altLang="zh-CN" b="0" dirty="0"/>
              <a:t> ⊆ E</a:t>
            </a:r>
            <a:r>
              <a:rPr lang="zh-CN" altLang="zh-CN" b="0" dirty="0"/>
              <a:t>，且</a:t>
            </a:r>
            <a:r>
              <a:rPr lang="en-US" altLang="zh-CN" b="0" dirty="0"/>
              <a:t>E</a:t>
            </a:r>
            <a:r>
              <a:rPr lang="en-US" altLang="zh-CN" b="0" i="1" dirty="0"/>
              <a:t>'</a:t>
            </a:r>
            <a:r>
              <a:rPr lang="zh-CN" altLang="zh-CN" b="0" dirty="0"/>
              <a:t>中的边仅与</a:t>
            </a:r>
            <a:r>
              <a:rPr lang="en-US" altLang="zh-CN" b="0" dirty="0"/>
              <a:t>V</a:t>
            </a:r>
            <a:r>
              <a:rPr lang="en-US" altLang="zh-CN" b="0" i="1" dirty="0"/>
              <a:t>'</a:t>
            </a:r>
            <a:r>
              <a:rPr lang="zh-CN" altLang="zh-CN" b="0" dirty="0"/>
              <a:t>中顶点相关联，则称</a:t>
            </a:r>
            <a:r>
              <a:rPr lang="en-US" altLang="zh-CN" b="0" dirty="0"/>
              <a:t>G</a:t>
            </a:r>
            <a:r>
              <a:rPr lang="en-US" altLang="zh-CN" b="0" i="1" dirty="0"/>
              <a:t>'</a:t>
            </a:r>
            <a:r>
              <a:rPr lang="zh-CN" altLang="zh-CN" b="0" dirty="0"/>
              <a:t>为</a:t>
            </a:r>
            <a:r>
              <a:rPr lang="en-US" altLang="zh-CN" b="0" dirty="0"/>
              <a:t>G</a:t>
            </a:r>
            <a:r>
              <a:rPr lang="zh-CN" altLang="zh-CN" b="0" dirty="0"/>
              <a:t>的</a:t>
            </a:r>
            <a:r>
              <a:rPr lang="zh-CN" altLang="zh-CN" dirty="0">
                <a:solidFill>
                  <a:srgbClr val="FF0000"/>
                </a:solidFill>
              </a:rPr>
              <a:t>子图</a:t>
            </a:r>
            <a:r>
              <a:rPr lang="en-US" altLang="zh-CN" b="0" dirty="0"/>
              <a:t>(Subgraph)</a:t>
            </a:r>
            <a:r>
              <a:rPr lang="zh-CN" altLang="zh-CN" b="0" dirty="0"/>
              <a:t>。</a:t>
            </a:r>
            <a:endParaRPr lang="zh-CN" altLang="en-US" b="0" dirty="0"/>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528" y="3356194"/>
            <a:ext cx="2376264" cy="22476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75381" y="3362174"/>
            <a:ext cx="5771245" cy="21061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24600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4098"/>
                                        </p:tgtEl>
                                        <p:attrNameLst>
                                          <p:attrName>style.visibility</p:attrName>
                                        </p:attrNameLst>
                                      </p:cBhvr>
                                      <p:to>
                                        <p:strVal val="visible"/>
                                      </p:to>
                                    </p:set>
                                    <p:animEffect transition="in" filter="fade">
                                      <p:cBhvr>
                                        <p:cTn id="10"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635896" y="523112"/>
            <a:ext cx="2448272" cy="25458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125" y="3356992"/>
            <a:ext cx="7905750" cy="2886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465885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24744"/>
            <a:ext cx="7704856" cy="5184576"/>
          </a:xfrm>
        </p:spPr>
        <p:txBody>
          <a:bodyPr>
            <a:normAutofit/>
          </a:bodyPr>
          <a:lstStyle/>
          <a:p>
            <a:pPr>
              <a:buFont typeface="Arial" panose="020B0604020202020204" pitchFamily="34" charset="0"/>
              <a:buChar char="•"/>
            </a:pPr>
            <a:r>
              <a:rPr lang="zh-CN" altLang="zh-CN" b="0" dirty="0"/>
              <a:t>在无向图</a:t>
            </a:r>
            <a:r>
              <a:rPr lang="en-US" altLang="zh-CN" b="0" dirty="0"/>
              <a:t>G = ( V, E )</a:t>
            </a:r>
            <a:r>
              <a:rPr lang="zh-CN" altLang="zh-CN" b="0" dirty="0"/>
              <a:t>中，若从顶点</a:t>
            </a:r>
            <a:r>
              <a:rPr lang="en-US" altLang="zh-CN" b="0" dirty="0"/>
              <a:t>v</a:t>
            </a:r>
            <a:r>
              <a:rPr lang="en-US" altLang="zh-CN" b="0" baseline="-25000" dirty="0"/>
              <a:t>s</a:t>
            </a:r>
            <a:r>
              <a:rPr lang="zh-CN" altLang="zh-CN" b="0" dirty="0"/>
              <a:t>到顶点</a:t>
            </a:r>
            <a:r>
              <a:rPr lang="en-US" altLang="zh-CN" b="0" dirty="0" err="1"/>
              <a:t>v</a:t>
            </a:r>
            <a:r>
              <a:rPr lang="en-US" altLang="zh-CN" b="0" baseline="-25000" dirty="0" err="1"/>
              <a:t>t</a:t>
            </a:r>
            <a:r>
              <a:rPr lang="zh-CN" altLang="zh-CN" b="0" dirty="0"/>
              <a:t>之间存在一个顶点序列</a:t>
            </a:r>
            <a:r>
              <a:rPr lang="en-US" altLang="zh-CN" b="0" dirty="0"/>
              <a:t>(v</a:t>
            </a:r>
            <a:r>
              <a:rPr lang="en-US" altLang="zh-CN" b="0" baseline="-25000" dirty="0"/>
              <a:t>s</a:t>
            </a:r>
            <a:r>
              <a:rPr lang="en-US" altLang="zh-CN" b="0" dirty="0"/>
              <a:t>, v</a:t>
            </a:r>
            <a:r>
              <a:rPr lang="en-US" altLang="zh-CN" b="0" baseline="-25000" dirty="0"/>
              <a:t>i0</a:t>
            </a:r>
            <a:r>
              <a:rPr lang="en-US" altLang="zh-CN" b="0" dirty="0"/>
              <a:t>, v</a:t>
            </a:r>
            <a:r>
              <a:rPr lang="en-US" altLang="zh-CN" b="0" baseline="-25000" dirty="0"/>
              <a:t>i1</a:t>
            </a:r>
            <a:r>
              <a:rPr lang="en-US" altLang="zh-CN" b="0" dirty="0"/>
              <a:t>, v</a:t>
            </a:r>
            <a:r>
              <a:rPr lang="en-US" altLang="zh-CN" b="0" baseline="-25000" dirty="0"/>
              <a:t>i2</a:t>
            </a:r>
            <a:r>
              <a:rPr lang="en-US" altLang="zh-CN" b="0" dirty="0"/>
              <a:t>, …, v</a:t>
            </a:r>
            <a:r>
              <a:rPr lang="en-US" altLang="zh-CN" b="0" baseline="-25000" dirty="0"/>
              <a:t>im</a:t>
            </a:r>
            <a:r>
              <a:rPr lang="en-US" altLang="zh-CN" b="0" dirty="0"/>
              <a:t>, </a:t>
            </a:r>
            <a:r>
              <a:rPr lang="en-US" altLang="zh-CN" b="0" dirty="0" err="1"/>
              <a:t>v</a:t>
            </a:r>
            <a:r>
              <a:rPr lang="en-US" altLang="zh-CN" b="0" baseline="-25000" dirty="0" err="1"/>
              <a:t>t</a:t>
            </a:r>
            <a:r>
              <a:rPr lang="en-US" altLang="zh-CN" b="0" dirty="0"/>
              <a:t>)</a:t>
            </a:r>
            <a:r>
              <a:rPr lang="zh-CN" altLang="zh-CN" b="0" dirty="0"/>
              <a:t>，并且</a:t>
            </a:r>
            <a:r>
              <a:rPr lang="en-US" altLang="zh-CN" b="0" dirty="0"/>
              <a:t>(v</a:t>
            </a:r>
            <a:r>
              <a:rPr lang="en-US" altLang="zh-CN" b="0" baseline="-25000" dirty="0"/>
              <a:t>s</a:t>
            </a:r>
            <a:r>
              <a:rPr lang="en-US" altLang="zh-CN" b="0" dirty="0"/>
              <a:t>, v</a:t>
            </a:r>
            <a:r>
              <a:rPr lang="en-US" altLang="zh-CN" b="0" baseline="-25000" dirty="0"/>
              <a:t>i0</a:t>
            </a:r>
            <a:r>
              <a:rPr lang="en-US" altLang="zh-CN" b="0" dirty="0"/>
              <a:t>)</a:t>
            </a:r>
            <a:r>
              <a:rPr lang="zh-CN" altLang="zh-CN" b="0" dirty="0"/>
              <a:t>，</a:t>
            </a:r>
            <a:r>
              <a:rPr lang="en-US" altLang="zh-CN" b="0" dirty="0"/>
              <a:t>(v</a:t>
            </a:r>
            <a:r>
              <a:rPr lang="en-US" altLang="zh-CN" b="0" baseline="-25000" dirty="0"/>
              <a:t>i0</a:t>
            </a:r>
            <a:r>
              <a:rPr lang="en-US" altLang="zh-CN" b="0" dirty="0"/>
              <a:t>, v</a:t>
            </a:r>
            <a:r>
              <a:rPr lang="en-US" altLang="zh-CN" b="0" baseline="-25000" dirty="0"/>
              <a:t>i1</a:t>
            </a:r>
            <a:r>
              <a:rPr lang="en-US" altLang="zh-CN" b="0" dirty="0"/>
              <a:t>)</a:t>
            </a:r>
            <a:r>
              <a:rPr lang="zh-CN" altLang="zh-CN" b="0" dirty="0"/>
              <a:t>，</a:t>
            </a:r>
            <a:r>
              <a:rPr lang="en-US" altLang="zh-CN" b="0" dirty="0"/>
              <a:t>…</a:t>
            </a:r>
            <a:r>
              <a:rPr lang="zh-CN" altLang="zh-CN" b="0" dirty="0"/>
              <a:t>，</a:t>
            </a:r>
            <a:r>
              <a:rPr lang="en-US" altLang="zh-CN" b="0" dirty="0"/>
              <a:t>(v</a:t>
            </a:r>
            <a:r>
              <a:rPr lang="en-US" altLang="zh-CN" b="0" baseline="-25000" dirty="0"/>
              <a:t>im</a:t>
            </a:r>
            <a:r>
              <a:rPr lang="en-US" altLang="zh-CN" b="0" dirty="0"/>
              <a:t>, </a:t>
            </a:r>
            <a:r>
              <a:rPr lang="en-US" altLang="zh-CN" b="0" dirty="0" err="1"/>
              <a:t>v</a:t>
            </a:r>
            <a:r>
              <a:rPr lang="en-US" altLang="zh-CN" b="0" baseline="-25000" dirty="0" err="1"/>
              <a:t>t</a:t>
            </a:r>
            <a:r>
              <a:rPr lang="en-US" altLang="zh-CN" b="0" dirty="0"/>
              <a:t>)</a:t>
            </a:r>
            <a:r>
              <a:rPr lang="zh-CN" altLang="zh-CN" b="0" dirty="0"/>
              <a:t>都是图</a:t>
            </a:r>
            <a:r>
              <a:rPr lang="en-US" altLang="zh-CN" b="0" dirty="0"/>
              <a:t>G</a:t>
            </a:r>
            <a:r>
              <a:rPr lang="zh-CN" altLang="zh-CN" b="0" dirty="0"/>
              <a:t>中的边，则称顶点</a:t>
            </a:r>
            <a:r>
              <a:rPr lang="en-US" altLang="zh-CN" b="0" dirty="0"/>
              <a:t>v</a:t>
            </a:r>
            <a:r>
              <a:rPr lang="en-US" altLang="zh-CN" b="0" baseline="-25000" dirty="0"/>
              <a:t>s</a:t>
            </a:r>
            <a:r>
              <a:rPr lang="zh-CN" altLang="zh-CN" b="0" dirty="0"/>
              <a:t>到</a:t>
            </a:r>
            <a:r>
              <a:rPr lang="en-US" altLang="zh-CN" b="0" dirty="0" err="1"/>
              <a:t>v</a:t>
            </a:r>
            <a:r>
              <a:rPr lang="en-US" altLang="zh-CN" b="0" baseline="-25000" dirty="0" err="1"/>
              <a:t>t</a:t>
            </a:r>
            <a:r>
              <a:rPr lang="zh-CN" altLang="zh-CN" b="0" dirty="0"/>
              <a:t>之间存在一条</a:t>
            </a:r>
            <a:r>
              <a:rPr lang="zh-CN" altLang="zh-CN" dirty="0">
                <a:solidFill>
                  <a:srgbClr val="FF0000"/>
                </a:solidFill>
              </a:rPr>
              <a:t>路径</a:t>
            </a:r>
            <a:r>
              <a:rPr lang="zh-CN" altLang="zh-CN" b="0" dirty="0"/>
              <a:t>。</a:t>
            </a:r>
            <a:endParaRPr lang="en-US" altLang="zh-CN" b="0" dirty="0"/>
          </a:p>
          <a:p>
            <a:pPr>
              <a:buFont typeface="Arial" panose="020B0604020202020204" pitchFamily="34" charset="0"/>
              <a:buChar char="•"/>
            </a:pPr>
            <a:r>
              <a:rPr lang="zh-CN" altLang="zh-CN" b="0" dirty="0"/>
              <a:t>若</a:t>
            </a:r>
            <a:r>
              <a:rPr lang="en-US" altLang="zh-CN" b="0" dirty="0"/>
              <a:t>G</a:t>
            </a:r>
            <a:r>
              <a:rPr lang="zh-CN" altLang="zh-CN" b="0" dirty="0"/>
              <a:t>是有向图，则路径也是有向的，顶点序列满足</a:t>
            </a:r>
            <a:r>
              <a:rPr lang="en-US" altLang="zh-CN" b="0" dirty="0"/>
              <a:t>&lt;v</a:t>
            </a:r>
            <a:r>
              <a:rPr lang="en-US" altLang="zh-CN" b="0" baseline="-25000" dirty="0"/>
              <a:t>s</a:t>
            </a:r>
            <a:r>
              <a:rPr lang="en-US" altLang="zh-CN" b="0" dirty="0"/>
              <a:t>, v</a:t>
            </a:r>
            <a:r>
              <a:rPr lang="en-US" altLang="zh-CN" b="0" baseline="-25000" dirty="0"/>
              <a:t>i0</a:t>
            </a:r>
            <a:r>
              <a:rPr lang="en-US" altLang="zh-CN" b="0" dirty="0"/>
              <a:t>&gt;</a:t>
            </a:r>
            <a:r>
              <a:rPr lang="zh-CN" altLang="zh-CN" b="0" dirty="0"/>
              <a:t>，</a:t>
            </a:r>
            <a:r>
              <a:rPr lang="en-US" altLang="zh-CN" b="0" dirty="0"/>
              <a:t>&lt;v</a:t>
            </a:r>
            <a:r>
              <a:rPr lang="en-US" altLang="zh-CN" b="0" baseline="-25000" dirty="0"/>
              <a:t>i0</a:t>
            </a:r>
            <a:r>
              <a:rPr lang="en-US" altLang="zh-CN" b="0" dirty="0"/>
              <a:t>, v</a:t>
            </a:r>
            <a:r>
              <a:rPr lang="en-US" altLang="zh-CN" b="0" baseline="-25000" dirty="0"/>
              <a:t>i1</a:t>
            </a:r>
            <a:r>
              <a:rPr lang="en-US" altLang="zh-CN" b="0" dirty="0"/>
              <a:t>&gt;</a:t>
            </a:r>
            <a:r>
              <a:rPr lang="zh-CN" altLang="zh-CN" b="0" dirty="0"/>
              <a:t>，</a:t>
            </a:r>
            <a:r>
              <a:rPr lang="en-US" altLang="zh-CN" b="0" dirty="0"/>
              <a:t>…</a:t>
            </a:r>
            <a:r>
              <a:rPr lang="zh-CN" altLang="zh-CN" b="0" dirty="0"/>
              <a:t>，</a:t>
            </a:r>
            <a:r>
              <a:rPr lang="en-US" altLang="zh-CN" b="0" dirty="0"/>
              <a:t>&lt;v</a:t>
            </a:r>
            <a:r>
              <a:rPr lang="en-US" altLang="zh-CN" b="0" baseline="-25000" dirty="0"/>
              <a:t>im</a:t>
            </a:r>
            <a:r>
              <a:rPr lang="en-US" altLang="zh-CN" b="0" dirty="0"/>
              <a:t>, </a:t>
            </a:r>
            <a:r>
              <a:rPr lang="en-US" altLang="zh-CN" b="0" dirty="0" err="1"/>
              <a:t>v</a:t>
            </a:r>
            <a:r>
              <a:rPr lang="en-US" altLang="zh-CN" b="0" baseline="-25000" dirty="0" err="1"/>
              <a:t>t</a:t>
            </a:r>
            <a:r>
              <a:rPr lang="en-US" altLang="zh-CN" b="0" dirty="0"/>
              <a:t>&gt;</a:t>
            </a:r>
            <a:r>
              <a:rPr lang="zh-CN" altLang="zh-CN" b="0" dirty="0"/>
              <a:t>都是图</a:t>
            </a:r>
            <a:r>
              <a:rPr lang="en-US" altLang="zh-CN" b="0" dirty="0"/>
              <a:t>G</a:t>
            </a:r>
            <a:r>
              <a:rPr lang="zh-CN" altLang="zh-CN" b="0" dirty="0"/>
              <a:t>中的有向边。</a:t>
            </a:r>
            <a:endParaRPr lang="en-US" altLang="zh-CN" b="0" dirty="0"/>
          </a:p>
          <a:p>
            <a:pPr>
              <a:buFont typeface="Arial" panose="020B0604020202020204" pitchFamily="34" charset="0"/>
              <a:buChar char="•"/>
            </a:pPr>
            <a:r>
              <a:rPr lang="zh-CN" altLang="zh-CN" dirty="0">
                <a:solidFill>
                  <a:srgbClr val="FF0000"/>
                </a:solidFill>
              </a:rPr>
              <a:t>路径的长度</a:t>
            </a:r>
            <a:r>
              <a:rPr lang="zh-CN" altLang="zh-CN" b="0" dirty="0"/>
              <a:t>定义为该路径上</a:t>
            </a:r>
            <a:r>
              <a:rPr lang="zh-CN" altLang="zh-CN" b="0" dirty="0">
                <a:solidFill>
                  <a:srgbClr val="FF0000"/>
                </a:solidFill>
              </a:rPr>
              <a:t>边的数目</a:t>
            </a:r>
            <a:r>
              <a:rPr lang="zh-CN" altLang="zh-CN" b="0" dirty="0"/>
              <a:t>。</a:t>
            </a:r>
            <a:endParaRPr lang="en-US" altLang="zh-CN" b="0" dirty="0"/>
          </a:p>
          <a:p>
            <a:pPr>
              <a:buFont typeface="Arial" panose="020B0604020202020204" pitchFamily="34" charset="0"/>
              <a:buChar char="•"/>
            </a:pPr>
            <a:r>
              <a:rPr lang="zh-CN" altLang="zh-CN" b="0" dirty="0"/>
              <a:t>除了起点和终点之外，序列中顶点不重复出现的路径称为</a:t>
            </a:r>
            <a:r>
              <a:rPr lang="zh-CN" altLang="zh-CN" dirty="0">
                <a:solidFill>
                  <a:srgbClr val="FF0000"/>
                </a:solidFill>
              </a:rPr>
              <a:t>简单路径</a:t>
            </a:r>
            <a:r>
              <a:rPr lang="zh-CN" altLang="zh-CN" b="0" dirty="0"/>
              <a:t>。</a:t>
            </a:r>
            <a:endParaRPr lang="en-US" altLang="zh-CN" b="0" dirty="0"/>
          </a:p>
          <a:p>
            <a:pPr>
              <a:buFont typeface="Arial" panose="020B0604020202020204" pitchFamily="34" charset="0"/>
              <a:buChar char="•"/>
            </a:pPr>
            <a:r>
              <a:rPr lang="zh-CN" altLang="zh-CN" b="0" dirty="0"/>
              <a:t>若路径的起点和终点相同，则称该路径为</a:t>
            </a:r>
            <a:r>
              <a:rPr lang="zh-CN" altLang="zh-CN" dirty="0">
                <a:solidFill>
                  <a:srgbClr val="FF0000"/>
                </a:solidFill>
              </a:rPr>
              <a:t>回路或环</a:t>
            </a:r>
            <a:r>
              <a:rPr lang="zh-CN" altLang="zh-CN" b="0" dirty="0"/>
              <a:t>。</a:t>
            </a:r>
            <a:endParaRPr lang="zh-CN" altLang="en-US" b="0" dirty="0"/>
          </a:p>
        </p:txBody>
      </p:sp>
    </p:spTree>
    <p:extLst>
      <p:ext uri="{BB962C8B-B14F-4D97-AF65-F5344CB8AC3E}">
        <p14:creationId xmlns:p14="http://schemas.microsoft.com/office/powerpoint/2010/main" val="2024690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96752"/>
            <a:ext cx="7776864" cy="4608512"/>
          </a:xfrm>
        </p:spPr>
        <p:txBody>
          <a:bodyPr>
            <a:normAutofit/>
          </a:bodyPr>
          <a:lstStyle/>
          <a:p>
            <a:r>
              <a:rPr lang="zh-CN" altLang="zh-CN" b="0" dirty="0"/>
              <a:t>不带回路的图称为</a:t>
            </a:r>
            <a:r>
              <a:rPr lang="zh-CN" altLang="zh-CN" b="0" dirty="0">
                <a:solidFill>
                  <a:srgbClr val="FF0000"/>
                </a:solidFill>
              </a:rPr>
              <a:t>无环图</a:t>
            </a:r>
            <a:r>
              <a:rPr lang="zh-CN" altLang="zh-CN" b="0" dirty="0"/>
              <a:t>。</a:t>
            </a:r>
            <a:endParaRPr lang="en-US" altLang="zh-CN" b="0" dirty="0"/>
          </a:p>
          <a:p>
            <a:r>
              <a:rPr lang="zh-CN" altLang="zh-CN" b="0" dirty="0"/>
              <a:t>不带回路的有向图则称为</a:t>
            </a:r>
            <a:r>
              <a:rPr lang="zh-CN" altLang="zh-CN" b="0" dirty="0">
                <a:solidFill>
                  <a:srgbClr val="FF0000"/>
                </a:solidFill>
              </a:rPr>
              <a:t>有向无环图</a:t>
            </a:r>
            <a:r>
              <a:rPr lang="en-US" altLang="zh-CN" b="0" dirty="0"/>
              <a:t>(Directed Acyclic Graph, DAG)</a:t>
            </a:r>
            <a:r>
              <a:rPr lang="zh-CN" altLang="zh-CN" b="0" dirty="0"/>
              <a:t>。</a:t>
            </a:r>
            <a:endParaRPr lang="en-US" altLang="zh-CN" b="0" dirty="0"/>
          </a:p>
          <a:p>
            <a:r>
              <a:rPr lang="zh-CN" altLang="zh-CN" dirty="0">
                <a:solidFill>
                  <a:srgbClr val="FF0000"/>
                </a:solidFill>
              </a:rPr>
              <a:t>自由树</a:t>
            </a:r>
            <a:r>
              <a:rPr lang="en-US" altLang="zh-CN" dirty="0">
                <a:solidFill>
                  <a:srgbClr val="FF0000"/>
                </a:solidFill>
              </a:rPr>
              <a:t>(Free Tree)</a:t>
            </a:r>
            <a:r>
              <a:rPr lang="zh-CN" altLang="zh-CN" b="0" dirty="0"/>
              <a:t>就是无回路的连通无向图。</a:t>
            </a:r>
            <a:endParaRPr lang="en-US" altLang="zh-CN" b="0" dirty="0"/>
          </a:p>
          <a:p>
            <a:endParaRPr lang="en-US" altLang="zh-CN" b="0" dirty="0"/>
          </a:p>
          <a:p>
            <a:r>
              <a:rPr lang="zh-CN" altLang="zh-CN" dirty="0"/>
              <a:t>★注：树和图的关系：</a:t>
            </a:r>
          </a:p>
          <a:p>
            <a:r>
              <a:rPr lang="en-US" altLang="zh-CN" dirty="0"/>
              <a:t>	</a:t>
            </a:r>
            <a:r>
              <a:rPr lang="zh-CN" altLang="zh-CN" dirty="0"/>
              <a:t>树是图的一种特殊情况，树是一种连通的无环图。当图称为树时，它的根不明确，所以将其称为自由树。</a:t>
            </a:r>
          </a:p>
          <a:p>
            <a:endParaRPr lang="zh-CN" altLang="en-US" b="0" dirty="0"/>
          </a:p>
        </p:txBody>
      </p:sp>
    </p:spTree>
    <p:extLst>
      <p:ext uri="{BB962C8B-B14F-4D97-AF65-F5344CB8AC3E}">
        <p14:creationId xmlns:p14="http://schemas.microsoft.com/office/powerpoint/2010/main" val="1686822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628800"/>
            <a:ext cx="7632848" cy="4320480"/>
          </a:xfrm>
        </p:spPr>
        <p:txBody>
          <a:bodyPr>
            <a:normAutofit/>
          </a:bodyPr>
          <a:lstStyle/>
          <a:p>
            <a:pPr>
              <a:buFont typeface="Arial" panose="020B0604020202020204" pitchFamily="34" charset="0"/>
              <a:buChar char="•"/>
            </a:pPr>
            <a:r>
              <a:rPr lang="zh-CN" altLang="zh-CN" b="0" dirty="0"/>
              <a:t>在无向图</a:t>
            </a:r>
            <a:r>
              <a:rPr lang="en-US" altLang="zh-CN" b="0" dirty="0"/>
              <a:t>G = ( V, E )</a:t>
            </a:r>
            <a:r>
              <a:rPr lang="zh-CN" altLang="zh-CN" b="0" dirty="0"/>
              <a:t>中，如果从顶点</a:t>
            </a:r>
            <a:r>
              <a:rPr lang="en-US" altLang="zh-CN" b="0" dirty="0"/>
              <a:t>v</a:t>
            </a:r>
            <a:r>
              <a:rPr lang="en-US" altLang="zh-CN" b="0" baseline="-25000" dirty="0"/>
              <a:t>i</a:t>
            </a:r>
            <a:r>
              <a:rPr lang="zh-CN" altLang="zh-CN" b="0" dirty="0"/>
              <a:t>到顶点</a:t>
            </a:r>
            <a:r>
              <a:rPr lang="en-US" altLang="zh-CN" b="0" dirty="0" err="1"/>
              <a:t>v</a:t>
            </a:r>
            <a:r>
              <a:rPr lang="en-US" altLang="zh-CN" b="0" baseline="-25000" dirty="0" err="1"/>
              <a:t>j</a:t>
            </a:r>
            <a:r>
              <a:rPr lang="zh-CN" altLang="zh-CN" b="0" dirty="0"/>
              <a:t>有路径可达，则称</a:t>
            </a:r>
            <a:r>
              <a:rPr lang="en-US" altLang="zh-CN" b="0" dirty="0"/>
              <a:t>v</a:t>
            </a:r>
            <a:r>
              <a:rPr lang="en-US" altLang="zh-CN" b="0" baseline="-25000" dirty="0"/>
              <a:t>i</a:t>
            </a:r>
            <a:r>
              <a:rPr lang="zh-CN" altLang="zh-CN" b="0" dirty="0"/>
              <a:t>和</a:t>
            </a:r>
            <a:r>
              <a:rPr lang="en-US" altLang="zh-CN" b="0" dirty="0" err="1"/>
              <a:t>v</a:t>
            </a:r>
            <a:r>
              <a:rPr lang="en-US" altLang="zh-CN" b="0" baseline="-25000" dirty="0" err="1"/>
              <a:t>j</a:t>
            </a:r>
            <a:r>
              <a:rPr lang="zh-CN" altLang="zh-CN" b="0" dirty="0"/>
              <a:t>是</a:t>
            </a:r>
            <a:r>
              <a:rPr lang="zh-CN" altLang="zh-CN" b="0" dirty="0">
                <a:solidFill>
                  <a:srgbClr val="FF0000"/>
                </a:solidFill>
              </a:rPr>
              <a:t>连通的</a:t>
            </a:r>
            <a:r>
              <a:rPr lang="zh-CN" altLang="zh-CN" b="0" dirty="0"/>
              <a:t>。</a:t>
            </a:r>
            <a:endParaRPr lang="en-US" altLang="zh-CN" b="0" dirty="0"/>
          </a:p>
          <a:p>
            <a:pPr>
              <a:buFont typeface="Arial" panose="020B0604020202020204" pitchFamily="34" charset="0"/>
              <a:buChar char="•"/>
            </a:pPr>
            <a:r>
              <a:rPr lang="zh-CN" altLang="zh-CN" b="0" dirty="0"/>
              <a:t>如果图中任意两个不同的顶点</a:t>
            </a:r>
            <a:r>
              <a:rPr lang="en-US" altLang="zh-CN" b="0" dirty="0"/>
              <a:t>v</a:t>
            </a:r>
            <a:r>
              <a:rPr lang="en-US" altLang="zh-CN" b="0" baseline="-25000" dirty="0"/>
              <a:t>i</a:t>
            </a:r>
            <a:r>
              <a:rPr lang="zh-CN" altLang="zh-CN" b="0" dirty="0"/>
              <a:t>和</a:t>
            </a:r>
            <a:r>
              <a:rPr lang="en-US" altLang="zh-CN" b="0" dirty="0" err="1"/>
              <a:t>v</a:t>
            </a:r>
            <a:r>
              <a:rPr lang="en-US" altLang="zh-CN" b="0" baseline="-25000" dirty="0" err="1"/>
              <a:t>j</a:t>
            </a:r>
            <a:r>
              <a:rPr lang="zh-CN" altLang="zh-CN" b="0" dirty="0"/>
              <a:t>都是连通的，则称</a:t>
            </a:r>
            <a:r>
              <a:rPr lang="en-US" altLang="zh-CN" b="0" dirty="0"/>
              <a:t>G</a:t>
            </a:r>
            <a:r>
              <a:rPr lang="zh-CN" altLang="zh-CN" b="0" dirty="0"/>
              <a:t>是</a:t>
            </a:r>
            <a:r>
              <a:rPr lang="zh-CN" altLang="zh-CN" b="0" dirty="0">
                <a:solidFill>
                  <a:srgbClr val="FF0000"/>
                </a:solidFill>
              </a:rPr>
              <a:t>连通图</a:t>
            </a:r>
            <a:r>
              <a:rPr lang="zh-CN" altLang="zh-CN" b="0" dirty="0"/>
              <a:t>。</a:t>
            </a:r>
            <a:endParaRPr lang="en-US" altLang="zh-CN" b="0" dirty="0"/>
          </a:p>
          <a:p>
            <a:pPr>
              <a:buFont typeface="Arial" panose="020B0604020202020204" pitchFamily="34" charset="0"/>
              <a:buChar char="•"/>
            </a:pPr>
            <a:r>
              <a:rPr lang="zh-CN" altLang="zh-CN" b="0" dirty="0"/>
              <a:t>无向图</a:t>
            </a:r>
            <a:r>
              <a:rPr lang="en-US" altLang="zh-CN" b="0" dirty="0"/>
              <a:t>G</a:t>
            </a:r>
            <a:r>
              <a:rPr lang="zh-CN" altLang="zh-CN" b="0" dirty="0"/>
              <a:t>的极大连通子图称为</a:t>
            </a:r>
            <a:r>
              <a:rPr lang="en-US" altLang="zh-CN" b="0" dirty="0"/>
              <a:t>G</a:t>
            </a:r>
            <a:r>
              <a:rPr lang="zh-CN" altLang="zh-CN" b="0" dirty="0"/>
              <a:t>的</a:t>
            </a:r>
            <a:r>
              <a:rPr lang="zh-CN" altLang="zh-CN" b="0" dirty="0">
                <a:solidFill>
                  <a:srgbClr val="FF0000"/>
                </a:solidFill>
              </a:rPr>
              <a:t>连通分量</a:t>
            </a:r>
            <a:r>
              <a:rPr lang="zh-CN" altLang="zh-CN" b="0" dirty="0"/>
              <a:t>。</a:t>
            </a:r>
            <a:endParaRPr lang="en-US" altLang="zh-CN" b="0" dirty="0"/>
          </a:p>
          <a:p>
            <a:pPr>
              <a:buFont typeface="Arial" panose="020B0604020202020204" pitchFamily="34" charset="0"/>
              <a:buChar char="•"/>
            </a:pPr>
            <a:r>
              <a:rPr lang="zh-CN" altLang="zh-CN" b="0" dirty="0"/>
              <a:t>任何连通图的连通分量只有一个，就是其本身，而非连通的无向图有多个连通分量，因此可以说连通分量是对无向图的一种划分。</a:t>
            </a:r>
            <a:endParaRPr lang="zh-CN" altLang="en-US" b="0" dirty="0"/>
          </a:p>
        </p:txBody>
      </p:sp>
    </p:spTree>
    <p:extLst>
      <p:ext uri="{BB962C8B-B14F-4D97-AF65-F5344CB8AC3E}">
        <p14:creationId xmlns:p14="http://schemas.microsoft.com/office/powerpoint/2010/main" val="1740496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966499" y="752312"/>
            <a:ext cx="2525381" cy="23886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3851920" y="1352237"/>
            <a:ext cx="5112568" cy="830997"/>
          </a:xfrm>
          <a:prstGeom prst="rect">
            <a:avLst/>
          </a:prstGeom>
        </p:spPr>
        <p:txBody>
          <a:bodyPr wrap="square">
            <a:spAutoFit/>
          </a:bodyPr>
          <a:lstStyle/>
          <a:p>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无向图</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G</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1</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就是一个连通图，</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其连通分量就是其本身</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矩形 5"/>
          <p:cNvSpPr/>
          <p:nvPr/>
        </p:nvSpPr>
        <p:spPr>
          <a:xfrm>
            <a:off x="5617405" y="3933056"/>
            <a:ext cx="3280065" cy="830997"/>
          </a:xfrm>
          <a:prstGeom prst="rect">
            <a:avLst/>
          </a:prstGeom>
        </p:spPr>
        <p:txBody>
          <a:bodyPr wrap="none">
            <a:spAutoFit/>
          </a:bodyPr>
          <a:lstStyle/>
          <a:p>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无向图</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G</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3</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是非连通图，</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它有两个连通分量。</a:t>
            </a:r>
          </a:p>
        </p:txBody>
      </p:sp>
      <p:pic>
        <p:nvPicPr>
          <p:cNvPr id="614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734" y="3507733"/>
            <a:ext cx="4779566" cy="24415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57311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fade">
                                      <p:cBhvr>
                                        <p:cTn id="7" dur="500"/>
                                        <p:tgtEl>
                                          <p:spTgt spid="614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43608" y="980728"/>
            <a:ext cx="7520940" cy="3579849"/>
          </a:xfrm>
        </p:spPr>
        <p:txBody>
          <a:bodyPr/>
          <a:lstStyle/>
          <a:p>
            <a:pPr marL="0" indent="0"/>
            <a:r>
              <a:rPr lang="zh-CN" altLang="zh-CN" b="0" dirty="0"/>
              <a:t>在有向图</a:t>
            </a:r>
            <a:r>
              <a:rPr lang="en-US" altLang="zh-CN" b="0" dirty="0"/>
              <a:t>G = ( V, E )</a:t>
            </a:r>
            <a:r>
              <a:rPr lang="zh-CN" altLang="zh-CN" b="0" dirty="0"/>
              <a:t>中，若对于</a:t>
            </a:r>
            <a:r>
              <a:rPr lang="en-US" altLang="zh-CN" b="0" dirty="0"/>
              <a:t>V</a:t>
            </a:r>
            <a:r>
              <a:rPr lang="zh-CN" altLang="zh-CN" b="0" dirty="0"/>
              <a:t>中任意两个不同的顶点</a:t>
            </a:r>
            <a:r>
              <a:rPr lang="en-US" altLang="zh-CN" b="0" dirty="0"/>
              <a:t>v</a:t>
            </a:r>
            <a:r>
              <a:rPr lang="en-US" altLang="zh-CN" b="0" baseline="-25000" dirty="0"/>
              <a:t>i</a:t>
            </a:r>
            <a:r>
              <a:rPr lang="zh-CN" altLang="zh-CN" b="0" dirty="0"/>
              <a:t>和</a:t>
            </a:r>
            <a:r>
              <a:rPr lang="en-US" altLang="zh-CN" b="0" dirty="0" err="1"/>
              <a:t>v</a:t>
            </a:r>
            <a:r>
              <a:rPr lang="en-US" altLang="zh-CN" b="0" baseline="-25000" dirty="0" err="1"/>
              <a:t>j</a:t>
            </a:r>
            <a:r>
              <a:rPr lang="zh-CN" altLang="zh-CN" b="0" dirty="0"/>
              <a:t>都有</a:t>
            </a:r>
            <a:r>
              <a:rPr lang="zh-CN" altLang="en-US" b="0" dirty="0"/>
              <a:t>有向</a:t>
            </a:r>
            <a:r>
              <a:rPr lang="zh-CN" altLang="zh-CN" b="0" dirty="0"/>
              <a:t>路径可达，即存在从</a:t>
            </a:r>
            <a:r>
              <a:rPr lang="en-US" altLang="zh-CN" b="0" dirty="0"/>
              <a:t>v</a:t>
            </a:r>
            <a:r>
              <a:rPr lang="en-US" altLang="zh-CN" b="0" baseline="-25000" dirty="0"/>
              <a:t>i</a:t>
            </a:r>
            <a:r>
              <a:rPr lang="zh-CN" altLang="zh-CN" b="0" dirty="0"/>
              <a:t>到</a:t>
            </a:r>
            <a:r>
              <a:rPr lang="en-US" altLang="zh-CN" b="0" dirty="0" err="1"/>
              <a:t>v</a:t>
            </a:r>
            <a:r>
              <a:rPr lang="en-US" altLang="zh-CN" b="0" baseline="-25000" dirty="0" err="1"/>
              <a:t>j</a:t>
            </a:r>
            <a:r>
              <a:rPr lang="zh-CN" altLang="zh-CN" b="0" dirty="0"/>
              <a:t>和从</a:t>
            </a:r>
            <a:r>
              <a:rPr lang="en-US" altLang="zh-CN" b="0" dirty="0" err="1"/>
              <a:t>v</a:t>
            </a:r>
            <a:r>
              <a:rPr lang="en-US" altLang="zh-CN" b="0" baseline="-25000" dirty="0" err="1"/>
              <a:t>j</a:t>
            </a:r>
            <a:r>
              <a:rPr lang="zh-CN" altLang="zh-CN" b="0" dirty="0"/>
              <a:t>到</a:t>
            </a:r>
            <a:r>
              <a:rPr lang="en-US" altLang="zh-CN" b="0" dirty="0"/>
              <a:t>v</a:t>
            </a:r>
            <a:r>
              <a:rPr lang="en-US" altLang="zh-CN" b="0" baseline="-25000" dirty="0"/>
              <a:t>i</a:t>
            </a:r>
            <a:r>
              <a:rPr lang="zh-CN" altLang="zh-CN" b="0" dirty="0"/>
              <a:t>的路径，则称</a:t>
            </a:r>
            <a:r>
              <a:rPr lang="en-US" altLang="zh-CN" b="0" dirty="0"/>
              <a:t>G</a:t>
            </a:r>
            <a:r>
              <a:rPr lang="zh-CN" altLang="zh-CN" b="0" dirty="0"/>
              <a:t>是</a:t>
            </a:r>
            <a:r>
              <a:rPr lang="zh-CN" altLang="zh-CN" dirty="0">
                <a:solidFill>
                  <a:srgbClr val="FF0000"/>
                </a:solidFill>
              </a:rPr>
              <a:t>强连通图</a:t>
            </a:r>
            <a:r>
              <a:rPr lang="zh-CN" altLang="zh-CN" b="0" dirty="0"/>
              <a:t>。</a:t>
            </a:r>
            <a:endParaRPr lang="en-US" altLang="zh-CN" b="0" dirty="0"/>
          </a:p>
          <a:p>
            <a:pPr marL="0" indent="0"/>
            <a:r>
              <a:rPr lang="zh-CN" altLang="zh-CN" b="0" dirty="0"/>
              <a:t>如果一个有向图不是强连通图，但是去掉弧上的方向形成的图为连通图，则称该有向图为</a:t>
            </a:r>
            <a:r>
              <a:rPr lang="zh-CN" altLang="zh-CN" dirty="0">
                <a:solidFill>
                  <a:srgbClr val="FF0000"/>
                </a:solidFill>
              </a:rPr>
              <a:t>弱连通图</a:t>
            </a:r>
            <a:r>
              <a:rPr lang="en-US" altLang="zh-CN" b="0" dirty="0"/>
              <a:t>.</a:t>
            </a:r>
            <a:endParaRPr lang="zh-CN" altLang="zh-CN" b="0" dirty="0"/>
          </a:p>
          <a:p>
            <a:endParaRPr lang="zh-CN" altLang="en-US" b="0" dirty="0"/>
          </a:p>
        </p:txBody>
      </p:sp>
      <p:pic>
        <p:nvPicPr>
          <p:cNvPr id="717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67744" y="3356992"/>
            <a:ext cx="4410075" cy="2609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311311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196752"/>
            <a:ext cx="7520940" cy="3579849"/>
          </a:xfrm>
        </p:spPr>
        <p:txBody>
          <a:bodyPr/>
          <a:lstStyle/>
          <a:p>
            <a:pPr>
              <a:buFont typeface="Arial" panose="020B0604020202020204" pitchFamily="34" charset="0"/>
              <a:buChar char="•"/>
            </a:pPr>
            <a:r>
              <a:rPr lang="zh-CN" altLang="zh-CN" b="0" dirty="0"/>
              <a:t>有向图的</a:t>
            </a:r>
            <a:r>
              <a:rPr lang="zh-CN" altLang="zh-CN" b="0" dirty="0">
                <a:solidFill>
                  <a:srgbClr val="FF0000"/>
                </a:solidFill>
              </a:rPr>
              <a:t>极大强连通子图</a:t>
            </a:r>
            <a:r>
              <a:rPr lang="zh-CN" altLang="zh-CN" b="0" dirty="0"/>
              <a:t>称为</a:t>
            </a:r>
            <a:r>
              <a:rPr lang="en-US" altLang="zh-CN" b="0" dirty="0"/>
              <a:t>G</a:t>
            </a:r>
            <a:r>
              <a:rPr lang="zh-CN" altLang="zh-CN" b="0" dirty="0"/>
              <a:t>的</a:t>
            </a:r>
            <a:r>
              <a:rPr lang="zh-CN" altLang="zh-CN" dirty="0">
                <a:solidFill>
                  <a:srgbClr val="FF0000"/>
                </a:solidFill>
              </a:rPr>
              <a:t>强连通分量</a:t>
            </a:r>
            <a:r>
              <a:rPr lang="zh-CN" altLang="zh-CN" b="0" dirty="0"/>
              <a:t>。显然，强连通图只有一个强连通分量，就是其本身，而非强连通的有向图有多个强连通分量。</a:t>
            </a:r>
            <a:endParaRPr lang="zh-CN" altLang="en-US" b="0" dirty="0"/>
          </a:p>
        </p:txBody>
      </p:sp>
      <p:pic>
        <p:nvPicPr>
          <p:cNvPr id="819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5616" y="2805358"/>
            <a:ext cx="6840760" cy="32439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14567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fade">
                                      <p:cBhvr>
                                        <p:cTn id="7" dur="500"/>
                                        <p:tgtEl>
                                          <p:spTgt spid="8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196752"/>
            <a:ext cx="7920880" cy="3579849"/>
          </a:xfrm>
        </p:spPr>
        <p:txBody>
          <a:bodyPr/>
          <a:lstStyle/>
          <a:p>
            <a:pPr>
              <a:buFont typeface="Arial" panose="020B0604020202020204" pitchFamily="34" charset="0"/>
              <a:buChar char="•"/>
            </a:pPr>
            <a:r>
              <a:rPr lang="zh-CN" altLang="zh-CN" b="0" dirty="0">
                <a:solidFill>
                  <a:srgbClr val="FF0000"/>
                </a:solidFill>
              </a:rPr>
              <a:t>顶点</a:t>
            </a:r>
            <a:r>
              <a:rPr lang="en-US" altLang="zh-CN" b="0" dirty="0">
                <a:solidFill>
                  <a:srgbClr val="FF0000"/>
                </a:solidFill>
              </a:rPr>
              <a:t>v</a:t>
            </a:r>
            <a:r>
              <a:rPr lang="zh-CN" altLang="zh-CN" b="0" dirty="0">
                <a:solidFill>
                  <a:srgbClr val="FF0000"/>
                </a:solidFill>
              </a:rPr>
              <a:t>的度</a:t>
            </a:r>
            <a:r>
              <a:rPr lang="zh-CN" altLang="zh-CN" b="0" dirty="0"/>
              <a:t>是关联于该顶点的边的数目，记为</a:t>
            </a:r>
            <a:r>
              <a:rPr lang="en-US" altLang="zh-CN" b="0" dirty="0"/>
              <a:t>D(v)</a:t>
            </a:r>
            <a:r>
              <a:rPr lang="zh-CN" altLang="zh-CN" b="0" dirty="0"/>
              <a:t>。</a:t>
            </a:r>
            <a:endParaRPr lang="en-US" altLang="zh-CN" b="0" dirty="0"/>
          </a:p>
          <a:p>
            <a:pPr>
              <a:buFont typeface="Arial" panose="020B0604020202020204" pitchFamily="34" charset="0"/>
              <a:buChar char="•"/>
            </a:pPr>
            <a:r>
              <a:rPr lang="zh-CN" altLang="zh-CN" b="0" dirty="0">
                <a:solidFill>
                  <a:srgbClr val="FF0000"/>
                </a:solidFill>
              </a:rPr>
              <a:t>顶点</a:t>
            </a:r>
            <a:r>
              <a:rPr lang="en-US" altLang="zh-CN" b="0" dirty="0">
                <a:solidFill>
                  <a:srgbClr val="FF0000"/>
                </a:solidFill>
              </a:rPr>
              <a:t>v</a:t>
            </a:r>
            <a:r>
              <a:rPr lang="zh-CN" altLang="zh-CN" b="0" dirty="0">
                <a:solidFill>
                  <a:srgbClr val="FF0000"/>
                </a:solidFill>
              </a:rPr>
              <a:t>的入度</a:t>
            </a:r>
            <a:r>
              <a:rPr lang="zh-CN" altLang="zh-CN" b="0" dirty="0"/>
              <a:t>是指以顶点</a:t>
            </a:r>
            <a:r>
              <a:rPr lang="en-US" altLang="zh-CN" b="0" dirty="0"/>
              <a:t>v</a:t>
            </a:r>
            <a:r>
              <a:rPr lang="zh-CN" altLang="zh-CN" b="0" dirty="0"/>
              <a:t>为弧头的数目，记为</a:t>
            </a:r>
            <a:r>
              <a:rPr lang="en-US" altLang="zh-CN" b="0" dirty="0"/>
              <a:t>ID(v)</a:t>
            </a:r>
            <a:r>
              <a:rPr lang="zh-CN" altLang="zh-CN" b="0" dirty="0"/>
              <a:t>；</a:t>
            </a:r>
            <a:endParaRPr lang="en-US" altLang="zh-CN" b="0" dirty="0"/>
          </a:p>
          <a:p>
            <a:pPr>
              <a:buFont typeface="Arial" panose="020B0604020202020204" pitchFamily="34" charset="0"/>
              <a:buChar char="•"/>
            </a:pPr>
            <a:r>
              <a:rPr lang="zh-CN" altLang="zh-CN" b="0" dirty="0">
                <a:solidFill>
                  <a:srgbClr val="FF0000"/>
                </a:solidFill>
              </a:rPr>
              <a:t>顶点</a:t>
            </a:r>
            <a:r>
              <a:rPr lang="en-US" altLang="zh-CN" b="0" dirty="0">
                <a:solidFill>
                  <a:srgbClr val="FF0000"/>
                </a:solidFill>
              </a:rPr>
              <a:t>v</a:t>
            </a:r>
            <a:r>
              <a:rPr lang="zh-CN" altLang="zh-CN" b="0" dirty="0">
                <a:solidFill>
                  <a:srgbClr val="FF0000"/>
                </a:solidFill>
              </a:rPr>
              <a:t>的出度</a:t>
            </a:r>
            <a:r>
              <a:rPr lang="zh-CN" altLang="zh-CN" b="0" dirty="0"/>
              <a:t>是指以顶点</a:t>
            </a:r>
            <a:r>
              <a:rPr lang="en-US" altLang="zh-CN" b="0" dirty="0"/>
              <a:t>v</a:t>
            </a:r>
            <a:r>
              <a:rPr lang="zh-CN" altLang="zh-CN" b="0" dirty="0"/>
              <a:t>为弧尾的数目，记为</a:t>
            </a:r>
            <a:r>
              <a:rPr lang="en-US" altLang="zh-CN" b="0" dirty="0"/>
              <a:t>OD(v)</a:t>
            </a:r>
            <a:r>
              <a:rPr lang="zh-CN" altLang="zh-CN" b="0" dirty="0"/>
              <a:t>；</a:t>
            </a:r>
            <a:endParaRPr lang="en-US" altLang="zh-CN" b="0" dirty="0"/>
          </a:p>
          <a:p>
            <a:pPr>
              <a:buFont typeface="Arial" panose="020B0604020202020204" pitchFamily="34" charset="0"/>
              <a:buChar char="•"/>
            </a:pPr>
            <a:r>
              <a:rPr lang="zh-CN" altLang="zh-CN" b="0" dirty="0">
                <a:solidFill>
                  <a:srgbClr val="FF0000"/>
                </a:solidFill>
              </a:rPr>
              <a:t>顶点</a:t>
            </a:r>
            <a:r>
              <a:rPr lang="en-US" altLang="zh-CN" b="0" dirty="0">
                <a:solidFill>
                  <a:srgbClr val="FF0000"/>
                </a:solidFill>
              </a:rPr>
              <a:t>v</a:t>
            </a:r>
            <a:r>
              <a:rPr lang="zh-CN" altLang="zh-CN" b="0" dirty="0">
                <a:solidFill>
                  <a:srgbClr val="FF0000"/>
                </a:solidFill>
              </a:rPr>
              <a:t>的度</a:t>
            </a:r>
            <a:r>
              <a:rPr lang="zh-CN" altLang="zh-CN" b="0" dirty="0"/>
              <a:t>为</a:t>
            </a:r>
            <a:r>
              <a:rPr lang="en-US" altLang="zh-CN" b="0" dirty="0"/>
              <a:t>D(v) = ID(v) + OD(v)</a:t>
            </a:r>
            <a:r>
              <a:rPr lang="zh-CN" altLang="zh-CN" b="0" dirty="0"/>
              <a:t>。</a:t>
            </a:r>
            <a:endParaRPr lang="en-US" altLang="zh-CN" b="0" dirty="0"/>
          </a:p>
          <a:p>
            <a:pPr>
              <a:buFont typeface="Arial" panose="020B0604020202020204" pitchFamily="34" charset="0"/>
              <a:buChar char="•"/>
            </a:pPr>
            <a:r>
              <a:rPr lang="zh-CN" altLang="zh-CN" b="0" dirty="0"/>
              <a:t>无论是无向图还是有向图，一个有</a:t>
            </a:r>
            <a:r>
              <a:rPr lang="en-US" altLang="zh-CN" b="0" dirty="0"/>
              <a:t>n</a:t>
            </a:r>
            <a:r>
              <a:rPr lang="zh-CN" altLang="zh-CN" b="0" dirty="0"/>
              <a:t>个顶点、</a:t>
            </a:r>
            <a:r>
              <a:rPr lang="en-US" altLang="zh-CN" b="0" dirty="0"/>
              <a:t>e</a:t>
            </a:r>
            <a:r>
              <a:rPr lang="zh-CN" altLang="zh-CN" b="0" dirty="0"/>
              <a:t>条边的图，满足如下关系：</a:t>
            </a:r>
            <a:endParaRPr lang="zh-CN" altLang="en-US" b="0" dirty="0"/>
          </a:p>
        </p:txBody>
      </p:sp>
      <p:pic>
        <p:nvPicPr>
          <p:cNvPr id="921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91880" y="4393429"/>
            <a:ext cx="2160240" cy="1020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611560" y="5424736"/>
            <a:ext cx="8064896" cy="830997"/>
          </a:xfrm>
          <a:prstGeom prst="rect">
            <a:avLst/>
          </a:prstGeom>
        </p:spPr>
        <p:txBody>
          <a:bodyPr wrap="square">
            <a:spAutoFit/>
          </a:bodyPr>
          <a:lstStyle/>
          <a:p>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无向图</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G</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1</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中，各顶点</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1</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3</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4</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5</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的度分别为</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3</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3</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2</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4</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2</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，图中的边数为：</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e = (3+3+2+4+2)/2 = 7</a:t>
            </a:r>
            <a:r>
              <a:rPr lang="zh-CN" altLang="zh-CN" dirty="0"/>
              <a:t>。</a:t>
            </a:r>
            <a:endParaRPr lang="zh-CN" altLang="en-US" dirty="0"/>
          </a:p>
        </p:txBody>
      </p:sp>
    </p:spTree>
    <p:extLst>
      <p:ext uri="{BB962C8B-B14F-4D97-AF65-F5344CB8AC3E}">
        <p14:creationId xmlns:p14="http://schemas.microsoft.com/office/powerpoint/2010/main" val="4094730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218"/>
                                        </p:tgtEl>
                                        <p:attrNameLst>
                                          <p:attrName>style.visibility</p:attrName>
                                        </p:attrNameLst>
                                      </p:cBhvr>
                                      <p:to>
                                        <p:strVal val="visible"/>
                                      </p:to>
                                    </p:set>
                                    <p:animEffect transition="in" filter="fade">
                                      <p:cBhvr>
                                        <p:cTn id="32" dur="500"/>
                                        <p:tgtEl>
                                          <p:spTgt spid="921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920880" cy="5112568"/>
          </a:xfrm>
        </p:spPr>
        <p:txBody>
          <a:bodyPr>
            <a:normAutofit/>
          </a:bodyPr>
          <a:lstStyle/>
          <a:p>
            <a:pPr marL="0" indent="0"/>
            <a:r>
              <a:rPr lang="zh-CN" altLang="zh-CN" b="0" dirty="0"/>
              <a:t>图</a:t>
            </a:r>
            <a:r>
              <a:rPr lang="en-US" altLang="zh-CN" b="0" dirty="0"/>
              <a:t>G</a:t>
            </a:r>
            <a:r>
              <a:rPr lang="zh-CN" altLang="zh-CN" b="0" dirty="0"/>
              <a:t>的顶点数</a:t>
            </a:r>
            <a:r>
              <a:rPr lang="en-US" altLang="zh-CN" b="0" dirty="0"/>
              <a:t>n</a:t>
            </a:r>
            <a:r>
              <a:rPr lang="zh-CN" altLang="zh-CN" b="0" dirty="0"/>
              <a:t>和边数</a:t>
            </a:r>
            <a:r>
              <a:rPr lang="en-US" altLang="zh-CN" b="0" dirty="0"/>
              <a:t>e</a:t>
            </a:r>
            <a:r>
              <a:rPr lang="zh-CN" altLang="zh-CN" b="0" dirty="0"/>
              <a:t>满足以下关系：</a:t>
            </a:r>
            <a:endParaRPr lang="en-US" altLang="zh-CN" b="0" dirty="0"/>
          </a:p>
          <a:p>
            <a:pPr>
              <a:buFont typeface="Wingdings" panose="05000000000000000000" pitchFamily="2" charset="2"/>
              <a:buChar char="ü"/>
            </a:pPr>
            <a:r>
              <a:rPr lang="zh-CN" altLang="zh-CN" b="0" dirty="0"/>
              <a:t>若</a:t>
            </a:r>
            <a:r>
              <a:rPr lang="en-US" altLang="zh-CN" b="0" dirty="0"/>
              <a:t>G</a:t>
            </a:r>
            <a:r>
              <a:rPr lang="zh-CN" altLang="zh-CN" b="0" dirty="0"/>
              <a:t>是无向图，则</a:t>
            </a:r>
            <a:r>
              <a:rPr lang="en-US" altLang="zh-CN" b="0" dirty="0"/>
              <a:t>0 ≤ e ≤ n(n-1)/2</a:t>
            </a:r>
            <a:r>
              <a:rPr lang="zh-CN" altLang="zh-CN" b="0" dirty="0"/>
              <a:t>；</a:t>
            </a:r>
            <a:endParaRPr lang="en-US" altLang="zh-CN" b="0" dirty="0"/>
          </a:p>
          <a:p>
            <a:pPr>
              <a:buFont typeface="Wingdings" panose="05000000000000000000" pitchFamily="2" charset="2"/>
              <a:buChar char="ü"/>
            </a:pPr>
            <a:r>
              <a:rPr lang="zh-CN" altLang="zh-CN" b="0" dirty="0"/>
              <a:t>若</a:t>
            </a:r>
            <a:r>
              <a:rPr lang="en-US" altLang="zh-CN" b="0" dirty="0"/>
              <a:t>G</a:t>
            </a:r>
            <a:r>
              <a:rPr lang="zh-CN" altLang="zh-CN" b="0" dirty="0"/>
              <a:t>是有向图，则</a:t>
            </a:r>
            <a:r>
              <a:rPr lang="en-US" altLang="zh-CN" b="0" dirty="0"/>
              <a:t>0 ≤ e ≤ n(n-1)</a:t>
            </a:r>
            <a:r>
              <a:rPr lang="zh-CN" altLang="zh-CN" b="0" dirty="0"/>
              <a:t>。</a:t>
            </a:r>
            <a:endParaRPr lang="en-US" altLang="zh-CN" b="0" dirty="0"/>
          </a:p>
          <a:p>
            <a:pPr>
              <a:buFont typeface="Wingdings" panose="05000000000000000000" pitchFamily="2" charset="2"/>
              <a:buChar char="ü"/>
            </a:pPr>
            <a:r>
              <a:rPr lang="zh-CN" altLang="zh-CN" b="0" dirty="0"/>
              <a:t>恰好有</a:t>
            </a:r>
            <a:r>
              <a:rPr lang="en-US" altLang="zh-CN" b="0" dirty="0"/>
              <a:t>n(n-1)/2</a:t>
            </a:r>
            <a:r>
              <a:rPr lang="zh-CN" altLang="zh-CN" b="0" dirty="0"/>
              <a:t>条边的无向图称为</a:t>
            </a:r>
            <a:r>
              <a:rPr lang="zh-CN" altLang="zh-CN" b="0" dirty="0">
                <a:solidFill>
                  <a:srgbClr val="FF0000"/>
                </a:solidFill>
              </a:rPr>
              <a:t>无向完全图</a:t>
            </a:r>
            <a:r>
              <a:rPr lang="zh-CN" altLang="zh-CN" b="0" dirty="0"/>
              <a:t>；</a:t>
            </a:r>
            <a:endParaRPr lang="en-US" altLang="zh-CN" b="0" dirty="0"/>
          </a:p>
          <a:p>
            <a:pPr>
              <a:buFont typeface="Wingdings" panose="05000000000000000000" pitchFamily="2" charset="2"/>
              <a:buChar char="ü"/>
            </a:pPr>
            <a:r>
              <a:rPr lang="zh-CN" altLang="zh-CN" b="0" dirty="0"/>
              <a:t>恰好有</a:t>
            </a:r>
            <a:r>
              <a:rPr lang="en-US" altLang="zh-CN" b="0" dirty="0"/>
              <a:t>n(n-1)</a:t>
            </a:r>
            <a:r>
              <a:rPr lang="zh-CN" altLang="zh-CN" b="0" dirty="0"/>
              <a:t>条弧的有向图称为</a:t>
            </a:r>
            <a:r>
              <a:rPr lang="zh-CN" altLang="zh-CN" b="0" dirty="0">
                <a:solidFill>
                  <a:srgbClr val="FF0000"/>
                </a:solidFill>
              </a:rPr>
              <a:t>有向完全图</a:t>
            </a:r>
            <a:r>
              <a:rPr lang="zh-CN" altLang="zh-CN" b="0" dirty="0"/>
              <a:t>。</a:t>
            </a:r>
            <a:endParaRPr lang="en-US" altLang="zh-CN" b="0" dirty="0"/>
          </a:p>
          <a:p>
            <a:pPr>
              <a:buFont typeface="Wingdings" panose="05000000000000000000" pitchFamily="2" charset="2"/>
              <a:buChar char="ü"/>
            </a:pPr>
            <a:r>
              <a:rPr lang="zh-CN" altLang="zh-CN" b="0" dirty="0"/>
              <a:t>完全图具有最多的边数，任意一对顶点间均有边相连。边数很少（如</a:t>
            </a:r>
            <a:r>
              <a:rPr lang="en-US" altLang="zh-CN" b="0" dirty="0"/>
              <a:t>e ≤ </a:t>
            </a:r>
            <a:r>
              <a:rPr lang="en-US" altLang="zh-CN" b="0" dirty="0" err="1"/>
              <a:t>nlogn</a:t>
            </a:r>
            <a:r>
              <a:rPr lang="zh-CN" altLang="zh-CN" b="0" dirty="0"/>
              <a:t>）的图称为</a:t>
            </a:r>
            <a:r>
              <a:rPr lang="zh-CN" altLang="zh-CN" b="0" dirty="0">
                <a:solidFill>
                  <a:srgbClr val="FF0000"/>
                </a:solidFill>
              </a:rPr>
              <a:t>稀疏图</a:t>
            </a:r>
            <a:r>
              <a:rPr lang="zh-CN" altLang="zh-CN" b="0" dirty="0"/>
              <a:t>，反之称为</a:t>
            </a:r>
            <a:r>
              <a:rPr lang="zh-CN" altLang="zh-CN" b="0" dirty="0">
                <a:solidFill>
                  <a:srgbClr val="FF0000"/>
                </a:solidFill>
              </a:rPr>
              <a:t>稠密图</a:t>
            </a:r>
            <a:r>
              <a:rPr lang="zh-CN" altLang="zh-CN" b="0" dirty="0"/>
              <a:t>。</a:t>
            </a:r>
          </a:p>
          <a:p>
            <a:endParaRPr lang="zh-CN" altLang="en-US" b="0" dirty="0"/>
          </a:p>
        </p:txBody>
      </p:sp>
      <p:sp>
        <p:nvSpPr>
          <p:cNvPr id="4" name="矩形 3"/>
          <p:cNvSpPr/>
          <p:nvPr/>
        </p:nvSpPr>
        <p:spPr>
          <a:xfrm>
            <a:off x="1115616" y="5301208"/>
            <a:ext cx="7272808" cy="1015663"/>
          </a:xfrm>
          <a:prstGeom prst="rect">
            <a:avLst/>
          </a:prstGeom>
        </p:spPr>
        <p:txBody>
          <a:bodyPr wrap="square">
            <a:spAutoFit/>
          </a:bodyPr>
          <a:lstStyle/>
          <a:p>
            <a:r>
              <a:rPr lang="en-US" altLang="zh-CN" sz="2000" dirty="0">
                <a:sym typeface="Webdings"/>
              </a:rPr>
              <a:t></a:t>
            </a:r>
            <a:r>
              <a:rPr lang="zh-CN" altLang="zh-CN" sz="2000" dirty="0"/>
              <a:t>结论：</a:t>
            </a:r>
          </a:p>
          <a:p>
            <a:r>
              <a:rPr lang="en-US" altLang="zh-CN" sz="2000" dirty="0"/>
              <a:t>	(1) n</a:t>
            </a:r>
            <a:r>
              <a:rPr lang="zh-CN" altLang="zh-CN" sz="2000" dirty="0"/>
              <a:t>个顶点的无向完全图，总的边数</a:t>
            </a:r>
            <a:r>
              <a:rPr lang="en-US" altLang="zh-CN" sz="2000" dirty="0"/>
              <a:t>n(n-1)/2</a:t>
            </a:r>
            <a:r>
              <a:rPr lang="zh-CN" altLang="zh-CN" sz="2000" dirty="0"/>
              <a:t>；</a:t>
            </a:r>
          </a:p>
          <a:p>
            <a:r>
              <a:rPr lang="en-US" altLang="zh-CN" sz="2000" dirty="0"/>
              <a:t>	(2) n</a:t>
            </a:r>
            <a:r>
              <a:rPr lang="zh-CN" altLang="zh-CN" sz="2000" dirty="0"/>
              <a:t>个顶点的有向完全图，总的弧数</a:t>
            </a:r>
            <a:r>
              <a:rPr lang="en-US" altLang="zh-CN" sz="2000" dirty="0"/>
              <a:t>n(n-1)</a:t>
            </a:r>
            <a:r>
              <a:rPr lang="zh-CN" altLang="zh-CN" sz="2000" dirty="0"/>
              <a:t>。</a:t>
            </a:r>
          </a:p>
        </p:txBody>
      </p:sp>
    </p:spTree>
    <p:extLst>
      <p:ext uri="{BB962C8B-B14F-4D97-AF65-F5344CB8AC3E}">
        <p14:creationId xmlns:p14="http://schemas.microsoft.com/office/powerpoint/2010/main" val="1902205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3568" y="1340768"/>
            <a:ext cx="7920880" cy="4608512"/>
          </a:xfrm>
        </p:spPr>
        <p:txBody>
          <a:bodyPr>
            <a:noAutofit/>
          </a:bodyPr>
          <a:lstStyle/>
          <a:p>
            <a:pPr>
              <a:buFont typeface="Arial" panose="020B0604020202020204" pitchFamily="34" charset="0"/>
              <a:buChar char="•"/>
            </a:pPr>
            <a:r>
              <a:rPr lang="zh-CN" altLang="zh-CN" b="0" dirty="0"/>
              <a:t>一个具有</a:t>
            </a:r>
            <a:r>
              <a:rPr lang="en-US" altLang="zh-CN" b="0" dirty="0"/>
              <a:t>n</a:t>
            </a:r>
            <a:r>
              <a:rPr lang="zh-CN" altLang="zh-CN" b="0" dirty="0"/>
              <a:t>个顶点的连通图</a:t>
            </a:r>
            <a:r>
              <a:rPr lang="en-US" altLang="zh-CN" b="0" dirty="0"/>
              <a:t>G</a:t>
            </a:r>
            <a:r>
              <a:rPr lang="zh-CN" altLang="zh-CN" b="0" dirty="0"/>
              <a:t>的</a:t>
            </a:r>
            <a:r>
              <a:rPr lang="zh-CN" altLang="zh-CN" dirty="0">
                <a:solidFill>
                  <a:srgbClr val="FF0000"/>
                </a:solidFill>
              </a:rPr>
              <a:t>生成树</a:t>
            </a:r>
            <a:r>
              <a:rPr lang="zh-CN" altLang="zh-CN" b="0" dirty="0"/>
              <a:t>是包含</a:t>
            </a:r>
            <a:r>
              <a:rPr lang="en-US" altLang="zh-CN" b="0" dirty="0"/>
              <a:t>G</a:t>
            </a:r>
            <a:r>
              <a:rPr lang="zh-CN" altLang="zh-CN" b="0" dirty="0"/>
              <a:t>中全部顶点的一个极小连通子图，它有且仅有</a:t>
            </a:r>
            <a:r>
              <a:rPr lang="en-US" altLang="zh-CN" b="0" dirty="0"/>
              <a:t>n-1</a:t>
            </a:r>
            <a:r>
              <a:rPr lang="zh-CN" altLang="zh-CN" b="0" dirty="0"/>
              <a:t>条边。如果在图</a:t>
            </a:r>
            <a:r>
              <a:rPr lang="en-US" altLang="zh-CN" b="0" dirty="0"/>
              <a:t>G</a:t>
            </a:r>
            <a:r>
              <a:rPr lang="zh-CN" altLang="zh-CN" b="0" dirty="0"/>
              <a:t>的生成树上添加一条边，则一定存在环，因为这使得依附于这条边的两个顶点之间有了第二条路径；如果生成树的边数少于</a:t>
            </a:r>
            <a:r>
              <a:rPr lang="en-US" altLang="zh-CN" b="0" dirty="0"/>
              <a:t>n-1</a:t>
            </a:r>
            <a:r>
              <a:rPr lang="zh-CN" altLang="zh-CN" b="0" dirty="0"/>
              <a:t>条，则该生成树必定是不连通的。</a:t>
            </a:r>
            <a:endParaRPr lang="en-US" altLang="zh-CN" b="0" dirty="0"/>
          </a:p>
          <a:p>
            <a:pPr>
              <a:buFont typeface="Arial" panose="020B0604020202020204" pitchFamily="34" charset="0"/>
              <a:buChar char="•"/>
            </a:pPr>
            <a:r>
              <a:rPr lang="zh-CN" altLang="zh-CN" b="0" dirty="0"/>
              <a:t>一个有向图的</a:t>
            </a:r>
            <a:r>
              <a:rPr lang="zh-CN" altLang="zh-CN" dirty="0">
                <a:solidFill>
                  <a:srgbClr val="FF0000"/>
                </a:solidFill>
              </a:rPr>
              <a:t>生成森林</a:t>
            </a:r>
            <a:r>
              <a:rPr lang="zh-CN" altLang="zh-CN" b="0" dirty="0"/>
              <a:t>是由若干棵互不相交的有向树组成的，它含有图中全部顶点。</a:t>
            </a:r>
            <a:r>
              <a:rPr lang="zh-CN" altLang="zh-CN" dirty="0">
                <a:solidFill>
                  <a:srgbClr val="FF0000"/>
                </a:solidFill>
              </a:rPr>
              <a:t>有向树</a:t>
            </a:r>
            <a:r>
              <a:rPr lang="zh-CN" altLang="zh-CN" b="0" dirty="0"/>
              <a:t>是恰有一个顶点的入度为</a:t>
            </a:r>
            <a:r>
              <a:rPr lang="en-US" altLang="zh-CN" b="0" dirty="0"/>
              <a:t>0</a:t>
            </a:r>
            <a:r>
              <a:rPr lang="zh-CN" altLang="zh-CN" b="0" dirty="0"/>
              <a:t>，其余顶点的入度均为</a:t>
            </a:r>
            <a:r>
              <a:rPr lang="en-US" altLang="zh-CN" b="0" dirty="0"/>
              <a:t>1</a:t>
            </a:r>
            <a:r>
              <a:rPr lang="zh-CN" altLang="zh-CN" b="0" dirty="0"/>
              <a:t>的有向图。</a:t>
            </a:r>
            <a:endParaRPr lang="zh-CN" altLang="en-US" b="0" dirty="0"/>
          </a:p>
        </p:txBody>
      </p:sp>
    </p:spTree>
    <p:extLst>
      <p:ext uri="{BB962C8B-B14F-4D97-AF65-F5344CB8AC3E}">
        <p14:creationId xmlns:p14="http://schemas.microsoft.com/office/powerpoint/2010/main" val="3626898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1560" y="980728"/>
            <a:ext cx="5832648" cy="27272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588102" y="3707964"/>
            <a:ext cx="7488832" cy="2677656"/>
          </a:xfrm>
          <a:prstGeom prst="rect">
            <a:avLst/>
          </a:prstGeom>
        </p:spPr>
        <p:txBody>
          <a:bodyPr wrap="square">
            <a:spAutoFit/>
          </a:bodyPr>
          <a:lstStyle/>
          <a:p>
            <a:r>
              <a:rPr lang="zh-CN" altLang="zh-CN" sz="2400" dirty="0"/>
              <a:t>★注：</a:t>
            </a:r>
          </a:p>
          <a:p>
            <a:r>
              <a:rPr lang="en-US" altLang="zh-CN" sz="2400" dirty="0"/>
              <a:t>(1) </a:t>
            </a:r>
            <a:r>
              <a:rPr lang="zh-CN" altLang="zh-CN" sz="2400" dirty="0"/>
              <a:t>图可转换为树，树可依照二叉树进行处理；非连通图可转换为森林；</a:t>
            </a:r>
          </a:p>
          <a:p>
            <a:r>
              <a:rPr lang="en-US" altLang="zh-CN" sz="2400" dirty="0"/>
              <a:t>(2) </a:t>
            </a:r>
            <a:r>
              <a:rPr lang="zh-CN" altLang="zh-CN" sz="2400" dirty="0"/>
              <a:t>任何树都可转换为二叉树，而二叉树的根无右子树时才能转换成树；</a:t>
            </a:r>
          </a:p>
          <a:p>
            <a:r>
              <a:rPr lang="en-US" altLang="zh-CN" sz="2400" dirty="0"/>
              <a:t>(3) </a:t>
            </a:r>
            <a:r>
              <a:rPr lang="zh-CN" altLang="zh-CN" sz="2400" dirty="0"/>
              <a:t>森林同二叉树之间可实现相互转换。</a:t>
            </a:r>
            <a:endParaRPr lang="en-US" altLang="zh-CN" sz="2400" dirty="0"/>
          </a:p>
          <a:p>
            <a:r>
              <a:rPr lang="zh-CN" altLang="en-US" sz="2400" dirty="0">
                <a:solidFill>
                  <a:srgbClr val="FF0000"/>
                </a:solidFill>
              </a:rPr>
              <a:t>通过对图的生成树遍历可以完成图遍历。</a:t>
            </a:r>
            <a:endParaRPr lang="zh-CN" altLang="zh-CN" sz="2400" dirty="0">
              <a:solidFill>
                <a:srgbClr val="FF0000"/>
              </a:solidFill>
            </a:endParaRPr>
          </a:p>
        </p:txBody>
      </p:sp>
      <p:pic>
        <p:nvPicPr>
          <p:cNvPr id="6" name="Picture 2"/>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6546611" y="116632"/>
            <a:ext cx="2525381" cy="23886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93264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fade">
                                      <p:cBhvr>
                                        <p:cTn id="20" dur="500"/>
                                        <p:tgtEl>
                                          <p:spTgt spid="4">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Effect transition="in" filter="fade">
                                      <p:cBhvr>
                                        <p:cTn id="25"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8208912" cy="5472608"/>
          </a:xfrm>
        </p:spPr>
        <p:txBody>
          <a:bodyPr>
            <a:normAutofit fontScale="77500" lnSpcReduction="20000"/>
          </a:bodyPr>
          <a:lstStyle/>
          <a:p>
            <a:pPr>
              <a:spcBef>
                <a:spcPts val="0"/>
              </a:spcBef>
            </a:pPr>
            <a:r>
              <a:rPr lang="zh-CN" altLang="zh-CN" dirty="0"/>
              <a:t>算法</a:t>
            </a:r>
            <a:r>
              <a:rPr lang="en-US" altLang="zh-CN" dirty="0"/>
              <a:t>6.1</a:t>
            </a:r>
            <a:r>
              <a:rPr lang="zh-CN" altLang="zh-CN" dirty="0"/>
              <a:t>：</a:t>
            </a:r>
            <a:r>
              <a:rPr lang="zh-CN" altLang="zh-CN" dirty="0">
                <a:solidFill>
                  <a:srgbClr val="FF0000"/>
                </a:solidFill>
              </a:rPr>
              <a:t>图的类</a:t>
            </a:r>
            <a:r>
              <a:rPr lang="zh-CN" altLang="zh-CN" dirty="0"/>
              <a:t>定义</a:t>
            </a:r>
          </a:p>
          <a:p>
            <a:pPr>
              <a:spcBef>
                <a:spcPts val="0"/>
              </a:spcBef>
            </a:pPr>
            <a:r>
              <a:rPr lang="en-US" altLang="zh-CN" b="0" dirty="0"/>
              <a:t>class Graph{</a:t>
            </a:r>
            <a:endParaRPr lang="zh-CN" altLang="zh-CN" b="0" dirty="0"/>
          </a:p>
          <a:p>
            <a:pPr>
              <a:spcBef>
                <a:spcPts val="0"/>
              </a:spcBef>
            </a:pPr>
            <a:r>
              <a:rPr lang="en-US" altLang="zh-CN" b="0" dirty="0"/>
              <a:t>public:</a:t>
            </a:r>
            <a:endParaRPr lang="zh-CN" altLang="zh-CN" b="0" dirty="0"/>
          </a:p>
          <a:p>
            <a:pPr>
              <a:spcBef>
                <a:spcPts val="0"/>
              </a:spcBef>
            </a:pPr>
            <a:r>
              <a:rPr lang="en-US" altLang="zh-CN" b="0" dirty="0"/>
              <a:t>    </a:t>
            </a:r>
            <a:r>
              <a:rPr lang="en-US" altLang="zh-CN" b="0" dirty="0" err="1"/>
              <a:t>int</a:t>
            </a:r>
            <a:r>
              <a:rPr lang="en-US" altLang="zh-CN" b="0" dirty="0"/>
              <a:t> </a:t>
            </a:r>
            <a:r>
              <a:rPr lang="en-US" altLang="zh-CN" b="0" dirty="0" err="1"/>
              <a:t>numVertex</a:t>
            </a:r>
            <a:r>
              <a:rPr lang="en-US" altLang="zh-CN" b="0" dirty="0"/>
              <a:t>;		//</a:t>
            </a:r>
            <a:r>
              <a:rPr lang="zh-CN" altLang="zh-CN" b="0" dirty="0"/>
              <a:t>图中顶点的个数</a:t>
            </a:r>
          </a:p>
          <a:p>
            <a:pPr>
              <a:spcBef>
                <a:spcPts val="0"/>
              </a:spcBef>
            </a:pPr>
            <a:r>
              <a:rPr lang="en-US" altLang="zh-CN" b="0" dirty="0"/>
              <a:t>    </a:t>
            </a:r>
            <a:r>
              <a:rPr lang="en-US" altLang="zh-CN" b="0" dirty="0" err="1"/>
              <a:t>int</a:t>
            </a:r>
            <a:r>
              <a:rPr lang="en-US" altLang="zh-CN" b="0" dirty="0"/>
              <a:t> </a:t>
            </a:r>
            <a:r>
              <a:rPr lang="en-US" altLang="zh-CN" b="0" dirty="0" err="1"/>
              <a:t>numEdge</a:t>
            </a:r>
            <a:r>
              <a:rPr lang="en-US" altLang="zh-CN" b="0" dirty="0"/>
              <a:t>;    		//</a:t>
            </a:r>
            <a:r>
              <a:rPr lang="zh-CN" altLang="zh-CN" b="0" dirty="0"/>
              <a:t>图中边的个数</a:t>
            </a:r>
          </a:p>
          <a:p>
            <a:pPr>
              <a:spcBef>
                <a:spcPts val="0"/>
              </a:spcBef>
            </a:pPr>
            <a:r>
              <a:rPr lang="en-US" altLang="zh-CN" b="0" dirty="0"/>
              <a:t>    bool *Visited;   		//Visited</a:t>
            </a:r>
            <a:r>
              <a:rPr lang="zh-CN" altLang="zh-CN" b="0" dirty="0"/>
              <a:t>指针指向保存图的顶点的标志位数组</a:t>
            </a:r>
          </a:p>
          <a:p>
            <a:pPr>
              <a:spcBef>
                <a:spcPts val="0"/>
              </a:spcBef>
            </a:pPr>
            <a:r>
              <a:rPr lang="en-US" altLang="zh-CN" b="0" dirty="0"/>
              <a:t>    </a:t>
            </a:r>
            <a:r>
              <a:rPr lang="en-US" altLang="zh-CN" b="0" dirty="0" err="1"/>
              <a:t>int</a:t>
            </a:r>
            <a:r>
              <a:rPr lang="en-US" altLang="zh-CN" b="0" dirty="0"/>
              <a:t> *</a:t>
            </a:r>
            <a:r>
              <a:rPr lang="en-US" altLang="zh-CN" b="0" dirty="0" err="1"/>
              <a:t>InDegree</a:t>
            </a:r>
            <a:r>
              <a:rPr lang="en-US" altLang="zh-CN" b="0" dirty="0"/>
              <a:t>;  		//</a:t>
            </a:r>
            <a:r>
              <a:rPr lang="en-US" altLang="zh-CN" b="0" dirty="0" err="1"/>
              <a:t>InDegree</a:t>
            </a:r>
            <a:r>
              <a:rPr lang="zh-CN" altLang="zh-CN" b="0" dirty="0"/>
              <a:t>指针指向保存图的顶点的入度的数组</a:t>
            </a:r>
            <a:endParaRPr lang="en-US" altLang="zh-CN" b="0" dirty="0"/>
          </a:p>
          <a:p>
            <a:pPr>
              <a:spcBef>
                <a:spcPts val="0"/>
              </a:spcBef>
            </a:pPr>
            <a:endParaRPr lang="zh-CN" altLang="zh-CN" b="0" dirty="0"/>
          </a:p>
          <a:p>
            <a:pPr>
              <a:spcBef>
                <a:spcPts val="0"/>
              </a:spcBef>
            </a:pPr>
            <a:r>
              <a:rPr lang="en-US" altLang="zh-CN" b="0" dirty="0"/>
              <a:t>    Graph(</a:t>
            </a:r>
            <a:r>
              <a:rPr lang="en-US" altLang="zh-CN" b="0" dirty="0" err="1"/>
              <a:t>int</a:t>
            </a:r>
            <a:r>
              <a:rPr lang="en-US" altLang="zh-CN" b="0" dirty="0"/>
              <a:t> </a:t>
            </a:r>
            <a:r>
              <a:rPr lang="en-US" altLang="zh-CN" b="0" dirty="0" err="1"/>
              <a:t>numVert</a:t>
            </a:r>
            <a:r>
              <a:rPr lang="en-US" altLang="zh-CN" b="0" dirty="0"/>
              <a:t>);         //</a:t>
            </a:r>
            <a:r>
              <a:rPr lang="zh-CN" altLang="zh-CN" b="0" dirty="0"/>
              <a:t>构造函数</a:t>
            </a:r>
          </a:p>
          <a:p>
            <a:pPr>
              <a:spcBef>
                <a:spcPts val="0"/>
              </a:spcBef>
            </a:pPr>
            <a:r>
              <a:rPr lang="en-US" altLang="zh-CN" b="0" dirty="0"/>
              <a:t>    ~Graph();                         	//</a:t>
            </a:r>
            <a:r>
              <a:rPr lang="zh-CN" altLang="zh-CN" b="0" dirty="0"/>
              <a:t>析构函数</a:t>
            </a:r>
          </a:p>
          <a:p>
            <a:pPr>
              <a:spcBef>
                <a:spcPts val="0"/>
              </a:spcBef>
            </a:pPr>
            <a:r>
              <a:rPr lang="en-US" altLang="zh-CN" b="0" dirty="0"/>
              <a:t>    virtual </a:t>
            </a:r>
            <a:r>
              <a:rPr lang="en-US" altLang="zh-CN" b="0" dirty="0" err="1"/>
              <a:t>int</a:t>
            </a:r>
            <a:r>
              <a:rPr lang="en-US" altLang="zh-CN" b="0" dirty="0"/>
              <a:t> </a:t>
            </a:r>
            <a:r>
              <a:rPr lang="en-US" altLang="zh-CN" b="0" dirty="0" err="1"/>
              <a:t>FirstAdj</a:t>
            </a:r>
            <a:r>
              <a:rPr lang="en-US" altLang="zh-CN" b="0" dirty="0"/>
              <a:t>(</a:t>
            </a:r>
            <a:r>
              <a:rPr lang="en-US" altLang="zh-CN" b="0" dirty="0" err="1"/>
              <a:t>int</a:t>
            </a:r>
            <a:r>
              <a:rPr lang="en-US" altLang="zh-CN" b="0" dirty="0"/>
              <a:t> </a:t>
            </a:r>
            <a:r>
              <a:rPr lang="en-US" altLang="zh-CN" b="0" dirty="0" err="1"/>
              <a:t>oneVertex</a:t>
            </a:r>
            <a:r>
              <a:rPr lang="en-US" altLang="zh-CN" b="0" dirty="0"/>
              <a:t>) = 0; </a:t>
            </a:r>
            <a:r>
              <a:rPr lang="en-US" altLang="zh-CN" sz="2100" b="0" dirty="0"/>
              <a:t>//</a:t>
            </a:r>
            <a:r>
              <a:rPr lang="zh-CN" altLang="zh-CN" sz="2100" b="0" dirty="0"/>
              <a:t>返回与顶点</a:t>
            </a:r>
            <a:r>
              <a:rPr lang="en-US" altLang="zh-CN" sz="2100" b="0" dirty="0" err="1"/>
              <a:t>oneVertex</a:t>
            </a:r>
            <a:r>
              <a:rPr lang="zh-CN" altLang="zh-CN" sz="2100" b="0" dirty="0"/>
              <a:t>相关联的第一个邻接点</a:t>
            </a:r>
          </a:p>
          <a:p>
            <a:pPr>
              <a:spcBef>
                <a:spcPts val="0"/>
              </a:spcBef>
            </a:pPr>
            <a:r>
              <a:rPr lang="en-US" altLang="zh-CN" b="0" dirty="0"/>
              <a:t>    virtual </a:t>
            </a:r>
            <a:r>
              <a:rPr lang="en-US" altLang="zh-CN" b="0" dirty="0" err="1"/>
              <a:t>int</a:t>
            </a:r>
            <a:r>
              <a:rPr lang="en-US" altLang="zh-CN" b="0" dirty="0"/>
              <a:t> </a:t>
            </a:r>
            <a:r>
              <a:rPr lang="en-US" altLang="zh-CN" b="0" dirty="0" err="1"/>
              <a:t>NextAdj</a:t>
            </a:r>
            <a:r>
              <a:rPr lang="en-US" altLang="zh-CN" b="0" dirty="0"/>
              <a:t>(</a:t>
            </a:r>
            <a:r>
              <a:rPr lang="en-US" altLang="zh-CN" b="0" dirty="0" err="1"/>
              <a:t>int</a:t>
            </a:r>
            <a:r>
              <a:rPr lang="en-US" altLang="zh-CN" b="0" dirty="0"/>
              <a:t> </a:t>
            </a:r>
            <a:r>
              <a:rPr lang="en-US" altLang="zh-CN" b="0" dirty="0" err="1"/>
              <a:t>oneVertex</a:t>
            </a:r>
            <a:r>
              <a:rPr lang="en-US" altLang="zh-CN" b="0" dirty="0"/>
              <a:t>, </a:t>
            </a:r>
            <a:r>
              <a:rPr lang="en-US" altLang="zh-CN" b="0" dirty="0" err="1"/>
              <a:t>int</a:t>
            </a:r>
            <a:r>
              <a:rPr lang="en-US" altLang="zh-CN" b="0" dirty="0"/>
              <a:t> </a:t>
            </a:r>
            <a:r>
              <a:rPr lang="en-US" altLang="zh-CN" b="0" dirty="0" err="1"/>
              <a:t>preVertex</a:t>
            </a:r>
            <a:r>
              <a:rPr lang="en-US" altLang="zh-CN" b="0" dirty="0"/>
              <a:t>) = 0; </a:t>
            </a:r>
          </a:p>
          <a:p>
            <a:pPr>
              <a:spcBef>
                <a:spcPts val="0"/>
              </a:spcBef>
            </a:pPr>
            <a:r>
              <a:rPr lang="en-US" altLang="zh-CN" b="0" dirty="0"/>
              <a:t>    </a:t>
            </a:r>
            <a:r>
              <a:rPr lang="en-US" altLang="zh-CN" b="0" dirty="0" err="1"/>
              <a:t>int</a:t>
            </a:r>
            <a:r>
              <a:rPr lang="en-US" altLang="zh-CN" b="0" dirty="0"/>
              <a:t> </a:t>
            </a:r>
            <a:r>
              <a:rPr lang="en-US" altLang="zh-CN" b="0" dirty="0" err="1"/>
              <a:t>VerticesNum</a:t>
            </a:r>
            <a:r>
              <a:rPr lang="en-US" altLang="zh-CN" b="0" dirty="0"/>
              <a:t>() {return </a:t>
            </a:r>
            <a:r>
              <a:rPr lang="en-US" altLang="zh-CN" b="0" dirty="0" err="1"/>
              <a:t>numVertex</a:t>
            </a:r>
            <a:r>
              <a:rPr lang="en-US" altLang="zh-CN" b="0" dirty="0"/>
              <a:t>;}	//</a:t>
            </a:r>
            <a:r>
              <a:rPr lang="zh-CN" altLang="zh-CN" b="0" dirty="0"/>
              <a:t>返回图的顶点个数</a:t>
            </a:r>
          </a:p>
          <a:p>
            <a:pPr>
              <a:spcBef>
                <a:spcPts val="0"/>
              </a:spcBef>
            </a:pPr>
            <a:r>
              <a:rPr lang="en-US" altLang="zh-CN" b="0" dirty="0"/>
              <a:t>    </a:t>
            </a:r>
            <a:r>
              <a:rPr lang="en-US" altLang="zh-CN" b="0" dirty="0" err="1"/>
              <a:t>int</a:t>
            </a:r>
            <a:r>
              <a:rPr lang="en-US" altLang="zh-CN" b="0" dirty="0"/>
              <a:t> </a:t>
            </a:r>
            <a:r>
              <a:rPr lang="en-US" altLang="zh-CN" b="0" dirty="0" err="1"/>
              <a:t>EdgesNum</a:t>
            </a:r>
            <a:r>
              <a:rPr lang="en-US" altLang="zh-CN" b="0" dirty="0"/>
              <a:t>() {return </a:t>
            </a:r>
            <a:r>
              <a:rPr lang="en-US" altLang="zh-CN" b="0" dirty="0" err="1"/>
              <a:t>numEdge</a:t>
            </a:r>
            <a:r>
              <a:rPr lang="en-US" altLang="zh-CN" b="0" dirty="0"/>
              <a:t>;}	//</a:t>
            </a:r>
            <a:r>
              <a:rPr lang="zh-CN" altLang="zh-CN" b="0" dirty="0"/>
              <a:t>返回图的边数</a:t>
            </a:r>
          </a:p>
          <a:p>
            <a:pPr>
              <a:spcBef>
                <a:spcPts val="0"/>
              </a:spcBef>
            </a:pPr>
            <a:r>
              <a:rPr lang="en-US" altLang="zh-CN" b="0" dirty="0"/>
              <a:t>    virtual </a:t>
            </a:r>
            <a:r>
              <a:rPr lang="en-US" altLang="zh-CN" b="0" dirty="0" err="1"/>
              <a:t>int</a:t>
            </a:r>
            <a:r>
              <a:rPr lang="en-US" altLang="zh-CN" b="0" dirty="0"/>
              <a:t> weight(</a:t>
            </a:r>
            <a:r>
              <a:rPr lang="en-US" altLang="zh-CN" b="0" dirty="0" err="1"/>
              <a:t>int</a:t>
            </a:r>
            <a:r>
              <a:rPr lang="en-US" altLang="zh-CN" b="0" dirty="0"/>
              <a:t> </a:t>
            </a:r>
            <a:r>
              <a:rPr lang="en-US" altLang="zh-CN" b="0" dirty="0" err="1"/>
              <a:t>from,int</a:t>
            </a:r>
            <a:r>
              <a:rPr lang="en-US" altLang="zh-CN" b="0" dirty="0"/>
              <a:t> to) = 0;</a:t>
            </a:r>
            <a:endParaRPr lang="zh-CN" altLang="zh-CN" b="0" dirty="0"/>
          </a:p>
          <a:p>
            <a:pPr>
              <a:spcBef>
                <a:spcPts val="0"/>
              </a:spcBef>
            </a:pPr>
            <a:r>
              <a:rPr lang="en-US" altLang="zh-CN" b="0" dirty="0"/>
              <a:t>    virtual void </a:t>
            </a:r>
            <a:r>
              <a:rPr lang="en-US" altLang="zh-CN" b="0" dirty="0" err="1"/>
              <a:t>setEdge</a:t>
            </a:r>
            <a:r>
              <a:rPr lang="en-US" altLang="zh-CN" b="0" dirty="0"/>
              <a:t>(</a:t>
            </a:r>
            <a:r>
              <a:rPr lang="en-US" altLang="zh-CN" b="0" dirty="0" err="1"/>
              <a:t>int</a:t>
            </a:r>
            <a:r>
              <a:rPr lang="en-US" altLang="zh-CN" b="0" dirty="0"/>
              <a:t> </a:t>
            </a:r>
            <a:r>
              <a:rPr lang="en-US" altLang="zh-CN" b="0" dirty="0" err="1"/>
              <a:t>from,int</a:t>
            </a:r>
            <a:r>
              <a:rPr lang="en-US" altLang="zh-CN" b="0" dirty="0"/>
              <a:t> </a:t>
            </a:r>
            <a:r>
              <a:rPr lang="en-US" altLang="zh-CN" b="0" dirty="0" err="1"/>
              <a:t>to,int</a:t>
            </a:r>
            <a:r>
              <a:rPr lang="en-US" altLang="zh-CN" b="0" dirty="0"/>
              <a:t> weight) = 0;</a:t>
            </a:r>
            <a:endParaRPr lang="zh-CN" altLang="zh-CN" b="0" dirty="0"/>
          </a:p>
          <a:p>
            <a:pPr>
              <a:spcBef>
                <a:spcPts val="0"/>
              </a:spcBef>
            </a:pPr>
            <a:r>
              <a:rPr lang="en-US" altLang="zh-CN" b="0" dirty="0"/>
              <a:t>    virtual void </a:t>
            </a:r>
            <a:r>
              <a:rPr lang="en-US" altLang="zh-CN" b="0" dirty="0" err="1"/>
              <a:t>delEdge</a:t>
            </a:r>
            <a:r>
              <a:rPr lang="en-US" altLang="zh-CN" b="0" dirty="0"/>
              <a:t>(</a:t>
            </a:r>
            <a:r>
              <a:rPr lang="en-US" altLang="zh-CN" b="0" dirty="0" err="1"/>
              <a:t>int</a:t>
            </a:r>
            <a:r>
              <a:rPr lang="en-US" altLang="zh-CN" b="0" dirty="0"/>
              <a:t> </a:t>
            </a:r>
            <a:r>
              <a:rPr lang="en-US" altLang="zh-CN" b="0" dirty="0" err="1"/>
              <a:t>from,int</a:t>
            </a:r>
            <a:r>
              <a:rPr lang="en-US" altLang="zh-CN" b="0" dirty="0"/>
              <a:t> to) = 0;</a:t>
            </a:r>
            <a:endParaRPr lang="zh-CN" altLang="zh-CN" b="0" dirty="0"/>
          </a:p>
          <a:p>
            <a:pPr>
              <a:spcBef>
                <a:spcPts val="0"/>
              </a:spcBef>
            </a:pPr>
            <a:r>
              <a:rPr lang="en-US" altLang="zh-CN" b="0" dirty="0"/>
              <a:t>};</a:t>
            </a:r>
            <a:endParaRPr lang="zh-CN" altLang="zh-CN" b="0" dirty="0"/>
          </a:p>
          <a:p>
            <a:pPr>
              <a:spcBef>
                <a:spcPts val="0"/>
              </a:spcBef>
            </a:pPr>
            <a:endParaRPr lang="zh-CN" altLang="en-US" dirty="0"/>
          </a:p>
        </p:txBody>
      </p:sp>
    </p:spTree>
    <p:extLst>
      <p:ext uri="{BB962C8B-B14F-4D97-AF65-F5344CB8AC3E}">
        <p14:creationId xmlns:p14="http://schemas.microsoft.com/office/powerpoint/2010/main" val="2116009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Effect transition="in" filter="fade">
                                      <p:cBhvr>
                                        <p:cTn id="7" dur="500"/>
                                        <p:tgtEl>
                                          <p:spTgt spid="3">
                                            <p:txEl>
                                              <p:pRg st="8" end="8"/>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9" end="9"/>
                                            </p:txEl>
                                          </p:spTgt>
                                        </p:tgtEl>
                                        <p:attrNameLst>
                                          <p:attrName>style.visibility</p:attrName>
                                        </p:attrNameLst>
                                      </p:cBhvr>
                                      <p:to>
                                        <p:strVal val="visible"/>
                                      </p:to>
                                    </p:set>
                                    <p:animEffect transition="in" filter="fade">
                                      <p:cBhvr>
                                        <p:cTn id="10" dur="500"/>
                                        <p:tgtEl>
                                          <p:spTgt spid="3">
                                            <p:txEl>
                                              <p:pRg st="9" end="9"/>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animEffect transition="in" filter="fade">
                                      <p:cBhvr>
                                        <p:cTn id="13" dur="500"/>
                                        <p:tgtEl>
                                          <p:spTgt spid="3">
                                            <p:txEl>
                                              <p:pRg st="10" end="10"/>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11" end="11"/>
                                            </p:txEl>
                                          </p:spTgt>
                                        </p:tgtEl>
                                        <p:attrNameLst>
                                          <p:attrName>style.visibility</p:attrName>
                                        </p:attrNameLst>
                                      </p:cBhvr>
                                      <p:to>
                                        <p:strVal val="visible"/>
                                      </p:to>
                                    </p:set>
                                    <p:animEffect transition="in" filter="fade">
                                      <p:cBhvr>
                                        <p:cTn id="16" dur="500"/>
                                        <p:tgtEl>
                                          <p:spTgt spid="3">
                                            <p:txEl>
                                              <p:pRg st="11" end="1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animEffect transition="in" filter="fade">
                                      <p:cBhvr>
                                        <p:cTn id="19" dur="500"/>
                                        <p:tgtEl>
                                          <p:spTgt spid="3">
                                            <p:txEl>
                                              <p:pRg st="12" end="12"/>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13" end="13"/>
                                            </p:txEl>
                                          </p:spTgt>
                                        </p:tgtEl>
                                        <p:attrNameLst>
                                          <p:attrName>style.visibility</p:attrName>
                                        </p:attrNameLst>
                                      </p:cBhvr>
                                      <p:to>
                                        <p:strVal val="visible"/>
                                      </p:to>
                                    </p:set>
                                    <p:animEffect transition="in" filter="fade">
                                      <p:cBhvr>
                                        <p:cTn id="22" dur="500"/>
                                        <p:tgtEl>
                                          <p:spTgt spid="3">
                                            <p:txEl>
                                              <p:pRg st="13" end="13"/>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14" end="14"/>
                                            </p:txEl>
                                          </p:spTgt>
                                        </p:tgtEl>
                                        <p:attrNameLst>
                                          <p:attrName>style.visibility</p:attrName>
                                        </p:attrNameLst>
                                      </p:cBhvr>
                                      <p:to>
                                        <p:strVal val="visible"/>
                                      </p:to>
                                    </p:set>
                                    <p:animEffect transition="in" filter="fade">
                                      <p:cBhvr>
                                        <p:cTn id="25" dur="500"/>
                                        <p:tgtEl>
                                          <p:spTgt spid="3">
                                            <p:txEl>
                                              <p:pRg st="14" end="14"/>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15" end="15"/>
                                            </p:txEl>
                                          </p:spTgt>
                                        </p:tgtEl>
                                        <p:attrNameLst>
                                          <p:attrName>style.visibility</p:attrName>
                                        </p:attrNameLst>
                                      </p:cBhvr>
                                      <p:to>
                                        <p:strVal val="visible"/>
                                      </p:to>
                                    </p:set>
                                    <p:animEffect transition="in" filter="fade">
                                      <p:cBhvr>
                                        <p:cTn id="28" dur="500"/>
                                        <p:tgtEl>
                                          <p:spTgt spid="3">
                                            <p:txEl>
                                              <p:pRg st="15" end="15"/>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16" end="16"/>
                                            </p:txEl>
                                          </p:spTgt>
                                        </p:tgtEl>
                                        <p:attrNameLst>
                                          <p:attrName>style.visibility</p:attrName>
                                        </p:attrNameLst>
                                      </p:cBhvr>
                                      <p:to>
                                        <p:strVal val="visible"/>
                                      </p:to>
                                    </p:set>
                                    <p:animEffect transition="in" filter="fade">
                                      <p:cBhvr>
                                        <p:cTn id="31" dur="500"/>
                                        <p:tgtEl>
                                          <p:spTgt spid="3">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6.2  </a:t>
            </a:r>
            <a:r>
              <a:rPr lang="zh-CN" altLang="zh-CN" b="1" dirty="0"/>
              <a:t>图的存储结构</a:t>
            </a:r>
            <a:endParaRPr lang="zh-CN" altLang="en-US" dirty="0"/>
          </a:p>
        </p:txBody>
      </p:sp>
      <p:sp>
        <p:nvSpPr>
          <p:cNvPr id="4" name="内容占位符 3"/>
          <p:cNvSpPr>
            <a:spLocks noGrp="1"/>
          </p:cNvSpPr>
          <p:nvPr>
            <p:ph idx="1"/>
          </p:nvPr>
        </p:nvSpPr>
        <p:spPr>
          <a:xfrm>
            <a:off x="827584" y="1628801"/>
            <a:ext cx="7848872" cy="2952328"/>
          </a:xfrm>
        </p:spPr>
        <p:txBody>
          <a:bodyPr>
            <a:normAutofit lnSpcReduction="10000"/>
          </a:bodyPr>
          <a:lstStyle/>
          <a:p>
            <a:r>
              <a:rPr lang="en-US" dirty="0"/>
              <a:t>6.2.1 </a:t>
            </a:r>
            <a:r>
              <a:rPr lang="zh-CN" altLang="en-US" dirty="0">
                <a:solidFill>
                  <a:srgbClr val="FF0000"/>
                </a:solidFill>
              </a:rPr>
              <a:t>邻接矩阵存储方法</a:t>
            </a:r>
          </a:p>
          <a:p>
            <a:r>
              <a:rPr lang="zh-CN" altLang="en-US" b="0" dirty="0"/>
              <a:t>对于一个具有</a:t>
            </a:r>
            <a:r>
              <a:rPr lang="en-US" b="0" dirty="0"/>
              <a:t>n</a:t>
            </a:r>
            <a:r>
              <a:rPr lang="zh-CN" altLang="en-US" b="0" dirty="0"/>
              <a:t>个顶点的图</a:t>
            </a:r>
            <a:r>
              <a:rPr lang="en-US" b="0" dirty="0"/>
              <a:t>G = ( V, E )</a:t>
            </a:r>
          </a:p>
          <a:p>
            <a:pPr>
              <a:buClr>
                <a:schemeClr val="tx1"/>
              </a:buClr>
              <a:buSzPct val="63000"/>
              <a:buFont typeface="Wingdings" panose="05000000000000000000" pitchFamily="2" charset="2"/>
              <a:buChar char="l"/>
            </a:pPr>
            <a:r>
              <a:rPr lang="zh-CN" altLang="en-US" b="0" dirty="0">
                <a:solidFill>
                  <a:srgbClr val="FF0000"/>
                </a:solidFill>
              </a:rPr>
              <a:t>顶点集合</a:t>
            </a:r>
            <a:r>
              <a:rPr lang="en-US" b="0" dirty="0">
                <a:solidFill>
                  <a:srgbClr val="FF0000"/>
                </a:solidFill>
              </a:rPr>
              <a:t>V</a:t>
            </a:r>
            <a:r>
              <a:rPr lang="zh-CN" altLang="en-US" b="0" dirty="0"/>
              <a:t>可以用一个</a:t>
            </a:r>
            <a:r>
              <a:rPr lang="zh-CN" altLang="en-US" b="0" dirty="0">
                <a:solidFill>
                  <a:srgbClr val="FF0000"/>
                </a:solidFill>
              </a:rPr>
              <a:t>一维数组</a:t>
            </a:r>
            <a:r>
              <a:rPr lang="zh-CN" altLang="en-US" b="0" dirty="0"/>
              <a:t>来存放</a:t>
            </a:r>
            <a:endParaRPr lang="en-US" altLang="zh-CN" b="0" dirty="0"/>
          </a:p>
          <a:p>
            <a:pPr>
              <a:buClr>
                <a:schemeClr val="tx1"/>
              </a:buClr>
              <a:buSzPct val="63000"/>
              <a:buFont typeface="Wingdings" panose="05000000000000000000" pitchFamily="2" charset="2"/>
              <a:buChar char="l"/>
            </a:pPr>
            <a:r>
              <a:rPr lang="zh-CN" altLang="en-US" b="0" dirty="0">
                <a:solidFill>
                  <a:srgbClr val="FF0000"/>
                </a:solidFill>
              </a:rPr>
              <a:t>顶点关系集合</a:t>
            </a:r>
            <a:r>
              <a:rPr lang="en-US" b="0" dirty="0">
                <a:solidFill>
                  <a:srgbClr val="FF0000"/>
                </a:solidFill>
              </a:rPr>
              <a:t>E</a:t>
            </a:r>
            <a:r>
              <a:rPr lang="zh-CN" altLang="en-US" b="0" dirty="0"/>
              <a:t>可以使用</a:t>
            </a:r>
            <a:r>
              <a:rPr lang="en-US" b="0" dirty="0"/>
              <a:t>n*n</a:t>
            </a:r>
            <a:r>
              <a:rPr lang="zh-CN" altLang="en-US" b="0" dirty="0"/>
              <a:t>的</a:t>
            </a:r>
            <a:r>
              <a:rPr lang="zh-CN" altLang="en-US" b="0" dirty="0">
                <a:solidFill>
                  <a:srgbClr val="FF0000"/>
                </a:solidFill>
              </a:rPr>
              <a:t>二维数组</a:t>
            </a:r>
            <a:r>
              <a:rPr lang="en-US" b="0" dirty="0" err="1"/>
              <a:t>AdjMatrix</a:t>
            </a:r>
            <a:r>
              <a:rPr lang="en-US" b="0" dirty="0"/>
              <a:t>[n][n]</a:t>
            </a:r>
            <a:r>
              <a:rPr lang="zh-CN" altLang="en-US" b="0" dirty="0"/>
              <a:t>来存储各顶点之间的邻接关系，该二维数组称为</a:t>
            </a:r>
            <a:r>
              <a:rPr lang="zh-CN" altLang="en-US" dirty="0">
                <a:solidFill>
                  <a:srgbClr val="FF0000"/>
                </a:solidFill>
              </a:rPr>
              <a:t>邻接矩阵</a:t>
            </a:r>
            <a:r>
              <a:rPr lang="en-US" b="0" dirty="0"/>
              <a:t>(Adjacency Matrix)</a:t>
            </a:r>
            <a:r>
              <a:rPr lang="zh-CN" altLang="en-US" b="0" dirty="0"/>
              <a:t>，其定义如下：</a:t>
            </a:r>
          </a:p>
        </p:txBody>
      </p:sp>
      <p:pic>
        <p:nvPicPr>
          <p:cNvPr id="1026" name="Picture 2"/>
          <p:cNvPicPr>
            <a:picLocks noChangeAspect="1" noChangeArrowheads="1"/>
          </p:cNvPicPr>
          <p:nvPr/>
        </p:nvPicPr>
        <p:blipFill>
          <a:blip r:embed="rId2" cstate="print"/>
          <a:srcRect/>
          <a:stretch>
            <a:fillRect/>
          </a:stretch>
        </p:blipFill>
        <p:spPr bwMode="auto">
          <a:xfrm>
            <a:off x="1475656" y="5013176"/>
            <a:ext cx="6145221" cy="946364"/>
          </a:xfrm>
          <a:prstGeom prst="rect">
            <a:avLst/>
          </a:prstGeom>
          <a:noFill/>
          <a:ln w="9525">
            <a:noFill/>
            <a:miter lim="800000"/>
            <a:headEnd/>
            <a:tailEnd/>
          </a:ln>
          <a:effectLst/>
        </p:spPr>
      </p:pic>
    </p:spTree>
    <p:extLst>
      <p:ext uri="{BB962C8B-B14F-4D97-AF65-F5344CB8AC3E}">
        <p14:creationId xmlns:p14="http://schemas.microsoft.com/office/powerpoint/2010/main" val="2082901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500"/>
                                        <p:tgtEl>
                                          <p:spTgt spid="4">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26"/>
                                        </p:tgtEl>
                                        <p:attrNameLst>
                                          <p:attrName>style.visibility</p:attrName>
                                        </p:attrNameLst>
                                      </p:cBhvr>
                                      <p:to>
                                        <p:strVal val="visible"/>
                                      </p:to>
                                    </p:set>
                                    <p:animEffect transition="in" filter="fade">
                                      <p:cBhvr>
                                        <p:cTn id="1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980729"/>
            <a:ext cx="7632848" cy="1080120"/>
          </a:xfrm>
        </p:spPr>
        <p:txBody>
          <a:bodyPr/>
          <a:lstStyle/>
          <a:p>
            <a:r>
              <a:rPr lang="en-US" altLang="zh-CN" b="0" dirty="0"/>
              <a:t>	</a:t>
            </a:r>
            <a:r>
              <a:rPr lang="zh-CN" altLang="zh-CN" b="0" dirty="0"/>
              <a:t>图</a:t>
            </a:r>
            <a:r>
              <a:rPr lang="en-US" altLang="zh-CN" b="0" dirty="0"/>
              <a:t>6-8</a:t>
            </a:r>
            <a:r>
              <a:rPr lang="zh-CN" altLang="zh-CN" b="0" dirty="0"/>
              <a:t>所示的</a:t>
            </a:r>
            <a:r>
              <a:rPr lang="en-US" altLang="zh-CN" b="0" dirty="0"/>
              <a:t>(a)</a:t>
            </a:r>
            <a:r>
              <a:rPr lang="zh-CN" altLang="zh-CN" b="0" dirty="0"/>
              <a:t>无向图</a:t>
            </a:r>
            <a:r>
              <a:rPr lang="en-US" altLang="zh-CN" b="0" dirty="0"/>
              <a:t>G</a:t>
            </a:r>
            <a:r>
              <a:rPr lang="en-US" altLang="zh-CN" b="0" baseline="-25000" dirty="0"/>
              <a:t>1</a:t>
            </a:r>
            <a:r>
              <a:rPr lang="zh-CN" altLang="zh-CN" b="0" dirty="0"/>
              <a:t>和</a:t>
            </a:r>
            <a:r>
              <a:rPr lang="en-US" altLang="zh-CN" b="0" dirty="0"/>
              <a:t>(b)</a:t>
            </a:r>
            <a:r>
              <a:rPr lang="zh-CN" altLang="zh-CN" b="0" dirty="0"/>
              <a:t>有向图</a:t>
            </a:r>
            <a:r>
              <a:rPr lang="en-US" altLang="zh-CN" b="0" dirty="0"/>
              <a:t>G</a:t>
            </a:r>
            <a:r>
              <a:rPr lang="en-US" altLang="zh-CN" b="0" baseline="-25000" dirty="0"/>
              <a:t>2</a:t>
            </a:r>
            <a:r>
              <a:rPr lang="zh-CN" altLang="zh-CN" b="0" dirty="0"/>
              <a:t>所对应的邻接矩阵分别为</a:t>
            </a:r>
            <a:r>
              <a:rPr lang="en-US" altLang="zh-CN" b="0" dirty="0"/>
              <a:t>A</a:t>
            </a:r>
            <a:r>
              <a:rPr lang="en-US" altLang="zh-CN" b="0" baseline="-25000" dirty="0"/>
              <a:t>1</a:t>
            </a:r>
            <a:r>
              <a:rPr lang="zh-CN" altLang="zh-CN" b="0" dirty="0"/>
              <a:t>和</a:t>
            </a:r>
            <a:r>
              <a:rPr lang="en-US" altLang="zh-CN" b="0" dirty="0"/>
              <a:t>A</a:t>
            </a:r>
            <a:r>
              <a:rPr lang="en-US" altLang="zh-CN" b="0" baseline="-25000" dirty="0"/>
              <a:t>2</a:t>
            </a:r>
            <a:r>
              <a:rPr lang="zh-CN" altLang="zh-CN" b="0" dirty="0"/>
              <a:t>：</a:t>
            </a:r>
          </a:p>
          <a:p>
            <a:endParaRPr lang="zh-CN" altLang="en-US" dirty="0"/>
          </a:p>
        </p:txBody>
      </p:sp>
      <p:pic>
        <p:nvPicPr>
          <p:cNvPr id="1126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75656" y="2060848"/>
            <a:ext cx="5861471" cy="41488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 name="表格 1"/>
          <p:cNvGraphicFramePr>
            <a:graphicFrameLocks noGrp="1"/>
          </p:cNvGraphicFramePr>
          <p:nvPr>
            <p:extLst>
              <p:ext uri="{D42A27DB-BD31-4B8C-83A1-F6EECF244321}">
                <p14:modId xmlns:p14="http://schemas.microsoft.com/office/powerpoint/2010/main" val="234759144"/>
              </p:ext>
            </p:extLst>
          </p:nvPr>
        </p:nvGraphicFramePr>
        <p:xfrm>
          <a:off x="4211960" y="2276872"/>
          <a:ext cx="864096" cy="1371600"/>
        </p:xfrm>
        <a:graphic>
          <a:graphicData uri="http://schemas.openxmlformats.org/drawingml/2006/table">
            <a:tbl>
              <a:tblPr firstRow="1" bandRow="1">
                <a:tableStyleId>{5C22544A-7EE6-4342-B048-85BDC9FD1C3A}</a:tableStyleId>
              </a:tblPr>
              <a:tblGrid>
                <a:gridCol w="432048">
                  <a:extLst>
                    <a:ext uri="{9D8B030D-6E8A-4147-A177-3AD203B41FA5}">
                      <a16:colId xmlns:a16="http://schemas.microsoft.com/office/drawing/2014/main" val="20000"/>
                    </a:ext>
                  </a:extLst>
                </a:gridCol>
                <a:gridCol w="432048">
                  <a:extLst>
                    <a:ext uri="{9D8B030D-6E8A-4147-A177-3AD203B41FA5}">
                      <a16:colId xmlns:a16="http://schemas.microsoft.com/office/drawing/2014/main" val="20001"/>
                    </a:ext>
                  </a:extLst>
                </a:gridCol>
              </a:tblGrid>
              <a:tr h="263272">
                <a:tc>
                  <a:txBody>
                    <a:bodyPr/>
                    <a:lstStyle/>
                    <a:p>
                      <a:r>
                        <a:rPr lang="en-US" altLang="zh-CN" sz="1200" dirty="0">
                          <a:solidFill>
                            <a:schemeClr val="tx1"/>
                          </a:solidFill>
                        </a:rPr>
                        <a:t>0</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altLang="zh-CN" sz="1200" dirty="0">
                          <a:solidFill>
                            <a:schemeClr val="tx1"/>
                          </a:solidFill>
                        </a:rPr>
                        <a:t>V1</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0"/>
                  </a:ext>
                </a:extLst>
              </a:tr>
              <a:tr h="263272">
                <a:tc>
                  <a:txBody>
                    <a:bodyPr/>
                    <a:lstStyle/>
                    <a:p>
                      <a:r>
                        <a:rPr lang="en-US" altLang="zh-CN" sz="1200" dirty="0">
                          <a:solidFill>
                            <a:schemeClr val="tx1"/>
                          </a:solidFill>
                        </a:rPr>
                        <a:t>1</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altLang="zh-CN" sz="1200" dirty="0">
                          <a:solidFill>
                            <a:schemeClr val="tx1"/>
                          </a:solidFill>
                        </a:rPr>
                        <a:t>V2</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1"/>
                  </a:ext>
                </a:extLst>
              </a:tr>
              <a:tr h="263272">
                <a:tc>
                  <a:txBody>
                    <a:bodyPr/>
                    <a:lstStyle/>
                    <a:p>
                      <a:r>
                        <a:rPr lang="en-US" altLang="zh-CN" sz="1200" dirty="0">
                          <a:solidFill>
                            <a:schemeClr val="tx1"/>
                          </a:solidFill>
                        </a:rPr>
                        <a:t>2</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altLang="zh-CN" sz="1200" dirty="0">
                          <a:solidFill>
                            <a:schemeClr val="tx1"/>
                          </a:solidFill>
                        </a:rPr>
                        <a:t>V3</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2"/>
                  </a:ext>
                </a:extLst>
              </a:tr>
              <a:tr h="263272">
                <a:tc>
                  <a:txBody>
                    <a:bodyPr/>
                    <a:lstStyle/>
                    <a:p>
                      <a:r>
                        <a:rPr lang="en-US" altLang="zh-CN" sz="1200" dirty="0">
                          <a:solidFill>
                            <a:schemeClr val="tx1"/>
                          </a:solidFill>
                        </a:rPr>
                        <a:t>3</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altLang="zh-CN" sz="1200" dirty="0">
                          <a:solidFill>
                            <a:schemeClr val="tx1"/>
                          </a:solidFill>
                        </a:rPr>
                        <a:t>V4</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3"/>
                  </a:ext>
                </a:extLst>
              </a:tr>
              <a:tr h="263272">
                <a:tc>
                  <a:txBody>
                    <a:bodyPr/>
                    <a:lstStyle/>
                    <a:p>
                      <a:r>
                        <a:rPr lang="en-US" altLang="zh-CN" sz="1200" dirty="0">
                          <a:solidFill>
                            <a:schemeClr val="tx1"/>
                          </a:solidFill>
                        </a:rPr>
                        <a:t>4</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altLang="zh-CN" sz="1200" dirty="0">
                          <a:solidFill>
                            <a:schemeClr val="tx1"/>
                          </a:solidFill>
                        </a:rPr>
                        <a:t>V5</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4"/>
                  </a:ext>
                </a:extLst>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1810153197"/>
              </p:ext>
            </p:extLst>
          </p:nvPr>
        </p:nvGraphicFramePr>
        <p:xfrm>
          <a:off x="4211960" y="4077072"/>
          <a:ext cx="864096" cy="1440160"/>
        </p:xfrm>
        <a:graphic>
          <a:graphicData uri="http://schemas.openxmlformats.org/drawingml/2006/table">
            <a:tbl>
              <a:tblPr firstRow="1" bandRow="1">
                <a:tableStyleId>{5C22544A-7EE6-4342-B048-85BDC9FD1C3A}</a:tableStyleId>
              </a:tblPr>
              <a:tblGrid>
                <a:gridCol w="432048">
                  <a:extLst>
                    <a:ext uri="{9D8B030D-6E8A-4147-A177-3AD203B41FA5}">
                      <a16:colId xmlns:a16="http://schemas.microsoft.com/office/drawing/2014/main" val="20000"/>
                    </a:ext>
                  </a:extLst>
                </a:gridCol>
                <a:gridCol w="432048">
                  <a:extLst>
                    <a:ext uri="{9D8B030D-6E8A-4147-A177-3AD203B41FA5}">
                      <a16:colId xmlns:a16="http://schemas.microsoft.com/office/drawing/2014/main" val="20001"/>
                    </a:ext>
                  </a:extLst>
                </a:gridCol>
              </a:tblGrid>
              <a:tr h="288032">
                <a:tc>
                  <a:txBody>
                    <a:bodyPr/>
                    <a:lstStyle/>
                    <a:p>
                      <a:r>
                        <a:rPr lang="en-US" altLang="zh-CN" sz="1200" dirty="0">
                          <a:solidFill>
                            <a:schemeClr val="tx1"/>
                          </a:solidFill>
                        </a:rPr>
                        <a:t>0</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altLang="zh-CN" sz="1200" dirty="0">
                          <a:solidFill>
                            <a:schemeClr val="tx1"/>
                          </a:solidFill>
                        </a:rPr>
                        <a:t>V1</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0"/>
                  </a:ext>
                </a:extLst>
              </a:tr>
              <a:tr h="288032">
                <a:tc>
                  <a:txBody>
                    <a:bodyPr/>
                    <a:lstStyle/>
                    <a:p>
                      <a:r>
                        <a:rPr lang="en-US" altLang="zh-CN" sz="1200" dirty="0">
                          <a:solidFill>
                            <a:schemeClr val="tx1"/>
                          </a:solidFill>
                        </a:rPr>
                        <a:t>1</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altLang="zh-CN" sz="1200" dirty="0">
                          <a:solidFill>
                            <a:schemeClr val="tx1"/>
                          </a:solidFill>
                        </a:rPr>
                        <a:t>V2</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1"/>
                  </a:ext>
                </a:extLst>
              </a:tr>
              <a:tr h="288032">
                <a:tc>
                  <a:txBody>
                    <a:bodyPr/>
                    <a:lstStyle/>
                    <a:p>
                      <a:r>
                        <a:rPr lang="en-US" altLang="zh-CN" sz="1200" dirty="0">
                          <a:solidFill>
                            <a:schemeClr val="tx1"/>
                          </a:solidFill>
                        </a:rPr>
                        <a:t>2</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altLang="zh-CN" sz="1200" dirty="0">
                          <a:solidFill>
                            <a:schemeClr val="tx1"/>
                          </a:solidFill>
                        </a:rPr>
                        <a:t>V3</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2"/>
                  </a:ext>
                </a:extLst>
              </a:tr>
              <a:tr h="288032">
                <a:tc>
                  <a:txBody>
                    <a:bodyPr/>
                    <a:lstStyle/>
                    <a:p>
                      <a:r>
                        <a:rPr lang="en-US" altLang="zh-CN" sz="1200" dirty="0">
                          <a:solidFill>
                            <a:schemeClr val="tx1"/>
                          </a:solidFill>
                        </a:rPr>
                        <a:t>3</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altLang="zh-CN" sz="1200" dirty="0">
                          <a:solidFill>
                            <a:schemeClr val="tx1"/>
                          </a:solidFill>
                        </a:rPr>
                        <a:t>V4</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3"/>
                  </a:ext>
                </a:extLst>
              </a:tr>
              <a:tr h="288032">
                <a:tc>
                  <a:txBody>
                    <a:bodyPr/>
                    <a:lstStyle/>
                    <a:p>
                      <a:r>
                        <a:rPr lang="en-US" altLang="zh-CN" sz="1200" dirty="0">
                          <a:solidFill>
                            <a:schemeClr val="tx1"/>
                          </a:solidFill>
                        </a:rPr>
                        <a:t>4</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altLang="zh-CN" sz="1200" dirty="0">
                          <a:solidFill>
                            <a:schemeClr val="tx1"/>
                          </a:solidFill>
                        </a:rPr>
                        <a:t>V5</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4"/>
                  </a:ext>
                </a:extLst>
              </a:tr>
            </a:tbl>
          </a:graphicData>
        </a:graphic>
      </p:graphicFrame>
      <p:sp>
        <p:nvSpPr>
          <p:cNvPr id="4" name="文本框 3"/>
          <p:cNvSpPr txBox="1"/>
          <p:nvPr/>
        </p:nvSpPr>
        <p:spPr>
          <a:xfrm>
            <a:off x="755576" y="3933056"/>
            <a:ext cx="7560840" cy="1872208"/>
          </a:xfrm>
          <a:prstGeom prst="rect">
            <a:avLst/>
          </a:prstGeom>
          <a:solidFill>
            <a:schemeClr val="bg1"/>
          </a:solidFill>
        </p:spPr>
        <p:txBody>
          <a:bodyPr wrap="square" rtlCol="0">
            <a:spAutoFit/>
          </a:bodyPr>
          <a:lstStyle/>
          <a:p>
            <a:endParaRPr lang="zh-CN" altLang="en-US" dirty="0"/>
          </a:p>
        </p:txBody>
      </p:sp>
    </p:spTree>
    <p:extLst>
      <p:ext uri="{BB962C8B-B14F-4D97-AF65-F5344CB8AC3E}">
        <p14:creationId xmlns:p14="http://schemas.microsoft.com/office/powerpoint/2010/main" val="1967349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340768"/>
            <a:ext cx="7520940" cy="3867881"/>
          </a:xfrm>
        </p:spPr>
        <p:txBody>
          <a:bodyPr/>
          <a:lstStyle/>
          <a:p>
            <a:r>
              <a:rPr lang="zh-CN" altLang="zh-CN" dirty="0"/>
              <a:t>★注：</a:t>
            </a:r>
          </a:p>
          <a:p>
            <a:r>
              <a:rPr lang="en-US" altLang="zh-CN" b="0" dirty="0"/>
              <a:t>(1) </a:t>
            </a:r>
            <a:r>
              <a:rPr lang="zh-CN" altLang="zh-CN" b="0" dirty="0"/>
              <a:t>图的存储由二个部分组成，分别为</a:t>
            </a:r>
            <a:r>
              <a:rPr lang="zh-CN" altLang="zh-CN" b="0" dirty="0">
                <a:solidFill>
                  <a:srgbClr val="FF0000"/>
                </a:solidFill>
              </a:rPr>
              <a:t>顶点集合存储和边集合存储</a:t>
            </a:r>
            <a:r>
              <a:rPr lang="zh-CN" altLang="zh-CN" b="0" dirty="0"/>
              <a:t>。</a:t>
            </a:r>
          </a:p>
          <a:p>
            <a:r>
              <a:rPr lang="en-US" altLang="zh-CN" b="0" dirty="0"/>
              <a:t>(2) </a:t>
            </a:r>
            <a:r>
              <a:rPr lang="zh-CN" altLang="zh-CN" b="0" dirty="0">
                <a:solidFill>
                  <a:srgbClr val="FF0000"/>
                </a:solidFill>
              </a:rPr>
              <a:t>无向图的邻接矩阵是对称的</a:t>
            </a:r>
            <a:r>
              <a:rPr lang="zh-CN" altLang="zh-CN" b="0" dirty="0"/>
              <a:t>；有向图的邻接矩阵可能是不对称的。</a:t>
            </a:r>
          </a:p>
          <a:p>
            <a:r>
              <a:rPr lang="en-US" altLang="zh-CN" b="0" dirty="0"/>
              <a:t>(3) </a:t>
            </a:r>
            <a:r>
              <a:rPr lang="zh-CN" altLang="zh-CN" b="0" dirty="0"/>
              <a:t>有向图的</a:t>
            </a:r>
            <a:r>
              <a:rPr lang="zh-CN" altLang="zh-CN" b="0" dirty="0">
                <a:solidFill>
                  <a:srgbClr val="FF0000"/>
                </a:solidFill>
              </a:rPr>
              <a:t>行</a:t>
            </a:r>
            <a:r>
              <a:rPr lang="zh-CN" altLang="zh-CN" b="0" dirty="0"/>
              <a:t>表示弧的发射关系</a:t>
            </a:r>
            <a:r>
              <a:rPr lang="zh-CN" altLang="en-US" b="0" dirty="0"/>
              <a:t>，</a:t>
            </a:r>
            <a:r>
              <a:rPr lang="zh-CN" altLang="en-US" b="0" dirty="0">
                <a:solidFill>
                  <a:srgbClr val="FF0000"/>
                </a:solidFill>
              </a:rPr>
              <a:t>列</a:t>
            </a:r>
            <a:r>
              <a:rPr lang="zh-CN" altLang="en-US" b="0" dirty="0"/>
              <a:t>表示接入关系</a:t>
            </a:r>
            <a:r>
              <a:rPr lang="zh-CN" altLang="zh-CN" b="0" dirty="0"/>
              <a:t>。</a:t>
            </a:r>
          </a:p>
          <a:p>
            <a:r>
              <a:rPr lang="en-US" altLang="zh-CN" b="0" dirty="0"/>
              <a:t>(4) </a:t>
            </a:r>
            <a:r>
              <a:rPr lang="zh-CN" altLang="zh-CN" b="0" dirty="0"/>
              <a:t>完全图的邻接矩阵中，对角元素为</a:t>
            </a:r>
            <a:r>
              <a:rPr lang="en-US" altLang="zh-CN" b="0" dirty="0"/>
              <a:t>0</a:t>
            </a:r>
            <a:r>
              <a:rPr lang="zh-CN" altLang="zh-CN" b="0" dirty="0"/>
              <a:t>，其余全为</a:t>
            </a:r>
            <a:r>
              <a:rPr lang="en-US" altLang="zh-CN" b="0" dirty="0"/>
              <a:t>1</a:t>
            </a:r>
            <a:r>
              <a:rPr lang="zh-CN" altLang="zh-CN" b="0" dirty="0"/>
              <a:t>。</a:t>
            </a:r>
            <a:r>
              <a:rPr lang="en-US" altLang="zh-CN" dirty="0"/>
              <a:t>	</a:t>
            </a:r>
            <a:endParaRPr lang="zh-CN" altLang="zh-CN" dirty="0"/>
          </a:p>
          <a:p>
            <a:endParaRPr lang="zh-CN" altLang="en-US" dirty="0"/>
          </a:p>
        </p:txBody>
      </p:sp>
    </p:spTree>
    <p:extLst>
      <p:ext uri="{BB962C8B-B14F-4D97-AF65-F5344CB8AC3E}">
        <p14:creationId xmlns:p14="http://schemas.microsoft.com/office/powerpoint/2010/main" val="2418724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3608" y="3284984"/>
            <a:ext cx="6708427" cy="26061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内容占位符 3"/>
          <p:cNvSpPr>
            <a:spLocks noGrp="1"/>
          </p:cNvSpPr>
          <p:nvPr>
            <p:ph idx="1"/>
          </p:nvPr>
        </p:nvSpPr>
        <p:spPr>
          <a:xfrm>
            <a:off x="857224" y="1142984"/>
            <a:ext cx="7520940" cy="3579849"/>
          </a:xfrm>
        </p:spPr>
        <p:txBody>
          <a:bodyPr/>
          <a:lstStyle/>
          <a:p>
            <a:r>
              <a:rPr lang="zh-CN" altLang="en-US" dirty="0">
                <a:solidFill>
                  <a:srgbClr val="FF0000"/>
                </a:solidFill>
              </a:rPr>
              <a:t>带权图的邻接矩阵</a:t>
            </a:r>
            <a:r>
              <a:rPr lang="zh-CN" altLang="en-US" dirty="0"/>
              <a:t>可定义为：</a:t>
            </a:r>
          </a:p>
        </p:txBody>
      </p:sp>
      <p:pic>
        <p:nvPicPr>
          <p:cNvPr id="2051" name="Picture 3"/>
          <p:cNvPicPr>
            <a:picLocks noChangeAspect="1" noChangeArrowheads="1"/>
          </p:cNvPicPr>
          <p:nvPr/>
        </p:nvPicPr>
        <p:blipFill>
          <a:blip r:embed="rId3" cstate="print"/>
          <a:srcRect/>
          <a:stretch>
            <a:fillRect/>
          </a:stretch>
        </p:blipFill>
        <p:spPr bwMode="auto">
          <a:xfrm>
            <a:off x="1000100" y="1928802"/>
            <a:ext cx="7724775" cy="923925"/>
          </a:xfrm>
          <a:prstGeom prst="rect">
            <a:avLst/>
          </a:prstGeom>
          <a:noFill/>
          <a:ln w="9525">
            <a:noFill/>
            <a:miter lim="800000"/>
            <a:headEnd/>
            <a:tailEnd/>
          </a:ln>
          <a:effectLst/>
        </p:spPr>
      </p:pic>
      <p:graphicFrame>
        <p:nvGraphicFramePr>
          <p:cNvPr id="6" name="表格 5"/>
          <p:cNvGraphicFramePr>
            <a:graphicFrameLocks noGrp="1"/>
          </p:cNvGraphicFramePr>
          <p:nvPr>
            <p:extLst>
              <p:ext uri="{D42A27DB-BD31-4B8C-83A1-F6EECF244321}">
                <p14:modId xmlns:p14="http://schemas.microsoft.com/office/powerpoint/2010/main" val="3351317343"/>
              </p:ext>
            </p:extLst>
          </p:nvPr>
        </p:nvGraphicFramePr>
        <p:xfrm>
          <a:off x="4355976" y="3713584"/>
          <a:ext cx="864096" cy="1371600"/>
        </p:xfrm>
        <a:graphic>
          <a:graphicData uri="http://schemas.openxmlformats.org/drawingml/2006/table">
            <a:tbl>
              <a:tblPr firstRow="1" bandRow="1">
                <a:tableStyleId>{5C22544A-7EE6-4342-B048-85BDC9FD1C3A}</a:tableStyleId>
              </a:tblPr>
              <a:tblGrid>
                <a:gridCol w="432048">
                  <a:extLst>
                    <a:ext uri="{9D8B030D-6E8A-4147-A177-3AD203B41FA5}">
                      <a16:colId xmlns:a16="http://schemas.microsoft.com/office/drawing/2014/main" val="20000"/>
                    </a:ext>
                  </a:extLst>
                </a:gridCol>
                <a:gridCol w="432048">
                  <a:extLst>
                    <a:ext uri="{9D8B030D-6E8A-4147-A177-3AD203B41FA5}">
                      <a16:colId xmlns:a16="http://schemas.microsoft.com/office/drawing/2014/main" val="20001"/>
                    </a:ext>
                  </a:extLst>
                </a:gridCol>
              </a:tblGrid>
              <a:tr h="263272">
                <a:tc>
                  <a:txBody>
                    <a:bodyPr/>
                    <a:lstStyle/>
                    <a:p>
                      <a:r>
                        <a:rPr lang="en-US" altLang="zh-CN" sz="1200" dirty="0">
                          <a:solidFill>
                            <a:schemeClr val="tx1"/>
                          </a:solidFill>
                        </a:rPr>
                        <a:t>0</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altLang="zh-CN" sz="1200" dirty="0">
                          <a:solidFill>
                            <a:schemeClr val="tx1"/>
                          </a:solidFill>
                        </a:rPr>
                        <a:t>V1</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0"/>
                  </a:ext>
                </a:extLst>
              </a:tr>
              <a:tr h="263272">
                <a:tc>
                  <a:txBody>
                    <a:bodyPr/>
                    <a:lstStyle/>
                    <a:p>
                      <a:r>
                        <a:rPr lang="en-US" altLang="zh-CN" sz="1200" dirty="0">
                          <a:solidFill>
                            <a:schemeClr val="tx1"/>
                          </a:solidFill>
                        </a:rPr>
                        <a:t>1</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altLang="zh-CN" sz="1200" dirty="0">
                          <a:solidFill>
                            <a:schemeClr val="tx1"/>
                          </a:solidFill>
                        </a:rPr>
                        <a:t>V2</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1"/>
                  </a:ext>
                </a:extLst>
              </a:tr>
              <a:tr h="263272">
                <a:tc>
                  <a:txBody>
                    <a:bodyPr/>
                    <a:lstStyle/>
                    <a:p>
                      <a:r>
                        <a:rPr lang="en-US" altLang="zh-CN" sz="1200" dirty="0">
                          <a:solidFill>
                            <a:schemeClr val="tx1"/>
                          </a:solidFill>
                        </a:rPr>
                        <a:t>2</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altLang="zh-CN" sz="1200" dirty="0">
                          <a:solidFill>
                            <a:schemeClr val="tx1"/>
                          </a:solidFill>
                        </a:rPr>
                        <a:t>V3</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2"/>
                  </a:ext>
                </a:extLst>
              </a:tr>
              <a:tr h="263272">
                <a:tc>
                  <a:txBody>
                    <a:bodyPr/>
                    <a:lstStyle/>
                    <a:p>
                      <a:r>
                        <a:rPr lang="en-US" altLang="zh-CN" sz="1200" dirty="0">
                          <a:solidFill>
                            <a:schemeClr val="tx1"/>
                          </a:solidFill>
                        </a:rPr>
                        <a:t>3</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altLang="zh-CN" sz="1200" dirty="0">
                          <a:solidFill>
                            <a:schemeClr val="tx1"/>
                          </a:solidFill>
                        </a:rPr>
                        <a:t>V4</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3"/>
                  </a:ext>
                </a:extLst>
              </a:tr>
              <a:tr h="263272">
                <a:tc>
                  <a:txBody>
                    <a:bodyPr/>
                    <a:lstStyle/>
                    <a:p>
                      <a:r>
                        <a:rPr lang="en-US" altLang="zh-CN" sz="1200" dirty="0">
                          <a:solidFill>
                            <a:schemeClr val="tx1"/>
                          </a:solidFill>
                        </a:rPr>
                        <a:t>4</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altLang="zh-CN" sz="1200" dirty="0">
                          <a:solidFill>
                            <a:schemeClr val="tx1"/>
                          </a:solidFill>
                        </a:rPr>
                        <a:t>V5</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057645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290"/>
                                        </p:tgtEl>
                                        <p:attrNameLst>
                                          <p:attrName>style.visibility</p:attrName>
                                        </p:attrNameLst>
                                      </p:cBhvr>
                                      <p:to>
                                        <p:strVal val="visible"/>
                                      </p:to>
                                    </p:set>
                                    <p:animEffect transition="in" filter="fade">
                                      <p:cBhvr>
                                        <p:cTn id="7" dur="500"/>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980728"/>
            <a:ext cx="7520940" cy="3579849"/>
          </a:xfrm>
        </p:spPr>
        <p:txBody>
          <a:bodyPr>
            <a:normAutofit fontScale="92500" lnSpcReduction="10000"/>
          </a:bodyPr>
          <a:lstStyle/>
          <a:p>
            <a:r>
              <a:rPr lang="en-US" altLang="zh-CN" b="0" dirty="0"/>
              <a:t>	</a:t>
            </a:r>
            <a:r>
              <a:rPr lang="zh-CN" altLang="zh-CN" b="0" dirty="0"/>
              <a:t>对于无向图，顶点</a:t>
            </a:r>
            <a:r>
              <a:rPr lang="en-US" altLang="zh-CN" b="0" dirty="0"/>
              <a:t>v</a:t>
            </a:r>
            <a:r>
              <a:rPr lang="en-US" altLang="zh-CN" b="0" baseline="-25000" dirty="0"/>
              <a:t>i</a:t>
            </a:r>
            <a:r>
              <a:rPr lang="zh-CN" altLang="zh-CN" b="0" dirty="0"/>
              <a:t>的度</a:t>
            </a:r>
            <a:r>
              <a:rPr lang="en-US" altLang="zh-CN" b="0" dirty="0"/>
              <a:t>D(v</a:t>
            </a:r>
            <a:r>
              <a:rPr lang="en-US" altLang="zh-CN" b="0" baseline="-25000" dirty="0"/>
              <a:t>i</a:t>
            </a:r>
            <a:r>
              <a:rPr lang="en-US" altLang="zh-CN" b="0" dirty="0"/>
              <a:t>)</a:t>
            </a:r>
            <a:r>
              <a:rPr lang="zh-CN" altLang="zh-CN" b="0" dirty="0"/>
              <a:t>等于邻接矩阵中第</a:t>
            </a:r>
            <a:r>
              <a:rPr lang="en-US" altLang="zh-CN" b="0" dirty="0" err="1"/>
              <a:t>i</a:t>
            </a:r>
            <a:r>
              <a:rPr lang="zh-CN" altLang="zh-CN" b="0" dirty="0"/>
              <a:t>行（或第</a:t>
            </a:r>
            <a:r>
              <a:rPr lang="en-US" altLang="zh-CN" b="0" dirty="0" err="1"/>
              <a:t>i</a:t>
            </a:r>
            <a:r>
              <a:rPr lang="zh-CN" altLang="zh-CN" b="0" dirty="0"/>
              <a:t>列）的元素之和，即</a:t>
            </a:r>
          </a:p>
          <a:p>
            <a:endParaRPr lang="en-US" altLang="zh-CN" b="0" dirty="0"/>
          </a:p>
          <a:p>
            <a:endParaRPr lang="en-US" altLang="zh-CN" b="0" dirty="0"/>
          </a:p>
          <a:p>
            <a:r>
              <a:rPr lang="en-US" altLang="zh-CN" b="0" dirty="0"/>
              <a:t>	</a:t>
            </a:r>
            <a:r>
              <a:rPr lang="zh-CN" altLang="zh-CN" b="0" dirty="0"/>
              <a:t>对于有向图，顶点</a:t>
            </a:r>
            <a:r>
              <a:rPr lang="en-US" altLang="zh-CN" b="0" dirty="0"/>
              <a:t>v</a:t>
            </a:r>
            <a:r>
              <a:rPr lang="en-US" altLang="zh-CN" b="0" baseline="-25000" dirty="0"/>
              <a:t>i</a:t>
            </a:r>
            <a:r>
              <a:rPr lang="zh-CN" altLang="zh-CN" b="0" dirty="0"/>
              <a:t>的</a:t>
            </a:r>
            <a:r>
              <a:rPr lang="zh-CN" altLang="zh-CN" b="0" dirty="0">
                <a:solidFill>
                  <a:srgbClr val="FF0000"/>
                </a:solidFill>
              </a:rPr>
              <a:t>出度</a:t>
            </a:r>
            <a:r>
              <a:rPr lang="en-US" altLang="zh-CN" b="0" dirty="0"/>
              <a:t>OD(v</a:t>
            </a:r>
            <a:r>
              <a:rPr lang="en-US" altLang="zh-CN" b="0" baseline="-25000" dirty="0"/>
              <a:t>i</a:t>
            </a:r>
            <a:r>
              <a:rPr lang="en-US" altLang="zh-CN" b="0" dirty="0"/>
              <a:t>)</a:t>
            </a:r>
            <a:r>
              <a:rPr lang="zh-CN" altLang="zh-CN" b="0" dirty="0"/>
              <a:t>等于邻接矩阵中</a:t>
            </a:r>
            <a:r>
              <a:rPr lang="zh-CN" altLang="zh-CN" b="0" dirty="0">
                <a:solidFill>
                  <a:srgbClr val="FF0000"/>
                </a:solidFill>
              </a:rPr>
              <a:t>第</a:t>
            </a:r>
            <a:r>
              <a:rPr lang="en-US" altLang="zh-CN" b="0" dirty="0" err="1">
                <a:solidFill>
                  <a:srgbClr val="FF0000"/>
                </a:solidFill>
              </a:rPr>
              <a:t>i</a:t>
            </a:r>
            <a:r>
              <a:rPr lang="zh-CN" altLang="zh-CN" b="0" dirty="0">
                <a:solidFill>
                  <a:srgbClr val="FF0000"/>
                </a:solidFill>
              </a:rPr>
              <a:t>行</a:t>
            </a:r>
            <a:r>
              <a:rPr lang="zh-CN" altLang="zh-CN" b="0" dirty="0"/>
              <a:t>的元素之和，顶点</a:t>
            </a:r>
            <a:r>
              <a:rPr lang="en-US" altLang="zh-CN" b="0" dirty="0"/>
              <a:t>v</a:t>
            </a:r>
            <a:r>
              <a:rPr lang="en-US" altLang="zh-CN" b="0" baseline="-25000" dirty="0"/>
              <a:t>i</a:t>
            </a:r>
            <a:r>
              <a:rPr lang="zh-CN" altLang="zh-CN" b="0" dirty="0"/>
              <a:t>的</a:t>
            </a:r>
            <a:r>
              <a:rPr lang="zh-CN" altLang="zh-CN" b="0" dirty="0">
                <a:solidFill>
                  <a:srgbClr val="FF0000"/>
                </a:solidFill>
              </a:rPr>
              <a:t>入度</a:t>
            </a:r>
            <a:r>
              <a:rPr lang="en-US" altLang="zh-CN" b="0" dirty="0"/>
              <a:t>ID(v</a:t>
            </a:r>
            <a:r>
              <a:rPr lang="en-US" altLang="zh-CN" b="0" baseline="-25000" dirty="0"/>
              <a:t>i</a:t>
            </a:r>
            <a:r>
              <a:rPr lang="en-US" altLang="zh-CN" b="0" dirty="0"/>
              <a:t>)</a:t>
            </a:r>
            <a:r>
              <a:rPr lang="zh-CN" altLang="zh-CN" b="0" dirty="0"/>
              <a:t>等于邻接矩阵中</a:t>
            </a:r>
            <a:r>
              <a:rPr lang="zh-CN" altLang="zh-CN" b="0" dirty="0">
                <a:solidFill>
                  <a:srgbClr val="FF0000"/>
                </a:solidFill>
              </a:rPr>
              <a:t>第</a:t>
            </a:r>
            <a:r>
              <a:rPr lang="en-US" altLang="zh-CN" b="0" dirty="0" err="1">
                <a:solidFill>
                  <a:srgbClr val="FF0000"/>
                </a:solidFill>
              </a:rPr>
              <a:t>i</a:t>
            </a:r>
            <a:r>
              <a:rPr lang="zh-CN" altLang="zh-CN" b="0" dirty="0">
                <a:solidFill>
                  <a:srgbClr val="FF0000"/>
                </a:solidFill>
              </a:rPr>
              <a:t>列</a:t>
            </a:r>
            <a:r>
              <a:rPr lang="zh-CN" altLang="zh-CN" b="0" dirty="0"/>
              <a:t>的元素之和，顶点</a:t>
            </a:r>
            <a:r>
              <a:rPr lang="en-US" altLang="zh-CN" b="0" dirty="0"/>
              <a:t>v</a:t>
            </a:r>
            <a:r>
              <a:rPr lang="en-US" altLang="zh-CN" b="0" baseline="-25000" dirty="0"/>
              <a:t>i</a:t>
            </a:r>
            <a:r>
              <a:rPr lang="zh-CN" altLang="zh-CN" b="0" dirty="0"/>
              <a:t>的度</a:t>
            </a:r>
            <a:r>
              <a:rPr lang="en-US" altLang="zh-CN" b="0" dirty="0"/>
              <a:t>D(v</a:t>
            </a:r>
            <a:r>
              <a:rPr lang="en-US" altLang="zh-CN" b="0" baseline="-25000" dirty="0"/>
              <a:t>i</a:t>
            </a:r>
            <a:r>
              <a:rPr lang="en-US" altLang="zh-CN" b="0" dirty="0"/>
              <a:t>)</a:t>
            </a:r>
            <a:r>
              <a:rPr lang="zh-CN" altLang="zh-CN" b="0" dirty="0"/>
              <a:t>等于邻接矩阵中第</a:t>
            </a:r>
            <a:r>
              <a:rPr lang="en-US" altLang="zh-CN" b="0" dirty="0" err="1"/>
              <a:t>i</a:t>
            </a:r>
            <a:r>
              <a:rPr lang="zh-CN" altLang="zh-CN" b="0" dirty="0"/>
              <a:t>行的元素和第</a:t>
            </a:r>
            <a:r>
              <a:rPr lang="en-US" altLang="zh-CN" b="0" dirty="0" err="1"/>
              <a:t>i</a:t>
            </a:r>
            <a:r>
              <a:rPr lang="zh-CN" altLang="zh-CN" b="0" dirty="0"/>
              <a:t>列的元素之和，即</a:t>
            </a:r>
          </a:p>
          <a:p>
            <a:endParaRPr lang="zh-CN" altLang="en-US" dirty="0"/>
          </a:p>
        </p:txBody>
      </p:sp>
      <p:pic>
        <p:nvPicPr>
          <p:cNvPr id="1331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3668" y="1795426"/>
            <a:ext cx="2836341" cy="8814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71802" y="4286256"/>
            <a:ext cx="2808207" cy="19192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65666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314"/>
                                        </p:tgtEl>
                                        <p:attrNameLst>
                                          <p:attrName>style.visibility</p:attrName>
                                        </p:attrNameLst>
                                      </p:cBhvr>
                                      <p:to>
                                        <p:strVal val="visible"/>
                                      </p:to>
                                    </p:set>
                                    <p:animEffect transition="in" filter="fade">
                                      <p:cBhvr>
                                        <p:cTn id="7" dur="500"/>
                                        <p:tgtEl>
                                          <p:spTgt spid="133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315"/>
                                        </p:tgtEl>
                                        <p:attrNameLst>
                                          <p:attrName>style.visibility</p:attrName>
                                        </p:attrNameLst>
                                      </p:cBhvr>
                                      <p:to>
                                        <p:strVal val="visible"/>
                                      </p:to>
                                    </p:set>
                                    <p:animEffect transition="in" filter="fade">
                                      <p:cBhvr>
                                        <p:cTn id="17" dur="500"/>
                                        <p:tgtEl>
                                          <p:spTgt spid="133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827584" y="1071546"/>
            <a:ext cx="7520940" cy="4929222"/>
          </a:xfrm>
        </p:spPr>
        <p:txBody>
          <a:bodyPr>
            <a:normAutofit lnSpcReduction="10000"/>
          </a:bodyPr>
          <a:lstStyle/>
          <a:p>
            <a:r>
              <a:rPr lang="zh-CN" altLang="en-US" dirty="0"/>
              <a:t>结论：</a:t>
            </a:r>
          </a:p>
          <a:p>
            <a:r>
              <a:rPr lang="en-US" b="0" dirty="0"/>
              <a:t>(1) </a:t>
            </a:r>
            <a:r>
              <a:rPr lang="zh-CN" altLang="en-US" b="0" dirty="0"/>
              <a:t>复杂度：</a:t>
            </a:r>
          </a:p>
          <a:p>
            <a:r>
              <a:rPr lang="en-US" b="0" dirty="0"/>
              <a:t>	</a:t>
            </a:r>
            <a:r>
              <a:rPr lang="zh-CN" altLang="en-US" b="0" dirty="0"/>
              <a:t>①确定边关系的时间复杂度：</a:t>
            </a:r>
            <a:r>
              <a:rPr lang="en-US" b="0" dirty="0"/>
              <a:t>O(1)</a:t>
            </a:r>
            <a:r>
              <a:rPr lang="zh-CN" altLang="en-US" b="0" dirty="0"/>
              <a:t>；</a:t>
            </a:r>
          </a:p>
          <a:p>
            <a:r>
              <a:rPr lang="en-US" b="0" dirty="0"/>
              <a:t>	</a:t>
            </a:r>
            <a:r>
              <a:rPr lang="zh-CN" altLang="en-US" b="0" dirty="0"/>
              <a:t>②加入或删除一条边的时间复杂度：</a:t>
            </a:r>
            <a:r>
              <a:rPr lang="en-US" b="0" dirty="0"/>
              <a:t>O(1)</a:t>
            </a:r>
            <a:r>
              <a:rPr lang="zh-CN" altLang="en-US" b="0" dirty="0"/>
              <a:t>；</a:t>
            </a:r>
          </a:p>
          <a:p>
            <a:r>
              <a:rPr lang="en-US" b="0" dirty="0"/>
              <a:t>	</a:t>
            </a:r>
            <a:r>
              <a:rPr lang="zh-CN" altLang="en-US" b="0" dirty="0"/>
              <a:t>③寻找一个顶点的所有邻接点的时间复杂度：</a:t>
            </a:r>
            <a:r>
              <a:rPr lang="en-US" b="0" dirty="0"/>
              <a:t>O(n)</a:t>
            </a:r>
            <a:r>
              <a:rPr lang="zh-CN" altLang="en-US" b="0" dirty="0"/>
              <a:t>；</a:t>
            </a:r>
          </a:p>
          <a:p>
            <a:r>
              <a:rPr lang="en-US" b="0" dirty="0"/>
              <a:t>	</a:t>
            </a:r>
            <a:r>
              <a:rPr lang="zh-CN" altLang="en-US" b="0" dirty="0"/>
              <a:t>④存储边的空间复杂度：</a:t>
            </a:r>
            <a:r>
              <a:rPr lang="en-US" b="0" dirty="0"/>
              <a:t>O(n</a:t>
            </a:r>
            <a:r>
              <a:rPr lang="en-US" b="0" baseline="30000" dirty="0"/>
              <a:t>2</a:t>
            </a:r>
            <a:r>
              <a:rPr lang="en-US" b="0" dirty="0"/>
              <a:t>)</a:t>
            </a:r>
            <a:r>
              <a:rPr lang="zh-CN" altLang="en-US" b="0" dirty="0"/>
              <a:t>，即顶点的平方。</a:t>
            </a:r>
          </a:p>
          <a:p>
            <a:r>
              <a:rPr lang="en-US" b="0" dirty="0"/>
              <a:t>(2) </a:t>
            </a:r>
            <a:r>
              <a:rPr lang="zh-CN" altLang="en-US" b="0" dirty="0"/>
              <a:t>困难：</a:t>
            </a:r>
          </a:p>
          <a:p>
            <a:r>
              <a:rPr lang="en-US" b="0" dirty="0"/>
              <a:t>	 </a:t>
            </a:r>
            <a:r>
              <a:rPr lang="zh-CN" altLang="en-US" b="0" dirty="0"/>
              <a:t>增加或删除一个顶点需要重新建邻接矩阵，由此操作变得很复杂，时间复杂度变得很高。因此，邻接矩阵比较适合静态表，即表中的结点不发生变化。</a:t>
            </a:r>
          </a:p>
          <a:p>
            <a:endParaRPr lang="zh-CN" altLang="en-US" dirty="0"/>
          </a:p>
        </p:txBody>
      </p:sp>
    </p:spTree>
    <p:extLst>
      <p:ext uri="{BB962C8B-B14F-4D97-AF65-F5344CB8AC3E}">
        <p14:creationId xmlns:p14="http://schemas.microsoft.com/office/powerpoint/2010/main" val="1862426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500"/>
                                        <p:tgtEl>
                                          <p:spTgt spid="4">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5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500"/>
                                        <p:tgtEl>
                                          <p:spTgt spid="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500"/>
                                        <p:tgtEl>
                                          <p:spTgt spid="4">
                                            <p:txEl>
                                              <p:pRg st="6" end="6"/>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4">
                                            <p:txEl>
                                              <p:pRg st="7" end="7"/>
                                            </p:txEl>
                                          </p:spTgt>
                                        </p:tgtEl>
                                        <p:attrNameLst>
                                          <p:attrName>style.visibility</p:attrName>
                                        </p:attrNameLst>
                                      </p:cBhvr>
                                      <p:to>
                                        <p:strVal val="visible"/>
                                      </p:to>
                                    </p:set>
                                    <p:animEffect transition="in" filter="fade">
                                      <p:cBhvr>
                                        <p:cTn id="30"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980728"/>
            <a:ext cx="8712968" cy="5328592"/>
          </a:xfrm>
        </p:spPr>
        <p:txBody>
          <a:bodyPr>
            <a:normAutofit fontScale="77500" lnSpcReduction="20000"/>
          </a:bodyPr>
          <a:lstStyle/>
          <a:p>
            <a:pPr>
              <a:spcBef>
                <a:spcPts val="0"/>
              </a:spcBef>
            </a:pPr>
            <a:r>
              <a:rPr lang="zh-CN" altLang="zh-CN" dirty="0"/>
              <a:t>算法</a:t>
            </a:r>
            <a:r>
              <a:rPr lang="en-US" altLang="zh-CN" dirty="0"/>
              <a:t>6.2</a:t>
            </a:r>
            <a:r>
              <a:rPr lang="zh-CN" altLang="zh-CN" dirty="0"/>
              <a:t>：</a:t>
            </a:r>
            <a:r>
              <a:rPr lang="zh-CN" altLang="zh-CN" dirty="0">
                <a:solidFill>
                  <a:srgbClr val="FF0000"/>
                </a:solidFill>
              </a:rPr>
              <a:t>邻接矩阵</a:t>
            </a:r>
            <a:r>
              <a:rPr lang="zh-CN" altLang="zh-CN" dirty="0"/>
              <a:t>方式实现图的定义</a:t>
            </a:r>
          </a:p>
          <a:p>
            <a:pPr>
              <a:spcBef>
                <a:spcPts val="0"/>
              </a:spcBef>
            </a:pPr>
            <a:r>
              <a:rPr lang="en-US" altLang="zh-CN" b="0" dirty="0"/>
              <a:t>class </a:t>
            </a:r>
            <a:r>
              <a:rPr lang="en-US" altLang="zh-CN" b="0" dirty="0" err="1"/>
              <a:t>Graphm</a:t>
            </a:r>
            <a:r>
              <a:rPr lang="en-US" altLang="zh-CN" b="0" dirty="0"/>
              <a:t>: public Graph{</a:t>
            </a:r>
            <a:endParaRPr lang="zh-CN" altLang="zh-CN" b="0" dirty="0"/>
          </a:p>
          <a:p>
            <a:pPr>
              <a:spcBef>
                <a:spcPts val="0"/>
              </a:spcBef>
            </a:pPr>
            <a:r>
              <a:rPr lang="en-US" altLang="zh-CN" b="0" dirty="0"/>
              <a:t>private:</a:t>
            </a:r>
            <a:endParaRPr lang="zh-CN" altLang="zh-CN" b="0" dirty="0"/>
          </a:p>
          <a:p>
            <a:pPr>
              <a:spcBef>
                <a:spcPts val="0"/>
              </a:spcBef>
            </a:pPr>
            <a:r>
              <a:rPr lang="en-US" altLang="zh-CN" b="0" dirty="0"/>
              <a:t>    </a:t>
            </a:r>
            <a:r>
              <a:rPr lang="en-US" altLang="zh-CN" b="0" dirty="0" err="1"/>
              <a:t>int</a:t>
            </a:r>
            <a:r>
              <a:rPr lang="en-US" altLang="zh-CN" b="0" dirty="0"/>
              <a:t> **</a:t>
            </a:r>
            <a:r>
              <a:rPr lang="en-US" altLang="zh-CN" b="0" dirty="0" err="1"/>
              <a:t>AdjMatrix</a:t>
            </a:r>
            <a:r>
              <a:rPr lang="en-US" altLang="zh-CN" b="0" dirty="0"/>
              <a:t>;    //</a:t>
            </a:r>
            <a:r>
              <a:rPr lang="zh-CN" altLang="zh-CN" b="0" dirty="0"/>
              <a:t>指向邻接矩阵的指针</a:t>
            </a:r>
          </a:p>
          <a:p>
            <a:pPr>
              <a:spcBef>
                <a:spcPts val="0"/>
              </a:spcBef>
            </a:pPr>
            <a:r>
              <a:rPr lang="en-US" altLang="zh-CN" b="0" dirty="0"/>
              <a:t>public:</a:t>
            </a:r>
            <a:endParaRPr lang="zh-CN" altLang="zh-CN" b="0" dirty="0"/>
          </a:p>
          <a:p>
            <a:pPr>
              <a:spcBef>
                <a:spcPts val="0"/>
              </a:spcBef>
            </a:pPr>
            <a:r>
              <a:rPr lang="en-US" altLang="zh-CN" b="0" dirty="0"/>
              <a:t>    </a:t>
            </a:r>
            <a:r>
              <a:rPr lang="en-US" altLang="zh-CN" b="0" dirty="0" err="1"/>
              <a:t>Graphm</a:t>
            </a:r>
            <a:r>
              <a:rPr lang="en-US" altLang="zh-CN" b="0" dirty="0"/>
              <a:t>(</a:t>
            </a:r>
            <a:r>
              <a:rPr lang="en-US" altLang="zh-CN" b="0" dirty="0" err="1"/>
              <a:t>int</a:t>
            </a:r>
            <a:r>
              <a:rPr lang="en-US" altLang="zh-CN" b="0" dirty="0"/>
              <a:t> </a:t>
            </a:r>
            <a:r>
              <a:rPr lang="en-US" altLang="zh-CN" b="0" dirty="0" err="1"/>
              <a:t>numVert</a:t>
            </a:r>
            <a:r>
              <a:rPr lang="zh-CN" altLang="en-US" b="0" dirty="0"/>
              <a:t>）</a:t>
            </a:r>
            <a:r>
              <a:rPr lang="en-US" altLang="zh-CN" b="0" dirty="0"/>
              <a:t>{	//</a:t>
            </a:r>
            <a:r>
              <a:rPr lang="zh-CN" altLang="zh-CN" b="0" dirty="0"/>
              <a:t>构造函数</a:t>
            </a:r>
          </a:p>
          <a:p>
            <a:pPr>
              <a:spcBef>
                <a:spcPts val="0"/>
              </a:spcBef>
            </a:pPr>
            <a:r>
              <a:rPr lang="en-US" altLang="zh-CN" b="0" dirty="0"/>
              <a:t>        </a:t>
            </a:r>
            <a:r>
              <a:rPr lang="en-US" altLang="zh-CN" b="0" dirty="0" err="1"/>
              <a:t>AdjMatrix</a:t>
            </a:r>
            <a:r>
              <a:rPr lang="en-US" altLang="zh-CN" b="0" dirty="0"/>
              <a:t> = new </a:t>
            </a:r>
            <a:r>
              <a:rPr lang="en-US" altLang="zh-CN" b="0" dirty="0" err="1"/>
              <a:t>int</a:t>
            </a:r>
            <a:r>
              <a:rPr lang="en-US" altLang="zh-CN" b="0" dirty="0"/>
              <a:t>*[</a:t>
            </a:r>
            <a:r>
              <a:rPr lang="en-US" altLang="zh-CN" b="0" dirty="0" err="1"/>
              <a:t>numVertex</a:t>
            </a:r>
            <a:r>
              <a:rPr lang="en-US" altLang="zh-CN" b="0" dirty="0"/>
              <a:t>];	//</a:t>
            </a:r>
            <a:r>
              <a:rPr lang="zh-CN" altLang="zh-CN" b="0" dirty="0"/>
              <a:t>申请</a:t>
            </a:r>
            <a:r>
              <a:rPr lang="en-US" altLang="zh-CN" b="0" dirty="0" err="1"/>
              <a:t>AdjMatrix</a:t>
            </a:r>
            <a:r>
              <a:rPr lang="zh-CN" altLang="en-US" b="0" dirty="0"/>
              <a:t>指针</a:t>
            </a:r>
            <a:r>
              <a:rPr lang="zh-CN" altLang="zh-CN" b="0" dirty="0"/>
              <a:t>数组</a:t>
            </a:r>
          </a:p>
          <a:p>
            <a:pPr>
              <a:spcBef>
                <a:spcPts val="0"/>
              </a:spcBef>
            </a:pPr>
            <a:r>
              <a:rPr lang="en-US" altLang="zh-CN" b="0" dirty="0"/>
              <a:t>        for(</a:t>
            </a:r>
            <a:r>
              <a:rPr lang="en-US" altLang="zh-CN" b="0" dirty="0" err="1"/>
              <a:t>int</a:t>
            </a:r>
            <a:r>
              <a:rPr lang="en-US" altLang="zh-CN" b="0" dirty="0"/>
              <a:t> </a:t>
            </a:r>
            <a:r>
              <a:rPr lang="en-US" altLang="zh-CN" b="0" dirty="0" err="1"/>
              <a:t>i</a:t>
            </a:r>
            <a:r>
              <a:rPr lang="en-US" altLang="zh-CN" b="0" dirty="0"/>
              <a:t> = 0; </a:t>
            </a:r>
            <a:r>
              <a:rPr lang="en-US" altLang="zh-CN" b="0" dirty="0" err="1"/>
              <a:t>i</a:t>
            </a:r>
            <a:r>
              <a:rPr lang="en-US" altLang="zh-CN" b="0" dirty="0"/>
              <a:t> &lt; </a:t>
            </a:r>
            <a:r>
              <a:rPr lang="en-US" altLang="zh-CN" b="0" dirty="0" err="1"/>
              <a:t>numVertex</a:t>
            </a:r>
            <a:r>
              <a:rPr lang="en-US" altLang="zh-CN" b="0" dirty="0"/>
              <a:t>; </a:t>
            </a:r>
            <a:r>
              <a:rPr lang="en-US" altLang="zh-CN" b="0" dirty="0" err="1"/>
              <a:t>i</a:t>
            </a:r>
            <a:r>
              <a:rPr lang="en-US" altLang="zh-CN" b="0" dirty="0"/>
              <a:t>++)</a:t>
            </a:r>
            <a:endParaRPr lang="zh-CN" altLang="zh-CN" b="0" dirty="0"/>
          </a:p>
          <a:p>
            <a:pPr>
              <a:spcBef>
                <a:spcPts val="0"/>
              </a:spcBef>
            </a:pPr>
            <a:r>
              <a:rPr lang="en-US" altLang="zh-CN" b="0" dirty="0"/>
              <a:t>            </a:t>
            </a:r>
            <a:r>
              <a:rPr lang="en-US" altLang="zh-CN" b="0" dirty="0" err="1"/>
              <a:t>AdjMatrix</a:t>
            </a:r>
            <a:r>
              <a:rPr lang="en-US" altLang="zh-CN" b="0" dirty="0"/>
              <a:t>[i] = new </a:t>
            </a:r>
            <a:r>
              <a:rPr lang="en-US" altLang="zh-CN" b="0" dirty="0" err="1"/>
              <a:t>int</a:t>
            </a:r>
            <a:r>
              <a:rPr lang="en-US" altLang="zh-CN" b="0" dirty="0"/>
              <a:t>[</a:t>
            </a:r>
            <a:r>
              <a:rPr lang="en-US" altLang="zh-CN" b="0" dirty="0" err="1"/>
              <a:t>numVertex</a:t>
            </a:r>
            <a:r>
              <a:rPr lang="en-US" altLang="zh-CN" b="0" dirty="0"/>
              <a:t>];    //</a:t>
            </a:r>
            <a:r>
              <a:rPr lang="zh-CN" altLang="en-US" b="0" dirty="0"/>
              <a:t>申请每行元素向量</a:t>
            </a:r>
            <a:endParaRPr lang="zh-CN" altLang="zh-CN" b="0" dirty="0"/>
          </a:p>
          <a:p>
            <a:pPr>
              <a:spcBef>
                <a:spcPts val="0"/>
              </a:spcBef>
            </a:pPr>
            <a:r>
              <a:rPr lang="en-US" altLang="zh-CN" b="0" dirty="0"/>
              <a:t>	  for(</a:t>
            </a:r>
            <a:r>
              <a:rPr lang="en-US" altLang="zh-CN" b="0" dirty="0" err="1"/>
              <a:t>int</a:t>
            </a:r>
            <a:r>
              <a:rPr lang="en-US" altLang="zh-CN" b="0" dirty="0"/>
              <a:t> </a:t>
            </a:r>
            <a:r>
              <a:rPr lang="en-US" altLang="zh-CN" b="0" dirty="0" err="1"/>
              <a:t>i</a:t>
            </a:r>
            <a:r>
              <a:rPr lang="en-US" altLang="zh-CN" b="0" dirty="0"/>
              <a:t> = 0; </a:t>
            </a:r>
            <a:r>
              <a:rPr lang="en-US" altLang="zh-CN" b="0" dirty="0" err="1"/>
              <a:t>i</a:t>
            </a:r>
            <a:r>
              <a:rPr lang="en-US" altLang="zh-CN" b="0" dirty="0"/>
              <a:t> &lt; </a:t>
            </a:r>
            <a:r>
              <a:rPr lang="en-US" altLang="zh-CN" b="0" dirty="0" err="1"/>
              <a:t>numVertex</a:t>
            </a:r>
            <a:r>
              <a:rPr lang="en-US" altLang="zh-CN" b="0" dirty="0"/>
              <a:t>; </a:t>
            </a:r>
            <a:r>
              <a:rPr lang="en-US" altLang="zh-CN" b="0" dirty="0" err="1"/>
              <a:t>i</a:t>
            </a:r>
            <a:r>
              <a:rPr lang="en-US" altLang="zh-CN" b="0" dirty="0"/>
              <a:t>++)  	//</a:t>
            </a:r>
            <a:r>
              <a:rPr lang="zh-CN" altLang="zh-CN" b="0" dirty="0"/>
              <a:t>相邻矩阵的所有元素都初始化为</a:t>
            </a:r>
            <a:r>
              <a:rPr lang="en-US" altLang="zh-CN" b="0" dirty="0"/>
              <a:t>0</a:t>
            </a:r>
            <a:endParaRPr lang="zh-CN" altLang="zh-CN" b="0" dirty="0"/>
          </a:p>
          <a:p>
            <a:pPr>
              <a:spcBef>
                <a:spcPts val="0"/>
              </a:spcBef>
            </a:pPr>
            <a:r>
              <a:rPr lang="en-US" altLang="zh-CN" b="0" dirty="0"/>
              <a:t>		for(</a:t>
            </a:r>
            <a:r>
              <a:rPr lang="en-US" altLang="zh-CN" b="0" dirty="0" err="1"/>
              <a:t>int</a:t>
            </a:r>
            <a:r>
              <a:rPr lang="en-US" altLang="zh-CN" b="0" dirty="0"/>
              <a:t> j = 0; j &lt; </a:t>
            </a:r>
            <a:r>
              <a:rPr lang="en-US" altLang="zh-CN" b="0" dirty="0" err="1"/>
              <a:t>numVertex</a:t>
            </a:r>
            <a:r>
              <a:rPr lang="en-US" altLang="zh-CN" b="0" dirty="0"/>
              <a:t>; j++)</a:t>
            </a:r>
            <a:endParaRPr lang="zh-CN" altLang="zh-CN" b="0" dirty="0"/>
          </a:p>
          <a:p>
            <a:pPr>
              <a:spcBef>
                <a:spcPts val="0"/>
              </a:spcBef>
            </a:pPr>
            <a:r>
              <a:rPr lang="en-US" altLang="zh-CN" b="0" dirty="0"/>
              <a:t>			</a:t>
            </a:r>
            <a:r>
              <a:rPr lang="en-US" altLang="zh-CN" b="0" dirty="0" err="1"/>
              <a:t>AdjMatrix</a:t>
            </a:r>
            <a:r>
              <a:rPr lang="en-US" altLang="zh-CN" b="0" dirty="0"/>
              <a:t>[</a:t>
            </a:r>
            <a:r>
              <a:rPr lang="en-US" altLang="zh-CN" b="0" dirty="0" err="1"/>
              <a:t>i</a:t>
            </a:r>
            <a:r>
              <a:rPr lang="en-US" altLang="zh-CN" b="0" dirty="0"/>
              <a:t>][j] = 0;</a:t>
            </a:r>
            <a:endParaRPr lang="zh-CN" altLang="zh-CN" b="0" dirty="0"/>
          </a:p>
          <a:p>
            <a:pPr>
              <a:spcBef>
                <a:spcPts val="0"/>
              </a:spcBef>
            </a:pPr>
            <a:r>
              <a:rPr lang="en-US" altLang="zh-CN" b="0" dirty="0"/>
              <a:t>    }</a:t>
            </a:r>
            <a:endParaRPr lang="zh-CN" altLang="zh-CN" b="0" dirty="0"/>
          </a:p>
          <a:p>
            <a:pPr>
              <a:spcBef>
                <a:spcPts val="0"/>
              </a:spcBef>
            </a:pPr>
            <a:r>
              <a:rPr lang="en-US" altLang="zh-CN" b="0" dirty="0"/>
              <a:t>    ~</a:t>
            </a:r>
            <a:r>
              <a:rPr lang="en-US" altLang="zh-CN" b="0" dirty="0" err="1"/>
              <a:t>Graphm</a:t>
            </a:r>
            <a:r>
              <a:rPr lang="en-US" altLang="zh-CN" b="0" dirty="0"/>
              <a:t>(){     //</a:t>
            </a:r>
            <a:r>
              <a:rPr lang="zh-CN" altLang="zh-CN" b="0" dirty="0"/>
              <a:t>析构函数，释放申请的空间</a:t>
            </a:r>
          </a:p>
          <a:p>
            <a:pPr>
              <a:spcBef>
                <a:spcPts val="0"/>
              </a:spcBef>
            </a:pPr>
            <a:r>
              <a:rPr lang="en-US" altLang="zh-CN" b="0" dirty="0"/>
              <a:t>        for(</a:t>
            </a:r>
            <a:r>
              <a:rPr lang="en-US" altLang="zh-CN" b="0" dirty="0" err="1"/>
              <a:t>int</a:t>
            </a:r>
            <a:r>
              <a:rPr lang="en-US" altLang="zh-CN" b="0" dirty="0"/>
              <a:t> </a:t>
            </a:r>
            <a:r>
              <a:rPr lang="en-US" altLang="zh-CN" b="0" dirty="0" err="1"/>
              <a:t>i</a:t>
            </a:r>
            <a:r>
              <a:rPr lang="en-US" altLang="zh-CN" b="0" dirty="0"/>
              <a:t> = 0; </a:t>
            </a:r>
            <a:r>
              <a:rPr lang="en-US" altLang="zh-CN" b="0" dirty="0" err="1"/>
              <a:t>i</a:t>
            </a:r>
            <a:r>
              <a:rPr lang="en-US" altLang="zh-CN" b="0" dirty="0"/>
              <a:t> &lt; </a:t>
            </a:r>
            <a:r>
              <a:rPr lang="en-US" altLang="zh-CN" b="0" dirty="0" err="1"/>
              <a:t>numVertex</a:t>
            </a:r>
            <a:r>
              <a:rPr lang="en-US" altLang="zh-CN" b="0" dirty="0"/>
              <a:t>; </a:t>
            </a:r>
            <a:r>
              <a:rPr lang="en-US" altLang="zh-CN" b="0" dirty="0" err="1"/>
              <a:t>i</a:t>
            </a:r>
            <a:r>
              <a:rPr lang="en-US" altLang="zh-CN" b="0" dirty="0"/>
              <a:t>++)</a:t>
            </a:r>
            <a:endParaRPr lang="zh-CN" altLang="zh-CN" b="0" dirty="0"/>
          </a:p>
          <a:p>
            <a:pPr>
              <a:spcBef>
                <a:spcPts val="0"/>
              </a:spcBef>
            </a:pPr>
            <a:r>
              <a:rPr lang="en-US" altLang="zh-CN" b="0" dirty="0"/>
              <a:t>		delete [] </a:t>
            </a:r>
            <a:r>
              <a:rPr lang="en-US" altLang="zh-CN" b="0" dirty="0" err="1"/>
              <a:t>AdjMatrix</a:t>
            </a:r>
            <a:r>
              <a:rPr lang="en-US" altLang="zh-CN" b="0" dirty="0"/>
              <a:t>[</a:t>
            </a:r>
            <a:r>
              <a:rPr lang="en-US" altLang="zh-CN" b="0" dirty="0" err="1"/>
              <a:t>i</a:t>
            </a:r>
            <a:r>
              <a:rPr lang="en-US" altLang="zh-CN" b="0" dirty="0"/>
              <a:t>];</a:t>
            </a:r>
            <a:endParaRPr lang="zh-CN" altLang="zh-CN" b="0" dirty="0"/>
          </a:p>
          <a:p>
            <a:pPr>
              <a:spcBef>
                <a:spcPts val="0"/>
              </a:spcBef>
            </a:pPr>
            <a:r>
              <a:rPr lang="en-US" altLang="zh-CN" b="0" dirty="0"/>
              <a:t>	  delete [] </a:t>
            </a:r>
            <a:r>
              <a:rPr lang="en-US" altLang="zh-CN" b="0" dirty="0" err="1"/>
              <a:t>AdjMatrix</a:t>
            </a:r>
            <a:r>
              <a:rPr lang="en-US" altLang="zh-CN" b="0" dirty="0"/>
              <a:t>;</a:t>
            </a:r>
            <a:endParaRPr lang="zh-CN" altLang="zh-CN" b="0" dirty="0"/>
          </a:p>
          <a:p>
            <a:pPr>
              <a:spcBef>
                <a:spcPts val="0"/>
              </a:spcBef>
            </a:pPr>
            <a:r>
              <a:rPr lang="en-US" altLang="zh-CN" b="0" dirty="0"/>
              <a:t>}</a:t>
            </a:r>
            <a:endParaRPr lang="zh-CN" altLang="zh-CN" b="0" dirty="0"/>
          </a:p>
        </p:txBody>
      </p:sp>
    </p:spTree>
    <p:extLst>
      <p:ext uri="{BB962C8B-B14F-4D97-AF65-F5344CB8AC3E}">
        <p14:creationId xmlns:p14="http://schemas.microsoft.com/office/powerpoint/2010/main" val="544498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fade">
                                      <p:cBhvr>
                                        <p:cTn id="24" dur="500"/>
                                        <p:tgtEl>
                                          <p:spTgt spid="3">
                                            <p:txEl>
                                              <p:pRg st="7" end="7"/>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9" end="9"/>
                                            </p:txEl>
                                          </p:spTgt>
                                        </p:tgtEl>
                                        <p:attrNameLst>
                                          <p:attrName>style.visibility</p:attrName>
                                        </p:attrNameLst>
                                      </p:cBhvr>
                                      <p:to>
                                        <p:strVal val="visible"/>
                                      </p:to>
                                    </p:set>
                                    <p:animEffect transition="in" filter="fade">
                                      <p:cBhvr>
                                        <p:cTn id="30" dur="500"/>
                                        <p:tgtEl>
                                          <p:spTgt spid="3">
                                            <p:txEl>
                                              <p:pRg st="9" end="9"/>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animEffect transition="in" filter="fade">
                                      <p:cBhvr>
                                        <p:cTn id="33" dur="500"/>
                                        <p:tgtEl>
                                          <p:spTgt spid="3">
                                            <p:txEl>
                                              <p:pRg st="10" end="10"/>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11" end="11"/>
                                            </p:txEl>
                                          </p:spTgt>
                                        </p:tgtEl>
                                        <p:attrNameLst>
                                          <p:attrName>style.visibility</p:attrName>
                                        </p:attrNameLst>
                                      </p:cBhvr>
                                      <p:to>
                                        <p:strVal val="visible"/>
                                      </p:to>
                                    </p:set>
                                    <p:animEffect transition="in" filter="fade">
                                      <p:cBhvr>
                                        <p:cTn id="36" dur="500"/>
                                        <p:tgtEl>
                                          <p:spTgt spid="3">
                                            <p:txEl>
                                              <p:pRg st="11" end="11"/>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animEffect transition="in" filter="fade">
                                      <p:cBhvr>
                                        <p:cTn id="39" dur="500"/>
                                        <p:tgtEl>
                                          <p:spTgt spid="3">
                                            <p:txEl>
                                              <p:pRg st="12" end="12"/>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
                                            <p:txEl>
                                              <p:pRg st="13" end="13"/>
                                            </p:txEl>
                                          </p:spTgt>
                                        </p:tgtEl>
                                        <p:attrNameLst>
                                          <p:attrName>style.visibility</p:attrName>
                                        </p:attrNameLst>
                                      </p:cBhvr>
                                      <p:to>
                                        <p:strVal val="visible"/>
                                      </p:to>
                                    </p:set>
                                    <p:animEffect transition="in" filter="fade">
                                      <p:cBhvr>
                                        <p:cTn id="44" dur="500"/>
                                        <p:tgtEl>
                                          <p:spTgt spid="3">
                                            <p:txEl>
                                              <p:pRg st="13" end="13"/>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3">
                                            <p:txEl>
                                              <p:pRg st="14" end="14"/>
                                            </p:txEl>
                                          </p:spTgt>
                                        </p:tgtEl>
                                        <p:attrNameLst>
                                          <p:attrName>style.visibility</p:attrName>
                                        </p:attrNameLst>
                                      </p:cBhvr>
                                      <p:to>
                                        <p:strVal val="visible"/>
                                      </p:to>
                                    </p:set>
                                    <p:animEffect transition="in" filter="fade">
                                      <p:cBhvr>
                                        <p:cTn id="47" dur="500"/>
                                        <p:tgtEl>
                                          <p:spTgt spid="3">
                                            <p:txEl>
                                              <p:pRg st="14" end="14"/>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3">
                                            <p:txEl>
                                              <p:pRg st="15" end="15"/>
                                            </p:txEl>
                                          </p:spTgt>
                                        </p:tgtEl>
                                        <p:attrNameLst>
                                          <p:attrName>style.visibility</p:attrName>
                                        </p:attrNameLst>
                                      </p:cBhvr>
                                      <p:to>
                                        <p:strVal val="visible"/>
                                      </p:to>
                                    </p:set>
                                    <p:animEffect transition="in" filter="fade">
                                      <p:cBhvr>
                                        <p:cTn id="50" dur="500"/>
                                        <p:tgtEl>
                                          <p:spTgt spid="3">
                                            <p:txEl>
                                              <p:pRg st="15" end="15"/>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3">
                                            <p:txEl>
                                              <p:pRg st="16" end="16"/>
                                            </p:txEl>
                                          </p:spTgt>
                                        </p:tgtEl>
                                        <p:attrNameLst>
                                          <p:attrName>style.visibility</p:attrName>
                                        </p:attrNameLst>
                                      </p:cBhvr>
                                      <p:to>
                                        <p:strVal val="visible"/>
                                      </p:to>
                                    </p:set>
                                    <p:animEffect transition="in" filter="fade">
                                      <p:cBhvr>
                                        <p:cTn id="53" dur="500"/>
                                        <p:tgtEl>
                                          <p:spTgt spid="3">
                                            <p:txEl>
                                              <p:pRg st="16" end="16"/>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3">
                                            <p:txEl>
                                              <p:pRg st="17" end="17"/>
                                            </p:txEl>
                                          </p:spTgt>
                                        </p:tgtEl>
                                        <p:attrNameLst>
                                          <p:attrName>style.visibility</p:attrName>
                                        </p:attrNameLst>
                                      </p:cBhvr>
                                      <p:to>
                                        <p:strVal val="visible"/>
                                      </p:to>
                                    </p:set>
                                    <p:animEffect transition="in" filter="fade">
                                      <p:cBhvr>
                                        <p:cTn id="56" dur="500"/>
                                        <p:tgtEl>
                                          <p:spTgt spid="3">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96752"/>
            <a:ext cx="7520940" cy="4464496"/>
          </a:xfrm>
        </p:spPr>
        <p:txBody>
          <a:bodyPr>
            <a:normAutofit fontScale="92500" lnSpcReduction="20000"/>
          </a:bodyPr>
          <a:lstStyle/>
          <a:p>
            <a:r>
              <a:rPr lang="en-US" altLang="zh-CN" b="0" dirty="0"/>
              <a:t> 	</a:t>
            </a:r>
            <a:r>
              <a:rPr lang="en-US" altLang="zh-CN" b="0" dirty="0" err="1"/>
              <a:t>int</a:t>
            </a:r>
            <a:r>
              <a:rPr lang="en-US" altLang="zh-CN" b="0" dirty="0"/>
              <a:t> weight(</a:t>
            </a:r>
            <a:r>
              <a:rPr lang="en-US" altLang="zh-CN" b="0" dirty="0" err="1"/>
              <a:t>int</a:t>
            </a:r>
            <a:r>
              <a:rPr lang="en-US" altLang="zh-CN" b="0" dirty="0"/>
              <a:t> from, </a:t>
            </a:r>
            <a:r>
              <a:rPr lang="en-US" altLang="zh-CN" b="0" dirty="0" err="1"/>
              <a:t>int</a:t>
            </a:r>
            <a:r>
              <a:rPr lang="en-US" altLang="zh-CN" b="0" dirty="0"/>
              <a:t> to){</a:t>
            </a:r>
            <a:endParaRPr lang="zh-CN" altLang="zh-CN" b="0" dirty="0"/>
          </a:p>
          <a:p>
            <a:r>
              <a:rPr lang="en-US" altLang="zh-CN" b="0" dirty="0"/>
              <a:t>        	return </a:t>
            </a:r>
            <a:r>
              <a:rPr lang="en-US" altLang="zh-CN" b="0" dirty="0" err="1"/>
              <a:t>AdjMatrix</a:t>
            </a:r>
            <a:r>
              <a:rPr lang="en-US" altLang="zh-CN" b="0" dirty="0"/>
              <a:t>[from][to];</a:t>
            </a:r>
            <a:endParaRPr lang="zh-CN" altLang="zh-CN" b="0" dirty="0"/>
          </a:p>
          <a:p>
            <a:r>
              <a:rPr lang="en-US" altLang="zh-CN" b="0" dirty="0"/>
              <a:t>    }</a:t>
            </a:r>
            <a:endParaRPr lang="zh-CN" altLang="zh-CN" b="0" dirty="0"/>
          </a:p>
          <a:p>
            <a:r>
              <a:rPr lang="en-US" altLang="zh-CN" b="0" dirty="0"/>
              <a:t>    void </a:t>
            </a:r>
            <a:r>
              <a:rPr lang="en-US" altLang="zh-CN" b="0" dirty="0" err="1"/>
              <a:t>setEdge</a:t>
            </a:r>
            <a:r>
              <a:rPr lang="en-US" altLang="zh-CN" b="0" dirty="0"/>
              <a:t>(</a:t>
            </a:r>
            <a:r>
              <a:rPr lang="en-US" altLang="zh-CN" b="0" dirty="0" err="1"/>
              <a:t>int</a:t>
            </a:r>
            <a:r>
              <a:rPr lang="en-US" altLang="zh-CN" b="0" dirty="0"/>
              <a:t> </a:t>
            </a:r>
            <a:r>
              <a:rPr lang="en-US" altLang="zh-CN" b="0" dirty="0" err="1"/>
              <a:t>from,int</a:t>
            </a:r>
            <a:r>
              <a:rPr lang="en-US" altLang="zh-CN" b="0" dirty="0"/>
              <a:t> </a:t>
            </a:r>
            <a:r>
              <a:rPr lang="en-US" altLang="zh-CN" b="0" dirty="0" err="1"/>
              <a:t>to,int</a:t>
            </a:r>
            <a:r>
              <a:rPr lang="en-US" altLang="zh-CN" b="0" dirty="0"/>
              <a:t> weight){  //</a:t>
            </a:r>
            <a:r>
              <a:rPr lang="zh-CN" altLang="zh-CN" b="0" dirty="0"/>
              <a:t>为图设定一条边</a:t>
            </a:r>
          </a:p>
          <a:p>
            <a:r>
              <a:rPr lang="en-US" altLang="zh-CN" b="0" dirty="0"/>
              <a:t>		if(</a:t>
            </a:r>
            <a:r>
              <a:rPr lang="en-US" altLang="zh-CN" b="0" dirty="0" err="1"/>
              <a:t>AdjMatrix</a:t>
            </a:r>
            <a:r>
              <a:rPr lang="en-US" altLang="zh-CN" b="0" dirty="0"/>
              <a:t>[from][to] == 0){</a:t>
            </a:r>
            <a:endParaRPr lang="zh-CN" altLang="zh-CN" b="0" dirty="0"/>
          </a:p>
          <a:p>
            <a:r>
              <a:rPr lang="en-US" altLang="zh-CN" b="0" dirty="0"/>
              <a:t>            		</a:t>
            </a:r>
            <a:r>
              <a:rPr lang="en-US" altLang="zh-CN" b="0" dirty="0" err="1"/>
              <a:t>numEdge</a:t>
            </a:r>
            <a:r>
              <a:rPr lang="en-US" altLang="zh-CN" b="0" dirty="0"/>
              <a:t>++;</a:t>
            </a:r>
            <a:endParaRPr lang="zh-CN" altLang="zh-CN" b="0" dirty="0"/>
          </a:p>
          <a:p>
            <a:r>
              <a:rPr lang="en-US" altLang="zh-CN" b="0" dirty="0"/>
              <a:t>            		</a:t>
            </a:r>
            <a:r>
              <a:rPr lang="en-US" altLang="zh-CN" b="0" dirty="0" err="1"/>
              <a:t>InDegree</a:t>
            </a:r>
            <a:r>
              <a:rPr lang="en-US" altLang="zh-CN" b="0" dirty="0"/>
              <a:t>[to]++;</a:t>
            </a:r>
            <a:endParaRPr lang="zh-CN" altLang="zh-CN" b="0" dirty="0"/>
          </a:p>
          <a:p>
            <a:r>
              <a:rPr lang="en-US" altLang="zh-CN" b="0" dirty="0"/>
              <a:t>		}</a:t>
            </a:r>
            <a:endParaRPr lang="zh-CN" altLang="zh-CN" b="0" dirty="0"/>
          </a:p>
          <a:p>
            <a:r>
              <a:rPr lang="en-US" altLang="zh-CN" b="0" dirty="0"/>
              <a:t>		</a:t>
            </a:r>
            <a:r>
              <a:rPr lang="en-US" altLang="zh-CN" b="0" dirty="0" err="1"/>
              <a:t>AdjMatrix</a:t>
            </a:r>
            <a:r>
              <a:rPr lang="en-US" altLang="zh-CN" b="0" dirty="0"/>
              <a:t>[from][to] = weight;</a:t>
            </a:r>
            <a:endParaRPr lang="zh-CN" altLang="zh-CN" b="0" dirty="0"/>
          </a:p>
          <a:p>
            <a:r>
              <a:rPr lang="en-US" altLang="zh-CN" b="0" dirty="0"/>
              <a:t>	}</a:t>
            </a:r>
            <a:endParaRPr lang="zh-CN" altLang="en-US" b="0" dirty="0"/>
          </a:p>
        </p:txBody>
      </p:sp>
    </p:spTree>
    <p:extLst>
      <p:ext uri="{BB962C8B-B14F-4D97-AF65-F5344CB8AC3E}">
        <p14:creationId xmlns:p14="http://schemas.microsoft.com/office/powerpoint/2010/main" val="3385034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fade">
                                      <p:cBhvr>
                                        <p:cTn id="16" dur="500"/>
                                        <p:tgtEl>
                                          <p:spTgt spid="3">
                                            <p:txEl>
                                              <p:pRg st="6" end="6"/>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Effect transition="in" filter="fade">
                                      <p:cBhvr>
                                        <p:cTn id="19" dur="500"/>
                                        <p:tgtEl>
                                          <p:spTgt spid="3">
                                            <p:txEl>
                                              <p:pRg st="7" end="7"/>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8" end="8"/>
                                            </p:txEl>
                                          </p:spTgt>
                                        </p:tgtEl>
                                        <p:attrNameLst>
                                          <p:attrName>style.visibility</p:attrName>
                                        </p:attrNameLst>
                                      </p:cBhvr>
                                      <p:to>
                                        <p:strVal val="visible"/>
                                      </p:to>
                                    </p:set>
                                    <p:animEffect transition="in" filter="fade">
                                      <p:cBhvr>
                                        <p:cTn id="22" dur="500"/>
                                        <p:tgtEl>
                                          <p:spTgt spid="3">
                                            <p:txEl>
                                              <p:pRg st="8" end="8"/>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animEffect transition="in" filter="fade">
                                      <p:cBhvr>
                                        <p:cTn id="25"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7520940" cy="5760640"/>
          </a:xfrm>
        </p:spPr>
        <p:txBody>
          <a:bodyPr>
            <a:normAutofit fontScale="85000" lnSpcReduction="20000"/>
          </a:bodyPr>
          <a:lstStyle/>
          <a:p>
            <a:pPr>
              <a:spcBef>
                <a:spcPts val="0"/>
              </a:spcBef>
            </a:pPr>
            <a:r>
              <a:rPr lang="en-US" altLang="zh-CN" b="0" dirty="0"/>
              <a:t>	void </a:t>
            </a:r>
            <a:r>
              <a:rPr lang="en-US" altLang="zh-CN" b="0" dirty="0" err="1"/>
              <a:t>delEdge</a:t>
            </a:r>
            <a:r>
              <a:rPr lang="en-US" altLang="zh-CN" b="0" dirty="0"/>
              <a:t>(</a:t>
            </a:r>
            <a:r>
              <a:rPr lang="en-US" altLang="zh-CN" b="0" dirty="0" err="1"/>
              <a:t>int</a:t>
            </a:r>
            <a:r>
              <a:rPr lang="en-US" altLang="zh-CN" b="0" dirty="0"/>
              <a:t> </a:t>
            </a:r>
            <a:r>
              <a:rPr lang="en-US" altLang="zh-CN" b="0" dirty="0" err="1"/>
              <a:t>from,int</a:t>
            </a:r>
            <a:r>
              <a:rPr lang="en-US" altLang="zh-CN" b="0" dirty="0"/>
              <a:t> to){        	//</a:t>
            </a:r>
            <a:r>
              <a:rPr lang="zh-CN" altLang="zh-CN" b="0" dirty="0"/>
              <a:t>删掉图的一条边</a:t>
            </a:r>
          </a:p>
          <a:p>
            <a:pPr>
              <a:spcBef>
                <a:spcPts val="0"/>
              </a:spcBef>
            </a:pPr>
            <a:r>
              <a:rPr lang="en-US" altLang="zh-CN" b="0" dirty="0"/>
              <a:t>		if(</a:t>
            </a:r>
            <a:r>
              <a:rPr lang="en-US" altLang="zh-CN" b="0" dirty="0" err="1"/>
              <a:t>AdjMatrix</a:t>
            </a:r>
            <a:r>
              <a:rPr lang="en-US" altLang="zh-CN" b="0" dirty="0"/>
              <a:t>[from][to] != 0){</a:t>
            </a:r>
            <a:endParaRPr lang="zh-CN" altLang="zh-CN" b="0" dirty="0"/>
          </a:p>
          <a:p>
            <a:pPr>
              <a:spcBef>
                <a:spcPts val="0"/>
              </a:spcBef>
            </a:pPr>
            <a:r>
              <a:rPr lang="en-US" altLang="zh-CN" b="0" dirty="0"/>
              <a:t>			</a:t>
            </a:r>
            <a:r>
              <a:rPr lang="en-US" altLang="zh-CN" b="0" dirty="0" err="1"/>
              <a:t>numEdge</a:t>
            </a:r>
            <a:r>
              <a:rPr lang="en-US" altLang="zh-CN" b="0" dirty="0"/>
              <a:t>--;</a:t>
            </a:r>
            <a:endParaRPr lang="zh-CN" altLang="zh-CN" b="0" dirty="0"/>
          </a:p>
          <a:p>
            <a:pPr>
              <a:spcBef>
                <a:spcPts val="0"/>
              </a:spcBef>
            </a:pPr>
            <a:r>
              <a:rPr lang="en-US" altLang="zh-CN" b="0" dirty="0"/>
              <a:t>			</a:t>
            </a:r>
            <a:r>
              <a:rPr lang="en-US" altLang="zh-CN" b="0" dirty="0" err="1"/>
              <a:t>InDegree</a:t>
            </a:r>
            <a:r>
              <a:rPr lang="en-US" altLang="zh-CN" b="0" dirty="0"/>
              <a:t>[to]--;</a:t>
            </a:r>
            <a:endParaRPr lang="zh-CN" altLang="zh-CN" b="0" dirty="0"/>
          </a:p>
          <a:p>
            <a:pPr>
              <a:spcBef>
                <a:spcPts val="0"/>
              </a:spcBef>
            </a:pPr>
            <a:r>
              <a:rPr lang="en-US" altLang="zh-CN" b="0" dirty="0"/>
              <a:t>		}</a:t>
            </a:r>
            <a:endParaRPr lang="zh-CN" altLang="zh-CN" b="0" dirty="0"/>
          </a:p>
          <a:p>
            <a:pPr>
              <a:spcBef>
                <a:spcPts val="0"/>
              </a:spcBef>
            </a:pPr>
            <a:r>
              <a:rPr lang="en-US" altLang="zh-CN" b="0" dirty="0"/>
              <a:t>		</a:t>
            </a:r>
            <a:r>
              <a:rPr lang="en-US" altLang="zh-CN" b="0" dirty="0" err="1"/>
              <a:t>AdjMatrix</a:t>
            </a:r>
            <a:r>
              <a:rPr lang="en-US" altLang="zh-CN" b="0" dirty="0"/>
              <a:t>[from][to] = 0;</a:t>
            </a:r>
            <a:endParaRPr lang="zh-CN" altLang="zh-CN" b="0" dirty="0"/>
          </a:p>
          <a:p>
            <a:pPr>
              <a:spcBef>
                <a:spcPts val="0"/>
              </a:spcBef>
            </a:pPr>
            <a:r>
              <a:rPr lang="en-US" altLang="zh-CN" b="0" dirty="0"/>
              <a:t>	}</a:t>
            </a:r>
            <a:endParaRPr lang="zh-CN" altLang="zh-CN" b="0" dirty="0"/>
          </a:p>
          <a:p>
            <a:pPr>
              <a:spcBef>
                <a:spcPts val="0"/>
              </a:spcBef>
            </a:pPr>
            <a:r>
              <a:rPr lang="en-US" altLang="zh-CN" b="0" dirty="0"/>
              <a:t>	</a:t>
            </a:r>
            <a:r>
              <a:rPr lang="en-US" altLang="zh-CN" b="0" dirty="0" err="1"/>
              <a:t>int</a:t>
            </a:r>
            <a:r>
              <a:rPr lang="en-US" altLang="zh-CN" b="0" dirty="0"/>
              <a:t> </a:t>
            </a:r>
            <a:r>
              <a:rPr lang="en-US" altLang="zh-CN" b="0" dirty="0" err="1"/>
              <a:t>FirstAdj</a:t>
            </a:r>
            <a:r>
              <a:rPr lang="en-US" altLang="zh-CN" b="0" dirty="0"/>
              <a:t>(</a:t>
            </a:r>
            <a:r>
              <a:rPr lang="en-US" altLang="zh-CN" b="0" dirty="0" err="1"/>
              <a:t>int</a:t>
            </a:r>
            <a:r>
              <a:rPr lang="en-US" altLang="zh-CN" b="0" dirty="0"/>
              <a:t> </a:t>
            </a:r>
            <a:r>
              <a:rPr lang="en-US" altLang="zh-CN" b="0" dirty="0" err="1"/>
              <a:t>oneVertex</a:t>
            </a:r>
            <a:r>
              <a:rPr lang="en-US" altLang="zh-CN" b="0" dirty="0"/>
              <a:t>){</a:t>
            </a:r>
            <a:endParaRPr lang="zh-CN" altLang="zh-CN" b="0" dirty="0"/>
          </a:p>
          <a:p>
            <a:pPr>
              <a:spcBef>
                <a:spcPts val="0"/>
              </a:spcBef>
            </a:pPr>
            <a:r>
              <a:rPr lang="en-US" altLang="zh-CN" b="0" dirty="0"/>
              <a:t>	   for (</a:t>
            </a:r>
            <a:r>
              <a:rPr lang="en-US" altLang="zh-CN" b="0" dirty="0" err="1"/>
              <a:t>int</a:t>
            </a:r>
            <a:r>
              <a:rPr lang="en-US" altLang="zh-CN" b="0" dirty="0"/>
              <a:t> </a:t>
            </a:r>
            <a:r>
              <a:rPr lang="en-US" altLang="zh-CN" b="0" dirty="0" err="1"/>
              <a:t>i</a:t>
            </a:r>
            <a:r>
              <a:rPr lang="en-US" altLang="zh-CN" b="0" dirty="0"/>
              <a:t> = 0; </a:t>
            </a:r>
            <a:r>
              <a:rPr lang="en-US" altLang="zh-CN" b="0" dirty="0" err="1"/>
              <a:t>i</a:t>
            </a:r>
            <a:r>
              <a:rPr lang="en-US" altLang="zh-CN" b="0" dirty="0"/>
              <a:t> &lt; </a:t>
            </a:r>
            <a:r>
              <a:rPr lang="en-US" altLang="zh-CN" b="0" dirty="0" err="1"/>
              <a:t>numVertex</a:t>
            </a:r>
            <a:r>
              <a:rPr lang="en-US" altLang="zh-CN" b="0" dirty="0"/>
              <a:t>; </a:t>
            </a:r>
            <a:r>
              <a:rPr lang="en-US" altLang="zh-CN" b="0" dirty="0" err="1"/>
              <a:t>i</a:t>
            </a:r>
            <a:r>
              <a:rPr lang="en-US" altLang="zh-CN" b="0" dirty="0"/>
              <a:t>++)</a:t>
            </a:r>
            <a:endParaRPr lang="zh-CN" altLang="zh-CN" b="0" dirty="0"/>
          </a:p>
          <a:p>
            <a:pPr>
              <a:spcBef>
                <a:spcPts val="0"/>
              </a:spcBef>
            </a:pPr>
            <a:r>
              <a:rPr lang="en-US" altLang="zh-CN" b="0" dirty="0"/>
              <a:t>            	if (</a:t>
            </a:r>
            <a:r>
              <a:rPr lang="en-US" altLang="zh-CN" b="0" dirty="0" err="1"/>
              <a:t>AdjMatrix</a:t>
            </a:r>
            <a:r>
              <a:rPr lang="en-US" altLang="zh-CN" b="0" dirty="0"/>
              <a:t>[</a:t>
            </a:r>
            <a:r>
              <a:rPr lang="en-US" altLang="zh-CN" b="0" dirty="0" err="1"/>
              <a:t>oneVertex</a:t>
            </a:r>
            <a:r>
              <a:rPr lang="en-US" altLang="zh-CN" b="0" dirty="0"/>
              <a:t>][</a:t>
            </a:r>
            <a:r>
              <a:rPr lang="en-US" altLang="zh-CN" b="0" dirty="0" err="1"/>
              <a:t>i</a:t>
            </a:r>
            <a:r>
              <a:rPr lang="en-US" altLang="zh-CN" b="0" dirty="0"/>
              <a:t>] != 0)  return </a:t>
            </a:r>
            <a:r>
              <a:rPr lang="en-US" altLang="zh-CN" b="0" dirty="0" err="1"/>
              <a:t>i</a:t>
            </a:r>
            <a:r>
              <a:rPr lang="en-US" altLang="zh-CN" b="0" dirty="0"/>
              <a:t>;</a:t>
            </a:r>
            <a:endParaRPr lang="zh-CN" altLang="zh-CN" b="0" dirty="0"/>
          </a:p>
          <a:p>
            <a:pPr>
              <a:spcBef>
                <a:spcPts val="0"/>
              </a:spcBef>
            </a:pPr>
            <a:r>
              <a:rPr lang="en-US" altLang="zh-CN" b="0" dirty="0"/>
              <a:t>        return -1;</a:t>
            </a:r>
            <a:endParaRPr lang="zh-CN" altLang="zh-CN" b="0" dirty="0"/>
          </a:p>
          <a:p>
            <a:pPr>
              <a:spcBef>
                <a:spcPts val="0"/>
              </a:spcBef>
            </a:pPr>
            <a:r>
              <a:rPr lang="en-US" altLang="zh-CN" b="0" dirty="0"/>
              <a:t>	}</a:t>
            </a:r>
            <a:endParaRPr lang="zh-CN" altLang="zh-CN" b="0" dirty="0"/>
          </a:p>
          <a:p>
            <a:pPr>
              <a:spcBef>
                <a:spcPts val="0"/>
              </a:spcBef>
            </a:pPr>
            <a:r>
              <a:rPr lang="en-US" altLang="zh-CN" b="0" dirty="0"/>
              <a:t>	</a:t>
            </a:r>
            <a:r>
              <a:rPr lang="en-US" altLang="zh-CN" b="0" dirty="0" err="1"/>
              <a:t>int</a:t>
            </a:r>
            <a:r>
              <a:rPr lang="en-US" altLang="zh-CN" b="0" dirty="0"/>
              <a:t> </a:t>
            </a:r>
            <a:r>
              <a:rPr lang="en-US" altLang="zh-CN" b="0" dirty="0" err="1"/>
              <a:t>NextAdj</a:t>
            </a:r>
            <a:r>
              <a:rPr lang="en-US" altLang="zh-CN" b="0" dirty="0"/>
              <a:t>(</a:t>
            </a:r>
            <a:r>
              <a:rPr lang="en-US" altLang="zh-CN" b="0" dirty="0" err="1"/>
              <a:t>int</a:t>
            </a:r>
            <a:r>
              <a:rPr lang="en-US" altLang="zh-CN" b="0" dirty="0"/>
              <a:t> </a:t>
            </a:r>
            <a:r>
              <a:rPr lang="en-US" altLang="zh-CN" b="0" dirty="0" err="1"/>
              <a:t>oneVertex</a:t>
            </a:r>
            <a:r>
              <a:rPr lang="en-US" altLang="zh-CN" b="0" dirty="0"/>
              <a:t>, </a:t>
            </a:r>
            <a:r>
              <a:rPr lang="en-US" altLang="zh-CN" b="0" dirty="0" err="1"/>
              <a:t>int</a:t>
            </a:r>
            <a:r>
              <a:rPr lang="en-US" altLang="zh-CN" b="0" dirty="0"/>
              <a:t> </a:t>
            </a:r>
            <a:r>
              <a:rPr lang="en-US" altLang="zh-CN" b="0" dirty="0" err="1"/>
              <a:t>preVertex</a:t>
            </a:r>
            <a:r>
              <a:rPr lang="en-US" altLang="zh-CN" b="0" dirty="0"/>
              <a:t>){</a:t>
            </a:r>
            <a:endParaRPr lang="zh-CN" altLang="zh-CN" b="0" dirty="0"/>
          </a:p>
          <a:p>
            <a:pPr>
              <a:spcBef>
                <a:spcPts val="0"/>
              </a:spcBef>
            </a:pPr>
            <a:r>
              <a:rPr lang="en-US" altLang="zh-CN" b="0" dirty="0"/>
              <a:t>	   for (</a:t>
            </a:r>
            <a:r>
              <a:rPr lang="en-US" altLang="zh-CN" b="0" dirty="0" err="1"/>
              <a:t>int</a:t>
            </a:r>
            <a:r>
              <a:rPr lang="en-US" altLang="zh-CN" b="0" dirty="0"/>
              <a:t> </a:t>
            </a:r>
            <a:r>
              <a:rPr lang="en-US" altLang="zh-CN" b="0" dirty="0" err="1"/>
              <a:t>i</a:t>
            </a:r>
            <a:r>
              <a:rPr lang="en-US" altLang="zh-CN" b="0" dirty="0"/>
              <a:t> = preVertex+1; </a:t>
            </a:r>
            <a:r>
              <a:rPr lang="en-US" altLang="zh-CN" b="0" dirty="0" err="1"/>
              <a:t>i</a:t>
            </a:r>
            <a:r>
              <a:rPr lang="en-US" altLang="zh-CN" b="0" dirty="0"/>
              <a:t> &lt; </a:t>
            </a:r>
            <a:r>
              <a:rPr lang="en-US" altLang="zh-CN" b="0" dirty="0" err="1"/>
              <a:t>numVertex</a:t>
            </a:r>
            <a:r>
              <a:rPr lang="en-US" altLang="zh-CN" b="0" dirty="0"/>
              <a:t>; </a:t>
            </a:r>
            <a:r>
              <a:rPr lang="en-US" altLang="zh-CN" b="0" dirty="0" err="1"/>
              <a:t>i</a:t>
            </a:r>
            <a:r>
              <a:rPr lang="en-US" altLang="zh-CN" b="0" dirty="0"/>
              <a:t>++)</a:t>
            </a:r>
            <a:endParaRPr lang="zh-CN" altLang="zh-CN" b="0" dirty="0"/>
          </a:p>
          <a:p>
            <a:pPr>
              <a:spcBef>
                <a:spcPts val="0"/>
              </a:spcBef>
            </a:pPr>
            <a:r>
              <a:rPr lang="en-US" altLang="zh-CN" b="0" dirty="0"/>
              <a:t>            	if (</a:t>
            </a:r>
            <a:r>
              <a:rPr lang="en-US" altLang="zh-CN" b="0" dirty="0" err="1"/>
              <a:t>AdjMatrix</a:t>
            </a:r>
            <a:r>
              <a:rPr lang="en-US" altLang="zh-CN" b="0" dirty="0"/>
              <a:t>[</a:t>
            </a:r>
            <a:r>
              <a:rPr lang="en-US" altLang="zh-CN" b="0" dirty="0" err="1"/>
              <a:t>oneVertex</a:t>
            </a:r>
            <a:r>
              <a:rPr lang="en-US" altLang="zh-CN" b="0" dirty="0"/>
              <a:t>][</a:t>
            </a:r>
            <a:r>
              <a:rPr lang="en-US" altLang="zh-CN" b="0" dirty="0" err="1"/>
              <a:t>i</a:t>
            </a:r>
            <a:r>
              <a:rPr lang="en-US" altLang="zh-CN" b="0" dirty="0"/>
              <a:t>] != 0)  return </a:t>
            </a:r>
            <a:r>
              <a:rPr lang="en-US" altLang="zh-CN" b="0" dirty="0" err="1"/>
              <a:t>i</a:t>
            </a:r>
            <a:r>
              <a:rPr lang="en-US" altLang="zh-CN" b="0" dirty="0"/>
              <a:t>;</a:t>
            </a:r>
            <a:endParaRPr lang="zh-CN" altLang="zh-CN" b="0" dirty="0"/>
          </a:p>
          <a:p>
            <a:pPr>
              <a:spcBef>
                <a:spcPts val="0"/>
              </a:spcBef>
            </a:pPr>
            <a:r>
              <a:rPr lang="en-US" altLang="zh-CN" b="0" dirty="0"/>
              <a:t>        return -1;</a:t>
            </a:r>
            <a:endParaRPr lang="zh-CN" altLang="zh-CN" b="0" dirty="0"/>
          </a:p>
          <a:p>
            <a:pPr>
              <a:spcBef>
                <a:spcPts val="0"/>
              </a:spcBef>
            </a:pPr>
            <a:r>
              <a:rPr lang="en-US" altLang="zh-CN" b="0" dirty="0"/>
              <a:t>	}</a:t>
            </a:r>
            <a:endParaRPr lang="zh-CN" altLang="zh-CN" b="0" dirty="0"/>
          </a:p>
          <a:p>
            <a:pPr>
              <a:spcBef>
                <a:spcPts val="0"/>
              </a:spcBef>
            </a:pPr>
            <a:r>
              <a:rPr lang="en-US" altLang="zh-CN" b="0" dirty="0"/>
              <a:t>};</a:t>
            </a:r>
            <a:endParaRPr lang="zh-CN" altLang="zh-CN" b="0" dirty="0"/>
          </a:p>
          <a:p>
            <a:pPr>
              <a:spcBef>
                <a:spcPts val="0"/>
              </a:spcBef>
            </a:pPr>
            <a:endParaRPr lang="zh-CN" altLang="en-US" dirty="0"/>
          </a:p>
        </p:txBody>
      </p:sp>
    </p:spTree>
    <p:extLst>
      <p:ext uri="{BB962C8B-B14F-4D97-AF65-F5344CB8AC3E}">
        <p14:creationId xmlns:p14="http://schemas.microsoft.com/office/powerpoint/2010/main" val="3375425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fade">
                                      <p:cBhvr>
                                        <p:cTn id="7" dur="500"/>
                                        <p:tgtEl>
                                          <p:spTgt spid="3">
                                            <p:txEl>
                                              <p:pRg st="7" end="7"/>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8" end="8"/>
                                            </p:txEl>
                                          </p:spTgt>
                                        </p:tgtEl>
                                        <p:attrNameLst>
                                          <p:attrName>style.visibility</p:attrName>
                                        </p:attrNameLst>
                                      </p:cBhvr>
                                      <p:to>
                                        <p:strVal val="visible"/>
                                      </p:to>
                                    </p:set>
                                    <p:animEffect transition="in" filter="fade">
                                      <p:cBhvr>
                                        <p:cTn id="10" dur="500"/>
                                        <p:tgtEl>
                                          <p:spTgt spid="3">
                                            <p:txEl>
                                              <p:pRg st="8" end="8"/>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animEffect transition="in" filter="fade">
                                      <p:cBhvr>
                                        <p:cTn id="13" dur="500"/>
                                        <p:tgtEl>
                                          <p:spTgt spid="3">
                                            <p:txEl>
                                              <p:pRg st="9" end="9"/>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10" end="10"/>
                                            </p:txEl>
                                          </p:spTgt>
                                        </p:tgtEl>
                                        <p:attrNameLst>
                                          <p:attrName>style.visibility</p:attrName>
                                        </p:attrNameLst>
                                      </p:cBhvr>
                                      <p:to>
                                        <p:strVal val="visible"/>
                                      </p:to>
                                    </p:set>
                                    <p:animEffect transition="in" filter="fade">
                                      <p:cBhvr>
                                        <p:cTn id="16" dur="500"/>
                                        <p:tgtEl>
                                          <p:spTgt spid="3">
                                            <p:txEl>
                                              <p:pRg st="10" end="10"/>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animEffect transition="in" filter="fade">
                                      <p:cBhvr>
                                        <p:cTn id="19" dur="500"/>
                                        <p:tgtEl>
                                          <p:spTgt spid="3">
                                            <p:txEl>
                                              <p:pRg st="11" end="1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12" end="12"/>
                                            </p:txEl>
                                          </p:spTgt>
                                        </p:tgtEl>
                                        <p:attrNameLst>
                                          <p:attrName>style.visibility</p:attrName>
                                        </p:attrNameLst>
                                      </p:cBhvr>
                                      <p:to>
                                        <p:strVal val="visible"/>
                                      </p:to>
                                    </p:set>
                                    <p:animEffect transition="in" filter="fade">
                                      <p:cBhvr>
                                        <p:cTn id="24" dur="500"/>
                                        <p:tgtEl>
                                          <p:spTgt spid="3">
                                            <p:txEl>
                                              <p:pRg st="12" end="12"/>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13" end="13"/>
                                            </p:txEl>
                                          </p:spTgt>
                                        </p:tgtEl>
                                        <p:attrNameLst>
                                          <p:attrName>style.visibility</p:attrName>
                                        </p:attrNameLst>
                                      </p:cBhvr>
                                      <p:to>
                                        <p:strVal val="visible"/>
                                      </p:to>
                                    </p:set>
                                    <p:animEffect transition="in" filter="fade">
                                      <p:cBhvr>
                                        <p:cTn id="27" dur="500"/>
                                        <p:tgtEl>
                                          <p:spTgt spid="3">
                                            <p:txEl>
                                              <p:pRg st="13" end="13"/>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14" end="14"/>
                                            </p:txEl>
                                          </p:spTgt>
                                        </p:tgtEl>
                                        <p:attrNameLst>
                                          <p:attrName>style.visibility</p:attrName>
                                        </p:attrNameLst>
                                      </p:cBhvr>
                                      <p:to>
                                        <p:strVal val="visible"/>
                                      </p:to>
                                    </p:set>
                                    <p:animEffect transition="in" filter="fade">
                                      <p:cBhvr>
                                        <p:cTn id="30" dur="500"/>
                                        <p:tgtEl>
                                          <p:spTgt spid="3">
                                            <p:txEl>
                                              <p:pRg st="14" end="14"/>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15" end="15"/>
                                            </p:txEl>
                                          </p:spTgt>
                                        </p:tgtEl>
                                        <p:attrNameLst>
                                          <p:attrName>style.visibility</p:attrName>
                                        </p:attrNameLst>
                                      </p:cBhvr>
                                      <p:to>
                                        <p:strVal val="visible"/>
                                      </p:to>
                                    </p:set>
                                    <p:animEffect transition="in" filter="fade">
                                      <p:cBhvr>
                                        <p:cTn id="33" dur="500"/>
                                        <p:tgtEl>
                                          <p:spTgt spid="3">
                                            <p:txEl>
                                              <p:pRg st="15" end="15"/>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16" end="16"/>
                                            </p:txEl>
                                          </p:spTgt>
                                        </p:tgtEl>
                                        <p:attrNameLst>
                                          <p:attrName>style.visibility</p:attrName>
                                        </p:attrNameLst>
                                      </p:cBhvr>
                                      <p:to>
                                        <p:strVal val="visible"/>
                                      </p:to>
                                    </p:set>
                                    <p:animEffect transition="in" filter="fade">
                                      <p:cBhvr>
                                        <p:cTn id="36" dur="500"/>
                                        <p:tgtEl>
                                          <p:spTgt spid="3">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6.2.2  </a:t>
            </a:r>
            <a:r>
              <a:rPr lang="zh-CN" altLang="zh-CN" b="1" dirty="0">
                <a:solidFill>
                  <a:srgbClr val="FF0000"/>
                </a:solidFill>
              </a:rPr>
              <a:t>邻接表存储方法</a:t>
            </a:r>
            <a:endParaRPr lang="zh-CN" altLang="en-US" dirty="0">
              <a:solidFill>
                <a:srgbClr val="FF0000"/>
              </a:solidFill>
            </a:endParaRPr>
          </a:p>
        </p:txBody>
      </p:sp>
      <p:sp>
        <p:nvSpPr>
          <p:cNvPr id="3" name="内容占位符 2"/>
          <p:cNvSpPr>
            <a:spLocks noGrp="1"/>
          </p:cNvSpPr>
          <p:nvPr>
            <p:ph idx="1"/>
          </p:nvPr>
        </p:nvSpPr>
        <p:spPr>
          <a:xfrm>
            <a:off x="827584" y="1628800"/>
            <a:ext cx="7520940" cy="4680520"/>
          </a:xfrm>
        </p:spPr>
        <p:txBody>
          <a:bodyPr>
            <a:normAutofit/>
          </a:bodyPr>
          <a:lstStyle/>
          <a:p>
            <a:pPr>
              <a:buFont typeface="Arial" panose="020B0604020202020204" pitchFamily="34" charset="0"/>
              <a:buChar char="•"/>
            </a:pPr>
            <a:r>
              <a:rPr lang="zh-CN" altLang="zh-CN" b="0" dirty="0"/>
              <a:t>图的邻接表存储方法是一种</a:t>
            </a:r>
            <a:r>
              <a:rPr lang="zh-CN" altLang="zh-CN" b="0" dirty="0">
                <a:solidFill>
                  <a:srgbClr val="FF0000"/>
                </a:solidFill>
              </a:rPr>
              <a:t>链式存储</a:t>
            </a:r>
            <a:r>
              <a:rPr lang="zh-CN" altLang="zh-CN" b="0" dirty="0"/>
              <a:t>结构，这种表示法类似于树的孩子单链表表示法。邻接点数的多少决定链表的长度。</a:t>
            </a:r>
            <a:endParaRPr lang="en-US" altLang="zh-CN" b="0" dirty="0"/>
          </a:p>
          <a:p>
            <a:pPr>
              <a:buFont typeface="Arial" panose="020B0604020202020204" pitchFamily="34" charset="0"/>
              <a:buChar char="•"/>
            </a:pPr>
            <a:r>
              <a:rPr lang="zh-CN" altLang="zh-CN" b="0" dirty="0"/>
              <a:t>在</a:t>
            </a:r>
            <a:r>
              <a:rPr lang="zh-CN" altLang="zh-CN" b="0" dirty="0">
                <a:solidFill>
                  <a:srgbClr val="FF0000"/>
                </a:solidFill>
              </a:rPr>
              <a:t>邻接表</a:t>
            </a:r>
            <a:r>
              <a:rPr lang="en-US" altLang="zh-CN" b="0" dirty="0"/>
              <a:t>(Adjacency List)</a:t>
            </a:r>
            <a:r>
              <a:rPr lang="zh-CN" altLang="zh-CN" b="0" dirty="0"/>
              <a:t>中，对图中的每个顶点建立一个单链表，第</a:t>
            </a:r>
            <a:r>
              <a:rPr lang="en-US" altLang="zh-CN" b="0" dirty="0" err="1"/>
              <a:t>i</a:t>
            </a:r>
            <a:r>
              <a:rPr lang="zh-CN" altLang="zh-CN" b="0" dirty="0"/>
              <a:t>个单链表中的结点表示所有依附于顶点</a:t>
            </a:r>
            <a:r>
              <a:rPr lang="en-US" altLang="zh-CN" b="0" dirty="0"/>
              <a:t>v</a:t>
            </a:r>
            <a:r>
              <a:rPr lang="en-US" altLang="zh-CN" b="0" baseline="-25000" dirty="0"/>
              <a:t>i</a:t>
            </a:r>
            <a:r>
              <a:rPr lang="zh-CN" altLang="zh-CN" b="0" dirty="0"/>
              <a:t>的边。每个单链表设置一个表头结点。</a:t>
            </a:r>
            <a:endParaRPr lang="en-US" altLang="zh-CN" b="0" dirty="0"/>
          </a:p>
          <a:p>
            <a:pPr>
              <a:buFont typeface="Arial" panose="020B0604020202020204" pitchFamily="34" charset="0"/>
              <a:buChar char="•"/>
            </a:pPr>
            <a:r>
              <a:rPr lang="zh-CN" altLang="zh-CN" b="0" dirty="0"/>
              <a:t>单链表中的结点称为表结点，如果这个表头结点所对应的顶点存在邻接点，则把邻接点依次存放于表头结点所指向的单链表中。</a:t>
            </a:r>
            <a:endParaRPr lang="zh-CN" altLang="en-US" b="0" dirty="0"/>
          </a:p>
        </p:txBody>
      </p:sp>
    </p:spTree>
    <p:extLst>
      <p:ext uri="{BB962C8B-B14F-4D97-AF65-F5344CB8AC3E}">
        <p14:creationId xmlns:p14="http://schemas.microsoft.com/office/powerpoint/2010/main" val="243563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1268761"/>
            <a:ext cx="7520940" cy="2952328"/>
          </a:xfrm>
        </p:spPr>
        <p:txBody>
          <a:bodyPr>
            <a:normAutofit/>
          </a:bodyPr>
          <a:lstStyle/>
          <a:p>
            <a:pPr>
              <a:buFont typeface="Arial" panose="020B0604020202020204" pitchFamily="34" charset="0"/>
              <a:buChar char="•"/>
            </a:pPr>
            <a:r>
              <a:rPr lang="zh-CN" altLang="zh-CN" b="0" dirty="0"/>
              <a:t>在表头结点中包括两个域</a:t>
            </a:r>
            <a:r>
              <a:rPr lang="zh-CN" altLang="en-US" b="0" dirty="0"/>
              <a:t>，</a:t>
            </a:r>
            <a:r>
              <a:rPr lang="en-US" altLang="zh-CN" b="0" dirty="0"/>
              <a:t>data</a:t>
            </a:r>
            <a:r>
              <a:rPr lang="zh-CN" altLang="zh-CN" b="0" dirty="0"/>
              <a:t>域存放顶点</a:t>
            </a:r>
            <a:r>
              <a:rPr lang="en-US" altLang="zh-CN" b="0" dirty="0"/>
              <a:t>v</a:t>
            </a:r>
            <a:r>
              <a:rPr lang="en-US" altLang="zh-CN" b="0" baseline="-25000" dirty="0"/>
              <a:t>i</a:t>
            </a:r>
            <a:r>
              <a:rPr lang="zh-CN" altLang="zh-CN" b="0" dirty="0"/>
              <a:t>的数据信息，</a:t>
            </a:r>
            <a:r>
              <a:rPr lang="en-US" altLang="zh-CN" b="0" dirty="0"/>
              <a:t>first</a:t>
            </a:r>
            <a:r>
              <a:rPr lang="zh-CN" altLang="zh-CN" b="0" dirty="0"/>
              <a:t>域指向依附于</a:t>
            </a:r>
            <a:r>
              <a:rPr lang="en-US" altLang="zh-CN" b="0" dirty="0"/>
              <a:t>v</a:t>
            </a:r>
            <a:r>
              <a:rPr lang="en-US" altLang="zh-CN" b="0" baseline="-25000" dirty="0"/>
              <a:t>i</a:t>
            </a:r>
            <a:r>
              <a:rPr lang="zh-CN" altLang="zh-CN" b="0" dirty="0"/>
              <a:t>的第一条边。</a:t>
            </a:r>
            <a:endParaRPr lang="en-US" altLang="zh-CN" b="0" dirty="0"/>
          </a:p>
          <a:p>
            <a:pPr>
              <a:buFont typeface="Arial" panose="020B0604020202020204" pitchFamily="34" charset="0"/>
              <a:buChar char="•"/>
            </a:pPr>
            <a:r>
              <a:rPr lang="zh-CN" altLang="zh-CN" dirty="0">
                <a:solidFill>
                  <a:srgbClr val="FF0000"/>
                </a:solidFill>
              </a:rPr>
              <a:t>表结点由三个域组成</a:t>
            </a:r>
            <a:r>
              <a:rPr lang="zh-CN" altLang="zh-CN" b="0" dirty="0"/>
              <a:t>，其中</a:t>
            </a:r>
            <a:r>
              <a:rPr lang="en-US" altLang="zh-CN" b="0" dirty="0" err="1"/>
              <a:t>adjvex</a:t>
            </a:r>
            <a:r>
              <a:rPr lang="zh-CN" altLang="zh-CN" b="0" dirty="0"/>
              <a:t>域存放与顶点</a:t>
            </a:r>
            <a:r>
              <a:rPr lang="en-US" altLang="zh-CN" b="0" dirty="0"/>
              <a:t>v</a:t>
            </a:r>
            <a:r>
              <a:rPr lang="en-US" altLang="zh-CN" b="0" baseline="-25000" dirty="0"/>
              <a:t>i</a:t>
            </a:r>
            <a:r>
              <a:rPr lang="zh-CN" altLang="zh-CN" b="0" dirty="0"/>
              <a:t>邻接的点在图中的</a:t>
            </a:r>
            <a:r>
              <a:rPr lang="zh-CN" altLang="zh-CN" b="0" dirty="0">
                <a:solidFill>
                  <a:srgbClr val="FF0000"/>
                </a:solidFill>
              </a:rPr>
              <a:t>位置</a:t>
            </a:r>
            <a:r>
              <a:rPr lang="zh-CN" altLang="zh-CN" b="0" dirty="0"/>
              <a:t>，</a:t>
            </a:r>
            <a:r>
              <a:rPr lang="en-US" altLang="zh-CN" b="0" dirty="0"/>
              <a:t>next</a:t>
            </a:r>
            <a:r>
              <a:rPr lang="zh-CN" altLang="zh-CN" b="0" dirty="0"/>
              <a:t>域指向下一个表结点，</a:t>
            </a:r>
            <a:r>
              <a:rPr lang="en-US" altLang="zh-CN" dirty="0">
                <a:solidFill>
                  <a:srgbClr val="FF0000"/>
                </a:solidFill>
              </a:rPr>
              <a:t>info</a:t>
            </a:r>
            <a:r>
              <a:rPr lang="zh-CN" altLang="zh-CN" dirty="0">
                <a:solidFill>
                  <a:srgbClr val="FF0000"/>
                </a:solidFill>
              </a:rPr>
              <a:t>域</a:t>
            </a:r>
            <a:r>
              <a:rPr lang="zh-CN" altLang="zh-CN" b="0" dirty="0"/>
              <a:t>存储</a:t>
            </a:r>
            <a:r>
              <a:rPr lang="zh-CN" altLang="en-US" b="0" dirty="0"/>
              <a:t>与</a:t>
            </a:r>
            <a:r>
              <a:rPr lang="zh-CN" altLang="zh-CN" b="0" dirty="0"/>
              <a:t>边相关的信息，如权值等，可以省略此域。</a:t>
            </a:r>
            <a:endParaRPr lang="zh-CN" altLang="en-US" b="0" dirty="0"/>
          </a:p>
        </p:txBody>
      </p:sp>
      <p:pic>
        <p:nvPicPr>
          <p:cNvPr id="1433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74750" y="4653136"/>
            <a:ext cx="6794500" cy="1276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文本框 1"/>
          <p:cNvSpPr txBox="1"/>
          <p:nvPr/>
        </p:nvSpPr>
        <p:spPr>
          <a:xfrm>
            <a:off x="4067944" y="4581128"/>
            <a:ext cx="4464496" cy="1080120"/>
          </a:xfrm>
          <a:prstGeom prst="rect">
            <a:avLst/>
          </a:prstGeom>
          <a:solidFill>
            <a:schemeClr val="bg1"/>
          </a:solidFill>
        </p:spPr>
        <p:txBody>
          <a:bodyPr wrap="square" rtlCol="0">
            <a:spAutoFit/>
          </a:bodyPr>
          <a:lstStyle/>
          <a:p>
            <a:endParaRPr lang="zh-CN" altLang="en-US" dirty="0"/>
          </a:p>
        </p:txBody>
      </p:sp>
    </p:spTree>
    <p:extLst>
      <p:ext uri="{BB962C8B-B14F-4D97-AF65-F5344CB8AC3E}">
        <p14:creationId xmlns:p14="http://schemas.microsoft.com/office/powerpoint/2010/main" val="4112167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124745"/>
            <a:ext cx="7848872" cy="1944216"/>
          </a:xfrm>
        </p:spPr>
        <p:txBody>
          <a:bodyPr/>
          <a:lstStyle/>
          <a:p>
            <a:pPr marL="0" indent="0"/>
            <a:r>
              <a:rPr lang="zh-CN" altLang="zh-CN" b="0" dirty="0"/>
              <a:t>在图的邻接表表示方法中，可以将表头结点构造成一个链表，通常将所有</a:t>
            </a:r>
            <a:r>
              <a:rPr lang="zh-CN" altLang="zh-CN" b="0" dirty="0">
                <a:solidFill>
                  <a:srgbClr val="FF0000"/>
                </a:solidFill>
              </a:rPr>
              <a:t>表头结点用一个一维数组</a:t>
            </a:r>
            <a:r>
              <a:rPr lang="zh-CN" altLang="zh-CN" b="0" dirty="0"/>
              <a:t>来存储，以方便随机访问任意结点的链表。</a:t>
            </a:r>
            <a:endParaRPr lang="en-US" altLang="zh-CN" b="0" dirty="0"/>
          </a:p>
          <a:p>
            <a:r>
              <a:rPr lang="zh-CN" altLang="zh-CN" b="0" dirty="0"/>
              <a:t>图</a:t>
            </a:r>
            <a:r>
              <a:rPr lang="en-US" altLang="zh-CN" b="0" dirty="0"/>
              <a:t>6-11(b)</a:t>
            </a:r>
            <a:r>
              <a:rPr lang="zh-CN" altLang="zh-CN" b="0" dirty="0"/>
              <a:t>为图</a:t>
            </a:r>
            <a:r>
              <a:rPr lang="en-US" altLang="zh-CN" b="0" dirty="0"/>
              <a:t>6-11</a:t>
            </a:r>
            <a:r>
              <a:rPr lang="zh-CN" altLang="zh-CN" b="0" dirty="0"/>
              <a:t>（</a:t>
            </a:r>
            <a:r>
              <a:rPr lang="en-US" altLang="zh-CN" b="0" dirty="0"/>
              <a:t>a</a:t>
            </a:r>
            <a:r>
              <a:rPr lang="zh-CN" altLang="zh-CN" b="0" dirty="0"/>
              <a:t>）所示的无向图</a:t>
            </a:r>
            <a:r>
              <a:rPr lang="en-US" altLang="zh-CN" b="0" dirty="0"/>
              <a:t>G</a:t>
            </a:r>
            <a:r>
              <a:rPr lang="en-US" altLang="zh-CN" b="0" baseline="-25000" dirty="0"/>
              <a:t>4</a:t>
            </a:r>
            <a:r>
              <a:rPr lang="zh-CN" altLang="zh-CN" b="0" dirty="0"/>
              <a:t>的邻接表。</a:t>
            </a:r>
            <a:endParaRPr lang="zh-CN" altLang="en-US" b="0" dirty="0"/>
          </a:p>
        </p:txBody>
      </p:sp>
      <p:pic>
        <p:nvPicPr>
          <p:cNvPr id="1536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5576" y="3284984"/>
            <a:ext cx="7382023" cy="30657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69376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5362"/>
                                        </p:tgtEl>
                                        <p:attrNameLst>
                                          <p:attrName>style.visibility</p:attrName>
                                        </p:attrNameLst>
                                      </p:cBhvr>
                                      <p:to>
                                        <p:strVal val="visible"/>
                                      </p:to>
                                    </p:set>
                                    <p:animEffect transition="in" filter="fade">
                                      <p:cBhvr>
                                        <p:cTn id="10" dur="500"/>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5436" y="1412776"/>
            <a:ext cx="8416690" cy="34563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795695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1520" y="1628800"/>
            <a:ext cx="8684437" cy="33843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521083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94073"/>
            <a:ext cx="7520940" cy="3579849"/>
          </a:xfrm>
        </p:spPr>
        <p:txBody>
          <a:bodyPr/>
          <a:lstStyle/>
          <a:p>
            <a:r>
              <a:rPr lang="en-US" altLang="zh-CN" b="0" dirty="0"/>
              <a:t>	</a:t>
            </a:r>
            <a:r>
              <a:rPr lang="zh-CN" altLang="zh-CN" b="0" dirty="0"/>
              <a:t>存放弧尾相邻的关系（以发出弧相邻）叫</a:t>
            </a:r>
            <a:r>
              <a:rPr lang="zh-CN" altLang="zh-CN" dirty="0">
                <a:solidFill>
                  <a:srgbClr val="FF0000"/>
                </a:solidFill>
              </a:rPr>
              <a:t>邻接表</a:t>
            </a:r>
            <a:endParaRPr lang="en-US" altLang="zh-CN" b="0" dirty="0"/>
          </a:p>
          <a:p>
            <a:r>
              <a:rPr lang="en-US" altLang="zh-CN" b="0" dirty="0"/>
              <a:t>	</a:t>
            </a:r>
            <a:r>
              <a:rPr lang="zh-CN" altLang="zh-CN" b="0" dirty="0"/>
              <a:t>存入弧头相邻的关系（以接入弧相邻）叫</a:t>
            </a:r>
            <a:r>
              <a:rPr lang="zh-CN" altLang="zh-CN" dirty="0">
                <a:solidFill>
                  <a:srgbClr val="FF0000"/>
                </a:solidFill>
              </a:rPr>
              <a:t>逆邻接表</a:t>
            </a:r>
            <a:endParaRPr lang="en-US" altLang="zh-CN" b="0" dirty="0"/>
          </a:p>
          <a:p>
            <a:r>
              <a:rPr lang="en-US" altLang="zh-CN" b="0" dirty="0"/>
              <a:t>	</a:t>
            </a:r>
            <a:r>
              <a:rPr lang="zh-CN" altLang="zh-CN" b="0" dirty="0"/>
              <a:t>如图</a:t>
            </a:r>
            <a:r>
              <a:rPr lang="en-US" altLang="zh-CN" b="0" dirty="0"/>
              <a:t>6-14</a:t>
            </a:r>
            <a:r>
              <a:rPr lang="zh-CN" altLang="zh-CN" b="0" dirty="0"/>
              <a:t>所示为</a:t>
            </a:r>
            <a:r>
              <a:rPr lang="en-US" altLang="zh-CN" b="0" dirty="0"/>
              <a:t>6-12</a:t>
            </a:r>
            <a:r>
              <a:rPr lang="zh-CN" altLang="zh-CN" b="0" dirty="0"/>
              <a:t>所示有向图</a:t>
            </a:r>
            <a:r>
              <a:rPr lang="en-US" altLang="zh-CN" b="0" dirty="0"/>
              <a:t>G</a:t>
            </a:r>
            <a:r>
              <a:rPr lang="en-US" altLang="zh-CN" b="0" baseline="-25000" dirty="0"/>
              <a:t>5</a:t>
            </a:r>
            <a:r>
              <a:rPr lang="zh-CN" altLang="zh-CN" b="0" dirty="0"/>
              <a:t>的逆邻接表。</a:t>
            </a:r>
            <a:endParaRPr lang="zh-CN" altLang="en-US" b="0" dirty="0"/>
          </a:p>
        </p:txBody>
      </p:sp>
      <p:pic>
        <p:nvPicPr>
          <p:cNvPr id="1843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46307" y="2807550"/>
            <a:ext cx="4558141" cy="24936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1268344" y="5301208"/>
            <a:ext cx="6984776" cy="923330"/>
          </a:xfrm>
          <a:prstGeom prst="rect">
            <a:avLst/>
          </a:prstGeom>
        </p:spPr>
        <p:txBody>
          <a:bodyPr wrap="square">
            <a:spAutoFit/>
          </a:bodyPr>
          <a:lstStyle/>
          <a:p>
            <a:r>
              <a:rPr lang="en-US" altLang="zh-CN" dirty="0">
                <a:sym typeface="Webdings"/>
              </a:rPr>
              <a:t></a:t>
            </a:r>
            <a:r>
              <a:rPr lang="zh-CN" altLang="zh-CN" dirty="0"/>
              <a:t>结论：</a:t>
            </a:r>
          </a:p>
          <a:p>
            <a:r>
              <a:rPr lang="en-US" altLang="zh-CN" dirty="0"/>
              <a:t>	(1) </a:t>
            </a:r>
            <a:r>
              <a:rPr lang="zh-CN" altLang="zh-CN" dirty="0"/>
              <a:t>无向图中邻接点的总数为：</a:t>
            </a:r>
            <a:r>
              <a:rPr lang="en-US" altLang="zh-CN" dirty="0"/>
              <a:t>2e</a:t>
            </a:r>
            <a:r>
              <a:rPr lang="zh-CN" altLang="zh-CN" dirty="0"/>
              <a:t>；</a:t>
            </a:r>
          </a:p>
          <a:p>
            <a:r>
              <a:rPr lang="en-US" altLang="zh-CN" dirty="0"/>
              <a:t>	(2) </a:t>
            </a:r>
            <a:r>
              <a:rPr lang="zh-CN" altLang="zh-CN" dirty="0"/>
              <a:t>有向图中邻接点的总数为：弧的个数</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7082" y="2948937"/>
            <a:ext cx="2398814" cy="1848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20780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par>
                                <p:cTn id="8" presetID="10" presetClass="entr" presetSubtype="0" fill="hold" nodeType="withEffect">
                                  <p:stCondLst>
                                    <p:cond delay="0"/>
                                  </p:stCondLst>
                                  <p:childTnLst>
                                    <p:set>
                                      <p:cBhvr>
                                        <p:cTn id="9" dur="1" fill="hold">
                                          <p:stCondLst>
                                            <p:cond delay="0"/>
                                          </p:stCondLst>
                                        </p:cTn>
                                        <p:tgtEl>
                                          <p:spTgt spid="18434"/>
                                        </p:tgtEl>
                                        <p:attrNameLst>
                                          <p:attrName>style.visibility</p:attrName>
                                        </p:attrNameLst>
                                      </p:cBhvr>
                                      <p:to>
                                        <p:strVal val="visible"/>
                                      </p:to>
                                    </p:set>
                                    <p:animEffect transition="in" filter="fade">
                                      <p:cBhvr>
                                        <p:cTn id="10" dur="500"/>
                                        <p:tgtEl>
                                          <p:spTgt spid="1843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520940" cy="5616624"/>
          </a:xfrm>
        </p:spPr>
        <p:txBody>
          <a:bodyPr>
            <a:normAutofit fontScale="70000" lnSpcReduction="20000"/>
          </a:bodyPr>
          <a:lstStyle/>
          <a:p>
            <a:pPr>
              <a:spcBef>
                <a:spcPts val="0"/>
              </a:spcBef>
            </a:pPr>
            <a:r>
              <a:rPr lang="zh-CN" altLang="zh-CN" dirty="0"/>
              <a:t>算法</a:t>
            </a:r>
            <a:r>
              <a:rPr lang="en-US" altLang="zh-CN" dirty="0"/>
              <a:t>6.3</a:t>
            </a:r>
            <a:r>
              <a:rPr lang="zh-CN" altLang="zh-CN" dirty="0"/>
              <a:t>：利用</a:t>
            </a:r>
            <a:r>
              <a:rPr lang="zh-CN" altLang="zh-CN" dirty="0">
                <a:solidFill>
                  <a:srgbClr val="FF0000"/>
                </a:solidFill>
              </a:rPr>
              <a:t>邻接表方式</a:t>
            </a:r>
            <a:r>
              <a:rPr lang="zh-CN" altLang="zh-CN" dirty="0"/>
              <a:t>实现图的定义</a:t>
            </a:r>
          </a:p>
          <a:p>
            <a:pPr>
              <a:spcBef>
                <a:spcPts val="0"/>
              </a:spcBef>
            </a:pPr>
            <a:r>
              <a:rPr lang="en-US" altLang="zh-CN" b="0" dirty="0" err="1"/>
              <a:t>struct</a:t>
            </a:r>
            <a:r>
              <a:rPr lang="en-US" altLang="zh-CN" b="0" dirty="0"/>
              <a:t> </a:t>
            </a:r>
            <a:r>
              <a:rPr lang="en-US" altLang="zh-CN" b="0" dirty="0" err="1">
                <a:solidFill>
                  <a:srgbClr val="FF0000"/>
                </a:solidFill>
              </a:rPr>
              <a:t>listUnit</a:t>
            </a:r>
            <a:r>
              <a:rPr lang="en-US" altLang="zh-CN" b="0" dirty="0"/>
              <a:t>{      	//</a:t>
            </a:r>
            <a:r>
              <a:rPr lang="zh-CN" altLang="zh-CN" b="0" dirty="0"/>
              <a:t>邻接表表目中数据部分的结构定义</a:t>
            </a:r>
          </a:p>
          <a:p>
            <a:pPr>
              <a:spcBef>
                <a:spcPts val="0"/>
              </a:spcBef>
            </a:pPr>
            <a:r>
              <a:rPr lang="en-US" altLang="zh-CN" b="0" dirty="0"/>
              <a:t>	</a:t>
            </a:r>
            <a:r>
              <a:rPr lang="en-US" altLang="zh-CN" b="0" dirty="0" err="1"/>
              <a:t>int</a:t>
            </a:r>
            <a:r>
              <a:rPr lang="en-US" altLang="zh-CN" b="0" dirty="0"/>
              <a:t> vertex;      	//</a:t>
            </a:r>
            <a:r>
              <a:rPr lang="zh-CN" altLang="zh-CN" b="0" dirty="0"/>
              <a:t>边的终点</a:t>
            </a:r>
          </a:p>
          <a:p>
            <a:pPr>
              <a:spcBef>
                <a:spcPts val="0"/>
              </a:spcBef>
            </a:pPr>
            <a:r>
              <a:rPr lang="en-US" altLang="zh-CN" b="0" dirty="0"/>
              <a:t>	</a:t>
            </a:r>
            <a:r>
              <a:rPr lang="en-US" altLang="zh-CN" b="0" dirty="0" err="1"/>
              <a:t>int</a:t>
            </a:r>
            <a:r>
              <a:rPr lang="en-US" altLang="zh-CN" b="0" dirty="0"/>
              <a:t> weight;      	//</a:t>
            </a:r>
            <a:r>
              <a:rPr lang="zh-CN" altLang="zh-CN" b="0" dirty="0"/>
              <a:t>边的权</a:t>
            </a:r>
          </a:p>
          <a:p>
            <a:pPr>
              <a:spcBef>
                <a:spcPts val="0"/>
              </a:spcBef>
            </a:pPr>
            <a:r>
              <a:rPr lang="en-US" altLang="zh-CN" b="0" dirty="0"/>
              <a:t>};</a:t>
            </a:r>
            <a:endParaRPr lang="zh-CN" altLang="zh-CN" b="0" dirty="0"/>
          </a:p>
          <a:p>
            <a:pPr>
              <a:spcBef>
                <a:spcPts val="0"/>
              </a:spcBef>
            </a:pPr>
            <a:r>
              <a:rPr lang="en-US" altLang="zh-CN" b="0" dirty="0"/>
              <a:t>class </a:t>
            </a:r>
            <a:r>
              <a:rPr lang="en-US" altLang="zh-CN" b="0" dirty="0" err="1"/>
              <a:t>Graphl</a:t>
            </a:r>
            <a:r>
              <a:rPr lang="en-US" altLang="zh-CN" b="0" dirty="0"/>
              <a:t>: public Graph{</a:t>
            </a:r>
            <a:endParaRPr lang="zh-CN" altLang="zh-CN" b="0" dirty="0"/>
          </a:p>
          <a:p>
            <a:pPr>
              <a:spcBef>
                <a:spcPts val="0"/>
              </a:spcBef>
            </a:pPr>
            <a:r>
              <a:rPr lang="en-US" altLang="zh-CN" b="0" dirty="0"/>
              <a:t>private:</a:t>
            </a:r>
            <a:endParaRPr lang="zh-CN" altLang="zh-CN" b="0" dirty="0"/>
          </a:p>
          <a:p>
            <a:pPr>
              <a:spcBef>
                <a:spcPts val="0"/>
              </a:spcBef>
            </a:pPr>
            <a:r>
              <a:rPr lang="en-US" altLang="zh-CN" b="0" dirty="0"/>
              <a:t>	</a:t>
            </a:r>
            <a:r>
              <a:rPr lang="en-US" altLang="zh-CN" b="0" dirty="0" err="1"/>
              <a:t>LList</a:t>
            </a:r>
            <a:r>
              <a:rPr lang="en-US" altLang="zh-CN" b="0" dirty="0"/>
              <a:t>&lt;</a:t>
            </a:r>
            <a:r>
              <a:rPr lang="en-US" altLang="zh-CN" b="0" dirty="0" err="1">
                <a:solidFill>
                  <a:srgbClr val="FF0000"/>
                </a:solidFill>
              </a:rPr>
              <a:t>listUnit</a:t>
            </a:r>
            <a:r>
              <a:rPr lang="en-US" altLang="zh-CN" b="0" dirty="0"/>
              <a:t>&gt; *</a:t>
            </a:r>
            <a:r>
              <a:rPr lang="en-US" altLang="zh-CN" b="0" dirty="0" err="1"/>
              <a:t>vexList</a:t>
            </a:r>
            <a:r>
              <a:rPr lang="en-US" altLang="zh-CN" b="0" dirty="0"/>
              <a:t>;    //</a:t>
            </a:r>
            <a:r>
              <a:rPr lang="en-US" altLang="zh-CN" b="0" dirty="0" err="1"/>
              <a:t>vexList</a:t>
            </a:r>
            <a:r>
              <a:rPr lang="zh-CN" altLang="zh-CN" b="0" dirty="0"/>
              <a:t>是保存所有边表的数组</a:t>
            </a:r>
          </a:p>
          <a:p>
            <a:pPr>
              <a:spcBef>
                <a:spcPts val="0"/>
              </a:spcBef>
            </a:pPr>
            <a:r>
              <a:rPr lang="en-US" altLang="zh-CN" b="0" dirty="0"/>
              <a:t>public:</a:t>
            </a:r>
            <a:endParaRPr lang="zh-CN" altLang="zh-CN" b="0" dirty="0"/>
          </a:p>
          <a:p>
            <a:pPr>
              <a:spcBef>
                <a:spcPts val="0"/>
              </a:spcBef>
            </a:pPr>
            <a:r>
              <a:rPr lang="en-US" altLang="zh-CN" b="0" dirty="0"/>
              <a:t>	</a:t>
            </a:r>
            <a:r>
              <a:rPr lang="en-US" altLang="zh-CN" b="0" dirty="0" err="1"/>
              <a:t>Graphl</a:t>
            </a:r>
            <a:r>
              <a:rPr lang="en-US" altLang="zh-CN" b="0" dirty="0"/>
              <a:t>(</a:t>
            </a:r>
            <a:r>
              <a:rPr lang="en-US" altLang="zh-CN" b="0" dirty="0" err="1"/>
              <a:t>int</a:t>
            </a:r>
            <a:r>
              <a:rPr lang="en-US" altLang="zh-CN" b="0" dirty="0"/>
              <a:t> </a:t>
            </a:r>
            <a:r>
              <a:rPr lang="en-US" altLang="zh-CN" b="0" dirty="0" err="1"/>
              <a:t>numVert</a:t>
            </a:r>
            <a:r>
              <a:rPr lang="en-US" altLang="zh-CN" b="0" dirty="0"/>
              <a:t>){   //</a:t>
            </a:r>
            <a:r>
              <a:rPr lang="zh-CN" altLang="zh-CN" b="0" dirty="0"/>
              <a:t>构造函数</a:t>
            </a:r>
          </a:p>
          <a:p>
            <a:pPr>
              <a:spcBef>
                <a:spcPts val="0"/>
              </a:spcBef>
            </a:pPr>
            <a:r>
              <a:rPr lang="en-US" altLang="zh-CN" b="0" dirty="0"/>
              <a:t>		</a:t>
            </a:r>
            <a:r>
              <a:rPr lang="en-US" altLang="zh-CN" b="0" dirty="0" err="1"/>
              <a:t>vexList</a:t>
            </a:r>
            <a:r>
              <a:rPr lang="en-US" altLang="zh-CN" b="0" dirty="0"/>
              <a:t> = new </a:t>
            </a:r>
            <a:r>
              <a:rPr lang="en-US" altLang="zh-CN" b="0" dirty="0" err="1"/>
              <a:t>LList</a:t>
            </a:r>
            <a:r>
              <a:rPr lang="en-US" altLang="zh-CN" b="0" dirty="0"/>
              <a:t>&lt;</a:t>
            </a:r>
            <a:r>
              <a:rPr lang="en-US" altLang="zh-CN" b="0" dirty="0" err="1"/>
              <a:t>listUnit</a:t>
            </a:r>
            <a:r>
              <a:rPr lang="en-US" altLang="zh-CN" b="0" dirty="0"/>
              <a:t>&gt;[</a:t>
            </a:r>
            <a:r>
              <a:rPr lang="en-US" altLang="zh-CN" b="0" dirty="0" err="1"/>
              <a:t>numVertex</a:t>
            </a:r>
            <a:r>
              <a:rPr lang="en-US" altLang="zh-CN" b="0" dirty="0"/>
              <a:t>]; </a:t>
            </a:r>
            <a:endParaRPr lang="zh-CN" altLang="zh-CN" b="0" dirty="0"/>
          </a:p>
          <a:p>
            <a:pPr>
              <a:spcBef>
                <a:spcPts val="0"/>
              </a:spcBef>
            </a:pPr>
            <a:r>
              <a:rPr lang="en-US" altLang="zh-CN" b="0" dirty="0"/>
              <a:t>	}</a:t>
            </a:r>
            <a:endParaRPr lang="zh-CN" altLang="zh-CN" b="0" dirty="0"/>
          </a:p>
          <a:p>
            <a:pPr>
              <a:spcBef>
                <a:spcPts val="0"/>
              </a:spcBef>
            </a:pPr>
            <a:r>
              <a:rPr lang="en-US" altLang="zh-CN" b="0" dirty="0"/>
              <a:t>	~</a:t>
            </a:r>
            <a:r>
              <a:rPr lang="en-US" altLang="zh-CN" b="0" dirty="0" err="1"/>
              <a:t>Graphl</a:t>
            </a:r>
            <a:r>
              <a:rPr lang="en-US" altLang="zh-CN" b="0" dirty="0"/>
              <a:t>(){  delete [] </a:t>
            </a:r>
            <a:r>
              <a:rPr lang="en-US" altLang="zh-CN" b="0" dirty="0" err="1"/>
              <a:t>vexList</a:t>
            </a:r>
            <a:r>
              <a:rPr lang="en-US" altLang="zh-CN" b="0" dirty="0"/>
              <a:t>; }       //</a:t>
            </a:r>
            <a:r>
              <a:rPr lang="zh-CN" altLang="zh-CN" b="0" dirty="0"/>
              <a:t>析构函数</a:t>
            </a:r>
            <a:endParaRPr lang="en-US" altLang="zh-CN" b="0" dirty="0"/>
          </a:p>
          <a:p>
            <a:pPr>
              <a:spcBef>
                <a:spcPts val="0"/>
              </a:spcBef>
            </a:pPr>
            <a:endParaRPr lang="zh-CN" altLang="zh-CN" b="0" dirty="0"/>
          </a:p>
          <a:p>
            <a:pPr>
              <a:spcBef>
                <a:spcPts val="0"/>
              </a:spcBef>
            </a:pPr>
            <a:r>
              <a:rPr lang="en-US" altLang="zh-CN" b="0" dirty="0"/>
              <a:t>	</a:t>
            </a:r>
            <a:r>
              <a:rPr lang="en-US" altLang="zh-CN" b="0" dirty="0" err="1"/>
              <a:t>int</a:t>
            </a:r>
            <a:r>
              <a:rPr lang="en-US" altLang="zh-CN" b="0" dirty="0"/>
              <a:t> weight(</a:t>
            </a:r>
            <a:r>
              <a:rPr lang="en-US" altLang="zh-CN" b="0" dirty="0" err="1"/>
              <a:t>int</a:t>
            </a:r>
            <a:r>
              <a:rPr lang="en-US" altLang="zh-CN" b="0" dirty="0"/>
              <a:t> from, </a:t>
            </a:r>
            <a:r>
              <a:rPr lang="en-US" altLang="zh-CN" b="0" dirty="0" err="1"/>
              <a:t>int</a:t>
            </a:r>
            <a:r>
              <a:rPr lang="en-US" altLang="zh-CN" b="0" dirty="0"/>
              <a:t> to){</a:t>
            </a:r>
            <a:endParaRPr lang="zh-CN" altLang="zh-CN" b="0" dirty="0"/>
          </a:p>
          <a:p>
            <a:pPr>
              <a:spcBef>
                <a:spcPts val="0"/>
              </a:spcBef>
            </a:pPr>
            <a:r>
              <a:rPr lang="en-US" altLang="zh-CN" b="0" dirty="0"/>
              <a:t>		Link&lt;</a:t>
            </a:r>
            <a:r>
              <a:rPr lang="en-US" altLang="zh-CN" b="0" dirty="0" err="1"/>
              <a:t>listUnit</a:t>
            </a:r>
            <a:r>
              <a:rPr lang="en-US" altLang="zh-CN" b="0" dirty="0"/>
              <a:t>&gt; *temp = </a:t>
            </a:r>
            <a:r>
              <a:rPr lang="en-US" altLang="zh-CN" b="0" dirty="0" err="1"/>
              <a:t>vexList</a:t>
            </a:r>
            <a:r>
              <a:rPr lang="en-US" altLang="zh-CN" b="0" dirty="0"/>
              <a:t>[from].head;</a:t>
            </a:r>
            <a:endParaRPr lang="zh-CN" altLang="zh-CN" b="0" dirty="0"/>
          </a:p>
          <a:p>
            <a:pPr>
              <a:spcBef>
                <a:spcPts val="0"/>
              </a:spcBef>
            </a:pPr>
            <a:r>
              <a:rPr lang="en-US" altLang="zh-CN" b="0" dirty="0"/>
              <a:t>		while(temp-&gt;next != NULL &amp;&amp; temp-&gt;next-&gt;</a:t>
            </a:r>
            <a:r>
              <a:rPr lang="en-US" altLang="zh-CN" b="0" dirty="0" err="1"/>
              <a:t>element.vertex</a:t>
            </a:r>
            <a:r>
              <a:rPr lang="en-US" altLang="zh-CN" b="0" dirty="0"/>
              <a:t> != to)</a:t>
            </a:r>
            <a:endParaRPr lang="zh-CN" altLang="zh-CN" b="0" dirty="0"/>
          </a:p>
          <a:p>
            <a:pPr>
              <a:spcBef>
                <a:spcPts val="0"/>
              </a:spcBef>
            </a:pPr>
            <a:r>
              <a:rPr lang="en-US" altLang="zh-CN" b="0" dirty="0"/>
              <a:t>			temp = temp-&gt;next;</a:t>
            </a:r>
            <a:endParaRPr lang="zh-CN" altLang="zh-CN" b="0" dirty="0"/>
          </a:p>
          <a:p>
            <a:pPr>
              <a:spcBef>
                <a:spcPts val="0"/>
              </a:spcBef>
            </a:pPr>
            <a:r>
              <a:rPr lang="en-US" altLang="zh-CN" b="0" dirty="0"/>
              <a:t>		return temp-&gt;next-&gt;</a:t>
            </a:r>
            <a:r>
              <a:rPr lang="en-US" altLang="zh-CN" b="0" dirty="0" err="1"/>
              <a:t>element.weight</a:t>
            </a:r>
            <a:r>
              <a:rPr lang="en-US" altLang="zh-CN" b="0" dirty="0"/>
              <a:t>;</a:t>
            </a:r>
            <a:endParaRPr lang="zh-CN" altLang="zh-CN" b="0" dirty="0"/>
          </a:p>
          <a:p>
            <a:pPr>
              <a:spcBef>
                <a:spcPts val="0"/>
              </a:spcBef>
            </a:pPr>
            <a:r>
              <a:rPr lang="en-US" altLang="zh-CN" b="0" dirty="0"/>
              <a:t>	}</a:t>
            </a:r>
            <a:endParaRPr lang="zh-CN" altLang="zh-CN" b="0" dirty="0"/>
          </a:p>
        </p:txBody>
      </p:sp>
    </p:spTree>
    <p:extLst>
      <p:ext uri="{BB962C8B-B14F-4D97-AF65-F5344CB8AC3E}">
        <p14:creationId xmlns:p14="http://schemas.microsoft.com/office/powerpoint/2010/main" val="1837572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fade">
                                      <p:cBhvr>
                                        <p:cTn id="12" dur="500"/>
                                        <p:tgtEl>
                                          <p:spTgt spid="3">
                                            <p:txEl>
                                              <p:pRg st="6" end="6"/>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Effect transition="in" filter="fade">
                                      <p:cBhvr>
                                        <p:cTn id="15" dur="500"/>
                                        <p:tgtEl>
                                          <p:spTgt spid="3">
                                            <p:txEl>
                                              <p:pRg st="7" end="7"/>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8" end="8"/>
                                            </p:txEl>
                                          </p:spTgt>
                                        </p:tgtEl>
                                        <p:attrNameLst>
                                          <p:attrName>style.visibility</p:attrName>
                                        </p:attrNameLst>
                                      </p:cBhvr>
                                      <p:to>
                                        <p:strVal val="visible"/>
                                      </p:to>
                                    </p:set>
                                    <p:animEffect transition="in" filter="fade">
                                      <p:cBhvr>
                                        <p:cTn id="20" dur="500"/>
                                        <p:tgtEl>
                                          <p:spTgt spid="3">
                                            <p:txEl>
                                              <p:pRg st="8" end="8"/>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animEffect transition="in" filter="fade">
                                      <p:cBhvr>
                                        <p:cTn id="23" dur="500"/>
                                        <p:tgtEl>
                                          <p:spTgt spid="3">
                                            <p:txEl>
                                              <p:pRg st="9" end="9"/>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10" end="10"/>
                                            </p:txEl>
                                          </p:spTgt>
                                        </p:tgtEl>
                                        <p:attrNameLst>
                                          <p:attrName>style.visibility</p:attrName>
                                        </p:attrNameLst>
                                      </p:cBhvr>
                                      <p:to>
                                        <p:strVal val="visible"/>
                                      </p:to>
                                    </p:set>
                                    <p:animEffect transition="in" filter="fade">
                                      <p:cBhvr>
                                        <p:cTn id="26" dur="500"/>
                                        <p:tgtEl>
                                          <p:spTgt spid="3">
                                            <p:txEl>
                                              <p:pRg st="10" end="10"/>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animEffect transition="in" filter="fade">
                                      <p:cBhvr>
                                        <p:cTn id="29" dur="500"/>
                                        <p:tgtEl>
                                          <p:spTgt spid="3">
                                            <p:txEl>
                                              <p:pRg st="11" end="1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12" end="12"/>
                                            </p:txEl>
                                          </p:spTgt>
                                        </p:tgtEl>
                                        <p:attrNameLst>
                                          <p:attrName>style.visibility</p:attrName>
                                        </p:attrNameLst>
                                      </p:cBhvr>
                                      <p:to>
                                        <p:strVal val="visible"/>
                                      </p:to>
                                    </p:set>
                                    <p:animEffect transition="in" filter="fade">
                                      <p:cBhvr>
                                        <p:cTn id="34" dur="500"/>
                                        <p:tgtEl>
                                          <p:spTgt spid="3">
                                            <p:txEl>
                                              <p:pRg st="12" end="12"/>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animEffect transition="in" filter="fade">
                                      <p:cBhvr>
                                        <p:cTn id="39" dur="500"/>
                                        <p:tgtEl>
                                          <p:spTgt spid="3">
                                            <p:txEl>
                                              <p:pRg st="14" end="14"/>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3">
                                            <p:txEl>
                                              <p:pRg st="15" end="15"/>
                                            </p:txEl>
                                          </p:spTgt>
                                        </p:tgtEl>
                                        <p:attrNameLst>
                                          <p:attrName>style.visibility</p:attrName>
                                        </p:attrNameLst>
                                      </p:cBhvr>
                                      <p:to>
                                        <p:strVal val="visible"/>
                                      </p:to>
                                    </p:set>
                                    <p:animEffect transition="in" filter="fade">
                                      <p:cBhvr>
                                        <p:cTn id="42" dur="500"/>
                                        <p:tgtEl>
                                          <p:spTgt spid="3">
                                            <p:txEl>
                                              <p:pRg st="15" end="15"/>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3">
                                            <p:txEl>
                                              <p:pRg st="16" end="16"/>
                                            </p:txEl>
                                          </p:spTgt>
                                        </p:tgtEl>
                                        <p:attrNameLst>
                                          <p:attrName>style.visibility</p:attrName>
                                        </p:attrNameLst>
                                      </p:cBhvr>
                                      <p:to>
                                        <p:strVal val="visible"/>
                                      </p:to>
                                    </p:set>
                                    <p:animEffect transition="in" filter="fade">
                                      <p:cBhvr>
                                        <p:cTn id="45" dur="500"/>
                                        <p:tgtEl>
                                          <p:spTgt spid="3">
                                            <p:txEl>
                                              <p:pRg st="16" end="16"/>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3">
                                            <p:txEl>
                                              <p:pRg st="17" end="17"/>
                                            </p:txEl>
                                          </p:spTgt>
                                        </p:tgtEl>
                                        <p:attrNameLst>
                                          <p:attrName>style.visibility</p:attrName>
                                        </p:attrNameLst>
                                      </p:cBhvr>
                                      <p:to>
                                        <p:strVal val="visible"/>
                                      </p:to>
                                    </p:set>
                                    <p:animEffect transition="in" filter="fade">
                                      <p:cBhvr>
                                        <p:cTn id="48" dur="500"/>
                                        <p:tgtEl>
                                          <p:spTgt spid="3">
                                            <p:txEl>
                                              <p:pRg st="17" end="17"/>
                                            </p:txEl>
                                          </p:spTgt>
                                        </p:tgtEl>
                                      </p:cBhvr>
                                    </p:animEffect>
                                  </p:childTnLst>
                                </p:cTn>
                              </p:par>
                              <p:par>
                                <p:cTn id="49" presetID="10" presetClass="entr" presetSubtype="0" fill="hold" nodeType="withEffect">
                                  <p:stCondLst>
                                    <p:cond delay="0"/>
                                  </p:stCondLst>
                                  <p:childTnLst>
                                    <p:set>
                                      <p:cBhvr>
                                        <p:cTn id="50" dur="1" fill="hold">
                                          <p:stCondLst>
                                            <p:cond delay="0"/>
                                          </p:stCondLst>
                                        </p:cTn>
                                        <p:tgtEl>
                                          <p:spTgt spid="3">
                                            <p:txEl>
                                              <p:pRg st="18" end="18"/>
                                            </p:txEl>
                                          </p:spTgt>
                                        </p:tgtEl>
                                        <p:attrNameLst>
                                          <p:attrName>style.visibility</p:attrName>
                                        </p:attrNameLst>
                                      </p:cBhvr>
                                      <p:to>
                                        <p:strVal val="visible"/>
                                      </p:to>
                                    </p:set>
                                    <p:animEffect transition="in" filter="fade">
                                      <p:cBhvr>
                                        <p:cTn id="51" dur="500"/>
                                        <p:tgtEl>
                                          <p:spTgt spid="3">
                                            <p:txEl>
                                              <p:pRg st="18" end="18"/>
                                            </p:txEl>
                                          </p:spTgt>
                                        </p:tgtEl>
                                      </p:cBhvr>
                                    </p:animEffect>
                                  </p:childTnLst>
                                </p:cTn>
                              </p:par>
                              <p:par>
                                <p:cTn id="52" presetID="10" presetClass="entr" presetSubtype="0" fill="hold" nodeType="withEffect">
                                  <p:stCondLst>
                                    <p:cond delay="0"/>
                                  </p:stCondLst>
                                  <p:childTnLst>
                                    <p:set>
                                      <p:cBhvr>
                                        <p:cTn id="53" dur="1" fill="hold">
                                          <p:stCondLst>
                                            <p:cond delay="0"/>
                                          </p:stCondLst>
                                        </p:cTn>
                                        <p:tgtEl>
                                          <p:spTgt spid="3">
                                            <p:txEl>
                                              <p:pRg st="19" end="19"/>
                                            </p:txEl>
                                          </p:spTgt>
                                        </p:tgtEl>
                                        <p:attrNameLst>
                                          <p:attrName>style.visibility</p:attrName>
                                        </p:attrNameLst>
                                      </p:cBhvr>
                                      <p:to>
                                        <p:strVal val="visible"/>
                                      </p:to>
                                    </p:set>
                                    <p:animEffect transition="in" filter="fade">
                                      <p:cBhvr>
                                        <p:cTn id="54" dur="500"/>
                                        <p:tgtEl>
                                          <p:spTgt spid="3">
                                            <p:txEl>
                                              <p:pRg st="19" end="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704856" cy="5256584"/>
          </a:xfrm>
        </p:spPr>
        <p:txBody>
          <a:bodyPr>
            <a:normAutofit fontScale="70000" lnSpcReduction="20000"/>
          </a:bodyPr>
          <a:lstStyle/>
          <a:p>
            <a:r>
              <a:rPr lang="en-US" altLang="zh-CN" b="0" dirty="0"/>
              <a:t> </a:t>
            </a:r>
            <a:r>
              <a:rPr lang="en-US" altLang="zh-CN" b="0" dirty="0" err="1"/>
              <a:t>int</a:t>
            </a:r>
            <a:r>
              <a:rPr lang="en-US" altLang="zh-CN" b="0" dirty="0"/>
              <a:t> </a:t>
            </a:r>
            <a:r>
              <a:rPr lang="en-US" altLang="zh-CN" b="0" dirty="0" err="1"/>
              <a:t>FirstAdj</a:t>
            </a:r>
            <a:r>
              <a:rPr lang="en-US" altLang="zh-CN" b="0" dirty="0"/>
              <a:t>(</a:t>
            </a:r>
            <a:r>
              <a:rPr lang="en-US" altLang="zh-CN" b="0" dirty="0" err="1"/>
              <a:t>int</a:t>
            </a:r>
            <a:r>
              <a:rPr lang="en-US" altLang="zh-CN" b="0" dirty="0"/>
              <a:t> </a:t>
            </a:r>
            <a:r>
              <a:rPr lang="en-US" altLang="zh-CN" b="0" dirty="0" err="1"/>
              <a:t>oneVertex</a:t>
            </a:r>
            <a:r>
              <a:rPr lang="en-US" altLang="zh-CN" b="0" dirty="0"/>
              <a:t>){</a:t>
            </a:r>
            <a:endParaRPr lang="zh-CN" altLang="zh-CN" b="0" dirty="0"/>
          </a:p>
          <a:p>
            <a:r>
              <a:rPr lang="en-US" altLang="zh-CN" b="0" dirty="0"/>
              <a:t>        Link&lt;</a:t>
            </a:r>
            <a:r>
              <a:rPr lang="en-US" altLang="zh-CN" b="0" dirty="0" err="1"/>
              <a:t>listUnit</a:t>
            </a:r>
            <a:r>
              <a:rPr lang="en-US" altLang="zh-CN" b="0" dirty="0"/>
              <a:t>&gt; *temp = </a:t>
            </a:r>
            <a:r>
              <a:rPr lang="en-US" altLang="zh-CN" b="0" dirty="0" err="1"/>
              <a:t>vexList</a:t>
            </a:r>
            <a:r>
              <a:rPr lang="en-US" altLang="zh-CN" b="0" dirty="0"/>
              <a:t>[</a:t>
            </a:r>
            <a:r>
              <a:rPr lang="en-US" altLang="zh-CN" b="0" dirty="0" err="1"/>
              <a:t>oneVertex</a:t>
            </a:r>
            <a:r>
              <a:rPr lang="en-US" altLang="zh-CN" b="0" dirty="0"/>
              <a:t>].head;</a:t>
            </a:r>
            <a:endParaRPr lang="zh-CN" altLang="zh-CN" b="0" dirty="0"/>
          </a:p>
          <a:p>
            <a:r>
              <a:rPr lang="en-US" altLang="zh-CN" b="0" dirty="0"/>
              <a:t>        if(temp-&gt;next != NULL)</a:t>
            </a:r>
            <a:endParaRPr lang="zh-CN" altLang="zh-CN" b="0" dirty="0"/>
          </a:p>
          <a:p>
            <a:r>
              <a:rPr lang="en-US" altLang="zh-CN" b="0" dirty="0"/>
              <a:t>		return temp-&gt;next-&gt;</a:t>
            </a:r>
            <a:r>
              <a:rPr lang="en-US" altLang="zh-CN" b="0" dirty="0" err="1"/>
              <a:t>element.vertex</a:t>
            </a:r>
            <a:r>
              <a:rPr lang="en-US" altLang="zh-CN" b="0" dirty="0"/>
              <a:t>;</a:t>
            </a:r>
            <a:endParaRPr lang="zh-CN" altLang="zh-CN" b="0" dirty="0"/>
          </a:p>
          <a:p>
            <a:r>
              <a:rPr lang="en-US" altLang="zh-CN" b="0" dirty="0"/>
              <a:t>        return -1;</a:t>
            </a:r>
            <a:endParaRPr lang="zh-CN" altLang="zh-CN" b="0" dirty="0"/>
          </a:p>
          <a:p>
            <a:r>
              <a:rPr lang="en-US" altLang="zh-CN" b="0" dirty="0"/>
              <a:t>    }</a:t>
            </a:r>
            <a:endParaRPr lang="zh-CN" altLang="zh-CN" b="0" dirty="0"/>
          </a:p>
          <a:p>
            <a:r>
              <a:rPr lang="en-US" altLang="zh-CN" b="0" dirty="0" err="1"/>
              <a:t>int</a:t>
            </a:r>
            <a:r>
              <a:rPr lang="en-US" altLang="zh-CN" b="0" dirty="0"/>
              <a:t> </a:t>
            </a:r>
            <a:r>
              <a:rPr lang="en-US" altLang="zh-CN" b="0" dirty="0" err="1"/>
              <a:t>NextAdj</a:t>
            </a:r>
            <a:r>
              <a:rPr lang="en-US" altLang="zh-CN" b="0" dirty="0"/>
              <a:t>(</a:t>
            </a:r>
            <a:r>
              <a:rPr lang="en-US" altLang="zh-CN" b="0" dirty="0" err="1"/>
              <a:t>int</a:t>
            </a:r>
            <a:r>
              <a:rPr lang="en-US" altLang="zh-CN" b="0" dirty="0"/>
              <a:t> </a:t>
            </a:r>
            <a:r>
              <a:rPr lang="en-US" altLang="zh-CN" b="0" dirty="0" err="1"/>
              <a:t>oneVertex</a:t>
            </a:r>
            <a:r>
              <a:rPr lang="en-US" altLang="zh-CN" b="0" dirty="0"/>
              <a:t>, </a:t>
            </a:r>
            <a:r>
              <a:rPr lang="en-US" altLang="zh-CN" b="0" dirty="0" err="1"/>
              <a:t>int</a:t>
            </a:r>
            <a:r>
              <a:rPr lang="en-US" altLang="zh-CN" b="0" dirty="0"/>
              <a:t> </a:t>
            </a:r>
            <a:r>
              <a:rPr lang="en-US" altLang="zh-CN" b="0" dirty="0" err="1"/>
              <a:t>preVertex</a:t>
            </a:r>
            <a:r>
              <a:rPr lang="en-US" altLang="zh-CN" b="0" dirty="0"/>
              <a:t>){</a:t>
            </a:r>
            <a:endParaRPr lang="zh-CN" altLang="zh-CN" b="0" dirty="0"/>
          </a:p>
          <a:p>
            <a:r>
              <a:rPr lang="en-US" altLang="zh-CN" b="0" dirty="0"/>
              <a:t>        Link&lt;</a:t>
            </a:r>
            <a:r>
              <a:rPr lang="en-US" altLang="zh-CN" b="0" dirty="0" err="1"/>
              <a:t>listUnit</a:t>
            </a:r>
            <a:r>
              <a:rPr lang="en-US" altLang="zh-CN" b="0" dirty="0"/>
              <a:t>&gt; *temp = </a:t>
            </a:r>
            <a:r>
              <a:rPr lang="en-US" altLang="zh-CN" b="0" dirty="0" err="1"/>
              <a:t>vexList</a:t>
            </a:r>
            <a:r>
              <a:rPr lang="en-US" altLang="zh-CN" b="0" dirty="0"/>
              <a:t>[</a:t>
            </a:r>
            <a:r>
              <a:rPr lang="en-US" altLang="zh-CN" b="0" dirty="0" err="1"/>
              <a:t>oneVertex</a:t>
            </a:r>
            <a:r>
              <a:rPr lang="en-US" altLang="zh-CN" b="0" dirty="0"/>
              <a:t>].head;</a:t>
            </a:r>
            <a:endParaRPr lang="zh-CN" altLang="zh-CN" b="0" dirty="0"/>
          </a:p>
          <a:p>
            <a:r>
              <a:rPr lang="en-US" altLang="zh-CN" b="0" dirty="0"/>
              <a:t>        while(temp-&gt;next != NULL &amp;&amp; temp-&gt;next-&gt;</a:t>
            </a:r>
            <a:r>
              <a:rPr lang="en-US" altLang="zh-CN" b="0" dirty="0" err="1"/>
              <a:t>element.vertex</a:t>
            </a:r>
            <a:r>
              <a:rPr lang="en-US" altLang="zh-CN" b="0" dirty="0"/>
              <a:t> &lt;= </a:t>
            </a:r>
            <a:r>
              <a:rPr lang="en-US" altLang="zh-CN" b="0" dirty="0" err="1"/>
              <a:t>preVertex</a:t>
            </a:r>
            <a:r>
              <a:rPr lang="en-US" altLang="zh-CN" b="0" dirty="0"/>
              <a:t>)</a:t>
            </a:r>
            <a:endParaRPr lang="zh-CN" altLang="zh-CN" b="0" dirty="0"/>
          </a:p>
          <a:p>
            <a:r>
              <a:rPr lang="en-US" altLang="zh-CN" b="0" dirty="0"/>
              <a:t>		temp = temp-&gt;next;</a:t>
            </a:r>
            <a:endParaRPr lang="zh-CN" altLang="zh-CN" b="0" dirty="0"/>
          </a:p>
          <a:p>
            <a:r>
              <a:rPr lang="en-US" altLang="zh-CN" b="0" dirty="0"/>
              <a:t>        if(temp-&gt;next != NULL)</a:t>
            </a:r>
            <a:endParaRPr lang="zh-CN" altLang="zh-CN" b="0" dirty="0"/>
          </a:p>
          <a:p>
            <a:r>
              <a:rPr lang="en-US" altLang="zh-CN" b="0" dirty="0"/>
              <a:t>            	return temp-&gt;next-&gt;</a:t>
            </a:r>
            <a:r>
              <a:rPr lang="en-US" altLang="zh-CN" b="0" dirty="0" err="1"/>
              <a:t>element.vertex</a:t>
            </a:r>
            <a:r>
              <a:rPr lang="en-US" altLang="zh-CN" b="0" dirty="0"/>
              <a:t>;</a:t>
            </a:r>
            <a:endParaRPr lang="zh-CN" altLang="zh-CN" b="0" dirty="0"/>
          </a:p>
          <a:p>
            <a:r>
              <a:rPr lang="en-US" altLang="zh-CN" b="0" dirty="0"/>
              <a:t>        return -1;</a:t>
            </a:r>
            <a:endParaRPr lang="zh-CN" altLang="zh-CN" b="0" dirty="0"/>
          </a:p>
          <a:p>
            <a:r>
              <a:rPr lang="en-US" altLang="zh-CN" b="0" dirty="0"/>
              <a:t>    }</a:t>
            </a:r>
            <a:endParaRPr lang="zh-CN" altLang="en-US" b="0" dirty="0"/>
          </a:p>
        </p:txBody>
      </p:sp>
    </p:spTree>
    <p:extLst>
      <p:ext uri="{BB962C8B-B14F-4D97-AF65-F5344CB8AC3E}">
        <p14:creationId xmlns:p14="http://schemas.microsoft.com/office/powerpoint/2010/main" val="1689869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500"/>
                                        <p:tgtEl>
                                          <p:spTgt spid="3">
                                            <p:txEl>
                                              <p:pRg st="6" end="6"/>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7" end="7"/>
                                            </p:txEl>
                                          </p:spTgt>
                                        </p:tgtEl>
                                        <p:attrNameLst>
                                          <p:attrName>style.visibility</p:attrName>
                                        </p:attrNameLst>
                                      </p:cBhvr>
                                      <p:to>
                                        <p:strVal val="visible"/>
                                      </p:to>
                                    </p:set>
                                    <p:animEffect transition="in" filter="fade">
                                      <p:cBhvr>
                                        <p:cTn id="10" dur="500"/>
                                        <p:tgtEl>
                                          <p:spTgt spid="3">
                                            <p:txEl>
                                              <p:pRg st="7" end="7"/>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animEffect transition="in" filter="fade">
                                      <p:cBhvr>
                                        <p:cTn id="13" dur="500"/>
                                        <p:tgtEl>
                                          <p:spTgt spid="3">
                                            <p:txEl>
                                              <p:pRg st="8" end="8"/>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9" end="9"/>
                                            </p:txEl>
                                          </p:spTgt>
                                        </p:tgtEl>
                                        <p:attrNameLst>
                                          <p:attrName>style.visibility</p:attrName>
                                        </p:attrNameLst>
                                      </p:cBhvr>
                                      <p:to>
                                        <p:strVal val="visible"/>
                                      </p:to>
                                    </p:set>
                                    <p:animEffect transition="in" filter="fade">
                                      <p:cBhvr>
                                        <p:cTn id="16" dur="500"/>
                                        <p:tgtEl>
                                          <p:spTgt spid="3">
                                            <p:txEl>
                                              <p:pRg st="9" end="9"/>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animEffect transition="in" filter="fade">
                                      <p:cBhvr>
                                        <p:cTn id="19" dur="500"/>
                                        <p:tgtEl>
                                          <p:spTgt spid="3">
                                            <p:txEl>
                                              <p:pRg st="10" end="10"/>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11" end="11"/>
                                            </p:txEl>
                                          </p:spTgt>
                                        </p:tgtEl>
                                        <p:attrNameLst>
                                          <p:attrName>style.visibility</p:attrName>
                                        </p:attrNameLst>
                                      </p:cBhvr>
                                      <p:to>
                                        <p:strVal val="visible"/>
                                      </p:to>
                                    </p:set>
                                    <p:animEffect transition="in" filter="fade">
                                      <p:cBhvr>
                                        <p:cTn id="22" dur="500"/>
                                        <p:tgtEl>
                                          <p:spTgt spid="3">
                                            <p:txEl>
                                              <p:pRg st="11" end="1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12" end="12"/>
                                            </p:txEl>
                                          </p:spTgt>
                                        </p:tgtEl>
                                        <p:attrNameLst>
                                          <p:attrName>style.visibility</p:attrName>
                                        </p:attrNameLst>
                                      </p:cBhvr>
                                      <p:to>
                                        <p:strVal val="visible"/>
                                      </p:to>
                                    </p:set>
                                    <p:animEffect transition="in" filter="fade">
                                      <p:cBhvr>
                                        <p:cTn id="25" dur="500"/>
                                        <p:tgtEl>
                                          <p:spTgt spid="3">
                                            <p:txEl>
                                              <p:pRg st="12" end="12"/>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13" end="13"/>
                                            </p:txEl>
                                          </p:spTgt>
                                        </p:tgtEl>
                                        <p:attrNameLst>
                                          <p:attrName>style.visibility</p:attrName>
                                        </p:attrNameLst>
                                      </p:cBhvr>
                                      <p:to>
                                        <p:strVal val="visible"/>
                                      </p:to>
                                    </p:set>
                                    <p:animEffect transition="in" filter="fade">
                                      <p:cBhvr>
                                        <p:cTn id="28"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8064896" cy="5112568"/>
          </a:xfrm>
        </p:spPr>
        <p:txBody>
          <a:bodyPr>
            <a:normAutofit fontScale="70000" lnSpcReduction="20000"/>
          </a:bodyPr>
          <a:lstStyle/>
          <a:p>
            <a:r>
              <a:rPr lang="en-US" altLang="zh-CN" b="0" dirty="0"/>
              <a:t>	void </a:t>
            </a:r>
            <a:r>
              <a:rPr lang="en-US" altLang="zh-CN" b="0" dirty="0" err="1"/>
              <a:t>setEdge</a:t>
            </a:r>
            <a:r>
              <a:rPr lang="en-US" altLang="zh-CN" b="0" dirty="0"/>
              <a:t>(</a:t>
            </a:r>
            <a:r>
              <a:rPr lang="en-US" altLang="zh-CN" b="0" dirty="0" err="1"/>
              <a:t>int</a:t>
            </a:r>
            <a:r>
              <a:rPr lang="en-US" altLang="zh-CN" b="0" dirty="0"/>
              <a:t> </a:t>
            </a:r>
            <a:r>
              <a:rPr lang="en-US" altLang="zh-CN" b="0" dirty="0" err="1"/>
              <a:t>from,int</a:t>
            </a:r>
            <a:r>
              <a:rPr lang="en-US" altLang="zh-CN" b="0" dirty="0"/>
              <a:t> </a:t>
            </a:r>
            <a:r>
              <a:rPr lang="en-US" altLang="zh-CN" b="0" dirty="0" err="1"/>
              <a:t>to,int</a:t>
            </a:r>
            <a:r>
              <a:rPr lang="en-US" altLang="zh-CN" b="0" dirty="0"/>
              <a:t> weight){   	//</a:t>
            </a:r>
            <a:r>
              <a:rPr lang="zh-CN" altLang="zh-CN" b="0" dirty="0"/>
              <a:t>为图设定一条边</a:t>
            </a:r>
          </a:p>
          <a:p>
            <a:r>
              <a:rPr lang="en-US" altLang="zh-CN" b="0" dirty="0"/>
              <a:t>		Link&lt;</a:t>
            </a:r>
            <a:r>
              <a:rPr lang="en-US" altLang="zh-CN" b="0" dirty="0" err="1"/>
              <a:t>listUnit</a:t>
            </a:r>
            <a:r>
              <a:rPr lang="en-US" altLang="zh-CN" b="0" dirty="0"/>
              <a:t>&gt; *temp = </a:t>
            </a:r>
            <a:r>
              <a:rPr lang="en-US" altLang="zh-CN" b="0" dirty="0" err="1"/>
              <a:t>vexList</a:t>
            </a:r>
            <a:r>
              <a:rPr lang="en-US" altLang="zh-CN" b="0" dirty="0"/>
              <a:t>[from].head;</a:t>
            </a:r>
            <a:endParaRPr lang="zh-CN" altLang="zh-CN" b="0" dirty="0"/>
          </a:p>
          <a:p>
            <a:r>
              <a:rPr lang="en-US" altLang="zh-CN" b="0" dirty="0"/>
              <a:t>		while(temp-&gt;next != NULL &amp;&amp; temp-&gt;next-&gt;</a:t>
            </a:r>
            <a:r>
              <a:rPr lang="en-US" altLang="zh-CN" b="0" dirty="0" err="1"/>
              <a:t>element.vertex</a:t>
            </a:r>
            <a:r>
              <a:rPr lang="en-US" altLang="zh-CN" b="0" dirty="0"/>
              <a:t> &lt; to)</a:t>
            </a:r>
            <a:endParaRPr lang="zh-CN" altLang="zh-CN" b="0" dirty="0"/>
          </a:p>
          <a:p>
            <a:r>
              <a:rPr lang="en-US" altLang="zh-CN" b="0" dirty="0"/>
              <a:t>			temp = temp-&gt;next;</a:t>
            </a:r>
            <a:endParaRPr lang="zh-CN" altLang="zh-CN" b="0" dirty="0"/>
          </a:p>
          <a:p>
            <a:r>
              <a:rPr lang="en-US" altLang="zh-CN" b="0" dirty="0"/>
              <a:t>		if(temp-&gt;next == NULL){</a:t>
            </a:r>
            <a:endParaRPr lang="zh-CN" altLang="zh-CN" b="0" dirty="0"/>
          </a:p>
          <a:p>
            <a:r>
              <a:rPr lang="en-US" altLang="zh-CN" b="0" dirty="0"/>
              <a:t>			 //</a:t>
            </a:r>
            <a:r>
              <a:rPr lang="zh-CN" altLang="zh-CN" b="0" dirty="0"/>
              <a:t>边</a:t>
            </a:r>
            <a:r>
              <a:rPr lang="en-US" altLang="zh-CN" b="0" dirty="0"/>
              <a:t>(</a:t>
            </a:r>
            <a:r>
              <a:rPr lang="en-US" altLang="zh-CN" b="0" dirty="0" err="1"/>
              <a:t>from,to</a:t>
            </a:r>
            <a:r>
              <a:rPr lang="en-US" altLang="zh-CN" b="0" dirty="0"/>
              <a:t>)</a:t>
            </a:r>
            <a:r>
              <a:rPr lang="zh-CN" altLang="zh-CN" b="0" dirty="0"/>
              <a:t>或</a:t>
            </a:r>
            <a:r>
              <a:rPr lang="zh-CN" altLang="en-US" b="0" dirty="0"/>
              <a:t>狐</a:t>
            </a:r>
            <a:r>
              <a:rPr lang="en-US" altLang="zh-CN" b="0" dirty="0"/>
              <a:t>&lt;</a:t>
            </a:r>
            <a:r>
              <a:rPr lang="en-US" altLang="zh-CN" b="0" dirty="0" err="1"/>
              <a:t>from,to</a:t>
            </a:r>
            <a:r>
              <a:rPr lang="en-US" altLang="zh-CN" b="0" dirty="0"/>
              <a:t>&gt;</a:t>
            </a:r>
            <a:r>
              <a:rPr lang="zh-CN" altLang="zh-CN" b="0" dirty="0"/>
              <a:t>在边表中不存在且其后无其它边</a:t>
            </a:r>
          </a:p>
          <a:p>
            <a:r>
              <a:rPr lang="en-US" altLang="zh-CN" b="0" dirty="0"/>
              <a:t>			temp-&gt;next = new Link&lt;</a:t>
            </a:r>
            <a:r>
              <a:rPr lang="en-US" altLang="zh-CN" b="0" dirty="0" err="1"/>
              <a:t>listUnit</a:t>
            </a:r>
            <a:r>
              <a:rPr lang="en-US" altLang="zh-CN" b="0" dirty="0"/>
              <a:t>&gt;;</a:t>
            </a:r>
            <a:endParaRPr lang="zh-CN" altLang="zh-CN" b="0" dirty="0"/>
          </a:p>
          <a:p>
            <a:r>
              <a:rPr lang="en-US" altLang="zh-CN" b="0" dirty="0"/>
              <a:t>			temp-&gt;next-&gt;</a:t>
            </a:r>
            <a:r>
              <a:rPr lang="en-US" altLang="zh-CN" b="0" dirty="0" err="1"/>
              <a:t>element.vertex</a:t>
            </a:r>
            <a:r>
              <a:rPr lang="en-US" altLang="zh-CN" b="0" dirty="0"/>
              <a:t> = to;</a:t>
            </a:r>
            <a:endParaRPr lang="zh-CN" altLang="zh-CN" b="0" dirty="0"/>
          </a:p>
          <a:p>
            <a:r>
              <a:rPr lang="en-US" altLang="zh-CN" b="0" dirty="0"/>
              <a:t>			temp-&gt;next-&gt;</a:t>
            </a:r>
            <a:r>
              <a:rPr lang="en-US" altLang="zh-CN" b="0" dirty="0" err="1"/>
              <a:t>element.weight</a:t>
            </a:r>
            <a:r>
              <a:rPr lang="en-US" altLang="zh-CN" b="0" dirty="0"/>
              <a:t> = weight;</a:t>
            </a:r>
            <a:endParaRPr lang="zh-CN" altLang="zh-CN" b="0" dirty="0"/>
          </a:p>
          <a:p>
            <a:r>
              <a:rPr lang="en-US" altLang="zh-CN" b="0" dirty="0"/>
              <a:t>			</a:t>
            </a:r>
            <a:r>
              <a:rPr lang="en-US" altLang="zh-CN" b="0" dirty="0" err="1"/>
              <a:t>numEdge</a:t>
            </a:r>
            <a:r>
              <a:rPr lang="en-US" altLang="zh-CN" b="0" dirty="0"/>
              <a:t>++;</a:t>
            </a:r>
            <a:endParaRPr lang="zh-CN" altLang="zh-CN" b="0" dirty="0"/>
          </a:p>
          <a:p>
            <a:r>
              <a:rPr lang="en-US" altLang="zh-CN" b="0" dirty="0"/>
              <a:t>			</a:t>
            </a:r>
            <a:r>
              <a:rPr lang="en-US" altLang="zh-CN" b="0" dirty="0" err="1"/>
              <a:t>InDegree</a:t>
            </a:r>
            <a:r>
              <a:rPr lang="en-US" altLang="zh-CN" b="0" dirty="0"/>
              <a:t>[to]++;</a:t>
            </a:r>
            <a:endParaRPr lang="zh-CN" altLang="zh-CN" b="0" dirty="0"/>
          </a:p>
          <a:p>
            <a:r>
              <a:rPr lang="en-US" altLang="zh-CN" b="0" dirty="0"/>
              <a:t>			return;</a:t>
            </a:r>
            <a:endParaRPr lang="zh-CN" altLang="zh-CN" b="0" dirty="0"/>
          </a:p>
          <a:p>
            <a:r>
              <a:rPr lang="en-US" altLang="zh-CN" b="0" dirty="0"/>
              <a:t>		}</a:t>
            </a:r>
            <a:endParaRPr lang="zh-CN" altLang="zh-CN" b="0" dirty="0"/>
          </a:p>
          <a:p>
            <a:r>
              <a:rPr lang="en-US" altLang="zh-CN" dirty="0"/>
              <a:t>		&lt;</a:t>
            </a:r>
            <a:r>
              <a:rPr lang="zh-CN" altLang="en-US" dirty="0"/>
              <a:t>续下页</a:t>
            </a:r>
            <a:r>
              <a:rPr lang="en-US" altLang="zh-CN" dirty="0"/>
              <a:t>&gt;</a:t>
            </a:r>
            <a:endParaRPr lang="zh-CN" altLang="en-US" dirty="0"/>
          </a:p>
        </p:txBody>
      </p:sp>
    </p:spTree>
    <p:extLst>
      <p:ext uri="{BB962C8B-B14F-4D97-AF65-F5344CB8AC3E}">
        <p14:creationId xmlns:p14="http://schemas.microsoft.com/office/powerpoint/2010/main" val="14891044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908720"/>
            <a:ext cx="8496944" cy="5400600"/>
          </a:xfrm>
        </p:spPr>
        <p:txBody>
          <a:bodyPr>
            <a:normAutofit fontScale="85000" lnSpcReduction="20000"/>
          </a:bodyPr>
          <a:lstStyle/>
          <a:p>
            <a:pPr>
              <a:spcBef>
                <a:spcPts val="0"/>
              </a:spcBef>
            </a:pPr>
            <a:r>
              <a:rPr lang="en-US" altLang="zh-CN" b="0" dirty="0"/>
              <a:t>	if(temp-&gt;next-&gt;</a:t>
            </a:r>
            <a:r>
              <a:rPr lang="en-US" altLang="zh-CN" b="0" dirty="0" err="1"/>
              <a:t>element.vertex</a:t>
            </a:r>
            <a:r>
              <a:rPr lang="en-US" altLang="zh-CN" b="0" dirty="0"/>
              <a:t> == to){</a:t>
            </a:r>
            <a:endParaRPr lang="zh-CN" altLang="zh-CN" b="0" dirty="0"/>
          </a:p>
          <a:p>
            <a:pPr>
              <a:spcBef>
                <a:spcPts val="0"/>
              </a:spcBef>
            </a:pPr>
            <a:r>
              <a:rPr lang="en-US" altLang="zh-CN" b="0" dirty="0"/>
              <a:t>	//</a:t>
            </a:r>
            <a:r>
              <a:rPr lang="zh-CN" altLang="zh-CN" b="0" dirty="0"/>
              <a:t>边</a:t>
            </a:r>
            <a:r>
              <a:rPr lang="en-US" altLang="zh-CN" b="0" dirty="0"/>
              <a:t>(</a:t>
            </a:r>
            <a:r>
              <a:rPr lang="en-US" altLang="zh-CN" b="0" dirty="0" err="1"/>
              <a:t>from,to</a:t>
            </a:r>
            <a:r>
              <a:rPr lang="en-US" altLang="zh-CN" b="0" dirty="0"/>
              <a:t>)</a:t>
            </a:r>
            <a:r>
              <a:rPr lang="zh-CN" altLang="zh-CN" b="0" dirty="0"/>
              <a:t>或</a:t>
            </a:r>
            <a:r>
              <a:rPr lang="en-US" altLang="zh-CN" b="0" dirty="0"/>
              <a:t>&lt;</a:t>
            </a:r>
            <a:r>
              <a:rPr lang="en-US" altLang="zh-CN" b="0" dirty="0" err="1"/>
              <a:t>from,to</a:t>
            </a:r>
            <a:r>
              <a:rPr lang="en-US" altLang="zh-CN" b="0" dirty="0"/>
              <a:t>&gt;</a:t>
            </a:r>
            <a:r>
              <a:rPr lang="zh-CN" altLang="zh-CN" b="0" dirty="0"/>
              <a:t>在边表中已存在</a:t>
            </a:r>
            <a:r>
              <a:rPr lang="en-US" altLang="zh-CN" b="0" dirty="0"/>
              <a:t>,</a:t>
            </a:r>
            <a:r>
              <a:rPr lang="zh-CN" altLang="zh-CN" b="0" dirty="0"/>
              <a:t>故只需要改变边的权值</a:t>
            </a:r>
          </a:p>
          <a:p>
            <a:pPr>
              <a:spcBef>
                <a:spcPts val="0"/>
              </a:spcBef>
            </a:pPr>
            <a:r>
              <a:rPr lang="en-US" altLang="zh-CN" b="0" dirty="0"/>
              <a:t>            	temp-&gt;next-&gt;</a:t>
            </a:r>
            <a:r>
              <a:rPr lang="en-US" altLang="zh-CN" b="0" dirty="0" err="1"/>
              <a:t>element.weight</a:t>
            </a:r>
            <a:r>
              <a:rPr lang="en-US" altLang="zh-CN" b="0" dirty="0"/>
              <a:t> = weight;</a:t>
            </a:r>
            <a:endParaRPr lang="zh-CN" altLang="zh-CN" b="0" dirty="0"/>
          </a:p>
          <a:p>
            <a:pPr>
              <a:spcBef>
                <a:spcPts val="0"/>
              </a:spcBef>
            </a:pPr>
            <a:r>
              <a:rPr lang="en-US" altLang="zh-CN" b="0" dirty="0"/>
              <a:t>		return;</a:t>
            </a:r>
            <a:endParaRPr lang="zh-CN" altLang="zh-CN" b="0" dirty="0"/>
          </a:p>
          <a:p>
            <a:pPr>
              <a:spcBef>
                <a:spcPts val="0"/>
              </a:spcBef>
            </a:pPr>
            <a:r>
              <a:rPr lang="en-US" altLang="zh-CN" b="0" dirty="0"/>
              <a:t>	}</a:t>
            </a:r>
            <a:endParaRPr lang="zh-CN" altLang="zh-CN" b="0" dirty="0"/>
          </a:p>
          <a:p>
            <a:pPr>
              <a:spcBef>
                <a:spcPts val="0"/>
              </a:spcBef>
            </a:pPr>
            <a:r>
              <a:rPr lang="en-US" altLang="zh-CN" b="0" dirty="0"/>
              <a:t>	if(temp-&gt;next-&gt;</a:t>
            </a:r>
            <a:r>
              <a:rPr lang="en-US" altLang="zh-CN" b="0" dirty="0" err="1"/>
              <a:t>element.vertex</a:t>
            </a:r>
            <a:r>
              <a:rPr lang="en-US" altLang="zh-CN" b="0" dirty="0"/>
              <a:t> &gt; to){</a:t>
            </a:r>
            <a:endParaRPr lang="zh-CN" altLang="zh-CN" b="0" dirty="0"/>
          </a:p>
          <a:p>
            <a:pPr>
              <a:spcBef>
                <a:spcPts val="0"/>
              </a:spcBef>
            </a:pPr>
            <a:r>
              <a:rPr lang="en-US" altLang="zh-CN" b="0" dirty="0"/>
              <a:t>		//</a:t>
            </a:r>
            <a:r>
              <a:rPr lang="zh-CN" altLang="zh-CN" b="0" dirty="0"/>
              <a:t>边</a:t>
            </a:r>
            <a:r>
              <a:rPr lang="en-US" altLang="zh-CN" b="0" dirty="0"/>
              <a:t>(</a:t>
            </a:r>
            <a:r>
              <a:rPr lang="en-US" altLang="zh-CN" b="0" dirty="0" err="1"/>
              <a:t>from,to</a:t>
            </a:r>
            <a:r>
              <a:rPr lang="en-US" altLang="zh-CN" b="0" dirty="0"/>
              <a:t>)</a:t>
            </a:r>
            <a:r>
              <a:rPr lang="zh-CN" altLang="zh-CN" b="0" dirty="0"/>
              <a:t>或</a:t>
            </a:r>
            <a:r>
              <a:rPr lang="en-US" altLang="zh-CN" b="0" dirty="0"/>
              <a:t>&lt;</a:t>
            </a:r>
            <a:r>
              <a:rPr lang="en-US" altLang="zh-CN" b="0" dirty="0" err="1"/>
              <a:t>from,to</a:t>
            </a:r>
            <a:r>
              <a:rPr lang="en-US" altLang="zh-CN" b="0" dirty="0"/>
              <a:t>&gt;</a:t>
            </a:r>
            <a:r>
              <a:rPr lang="zh-CN" altLang="zh-CN" b="0" dirty="0"/>
              <a:t>在边表中不存在且其后存在其它边</a:t>
            </a:r>
          </a:p>
          <a:p>
            <a:pPr>
              <a:spcBef>
                <a:spcPts val="0"/>
              </a:spcBef>
            </a:pPr>
            <a:r>
              <a:rPr lang="en-US" altLang="zh-CN" b="0" dirty="0"/>
              <a:t>		Link&lt;</a:t>
            </a:r>
            <a:r>
              <a:rPr lang="en-US" altLang="zh-CN" b="0" dirty="0" err="1"/>
              <a:t>listUnit</a:t>
            </a:r>
            <a:r>
              <a:rPr lang="en-US" altLang="zh-CN" b="0" dirty="0"/>
              <a:t>&gt; *other = temp-&gt;next;</a:t>
            </a:r>
            <a:endParaRPr lang="zh-CN" altLang="zh-CN" b="0" dirty="0"/>
          </a:p>
          <a:p>
            <a:pPr>
              <a:spcBef>
                <a:spcPts val="0"/>
              </a:spcBef>
            </a:pPr>
            <a:r>
              <a:rPr lang="en-US" altLang="zh-CN" b="0" dirty="0"/>
              <a:t>		temp-&gt;next = new Link&lt;</a:t>
            </a:r>
            <a:r>
              <a:rPr lang="en-US" altLang="zh-CN" b="0" dirty="0" err="1"/>
              <a:t>listUnit</a:t>
            </a:r>
            <a:r>
              <a:rPr lang="en-US" altLang="zh-CN" b="0" dirty="0"/>
              <a:t>&gt;;</a:t>
            </a:r>
            <a:endParaRPr lang="zh-CN" altLang="zh-CN" b="0" dirty="0"/>
          </a:p>
          <a:p>
            <a:pPr>
              <a:spcBef>
                <a:spcPts val="0"/>
              </a:spcBef>
            </a:pPr>
            <a:r>
              <a:rPr lang="en-US" altLang="zh-CN" b="0" dirty="0"/>
              <a:t>		temp-&gt;next-&gt;</a:t>
            </a:r>
            <a:r>
              <a:rPr lang="en-US" altLang="zh-CN" b="0" dirty="0" err="1"/>
              <a:t>element.vertex</a:t>
            </a:r>
            <a:r>
              <a:rPr lang="en-US" altLang="zh-CN" b="0" dirty="0"/>
              <a:t> = to;</a:t>
            </a:r>
            <a:endParaRPr lang="zh-CN" altLang="zh-CN" b="0" dirty="0"/>
          </a:p>
          <a:p>
            <a:pPr>
              <a:spcBef>
                <a:spcPts val="0"/>
              </a:spcBef>
            </a:pPr>
            <a:r>
              <a:rPr lang="en-US" altLang="zh-CN" b="0" dirty="0"/>
              <a:t>		temp-&gt;next-&gt;</a:t>
            </a:r>
            <a:r>
              <a:rPr lang="en-US" altLang="zh-CN" b="0" dirty="0" err="1"/>
              <a:t>element.weight</a:t>
            </a:r>
            <a:r>
              <a:rPr lang="en-US" altLang="zh-CN" b="0" dirty="0"/>
              <a:t> = weight;</a:t>
            </a:r>
            <a:endParaRPr lang="zh-CN" altLang="zh-CN" b="0" dirty="0"/>
          </a:p>
          <a:p>
            <a:pPr>
              <a:spcBef>
                <a:spcPts val="0"/>
              </a:spcBef>
            </a:pPr>
            <a:r>
              <a:rPr lang="en-US" altLang="zh-CN" b="0" dirty="0"/>
              <a:t>		temp-&gt;next-&gt;next = other;</a:t>
            </a:r>
            <a:endParaRPr lang="zh-CN" altLang="zh-CN" b="0" dirty="0"/>
          </a:p>
          <a:p>
            <a:pPr>
              <a:spcBef>
                <a:spcPts val="0"/>
              </a:spcBef>
            </a:pPr>
            <a:r>
              <a:rPr lang="en-US" altLang="zh-CN" b="0" dirty="0"/>
              <a:t>		</a:t>
            </a:r>
            <a:r>
              <a:rPr lang="en-US" altLang="zh-CN" b="0" dirty="0" err="1"/>
              <a:t>numEdge</a:t>
            </a:r>
            <a:r>
              <a:rPr lang="en-US" altLang="zh-CN" b="0" dirty="0"/>
              <a:t>++;</a:t>
            </a:r>
            <a:endParaRPr lang="zh-CN" altLang="zh-CN" b="0" dirty="0"/>
          </a:p>
          <a:p>
            <a:pPr>
              <a:spcBef>
                <a:spcPts val="0"/>
              </a:spcBef>
            </a:pPr>
            <a:r>
              <a:rPr lang="en-US" altLang="zh-CN" b="0" dirty="0"/>
              <a:t>		</a:t>
            </a:r>
            <a:r>
              <a:rPr lang="en-US" altLang="zh-CN" b="0" dirty="0" err="1"/>
              <a:t>InDegree</a:t>
            </a:r>
            <a:r>
              <a:rPr lang="en-US" altLang="zh-CN" b="0" dirty="0"/>
              <a:t>[to]++;</a:t>
            </a:r>
            <a:endParaRPr lang="zh-CN" altLang="zh-CN" b="0" dirty="0"/>
          </a:p>
          <a:p>
            <a:pPr>
              <a:spcBef>
                <a:spcPts val="0"/>
              </a:spcBef>
            </a:pPr>
            <a:r>
              <a:rPr lang="en-US" altLang="zh-CN" b="0" dirty="0"/>
              <a:t>	}</a:t>
            </a:r>
            <a:endParaRPr lang="zh-CN" altLang="zh-CN" b="0" dirty="0"/>
          </a:p>
          <a:p>
            <a:pPr>
              <a:spcBef>
                <a:spcPts val="0"/>
              </a:spcBef>
            </a:pPr>
            <a:r>
              <a:rPr lang="en-US" altLang="zh-CN" b="0" dirty="0"/>
              <a:t>}</a:t>
            </a:r>
            <a:endParaRPr lang="zh-CN" altLang="zh-CN" b="0" dirty="0"/>
          </a:p>
          <a:p>
            <a:pPr>
              <a:spcBef>
                <a:spcPts val="0"/>
              </a:spcBef>
            </a:pPr>
            <a:endParaRPr lang="zh-CN" altLang="en-US" dirty="0"/>
          </a:p>
        </p:txBody>
      </p:sp>
    </p:spTree>
    <p:extLst>
      <p:ext uri="{BB962C8B-B14F-4D97-AF65-F5344CB8AC3E}">
        <p14:creationId xmlns:p14="http://schemas.microsoft.com/office/powerpoint/2010/main" val="27442262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980728"/>
            <a:ext cx="7920880" cy="4608512"/>
          </a:xfrm>
        </p:spPr>
        <p:txBody>
          <a:bodyPr>
            <a:normAutofit fontScale="77500" lnSpcReduction="20000"/>
          </a:bodyPr>
          <a:lstStyle/>
          <a:p>
            <a:pPr>
              <a:spcBef>
                <a:spcPts val="0"/>
              </a:spcBef>
            </a:pPr>
            <a:r>
              <a:rPr lang="en-US" altLang="zh-CN" b="0" dirty="0"/>
              <a:t>void </a:t>
            </a:r>
            <a:r>
              <a:rPr lang="en-US" altLang="zh-CN" b="0" dirty="0" err="1"/>
              <a:t>delEdge</a:t>
            </a:r>
            <a:r>
              <a:rPr lang="en-US" altLang="zh-CN" b="0" dirty="0"/>
              <a:t>(</a:t>
            </a:r>
            <a:r>
              <a:rPr lang="en-US" altLang="zh-CN" b="0" dirty="0" err="1"/>
              <a:t>int</a:t>
            </a:r>
            <a:r>
              <a:rPr lang="en-US" altLang="zh-CN" b="0" dirty="0"/>
              <a:t> </a:t>
            </a:r>
            <a:r>
              <a:rPr lang="en-US" altLang="zh-CN" b="0" dirty="0" err="1"/>
              <a:t>from,int</a:t>
            </a:r>
            <a:r>
              <a:rPr lang="en-US" altLang="zh-CN" b="0" dirty="0"/>
              <a:t> to){     //</a:t>
            </a:r>
            <a:r>
              <a:rPr lang="zh-CN" altLang="zh-CN" b="0" dirty="0"/>
              <a:t>删掉图的一条边</a:t>
            </a:r>
          </a:p>
          <a:p>
            <a:pPr>
              <a:spcBef>
                <a:spcPts val="0"/>
              </a:spcBef>
            </a:pPr>
            <a:r>
              <a:rPr lang="en-US" altLang="zh-CN" b="0" dirty="0"/>
              <a:t>	Link&lt;</a:t>
            </a:r>
            <a:r>
              <a:rPr lang="en-US" altLang="zh-CN" b="0" dirty="0" err="1"/>
              <a:t>listUnit</a:t>
            </a:r>
            <a:r>
              <a:rPr lang="en-US" altLang="zh-CN" b="0" dirty="0"/>
              <a:t>&gt; *temp = </a:t>
            </a:r>
            <a:r>
              <a:rPr lang="en-US" altLang="zh-CN" b="0" dirty="0" err="1"/>
              <a:t>vexList</a:t>
            </a:r>
            <a:r>
              <a:rPr lang="en-US" altLang="zh-CN" b="0" dirty="0"/>
              <a:t>[from].head;</a:t>
            </a:r>
            <a:endParaRPr lang="zh-CN" altLang="zh-CN" b="0" dirty="0"/>
          </a:p>
          <a:p>
            <a:pPr>
              <a:spcBef>
                <a:spcPts val="0"/>
              </a:spcBef>
            </a:pPr>
            <a:r>
              <a:rPr lang="en-US" altLang="zh-CN" b="0" dirty="0"/>
              <a:t>	while(temp-&gt;next != NULL &amp;&amp; temp-&gt;next-&gt;</a:t>
            </a:r>
            <a:r>
              <a:rPr lang="en-US" altLang="zh-CN" b="0" dirty="0" err="1"/>
              <a:t>element.vertex</a:t>
            </a:r>
            <a:r>
              <a:rPr lang="en-US" altLang="zh-CN" b="0" dirty="0"/>
              <a:t> &lt; to)</a:t>
            </a:r>
            <a:endParaRPr lang="zh-CN" altLang="zh-CN" b="0" dirty="0"/>
          </a:p>
          <a:p>
            <a:pPr>
              <a:spcBef>
                <a:spcPts val="0"/>
              </a:spcBef>
            </a:pPr>
            <a:r>
              <a:rPr lang="en-US" altLang="zh-CN" b="0" dirty="0"/>
              <a:t>		temp = temp-&gt;next;</a:t>
            </a:r>
            <a:endParaRPr lang="zh-CN" altLang="zh-CN" b="0" dirty="0"/>
          </a:p>
          <a:p>
            <a:pPr>
              <a:spcBef>
                <a:spcPts val="0"/>
              </a:spcBef>
            </a:pPr>
            <a:r>
              <a:rPr lang="en-US" altLang="zh-CN" b="0" dirty="0"/>
              <a:t>	if(temp-&gt;next == NULL) return; </a:t>
            </a:r>
            <a:r>
              <a:rPr lang="en-US" altLang="zh-CN" sz="2100" b="0" dirty="0"/>
              <a:t>//</a:t>
            </a:r>
            <a:r>
              <a:rPr lang="zh-CN" altLang="zh-CN" sz="2100" b="0" dirty="0"/>
              <a:t>边</a:t>
            </a:r>
            <a:r>
              <a:rPr lang="en-US" altLang="zh-CN" sz="2100" b="0" dirty="0"/>
              <a:t>(</a:t>
            </a:r>
            <a:r>
              <a:rPr lang="en-US" altLang="zh-CN" sz="2100" b="0" dirty="0" err="1"/>
              <a:t>from,to</a:t>
            </a:r>
            <a:r>
              <a:rPr lang="en-US" altLang="zh-CN" sz="2100" b="0" dirty="0"/>
              <a:t>)</a:t>
            </a:r>
            <a:r>
              <a:rPr lang="zh-CN" altLang="zh-CN" sz="2100" b="0" dirty="0"/>
              <a:t>或</a:t>
            </a:r>
            <a:r>
              <a:rPr lang="en-US" altLang="zh-CN" sz="2100" b="0" dirty="0"/>
              <a:t>&lt;</a:t>
            </a:r>
            <a:r>
              <a:rPr lang="en-US" altLang="zh-CN" sz="2100" b="0" dirty="0" err="1"/>
              <a:t>from,to</a:t>
            </a:r>
            <a:r>
              <a:rPr lang="en-US" altLang="zh-CN" sz="2100" b="0" dirty="0"/>
              <a:t>&gt;</a:t>
            </a:r>
            <a:r>
              <a:rPr lang="zh-CN" altLang="zh-CN" sz="2100" b="0" dirty="0"/>
              <a:t>在边表中不存在</a:t>
            </a:r>
          </a:p>
          <a:p>
            <a:pPr>
              <a:spcBef>
                <a:spcPts val="0"/>
              </a:spcBef>
            </a:pPr>
            <a:r>
              <a:rPr lang="en-US" altLang="zh-CN" b="0" dirty="0"/>
              <a:t>	if(temp-&gt;next-&gt;</a:t>
            </a:r>
            <a:r>
              <a:rPr lang="en-US" altLang="zh-CN" b="0" dirty="0" err="1"/>
              <a:t>element.vertex</a:t>
            </a:r>
            <a:r>
              <a:rPr lang="en-US" altLang="zh-CN" b="0" dirty="0"/>
              <a:t> == to){ </a:t>
            </a:r>
            <a:r>
              <a:rPr lang="en-US" altLang="zh-CN" sz="2100" b="0" dirty="0"/>
              <a:t>//</a:t>
            </a:r>
            <a:r>
              <a:rPr lang="zh-CN" altLang="zh-CN" sz="2100" b="0" dirty="0"/>
              <a:t>边</a:t>
            </a:r>
            <a:r>
              <a:rPr lang="en-US" altLang="zh-CN" sz="2100" b="0" dirty="0"/>
              <a:t>(</a:t>
            </a:r>
            <a:r>
              <a:rPr lang="en-US" altLang="zh-CN" sz="2100" b="0" dirty="0" err="1"/>
              <a:t>from,to</a:t>
            </a:r>
            <a:r>
              <a:rPr lang="en-US" altLang="zh-CN" sz="2100" b="0" dirty="0"/>
              <a:t>)</a:t>
            </a:r>
            <a:r>
              <a:rPr lang="zh-CN" altLang="zh-CN" sz="2100" b="0" dirty="0"/>
              <a:t>或</a:t>
            </a:r>
            <a:r>
              <a:rPr lang="en-US" altLang="zh-CN" sz="2100" b="0" dirty="0"/>
              <a:t>&lt;</a:t>
            </a:r>
            <a:r>
              <a:rPr lang="en-US" altLang="zh-CN" sz="2100" b="0" dirty="0" err="1"/>
              <a:t>from,to</a:t>
            </a:r>
            <a:r>
              <a:rPr lang="en-US" altLang="zh-CN" sz="2100" b="0" dirty="0"/>
              <a:t>&gt;</a:t>
            </a:r>
            <a:r>
              <a:rPr lang="zh-CN" altLang="zh-CN" sz="2100" b="0" dirty="0"/>
              <a:t>在边表中存在</a:t>
            </a:r>
            <a:endParaRPr lang="en-US" altLang="zh-CN" b="0" dirty="0"/>
          </a:p>
          <a:p>
            <a:pPr>
              <a:spcBef>
                <a:spcPts val="0"/>
              </a:spcBef>
            </a:pPr>
            <a:r>
              <a:rPr lang="en-US" altLang="zh-CN" b="0" dirty="0"/>
              <a:t>		Link&lt;</a:t>
            </a:r>
            <a:r>
              <a:rPr lang="en-US" altLang="zh-CN" b="0" dirty="0" err="1"/>
              <a:t>listUnit</a:t>
            </a:r>
            <a:r>
              <a:rPr lang="en-US" altLang="zh-CN" b="0" dirty="0"/>
              <a:t>&gt; *other = temp-&gt;next-&gt;next;</a:t>
            </a:r>
            <a:endParaRPr lang="zh-CN" altLang="zh-CN" b="0" dirty="0"/>
          </a:p>
          <a:p>
            <a:pPr>
              <a:spcBef>
                <a:spcPts val="0"/>
              </a:spcBef>
            </a:pPr>
            <a:r>
              <a:rPr lang="en-US" altLang="zh-CN" b="0" dirty="0"/>
              <a:t>		delete temp-&gt;next;</a:t>
            </a:r>
            <a:endParaRPr lang="zh-CN" altLang="zh-CN" b="0" dirty="0"/>
          </a:p>
          <a:p>
            <a:pPr>
              <a:spcBef>
                <a:spcPts val="0"/>
              </a:spcBef>
            </a:pPr>
            <a:r>
              <a:rPr lang="en-US" altLang="zh-CN" b="0" dirty="0"/>
              <a:t>		temp-&gt;next = other;</a:t>
            </a:r>
            <a:endParaRPr lang="zh-CN" altLang="zh-CN" b="0" dirty="0"/>
          </a:p>
          <a:p>
            <a:pPr>
              <a:spcBef>
                <a:spcPts val="0"/>
              </a:spcBef>
            </a:pPr>
            <a:r>
              <a:rPr lang="en-US" altLang="zh-CN" b="0" dirty="0"/>
              <a:t>		</a:t>
            </a:r>
            <a:r>
              <a:rPr lang="en-US" altLang="zh-CN" b="0" dirty="0" err="1"/>
              <a:t>numEdge</a:t>
            </a:r>
            <a:r>
              <a:rPr lang="en-US" altLang="zh-CN" b="0" dirty="0"/>
              <a:t>--;</a:t>
            </a:r>
            <a:endParaRPr lang="zh-CN" altLang="zh-CN" b="0" dirty="0"/>
          </a:p>
          <a:p>
            <a:pPr>
              <a:spcBef>
                <a:spcPts val="0"/>
              </a:spcBef>
            </a:pPr>
            <a:r>
              <a:rPr lang="en-US" altLang="zh-CN" b="0" dirty="0"/>
              <a:t>		</a:t>
            </a:r>
            <a:r>
              <a:rPr lang="en-US" altLang="zh-CN" b="0" dirty="0" err="1"/>
              <a:t>InDegree</a:t>
            </a:r>
            <a:r>
              <a:rPr lang="en-US" altLang="zh-CN" b="0" dirty="0"/>
              <a:t>[to]--;</a:t>
            </a:r>
            <a:endParaRPr lang="zh-CN" altLang="zh-CN" b="0" dirty="0"/>
          </a:p>
          <a:p>
            <a:pPr>
              <a:spcBef>
                <a:spcPts val="0"/>
              </a:spcBef>
            </a:pPr>
            <a:r>
              <a:rPr lang="en-US" altLang="zh-CN" b="0" dirty="0"/>
              <a:t>		}</a:t>
            </a:r>
            <a:endParaRPr lang="zh-CN" altLang="zh-CN" b="0" dirty="0"/>
          </a:p>
          <a:p>
            <a:pPr>
              <a:spcBef>
                <a:spcPts val="0"/>
              </a:spcBef>
            </a:pPr>
            <a:r>
              <a:rPr lang="en-US" altLang="zh-CN" b="0" dirty="0"/>
              <a:t>	}</a:t>
            </a:r>
            <a:endParaRPr lang="zh-CN" altLang="zh-CN" b="0" dirty="0"/>
          </a:p>
          <a:p>
            <a:pPr>
              <a:spcBef>
                <a:spcPts val="0"/>
              </a:spcBef>
            </a:pPr>
            <a:r>
              <a:rPr lang="en-US" altLang="zh-CN" b="0" dirty="0"/>
              <a:t>};</a:t>
            </a:r>
            <a:endParaRPr lang="zh-CN" altLang="zh-CN" b="0" dirty="0"/>
          </a:p>
          <a:p>
            <a:pPr>
              <a:spcBef>
                <a:spcPts val="0"/>
              </a:spcBef>
            </a:pPr>
            <a:endParaRPr lang="zh-CN" altLang="en-US" dirty="0"/>
          </a:p>
        </p:txBody>
      </p:sp>
    </p:spTree>
    <p:extLst>
      <p:ext uri="{BB962C8B-B14F-4D97-AF65-F5344CB8AC3E}">
        <p14:creationId xmlns:p14="http://schemas.microsoft.com/office/powerpoint/2010/main" val="21445774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5040560"/>
          </a:xfrm>
        </p:spPr>
        <p:txBody>
          <a:bodyPr>
            <a:normAutofit fontScale="92500" lnSpcReduction="10000"/>
          </a:bodyPr>
          <a:lstStyle/>
          <a:p>
            <a:r>
              <a:rPr lang="en-US" altLang="zh-CN" dirty="0">
                <a:sym typeface="Webdings"/>
              </a:rPr>
              <a:t></a:t>
            </a:r>
            <a:r>
              <a:rPr lang="zh-CN" altLang="zh-CN" dirty="0"/>
              <a:t>结论</a:t>
            </a:r>
          </a:p>
          <a:p>
            <a:r>
              <a:rPr lang="en-US" altLang="zh-CN" b="0" dirty="0"/>
              <a:t>(1) </a:t>
            </a:r>
            <a:r>
              <a:rPr lang="zh-CN" altLang="zh-CN" b="0" dirty="0"/>
              <a:t>时间复杂度：</a:t>
            </a:r>
          </a:p>
          <a:p>
            <a:r>
              <a:rPr lang="en-US" altLang="zh-CN" b="0" dirty="0"/>
              <a:t>	</a:t>
            </a:r>
            <a:r>
              <a:rPr lang="zh-CN" altLang="zh-CN" b="0" dirty="0"/>
              <a:t>①确定边关系的时间复杂度为：</a:t>
            </a:r>
            <a:r>
              <a:rPr lang="en-US" altLang="zh-CN" b="0" dirty="0"/>
              <a:t>O(n)</a:t>
            </a:r>
            <a:r>
              <a:rPr lang="zh-CN" altLang="zh-CN" b="0" dirty="0"/>
              <a:t>；</a:t>
            </a:r>
          </a:p>
          <a:p>
            <a:r>
              <a:rPr lang="en-US" altLang="zh-CN" b="0" dirty="0"/>
              <a:t>	</a:t>
            </a:r>
            <a:r>
              <a:rPr lang="zh-CN" altLang="zh-CN" b="0" dirty="0"/>
              <a:t>②加入或删除一条边的时间复杂度为：</a:t>
            </a:r>
            <a:r>
              <a:rPr lang="en-US" altLang="zh-CN" b="0" dirty="0"/>
              <a:t>O(n)</a:t>
            </a:r>
            <a:r>
              <a:rPr lang="zh-CN" altLang="zh-CN" b="0" dirty="0"/>
              <a:t>；</a:t>
            </a:r>
          </a:p>
          <a:p>
            <a:r>
              <a:rPr lang="en-US" altLang="zh-CN" b="0" dirty="0"/>
              <a:t>	</a:t>
            </a:r>
            <a:r>
              <a:rPr lang="zh-CN" altLang="zh-CN" b="0" dirty="0"/>
              <a:t>③寻找一个顶点的所有邻接点的时间复杂度为：</a:t>
            </a:r>
            <a:r>
              <a:rPr lang="en-US" altLang="zh-CN" b="0" dirty="0"/>
              <a:t>O(n)</a:t>
            </a:r>
            <a:r>
              <a:rPr lang="zh-CN" altLang="zh-CN" b="0" dirty="0"/>
              <a:t>；</a:t>
            </a:r>
          </a:p>
          <a:p>
            <a:r>
              <a:rPr lang="en-US" altLang="zh-CN" b="0" dirty="0"/>
              <a:t>	</a:t>
            </a:r>
            <a:r>
              <a:rPr lang="zh-CN" altLang="zh-CN" b="0" dirty="0"/>
              <a:t>④无向图存储边的空间复杂度为：</a:t>
            </a:r>
            <a:r>
              <a:rPr lang="en-US" altLang="zh-CN" b="0" dirty="0"/>
              <a:t>O(n + 2e)</a:t>
            </a:r>
            <a:r>
              <a:rPr lang="zh-CN" altLang="zh-CN" b="0" dirty="0"/>
              <a:t>； </a:t>
            </a:r>
          </a:p>
          <a:p>
            <a:r>
              <a:rPr lang="en-US" altLang="zh-CN" b="0" dirty="0"/>
              <a:t>     </a:t>
            </a:r>
            <a:r>
              <a:rPr lang="zh-CN" altLang="zh-CN" b="0" dirty="0"/>
              <a:t>⑤有向图存储边的空间复杂度为：</a:t>
            </a:r>
            <a:r>
              <a:rPr lang="en-US" altLang="zh-CN" b="0" dirty="0"/>
              <a:t>O(n + e)</a:t>
            </a:r>
            <a:r>
              <a:rPr lang="zh-CN" altLang="zh-CN" b="0" dirty="0"/>
              <a:t>。</a:t>
            </a:r>
          </a:p>
          <a:p>
            <a:r>
              <a:rPr lang="en-US" altLang="zh-CN" b="0" dirty="0"/>
              <a:t>(2) </a:t>
            </a:r>
            <a:r>
              <a:rPr lang="zh-CN" altLang="zh-CN" b="0" dirty="0"/>
              <a:t>困难：</a:t>
            </a:r>
          </a:p>
          <a:p>
            <a:r>
              <a:rPr lang="en-US" altLang="zh-CN" b="0" dirty="0"/>
              <a:t>	</a:t>
            </a:r>
            <a:r>
              <a:rPr lang="zh-CN" altLang="zh-CN" b="0" dirty="0"/>
              <a:t>删除和增加结点同样相对困难，可通过将表头结点的一维数组改成一个链表结构，即将表头变为动态结构来解决此问题。</a:t>
            </a:r>
          </a:p>
          <a:p>
            <a:endParaRPr lang="zh-CN" altLang="en-US" dirty="0"/>
          </a:p>
        </p:txBody>
      </p:sp>
    </p:spTree>
    <p:extLst>
      <p:ext uri="{BB962C8B-B14F-4D97-AF65-F5344CB8AC3E}">
        <p14:creationId xmlns:p14="http://schemas.microsoft.com/office/powerpoint/2010/main" val="3856187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052737"/>
            <a:ext cx="7520940" cy="2664296"/>
          </a:xfrm>
        </p:spPr>
        <p:txBody>
          <a:bodyPr/>
          <a:lstStyle/>
          <a:p>
            <a:r>
              <a:rPr lang="en-US" altLang="zh-CN" b="0" dirty="0"/>
              <a:t>	</a:t>
            </a:r>
            <a:r>
              <a:rPr lang="zh-CN" altLang="zh-CN" b="0" dirty="0"/>
              <a:t>除了邻接矩阵和邻接表两种常用的方法外，还有两种不常用的存储方法：</a:t>
            </a:r>
            <a:r>
              <a:rPr lang="zh-CN" altLang="zh-CN" dirty="0">
                <a:solidFill>
                  <a:srgbClr val="FF0000"/>
                </a:solidFill>
              </a:rPr>
              <a:t>十字链表和邻接多重表</a:t>
            </a:r>
            <a:r>
              <a:rPr lang="zh-CN" altLang="zh-CN" b="0" dirty="0"/>
              <a:t>。</a:t>
            </a:r>
            <a:endParaRPr lang="en-US" altLang="zh-CN" b="0" dirty="0"/>
          </a:p>
          <a:p>
            <a:pPr>
              <a:buFont typeface="Arial" pitchFamily="34" charset="0"/>
              <a:buChar char="•"/>
            </a:pPr>
            <a:r>
              <a:rPr lang="zh-CN" altLang="zh-CN" b="0" dirty="0"/>
              <a:t>十字链表法可以看做是</a:t>
            </a:r>
            <a:r>
              <a:rPr lang="zh-CN" altLang="zh-CN" b="0" dirty="0">
                <a:solidFill>
                  <a:srgbClr val="FF0000"/>
                </a:solidFill>
              </a:rPr>
              <a:t>邻接矩阵的压缩存储</a:t>
            </a:r>
            <a:r>
              <a:rPr lang="zh-CN" altLang="zh-CN" b="0" dirty="0"/>
              <a:t>；</a:t>
            </a:r>
            <a:endParaRPr lang="en-US" altLang="zh-CN" b="0" dirty="0"/>
          </a:p>
          <a:p>
            <a:pPr>
              <a:buFont typeface="Arial" pitchFamily="34" charset="0"/>
              <a:buChar char="•"/>
            </a:pPr>
            <a:r>
              <a:rPr lang="zh-CN" altLang="zh-CN" b="0" dirty="0"/>
              <a:t>在用邻接表表示有向图时，有时需将邻接表</a:t>
            </a:r>
            <a:r>
              <a:rPr lang="zh-CN" altLang="en-US" b="0" dirty="0"/>
              <a:t>两个边节点合并</a:t>
            </a:r>
            <a:r>
              <a:rPr lang="zh-CN" altLang="zh-CN" b="0" dirty="0"/>
              <a:t>使用，即形成</a:t>
            </a:r>
            <a:r>
              <a:rPr lang="zh-CN" altLang="zh-CN" b="0" dirty="0">
                <a:solidFill>
                  <a:srgbClr val="FF0000"/>
                </a:solidFill>
              </a:rPr>
              <a:t>邻接多重表</a:t>
            </a:r>
            <a:r>
              <a:rPr lang="zh-CN" altLang="zh-CN" b="0" dirty="0"/>
              <a:t>。</a:t>
            </a:r>
            <a:endParaRPr lang="zh-CN" altLang="en-US" b="0" dirty="0"/>
          </a:p>
        </p:txBody>
      </p:sp>
      <p:pic>
        <p:nvPicPr>
          <p:cNvPr id="1945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3648" y="3716362"/>
            <a:ext cx="7067550" cy="2520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09022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1538" y="857232"/>
            <a:ext cx="7520940" cy="3579849"/>
          </a:xfrm>
        </p:spPr>
        <p:txBody>
          <a:bodyPr/>
          <a:lstStyle/>
          <a:p>
            <a:r>
              <a:rPr lang="en-US" altLang="zh-CN" b="0" dirty="0"/>
              <a:t>	</a:t>
            </a:r>
            <a:r>
              <a:rPr lang="zh-CN" altLang="zh-CN" b="0" dirty="0"/>
              <a:t>在图的邻接多重表中，图的一条边只用一个表结点表示，并且使这个表结点同时链接在两个链表（</a:t>
            </a:r>
            <a:r>
              <a:rPr lang="en-US" altLang="zh-CN" b="0" dirty="0" err="1"/>
              <a:t>iLink</a:t>
            </a:r>
            <a:r>
              <a:rPr lang="zh-CN" altLang="zh-CN" b="0" dirty="0"/>
              <a:t>和</a:t>
            </a:r>
            <a:r>
              <a:rPr lang="en-US" altLang="zh-CN" b="0" dirty="0" err="1"/>
              <a:t>jLink</a:t>
            </a:r>
            <a:r>
              <a:rPr lang="zh-CN" altLang="zh-CN" b="0" dirty="0"/>
              <a:t>）中，这两个链表分别以该表所依附的两个顶点（</a:t>
            </a:r>
            <a:r>
              <a:rPr lang="en-US" altLang="zh-CN" b="0" dirty="0" err="1"/>
              <a:t>iVex</a:t>
            </a:r>
            <a:r>
              <a:rPr lang="zh-CN" altLang="zh-CN" b="0" dirty="0"/>
              <a:t>和</a:t>
            </a:r>
            <a:r>
              <a:rPr lang="en-US" altLang="zh-CN" b="0" dirty="0" err="1"/>
              <a:t>jVex</a:t>
            </a:r>
            <a:r>
              <a:rPr lang="zh-CN" altLang="zh-CN" b="0" dirty="0"/>
              <a:t>）作为链表的头结点，其中</a:t>
            </a:r>
            <a:r>
              <a:rPr lang="en-US" altLang="zh-CN" b="0" dirty="0"/>
              <a:t>Mark</a:t>
            </a:r>
            <a:r>
              <a:rPr lang="zh-CN" altLang="zh-CN" b="0" dirty="0"/>
              <a:t>域标记该边是否被处理过。图的邻接多重表存储方法主要用于存储无向图。</a:t>
            </a:r>
            <a:endParaRPr lang="zh-CN" altLang="en-US" b="0" dirty="0"/>
          </a:p>
        </p:txBody>
      </p:sp>
      <p:pic>
        <p:nvPicPr>
          <p:cNvPr id="2048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28728" y="3643314"/>
            <a:ext cx="6127750" cy="236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76877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6.3  </a:t>
            </a:r>
            <a:r>
              <a:rPr lang="zh-CN" altLang="zh-CN" b="1" dirty="0"/>
              <a:t>图的遍历</a:t>
            </a:r>
            <a:endParaRPr lang="zh-CN" altLang="en-US" dirty="0"/>
          </a:p>
        </p:txBody>
      </p:sp>
      <p:sp>
        <p:nvSpPr>
          <p:cNvPr id="3" name="内容占位符 2"/>
          <p:cNvSpPr>
            <a:spLocks noGrp="1"/>
          </p:cNvSpPr>
          <p:nvPr>
            <p:ph idx="1"/>
          </p:nvPr>
        </p:nvSpPr>
        <p:spPr/>
        <p:txBody>
          <a:bodyPr/>
          <a:lstStyle/>
          <a:p>
            <a:pPr marL="0" indent="0"/>
            <a:r>
              <a:rPr lang="zh-CN" altLang="zh-CN" b="0" dirty="0"/>
              <a:t>图的遍历要比树的遍历复杂得多，在遍历过程中可能出现</a:t>
            </a:r>
            <a:r>
              <a:rPr lang="zh-CN" altLang="zh-CN" dirty="0">
                <a:solidFill>
                  <a:srgbClr val="FF0000"/>
                </a:solidFill>
              </a:rPr>
              <a:t>两个问题：</a:t>
            </a:r>
            <a:endParaRPr lang="en-US" altLang="zh-CN" dirty="0">
              <a:solidFill>
                <a:srgbClr val="FF0000"/>
              </a:solidFill>
            </a:endParaRPr>
          </a:p>
          <a:p>
            <a:r>
              <a:rPr lang="zh-CN" altLang="zh-CN" b="0" dirty="0"/>
              <a:t>①图的任一顶点都可能和其余顶点相邻接，因此在访问了某顶点之后，可能顺着某条边又访问到了已访问过的顶点，即</a:t>
            </a:r>
            <a:r>
              <a:rPr lang="zh-CN" altLang="zh-CN" b="0" dirty="0">
                <a:solidFill>
                  <a:srgbClr val="FF0000"/>
                </a:solidFill>
              </a:rPr>
              <a:t>图中存在回路问题</a:t>
            </a:r>
            <a:r>
              <a:rPr lang="zh-CN" altLang="zh-CN" b="0" dirty="0"/>
              <a:t>；</a:t>
            </a:r>
            <a:endParaRPr lang="en-US" altLang="zh-CN" b="0" dirty="0"/>
          </a:p>
          <a:p>
            <a:r>
              <a:rPr lang="zh-CN" altLang="zh-CN" b="0" dirty="0"/>
              <a:t>②如果</a:t>
            </a:r>
            <a:r>
              <a:rPr lang="zh-CN" altLang="zh-CN" b="0" dirty="0">
                <a:solidFill>
                  <a:srgbClr val="FF0000"/>
                </a:solidFill>
              </a:rPr>
              <a:t>图不是连通的</a:t>
            </a:r>
            <a:r>
              <a:rPr lang="zh-CN" altLang="zh-CN" b="0" dirty="0"/>
              <a:t>，从起点出发可能到达不了所有其它顶点。</a:t>
            </a:r>
            <a:endParaRPr lang="zh-CN" altLang="en-US" b="0" dirty="0"/>
          </a:p>
        </p:txBody>
      </p:sp>
    </p:spTree>
    <p:extLst>
      <p:ext uri="{BB962C8B-B14F-4D97-AF65-F5344CB8AC3E}">
        <p14:creationId xmlns:p14="http://schemas.microsoft.com/office/powerpoint/2010/main" val="1807092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5328592"/>
          </a:xfrm>
        </p:spPr>
        <p:txBody>
          <a:bodyPr>
            <a:normAutofit/>
          </a:bodyPr>
          <a:lstStyle/>
          <a:p>
            <a:pPr>
              <a:buFont typeface="Arial" panose="020B0604020202020204" pitchFamily="34" charset="0"/>
              <a:buChar char="•"/>
            </a:pPr>
            <a:r>
              <a:rPr lang="zh-CN" altLang="zh-CN" b="0" dirty="0"/>
              <a:t>在图的遍历过程中，需</a:t>
            </a:r>
            <a:r>
              <a:rPr lang="zh-CN" altLang="zh-CN" b="0" dirty="0">
                <a:solidFill>
                  <a:srgbClr val="FF0000"/>
                </a:solidFill>
              </a:rPr>
              <a:t>设置一个标志位数组</a:t>
            </a:r>
            <a:r>
              <a:rPr lang="en-US" altLang="zh-CN" dirty="0"/>
              <a:t>Visited[n]</a:t>
            </a:r>
            <a:r>
              <a:rPr lang="zh-CN" altLang="zh-CN" b="0" dirty="0"/>
              <a:t>，用来标记每个顶点是否被访问过</a:t>
            </a:r>
            <a:r>
              <a:rPr lang="en-US" altLang="zh-CN" b="0" dirty="0"/>
              <a:t>;</a:t>
            </a:r>
          </a:p>
          <a:p>
            <a:pPr>
              <a:buFont typeface="Arial" panose="020B0604020202020204" pitchFamily="34" charset="0"/>
              <a:buChar char="•"/>
            </a:pPr>
            <a:r>
              <a:rPr lang="zh-CN" altLang="zh-CN" b="0" dirty="0"/>
              <a:t>其初始值</a:t>
            </a:r>
            <a:r>
              <a:rPr lang="zh-CN" altLang="en-US" b="0" dirty="0"/>
              <a:t>均</a:t>
            </a:r>
            <a:r>
              <a:rPr lang="zh-CN" altLang="zh-CN" b="0" dirty="0"/>
              <a:t>为</a:t>
            </a:r>
            <a:r>
              <a:rPr lang="en-US" altLang="zh-CN" b="0" dirty="0"/>
              <a:t>false</a:t>
            </a:r>
            <a:r>
              <a:rPr lang="zh-CN" altLang="en-US" b="0" dirty="0"/>
              <a:t>；</a:t>
            </a:r>
            <a:endParaRPr lang="en-US" altLang="zh-CN" b="0" dirty="0"/>
          </a:p>
          <a:p>
            <a:pPr>
              <a:buFont typeface="Arial" panose="020B0604020202020204" pitchFamily="34" charset="0"/>
              <a:buChar char="•"/>
            </a:pPr>
            <a:r>
              <a:rPr lang="zh-CN" altLang="zh-CN" b="0" dirty="0"/>
              <a:t>一旦某个顶点</a:t>
            </a:r>
            <a:r>
              <a:rPr lang="en-US" altLang="zh-CN" b="0" dirty="0" err="1"/>
              <a:t>i</a:t>
            </a:r>
            <a:r>
              <a:rPr lang="zh-CN" altLang="zh-CN" b="0" dirty="0"/>
              <a:t>被访问，其</a:t>
            </a:r>
            <a:r>
              <a:rPr lang="en-US" altLang="zh-CN" b="0" dirty="0"/>
              <a:t>Visited[</a:t>
            </a:r>
            <a:r>
              <a:rPr lang="en-US" altLang="zh-CN" b="0" dirty="0" err="1"/>
              <a:t>i</a:t>
            </a:r>
            <a:r>
              <a:rPr lang="en-US" altLang="zh-CN" b="0" dirty="0"/>
              <a:t>]</a:t>
            </a:r>
            <a:r>
              <a:rPr lang="zh-CN" altLang="zh-CN" b="0" dirty="0"/>
              <a:t>标志被置为</a:t>
            </a:r>
            <a:r>
              <a:rPr lang="en-US" altLang="zh-CN" b="0" dirty="0"/>
              <a:t>true</a:t>
            </a:r>
            <a:r>
              <a:rPr lang="zh-CN" altLang="zh-CN" b="0" dirty="0"/>
              <a:t>，从而防止了该顶点被多次访问</a:t>
            </a:r>
            <a:r>
              <a:rPr lang="zh-CN" altLang="en-US" b="0" dirty="0"/>
              <a:t>；</a:t>
            </a:r>
            <a:endParaRPr lang="en-US" altLang="zh-CN" b="0" dirty="0"/>
          </a:p>
          <a:p>
            <a:pPr>
              <a:buFont typeface="Arial" panose="020B0604020202020204" pitchFamily="34" charset="0"/>
              <a:buChar char="•"/>
            </a:pPr>
            <a:r>
              <a:rPr lang="zh-CN" altLang="zh-CN" b="0" dirty="0"/>
              <a:t>当遍历算法</a:t>
            </a:r>
            <a:r>
              <a:rPr lang="zh-CN" altLang="en-US" b="0" dirty="0"/>
              <a:t>一趟</a:t>
            </a:r>
            <a:r>
              <a:rPr lang="zh-CN" altLang="zh-CN" b="0" dirty="0"/>
              <a:t>结束</a:t>
            </a:r>
            <a:r>
              <a:rPr lang="zh-CN" altLang="en-US" b="0" dirty="0"/>
              <a:t>时</a:t>
            </a:r>
            <a:r>
              <a:rPr lang="zh-CN" altLang="zh-CN" b="0" dirty="0"/>
              <a:t>，就可以通过检查标志位数组</a:t>
            </a:r>
            <a:r>
              <a:rPr lang="en-US" altLang="zh-CN" b="0" dirty="0"/>
              <a:t>Visited[n]</a:t>
            </a:r>
            <a:r>
              <a:rPr lang="zh-CN" altLang="zh-CN" b="0" dirty="0"/>
              <a:t>来查看是否所有的顶点都已被访问</a:t>
            </a:r>
            <a:r>
              <a:rPr lang="zh-CN" altLang="en-US" b="0" dirty="0"/>
              <a:t>；</a:t>
            </a:r>
            <a:endParaRPr lang="en-US" altLang="zh-CN" b="0" dirty="0"/>
          </a:p>
          <a:p>
            <a:pPr>
              <a:buFont typeface="Arial" panose="020B0604020202020204" pitchFamily="34" charset="0"/>
              <a:buChar char="•"/>
            </a:pPr>
            <a:r>
              <a:rPr lang="zh-CN" altLang="zh-CN" b="0" dirty="0"/>
              <a:t>如果还有顶点未被访问，则可</a:t>
            </a:r>
            <a:r>
              <a:rPr lang="zh-CN" altLang="zh-CN" b="0" dirty="0">
                <a:solidFill>
                  <a:srgbClr val="FF0000"/>
                </a:solidFill>
              </a:rPr>
              <a:t>从某个未被标记的顶点开始继续遍历</a:t>
            </a:r>
            <a:r>
              <a:rPr lang="zh-CN" altLang="zh-CN" b="0" dirty="0"/>
              <a:t>。</a:t>
            </a:r>
            <a:endParaRPr lang="zh-CN" altLang="en-US" b="0" dirty="0"/>
          </a:p>
        </p:txBody>
      </p:sp>
    </p:spTree>
    <p:extLst>
      <p:ext uri="{BB962C8B-B14F-4D97-AF65-F5344CB8AC3E}">
        <p14:creationId xmlns:p14="http://schemas.microsoft.com/office/powerpoint/2010/main" val="757598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340768"/>
            <a:ext cx="7488832" cy="4680520"/>
          </a:xfrm>
        </p:spPr>
        <p:txBody>
          <a:bodyPr/>
          <a:lstStyle/>
          <a:p>
            <a:r>
              <a:rPr lang="zh-CN" altLang="zh-CN" b="0" dirty="0"/>
              <a:t>图的</a:t>
            </a:r>
            <a:r>
              <a:rPr lang="zh-CN" altLang="zh-CN" dirty="0"/>
              <a:t>遍历实质</a:t>
            </a:r>
            <a:r>
              <a:rPr lang="zh-CN" altLang="zh-CN" b="0" dirty="0"/>
              <a:t>就是</a:t>
            </a:r>
            <a:r>
              <a:rPr lang="zh-CN" altLang="zh-CN" dirty="0">
                <a:solidFill>
                  <a:srgbClr val="FF0000"/>
                </a:solidFill>
              </a:rPr>
              <a:t>查找每个顶点的邻接点</a:t>
            </a:r>
            <a:r>
              <a:rPr lang="zh-CN" altLang="zh-CN" b="0" dirty="0"/>
              <a:t>的过程。</a:t>
            </a:r>
            <a:endParaRPr lang="en-US" altLang="zh-CN" b="0" dirty="0"/>
          </a:p>
          <a:p>
            <a:r>
              <a:rPr lang="zh-CN" altLang="zh-CN" b="0" dirty="0"/>
              <a:t>通常有两种方式：</a:t>
            </a:r>
            <a:endParaRPr lang="en-US" altLang="zh-CN" b="0" dirty="0"/>
          </a:p>
          <a:p>
            <a:r>
              <a:rPr lang="en-US" altLang="zh-CN" b="0" dirty="0"/>
              <a:t>		</a:t>
            </a:r>
            <a:r>
              <a:rPr lang="zh-CN" altLang="zh-CN" b="0" dirty="0">
                <a:solidFill>
                  <a:srgbClr val="FF0000"/>
                </a:solidFill>
              </a:rPr>
              <a:t>深度优先搜索</a:t>
            </a:r>
            <a:r>
              <a:rPr lang="en-US" altLang="zh-CN" b="0" dirty="0"/>
              <a:t>(DFS)</a:t>
            </a:r>
          </a:p>
          <a:p>
            <a:r>
              <a:rPr lang="en-US" altLang="zh-CN" b="0" dirty="0"/>
              <a:t>		</a:t>
            </a:r>
            <a:r>
              <a:rPr lang="zh-CN" altLang="zh-CN" b="0" dirty="0">
                <a:solidFill>
                  <a:srgbClr val="FF0000"/>
                </a:solidFill>
              </a:rPr>
              <a:t>广度优先搜索</a:t>
            </a:r>
            <a:r>
              <a:rPr lang="en-US" altLang="zh-CN" b="0" dirty="0"/>
              <a:t>(BFS)</a:t>
            </a:r>
          </a:p>
          <a:p>
            <a:r>
              <a:rPr lang="en-US" altLang="zh-CN" b="0" dirty="0"/>
              <a:t>	</a:t>
            </a:r>
            <a:r>
              <a:rPr lang="zh-CN" altLang="zh-CN" b="0" dirty="0"/>
              <a:t>它们对无向图和有向图都适用。</a:t>
            </a:r>
            <a:endParaRPr lang="en-US" altLang="zh-CN" b="0" dirty="0"/>
          </a:p>
          <a:p>
            <a:r>
              <a:rPr lang="en-US" altLang="zh-CN" b="0" dirty="0">
                <a:sym typeface="Webdings"/>
              </a:rPr>
              <a:t></a:t>
            </a:r>
            <a:r>
              <a:rPr lang="zh-CN" altLang="zh-CN" b="0" dirty="0"/>
              <a:t>结论：</a:t>
            </a:r>
          </a:p>
          <a:p>
            <a:r>
              <a:rPr lang="en-US" altLang="zh-CN" b="0" dirty="0"/>
              <a:t>	</a:t>
            </a:r>
            <a:r>
              <a:rPr lang="zh-CN" altLang="zh-CN" b="0" dirty="0"/>
              <a:t>图的遍历是将非</a:t>
            </a:r>
            <a:r>
              <a:rPr lang="zh-CN" altLang="en-US" b="0" dirty="0"/>
              <a:t>线性</a:t>
            </a:r>
            <a:r>
              <a:rPr lang="zh-CN" altLang="zh-CN" b="0" dirty="0"/>
              <a:t>结构数据</a:t>
            </a:r>
            <a:r>
              <a:rPr lang="zh-CN" altLang="en-US" b="0" dirty="0"/>
              <a:t>进行</a:t>
            </a:r>
            <a:r>
              <a:rPr lang="zh-CN" altLang="zh-CN" b="0" dirty="0"/>
              <a:t>线性化</a:t>
            </a:r>
            <a:r>
              <a:rPr lang="zh-CN" altLang="en-US" b="0" dirty="0"/>
              <a:t>的过程</a:t>
            </a:r>
            <a:r>
              <a:rPr lang="zh-CN" altLang="zh-CN" b="0" dirty="0"/>
              <a:t>，结点的访问顺序至关重要。</a:t>
            </a:r>
          </a:p>
          <a:p>
            <a:endParaRPr lang="zh-CN" altLang="en-US" dirty="0"/>
          </a:p>
        </p:txBody>
      </p:sp>
    </p:spTree>
    <p:extLst>
      <p:ext uri="{BB962C8B-B14F-4D97-AF65-F5344CB8AC3E}">
        <p14:creationId xmlns:p14="http://schemas.microsoft.com/office/powerpoint/2010/main" val="3146620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fade">
                                      <p:cBhvr>
                                        <p:cTn id="10"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8064896" cy="5400600"/>
          </a:xfrm>
        </p:spPr>
        <p:txBody>
          <a:bodyPr>
            <a:normAutofit fontScale="85000" lnSpcReduction="10000"/>
          </a:bodyPr>
          <a:lstStyle/>
          <a:p>
            <a:r>
              <a:rPr lang="zh-CN" altLang="zh-CN" dirty="0"/>
              <a:t>算法</a:t>
            </a:r>
            <a:r>
              <a:rPr lang="en-US" altLang="zh-CN" dirty="0"/>
              <a:t>6.4</a:t>
            </a:r>
            <a:r>
              <a:rPr lang="zh-CN" altLang="zh-CN" dirty="0"/>
              <a:t>：图遍历</a:t>
            </a:r>
            <a:r>
              <a:rPr lang="en-US" altLang="zh-CN" dirty="0"/>
              <a:t>---</a:t>
            </a:r>
            <a:r>
              <a:rPr lang="zh-CN" altLang="en-US" dirty="0">
                <a:solidFill>
                  <a:srgbClr val="FF0000"/>
                </a:solidFill>
              </a:rPr>
              <a:t>主程序</a:t>
            </a:r>
            <a:endParaRPr lang="zh-CN" altLang="zh-CN" dirty="0">
              <a:solidFill>
                <a:srgbClr val="FF0000"/>
              </a:solidFill>
            </a:endParaRPr>
          </a:p>
          <a:p>
            <a:r>
              <a:rPr lang="en-US" altLang="zh-CN" b="0" dirty="0"/>
              <a:t>void </a:t>
            </a:r>
            <a:r>
              <a:rPr lang="en-US" altLang="zh-CN" b="0" dirty="0" err="1"/>
              <a:t>graph_traverse</a:t>
            </a:r>
            <a:r>
              <a:rPr lang="en-US" altLang="zh-CN" b="0" dirty="0"/>
              <a:t>(Graph&amp; G, </a:t>
            </a:r>
            <a:r>
              <a:rPr lang="en-US" altLang="zh-CN" b="0" dirty="0" err="1"/>
              <a:t>bool</a:t>
            </a:r>
            <a:r>
              <a:rPr lang="en-US" altLang="zh-CN" b="0" dirty="0"/>
              <a:t> </a:t>
            </a:r>
            <a:r>
              <a:rPr lang="en-US" altLang="zh-CN" b="0" dirty="0" err="1"/>
              <a:t>useDFS</a:t>
            </a:r>
            <a:r>
              <a:rPr lang="en-US" altLang="zh-CN" b="0" dirty="0"/>
              <a:t>){</a:t>
            </a:r>
            <a:endParaRPr lang="zh-CN" altLang="zh-CN" b="0" dirty="0"/>
          </a:p>
          <a:p>
            <a:r>
              <a:rPr lang="en-US" altLang="zh-CN" b="0" dirty="0"/>
              <a:t>	for(</a:t>
            </a:r>
            <a:r>
              <a:rPr lang="en-US" altLang="zh-CN" b="0" dirty="0" err="1"/>
              <a:t>int</a:t>
            </a:r>
            <a:r>
              <a:rPr lang="en-US" altLang="zh-CN" b="0" dirty="0"/>
              <a:t> </a:t>
            </a:r>
            <a:r>
              <a:rPr lang="en-US" altLang="zh-CN" b="0" dirty="0" err="1"/>
              <a:t>i</a:t>
            </a:r>
            <a:r>
              <a:rPr lang="en-US" altLang="zh-CN" b="0" dirty="0"/>
              <a:t> = 0; </a:t>
            </a:r>
            <a:r>
              <a:rPr lang="en-US" altLang="zh-CN" b="0" dirty="0" err="1"/>
              <a:t>i</a:t>
            </a:r>
            <a:r>
              <a:rPr lang="en-US" altLang="zh-CN" b="0" dirty="0"/>
              <a:t> &lt; </a:t>
            </a:r>
            <a:r>
              <a:rPr lang="en-US" altLang="zh-CN" b="0" dirty="0" err="1"/>
              <a:t>G.VerticesNum</a:t>
            </a:r>
            <a:r>
              <a:rPr lang="en-US" altLang="zh-CN" b="0" dirty="0"/>
              <a:t>(); </a:t>
            </a:r>
            <a:r>
              <a:rPr lang="en-US" altLang="zh-CN" b="0" dirty="0" err="1"/>
              <a:t>i</a:t>
            </a:r>
            <a:r>
              <a:rPr lang="en-US" altLang="zh-CN" b="0" dirty="0"/>
              <a:t>++)  //</a:t>
            </a:r>
            <a:r>
              <a:rPr lang="zh-CN" altLang="zh-CN" b="0" dirty="0"/>
              <a:t>所有顶点的标志位初始化</a:t>
            </a:r>
          </a:p>
          <a:p>
            <a:r>
              <a:rPr lang="en-US" altLang="zh-CN" b="0" dirty="0"/>
              <a:t>		</a:t>
            </a:r>
            <a:r>
              <a:rPr lang="en-US" altLang="zh-CN" b="0" dirty="0" err="1"/>
              <a:t>G.Visited</a:t>
            </a:r>
            <a:r>
              <a:rPr lang="en-US" altLang="zh-CN" b="0" dirty="0"/>
              <a:t>[</a:t>
            </a:r>
            <a:r>
              <a:rPr lang="en-US" altLang="zh-CN" b="0" dirty="0" err="1"/>
              <a:t>i</a:t>
            </a:r>
            <a:r>
              <a:rPr lang="en-US" altLang="zh-CN" b="0" dirty="0"/>
              <a:t>] = false;</a:t>
            </a:r>
            <a:endParaRPr lang="zh-CN" altLang="zh-CN" b="0" dirty="0"/>
          </a:p>
          <a:p>
            <a:r>
              <a:rPr lang="en-US" altLang="zh-CN" b="0" dirty="0"/>
              <a:t>	for(</a:t>
            </a:r>
            <a:r>
              <a:rPr lang="en-US" altLang="zh-CN" b="0" dirty="0" err="1"/>
              <a:t>int</a:t>
            </a:r>
            <a:r>
              <a:rPr lang="en-US" altLang="zh-CN" b="0" dirty="0"/>
              <a:t> </a:t>
            </a:r>
            <a:r>
              <a:rPr lang="en-US" altLang="zh-CN" b="0" dirty="0" err="1"/>
              <a:t>i</a:t>
            </a:r>
            <a:r>
              <a:rPr lang="en-US" altLang="zh-CN" b="0" dirty="0"/>
              <a:t> = 0; </a:t>
            </a:r>
            <a:r>
              <a:rPr lang="en-US" altLang="zh-CN" b="0" dirty="0" err="1"/>
              <a:t>i</a:t>
            </a:r>
            <a:r>
              <a:rPr lang="en-US" altLang="zh-CN" b="0" dirty="0"/>
              <a:t> &lt; </a:t>
            </a:r>
            <a:r>
              <a:rPr lang="en-US" altLang="zh-CN" b="0" dirty="0" err="1"/>
              <a:t>G.VerticesNum</a:t>
            </a:r>
            <a:r>
              <a:rPr lang="en-US" altLang="zh-CN" b="0" dirty="0"/>
              <a:t>(); </a:t>
            </a:r>
            <a:r>
              <a:rPr lang="en-US" altLang="zh-CN" b="0" dirty="0" err="1"/>
              <a:t>i</a:t>
            </a:r>
            <a:r>
              <a:rPr lang="en-US" altLang="zh-CN" b="0" dirty="0"/>
              <a:t>++){</a:t>
            </a:r>
            <a:endParaRPr lang="zh-CN" altLang="zh-CN" b="0" dirty="0"/>
          </a:p>
          <a:p>
            <a:r>
              <a:rPr lang="en-US" altLang="zh-CN" b="0" dirty="0"/>
              <a:t>		if(</a:t>
            </a:r>
            <a:r>
              <a:rPr lang="en-US" altLang="zh-CN" b="0" dirty="0" err="1"/>
              <a:t>G.Visited</a:t>
            </a:r>
            <a:r>
              <a:rPr lang="en-US" altLang="zh-CN" b="0" dirty="0"/>
              <a:t>[i] == false){		//</a:t>
            </a:r>
            <a:r>
              <a:rPr lang="zh-CN" altLang="en-US" b="0" dirty="0"/>
              <a:t>检查是否有未访问顶点？</a:t>
            </a:r>
            <a:endParaRPr lang="zh-CN" altLang="zh-CN" b="0" dirty="0"/>
          </a:p>
          <a:p>
            <a:r>
              <a:rPr lang="en-US" altLang="zh-CN" b="0" dirty="0"/>
              <a:t>			if(</a:t>
            </a:r>
            <a:r>
              <a:rPr lang="en-US" altLang="zh-CN" b="0" dirty="0" err="1"/>
              <a:t>useDFS</a:t>
            </a:r>
            <a:r>
              <a:rPr lang="en-US" altLang="zh-CN" b="0" dirty="0"/>
              <a:t>) DFS(</a:t>
            </a:r>
            <a:r>
              <a:rPr lang="en-US" altLang="zh-CN" b="0" dirty="0" err="1"/>
              <a:t>G,i</a:t>
            </a:r>
            <a:r>
              <a:rPr lang="en-US" altLang="zh-CN" b="0" dirty="0"/>
              <a:t>);      	//</a:t>
            </a:r>
            <a:r>
              <a:rPr lang="zh-CN" altLang="zh-CN" b="0" dirty="0"/>
              <a:t>深度优先搜索</a:t>
            </a:r>
          </a:p>
          <a:p>
            <a:r>
              <a:rPr lang="en-US" altLang="zh-CN" b="0" dirty="0"/>
              <a:t>			else BFS(</a:t>
            </a:r>
            <a:r>
              <a:rPr lang="en-US" altLang="zh-CN" b="0" dirty="0" err="1"/>
              <a:t>G,i</a:t>
            </a:r>
            <a:r>
              <a:rPr lang="en-US" altLang="zh-CN" b="0" dirty="0"/>
              <a:t>);       	//</a:t>
            </a:r>
            <a:r>
              <a:rPr lang="zh-CN" altLang="zh-CN" b="0" dirty="0"/>
              <a:t>广度优先搜索</a:t>
            </a:r>
          </a:p>
          <a:p>
            <a:r>
              <a:rPr lang="en-US" altLang="zh-CN" b="0" dirty="0"/>
              <a:t>		}  // if</a:t>
            </a:r>
            <a:endParaRPr lang="zh-CN" altLang="zh-CN" b="0" dirty="0"/>
          </a:p>
          <a:p>
            <a:r>
              <a:rPr lang="en-US" altLang="zh-CN" b="0" dirty="0"/>
              <a:t>	}  // for … </a:t>
            </a:r>
            <a:endParaRPr lang="zh-CN" altLang="zh-CN" b="0" dirty="0"/>
          </a:p>
          <a:p>
            <a:r>
              <a:rPr lang="en-US" altLang="zh-CN" b="0" dirty="0"/>
              <a:t>}</a:t>
            </a:r>
            <a:endParaRPr lang="zh-CN" altLang="zh-CN" b="0" dirty="0"/>
          </a:p>
          <a:p>
            <a:endParaRPr lang="zh-CN" altLang="en-US" dirty="0"/>
          </a:p>
        </p:txBody>
      </p:sp>
    </p:spTree>
    <p:extLst>
      <p:ext uri="{BB962C8B-B14F-4D97-AF65-F5344CB8AC3E}">
        <p14:creationId xmlns:p14="http://schemas.microsoft.com/office/powerpoint/2010/main" val="1070949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fade">
                                      <p:cBhvr>
                                        <p:cTn id="24" dur="500"/>
                                        <p:tgtEl>
                                          <p:spTgt spid="3">
                                            <p:txEl>
                                              <p:pRg st="7" end="7"/>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9" end="9"/>
                                            </p:txEl>
                                          </p:spTgt>
                                        </p:tgtEl>
                                        <p:attrNameLst>
                                          <p:attrName>style.visibility</p:attrName>
                                        </p:attrNameLst>
                                      </p:cBhvr>
                                      <p:to>
                                        <p:strVal val="visible"/>
                                      </p:to>
                                    </p:set>
                                    <p:animEffect transition="in" filter="fade">
                                      <p:cBhvr>
                                        <p:cTn id="30"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6.3.1  </a:t>
            </a:r>
            <a:r>
              <a:rPr lang="zh-CN" altLang="zh-CN" b="1" dirty="0"/>
              <a:t>深度优先搜索</a:t>
            </a:r>
            <a:endParaRPr lang="zh-CN" altLang="en-US" dirty="0"/>
          </a:p>
        </p:txBody>
      </p:sp>
      <p:sp>
        <p:nvSpPr>
          <p:cNvPr id="3" name="内容占位符 2"/>
          <p:cNvSpPr>
            <a:spLocks noGrp="1"/>
          </p:cNvSpPr>
          <p:nvPr>
            <p:ph idx="1"/>
          </p:nvPr>
        </p:nvSpPr>
        <p:spPr>
          <a:xfrm>
            <a:off x="827584" y="1628800"/>
            <a:ext cx="7316316" cy="1224136"/>
          </a:xfrm>
        </p:spPr>
        <p:txBody>
          <a:bodyPr>
            <a:normAutofit fontScale="92500" lnSpcReduction="10000"/>
          </a:bodyPr>
          <a:lstStyle/>
          <a:p>
            <a:r>
              <a:rPr lang="en-US" altLang="zh-CN" dirty="0"/>
              <a:t>	</a:t>
            </a:r>
            <a:r>
              <a:rPr lang="zh-CN" altLang="zh-CN" dirty="0">
                <a:solidFill>
                  <a:srgbClr val="FF0000"/>
                </a:solidFill>
              </a:rPr>
              <a:t>深度优先搜索</a:t>
            </a:r>
            <a:r>
              <a:rPr lang="en-US" altLang="zh-CN" b="0" dirty="0"/>
              <a:t>(Depth-First Search</a:t>
            </a:r>
            <a:r>
              <a:rPr lang="zh-CN" altLang="zh-CN" b="0" dirty="0"/>
              <a:t>，</a:t>
            </a:r>
            <a:r>
              <a:rPr lang="en-US" altLang="zh-CN" b="0" dirty="0">
                <a:solidFill>
                  <a:srgbClr val="FF0000"/>
                </a:solidFill>
              </a:rPr>
              <a:t>DFS</a:t>
            </a:r>
            <a:r>
              <a:rPr lang="en-US" altLang="zh-CN" b="0" dirty="0"/>
              <a:t>)</a:t>
            </a:r>
            <a:r>
              <a:rPr lang="zh-CN" altLang="zh-CN" b="0" dirty="0"/>
              <a:t>遍历类似于树的先根遍历</a:t>
            </a:r>
            <a:r>
              <a:rPr lang="zh-CN" altLang="en-US" b="0" dirty="0"/>
              <a:t>。</a:t>
            </a:r>
            <a:r>
              <a:rPr lang="zh-CN" altLang="zh-CN" b="0" dirty="0"/>
              <a:t>其特点是</a:t>
            </a:r>
            <a:r>
              <a:rPr lang="zh-CN" altLang="en-US" b="0" dirty="0"/>
              <a:t>按照顶点邻接关系，</a:t>
            </a:r>
            <a:r>
              <a:rPr lang="zh-CN" altLang="zh-CN" b="0" dirty="0"/>
              <a:t>尽可能先对纵深方向进行搜索</a:t>
            </a:r>
            <a:r>
              <a:rPr lang="zh-CN" altLang="en-US" b="0" dirty="0"/>
              <a:t>。</a:t>
            </a:r>
            <a:endParaRPr lang="zh-CN" altLang="en-US" dirty="0"/>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35696" y="3140968"/>
            <a:ext cx="4965700" cy="2787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图片 4"/>
          <p:cNvPicPr/>
          <p:nvPr/>
        </p:nvPicPr>
        <p:blipFill>
          <a:blip r:embed="rId3" cstate="print">
            <a:extLst>
              <a:ext uri="{28A0092B-C50C-407E-A947-70E740481C1C}">
                <a14:useLocalDpi xmlns:a14="http://schemas.microsoft.com/office/drawing/2010/main" val="0"/>
              </a:ext>
            </a:extLst>
          </a:blip>
          <a:stretch>
            <a:fillRect/>
          </a:stretch>
        </p:blipFill>
        <p:spPr>
          <a:xfrm>
            <a:off x="8143900" y="285728"/>
            <a:ext cx="427511" cy="421575"/>
          </a:xfrm>
          <a:prstGeom prst="rect">
            <a:avLst/>
          </a:prstGeom>
        </p:spPr>
      </p:pic>
    </p:spTree>
    <p:extLst>
      <p:ext uri="{BB962C8B-B14F-4D97-AF65-F5344CB8AC3E}">
        <p14:creationId xmlns:p14="http://schemas.microsoft.com/office/powerpoint/2010/main" val="15418073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1052736"/>
            <a:ext cx="8208912" cy="5040560"/>
          </a:xfrm>
        </p:spPr>
        <p:txBody>
          <a:bodyPr>
            <a:normAutofit fontScale="85000" lnSpcReduction="10000"/>
          </a:bodyPr>
          <a:lstStyle/>
          <a:p>
            <a:r>
              <a:rPr lang="zh-CN" altLang="zh-CN" dirty="0">
                <a:solidFill>
                  <a:srgbClr val="FF0000"/>
                </a:solidFill>
              </a:rPr>
              <a:t>深度优先搜索</a:t>
            </a:r>
            <a:r>
              <a:rPr lang="en-US" altLang="zh-CN" dirty="0">
                <a:solidFill>
                  <a:srgbClr val="FF0000"/>
                </a:solidFill>
              </a:rPr>
              <a:t>DFS</a:t>
            </a:r>
            <a:r>
              <a:rPr lang="zh-CN" altLang="en-US" b="0" dirty="0"/>
              <a:t>的</a:t>
            </a:r>
            <a:r>
              <a:rPr lang="zh-CN" altLang="zh-CN" b="0" dirty="0"/>
              <a:t>基本思想如下：</a:t>
            </a:r>
            <a:endParaRPr lang="en-US" altLang="zh-CN" b="0" dirty="0"/>
          </a:p>
          <a:p>
            <a:r>
              <a:rPr lang="zh-CN" altLang="zh-CN" b="0" dirty="0"/>
              <a:t>（</a:t>
            </a:r>
            <a:r>
              <a:rPr lang="en-US" altLang="zh-CN" b="0" dirty="0"/>
              <a:t>1</a:t>
            </a:r>
            <a:r>
              <a:rPr lang="zh-CN" altLang="zh-CN" b="0" dirty="0"/>
              <a:t>）初始状态为图中所有的顶点都未被访问，即标志位</a:t>
            </a:r>
            <a:r>
              <a:rPr lang="en-US" altLang="zh-CN" b="0" dirty="0"/>
              <a:t>Visited</a:t>
            </a:r>
            <a:r>
              <a:rPr lang="zh-CN" altLang="zh-CN" b="0" dirty="0"/>
              <a:t>置为</a:t>
            </a:r>
            <a:r>
              <a:rPr lang="en-US" altLang="zh-CN" b="0" dirty="0"/>
              <a:t>false</a:t>
            </a:r>
            <a:r>
              <a:rPr lang="zh-CN" altLang="zh-CN" b="0" dirty="0"/>
              <a:t>。从图中选取一个顶点</a:t>
            </a:r>
            <a:r>
              <a:rPr lang="en-US" altLang="zh-CN" b="0" dirty="0"/>
              <a:t>v</a:t>
            </a:r>
            <a:r>
              <a:rPr lang="en-US" altLang="zh-CN" b="0" baseline="-25000" dirty="0"/>
              <a:t>0</a:t>
            </a:r>
            <a:r>
              <a:rPr lang="zh-CN" altLang="zh-CN" b="0" dirty="0"/>
              <a:t>开始搜索。设</a:t>
            </a:r>
            <a:r>
              <a:rPr lang="en-US" altLang="zh-CN" b="0" dirty="0"/>
              <a:t>v</a:t>
            </a:r>
            <a:r>
              <a:rPr lang="en-US" altLang="zh-CN" b="0" baseline="-25000" dirty="0"/>
              <a:t>0</a:t>
            </a:r>
            <a:r>
              <a:rPr lang="zh-CN" altLang="zh-CN" b="0" dirty="0"/>
              <a:t>∈</a:t>
            </a:r>
            <a:r>
              <a:rPr lang="en-US" altLang="zh-CN" b="0" dirty="0"/>
              <a:t>V</a:t>
            </a:r>
            <a:r>
              <a:rPr lang="zh-CN" altLang="zh-CN" b="0" dirty="0"/>
              <a:t>是源点，访问顶点</a:t>
            </a:r>
            <a:r>
              <a:rPr lang="en-US" altLang="zh-CN" b="0" dirty="0"/>
              <a:t>v</a:t>
            </a:r>
            <a:r>
              <a:rPr lang="en-US" altLang="zh-CN" b="0" baseline="-25000" dirty="0"/>
              <a:t>0</a:t>
            </a:r>
            <a:r>
              <a:rPr lang="zh-CN" altLang="zh-CN" b="0" dirty="0"/>
              <a:t>并将其标志位</a:t>
            </a:r>
            <a:r>
              <a:rPr lang="en-US" altLang="zh-CN" b="0" dirty="0"/>
              <a:t>Visited</a:t>
            </a:r>
            <a:r>
              <a:rPr lang="zh-CN" altLang="zh-CN" b="0" dirty="0"/>
              <a:t>置为</a:t>
            </a:r>
            <a:r>
              <a:rPr lang="en-US" altLang="zh-CN" b="0" dirty="0"/>
              <a:t>true</a:t>
            </a:r>
            <a:r>
              <a:rPr lang="zh-CN" altLang="zh-CN" b="0" dirty="0"/>
              <a:t>，然后访问</a:t>
            </a:r>
            <a:r>
              <a:rPr lang="en-US" altLang="zh-CN" b="0" dirty="0"/>
              <a:t>v</a:t>
            </a:r>
            <a:r>
              <a:rPr lang="en-US" altLang="zh-CN" b="0" baseline="-25000" dirty="0"/>
              <a:t>0</a:t>
            </a:r>
            <a:r>
              <a:rPr lang="zh-CN" altLang="zh-CN" b="0" dirty="0"/>
              <a:t>的未被访问过的邻接点</a:t>
            </a:r>
            <a:r>
              <a:rPr lang="en-US" altLang="zh-CN" b="0" dirty="0"/>
              <a:t>v</a:t>
            </a:r>
            <a:r>
              <a:rPr lang="en-US" altLang="zh-CN" b="0" baseline="-25000" dirty="0"/>
              <a:t>1</a:t>
            </a:r>
            <a:r>
              <a:rPr lang="zh-CN" altLang="zh-CN" b="0" dirty="0"/>
              <a:t>；</a:t>
            </a:r>
            <a:endParaRPr lang="en-US" altLang="zh-CN" b="0" dirty="0"/>
          </a:p>
          <a:p>
            <a:r>
              <a:rPr lang="zh-CN" altLang="zh-CN" b="0" dirty="0"/>
              <a:t>（</a:t>
            </a:r>
            <a:r>
              <a:rPr lang="en-US" altLang="zh-CN" b="0" dirty="0"/>
              <a:t>2</a:t>
            </a:r>
            <a:r>
              <a:rPr lang="zh-CN" altLang="zh-CN" b="0" dirty="0"/>
              <a:t>）再从顶点</a:t>
            </a:r>
            <a:r>
              <a:rPr lang="en-US" altLang="zh-CN" b="0" dirty="0"/>
              <a:t>v</a:t>
            </a:r>
            <a:r>
              <a:rPr lang="en-US" altLang="zh-CN" b="0" baseline="-25000" dirty="0"/>
              <a:t>1</a:t>
            </a:r>
            <a:r>
              <a:rPr lang="zh-CN" altLang="zh-CN" b="0" dirty="0"/>
              <a:t>出发递归地按照深度优先搜索的方式遍历；</a:t>
            </a:r>
          </a:p>
          <a:p>
            <a:r>
              <a:rPr lang="zh-CN" altLang="zh-CN" b="0" dirty="0"/>
              <a:t>（</a:t>
            </a:r>
            <a:r>
              <a:rPr lang="en-US" altLang="zh-CN" b="0" dirty="0"/>
              <a:t>3</a:t>
            </a:r>
            <a:r>
              <a:rPr lang="zh-CN" altLang="zh-CN" b="0" dirty="0"/>
              <a:t>）当遇到一个所有邻接点都被访问过了的顶点</a:t>
            </a:r>
            <a:r>
              <a:rPr lang="en-US" altLang="zh-CN" b="0" dirty="0"/>
              <a:t>v</a:t>
            </a:r>
            <a:r>
              <a:rPr lang="en-US" altLang="zh-CN" b="0" baseline="-25000" dirty="0"/>
              <a:t>i</a:t>
            </a:r>
            <a:r>
              <a:rPr lang="zh-CN" altLang="zh-CN" b="0" dirty="0"/>
              <a:t>时，则退回到</a:t>
            </a:r>
            <a:r>
              <a:rPr lang="zh-CN" altLang="en-US" b="0" dirty="0"/>
              <a:t>调用它的</a:t>
            </a:r>
            <a:r>
              <a:rPr lang="zh-CN" altLang="zh-CN" b="0" dirty="0"/>
              <a:t>顶点</a:t>
            </a:r>
            <a:r>
              <a:rPr lang="en-US" altLang="zh-CN" b="0" dirty="0" err="1"/>
              <a:t>v</a:t>
            </a:r>
            <a:r>
              <a:rPr lang="en-US" altLang="zh-CN" b="0" baseline="-25000" dirty="0" err="1"/>
              <a:t>j</a:t>
            </a:r>
            <a:r>
              <a:rPr lang="zh-CN" altLang="zh-CN" b="0" dirty="0"/>
              <a:t>；</a:t>
            </a:r>
          </a:p>
          <a:p>
            <a:r>
              <a:rPr lang="zh-CN" altLang="zh-CN" b="0" dirty="0"/>
              <a:t>（</a:t>
            </a:r>
            <a:r>
              <a:rPr lang="en-US" altLang="zh-CN" b="0" dirty="0"/>
              <a:t>4</a:t>
            </a:r>
            <a:r>
              <a:rPr lang="zh-CN" altLang="zh-CN" b="0" dirty="0"/>
              <a:t>）再从顶点</a:t>
            </a:r>
            <a:r>
              <a:rPr lang="en-US" altLang="zh-CN" b="0" dirty="0" err="1"/>
              <a:t>v</a:t>
            </a:r>
            <a:r>
              <a:rPr lang="en-US" altLang="zh-CN" b="0" baseline="-25000" dirty="0" err="1"/>
              <a:t>j</a:t>
            </a:r>
            <a:r>
              <a:rPr lang="zh-CN" altLang="en-US" b="0" dirty="0"/>
              <a:t>继续</a:t>
            </a:r>
            <a:r>
              <a:rPr lang="zh-CN" altLang="zh-CN" b="0" dirty="0"/>
              <a:t>递归地按照深度优先搜索的方式遍历；</a:t>
            </a:r>
          </a:p>
          <a:p>
            <a:r>
              <a:rPr lang="zh-CN" altLang="zh-CN" b="0" dirty="0"/>
              <a:t>（</a:t>
            </a:r>
            <a:r>
              <a:rPr lang="en-US" altLang="zh-CN" b="0" dirty="0"/>
              <a:t>5</a:t>
            </a:r>
            <a:r>
              <a:rPr lang="zh-CN" altLang="zh-CN" b="0" dirty="0"/>
              <a:t>）重复上述过程直到从</a:t>
            </a:r>
            <a:r>
              <a:rPr lang="en-US" altLang="zh-CN" b="0" dirty="0"/>
              <a:t>v</a:t>
            </a:r>
            <a:r>
              <a:rPr lang="en-US" altLang="zh-CN" b="0" baseline="-25000" dirty="0"/>
              <a:t>0</a:t>
            </a:r>
            <a:r>
              <a:rPr lang="zh-CN" altLang="zh-CN" b="0" dirty="0"/>
              <a:t>出发的所有边都已检测过为止。此时，图中所有与源点</a:t>
            </a:r>
            <a:r>
              <a:rPr lang="en-US" altLang="zh-CN" b="0" dirty="0"/>
              <a:t>v</a:t>
            </a:r>
            <a:r>
              <a:rPr lang="en-US" altLang="zh-CN" b="0" baseline="-25000" dirty="0"/>
              <a:t>0</a:t>
            </a:r>
            <a:r>
              <a:rPr lang="zh-CN" altLang="zh-CN" b="0" dirty="0"/>
              <a:t>有路径可达的顶点都已被访问过；</a:t>
            </a:r>
          </a:p>
          <a:p>
            <a:r>
              <a:rPr lang="zh-CN" altLang="zh-CN" b="0" dirty="0"/>
              <a:t>（</a:t>
            </a:r>
            <a:r>
              <a:rPr lang="en-US" altLang="zh-CN" b="0" dirty="0"/>
              <a:t>6</a:t>
            </a:r>
            <a:r>
              <a:rPr lang="zh-CN" altLang="zh-CN" b="0" dirty="0"/>
              <a:t>）若此时图中尚有顶点未被访问，则另选图中一个未曾被访问过的顶点作为新源点，重复上述过程，直至图中所有顶点都被访问到为止。</a:t>
            </a:r>
          </a:p>
        </p:txBody>
      </p:sp>
    </p:spTree>
    <p:extLst>
      <p:ext uri="{BB962C8B-B14F-4D97-AF65-F5344CB8AC3E}">
        <p14:creationId xmlns:p14="http://schemas.microsoft.com/office/powerpoint/2010/main" val="1246866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例子：</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无向图</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G</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7</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为例说明深度优先搜索过程。</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21507" name="Picture 3"/>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85998" y="1700808"/>
            <a:ext cx="3117850" cy="3536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508"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0807" y="1700808"/>
            <a:ext cx="5923193" cy="36441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611560" y="5385990"/>
            <a:ext cx="8280920" cy="923330"/>
          </a:xfrm>
          <a:prstGeom prst="rect">
            <a:avLst/>
          </a:prstGeom>
        </p:spPr>
        <p:txBody>
          <a:bodyPr wrap="square">
            <a:spAutoFit/>
          </a:bodyPr>
          <a:lstStyle/>
          <a:p>
            <a:r>
              <a:rPr lang="en-US" altLang="zh-CN" dirty="0">
                <a:sym typeface="Webdings"/>
              </a:rPr>
              <a:t></a:t>
            </a:r>
            <a:r>
              <a:rPr lang="zh-CN" altLang="zh-CN" dirty="0"/>
              <a:t>结论：</a:t>
            </a:r>
          </a:p>
          <a:p>
            <a:r>
              <a:rPr lang="en-US" altLang="zh-CN" dirty="0"/>
              <a:t>        </a:t>
            </a:r>
            <a:r>
              <a:rPr lang="zh-CN" altLang="zh-CN" dirty="0"/>
              <a:t>深度优先搜索得到一棵树：</a:t>
            </a:r>
            <a:r>
              <a:rPr lang="en-US" altLang="zh-CN" dirty="0"/>
              <a:t>n</a:t>
            </a:r>
            <a:r>
              <a:rPr lang="zh-CN" altLang="zh-CN" dirty="0"/>
              <a:t>个结点，</a:t>
            </a:r>
            <a:r>
              <a:rPr lang="en-US" altLang="zh-CN" dirty="0"/>
              <a:t>(n-1)</a:t>
            </a:r>
            <a:r>
              <a:rPr lang="zh-CN" altLang="zh-CN" dirty="0"/>
              <a:t>条边，无回路，是一棵深度优先生成树。</a:t>
            </a:r>
            <a:r>
              <a:rPr lang="zh-CN" altLang="en-US" dirty="0"/>
              <a:t>（</a:t>
            </a:r>
            <a:r>
              <a:rPr lang="zh-CN" altLang="en-US" b="1" dirty="0">
                <a:solidFill>
                  <a:srgbClr val="FF0000"/>
                </a:solidFill>
              </a:rPr>
              <a:t>访问过的点和用到的边</a:t>
            </a:r>
            <a:r>
              <a:rPr lang="zh-CN" altLang="en-US" dirty="0"/>
              <a:t>）</a:t>
            </a:r>
            <a:endParaRPr lang="zh-CN" altLang="zh-CN" dirty="0"/>
          </a:p>
        </p:txBody>
      </p:sp>
    </p:spTree>
    <p:extLst>
      <p:ext uri="{BB962C8B-B14F-4D97-AF65-F5344CB8AC3E}">
        <p14:creationId xmlns:p14="http://schemas.microsoft.com/office/powerpoint/2010/main" val="4181676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8064896" cy="5256584"/>
          </a:xfrm>
        </p:spPr>
        <p:txBody>
          <a:bodyPr>
            <a:normAutofit fontScale="92500"/>
          </a:bodyPr>
          <a:lstStyle/>
          <a:p>
            <a:r>
              <a:rPr lang="zh-CN" altLang="zh-CN" dirty="0"/>
              <a:t>深度优先搜索是一个递归的搜索过程。其递归算法实现如下：</a:t>
            </a:r>
          </a:p>
          <a:p>
            <a:r>
              <a:rPr lang="zh-CN" altLang="zh-CN" dirty="0"/>
              <a:t>算法</a:t>
            </a:r>
            <a:r>
              <a:rPr lang="en-US" altLang="zh-CN" dirty="0"/>
              <a:t>6.5</a:t>
            </a:r>
            <a:r>
              <a:rPr lang="zh-CN" altLang="zh-CN" dirty="0"/>
              <a:t>：</a:t>
            </a:r>
            <a:r>
              <a:rPr lang="zh-CN" altLang="zh-CN" dirty="0">
                <a:solidFill>
                  <a:srgbClr val="FF0000"/>
                </a:solidFill>
              </a:rPr>
              <a:t>深度优先搜索递归算法</a:t>
            </a:r>
          </a:p>
          <a:p>
            <a:r>
              <a:rPr lang="en-US" altLang="zh-CN" b="0" dirty="0"/>
              <a:t>void DFS(Graph&amp; G, </a:t>
            </a:r>
            <a:r>
              <a:rPr lang="en-US" altLang="zh-CN" b="0" dirty="0" err="1"/>
              <a:t>int</a:t>
            </a:r>
            <a:r>
              <a:rPr lang="en-US" altLang="zh-CN" b="0" dirty="0"/>
              <a:t> V){  //</a:t>
            </a:r>
            <a:r>
              <a:rPr lang="zh-CN" altLang="en-US" b="0" dirty="0"/>
              <a:t>从顶点</a:t>
            </a:r>
            <a:r>
              <a:rPr lang="en-US" altLang="zh-CN" b="0" dirty="0"/>
              <a:t>V</a:t>
            </a:r>
            <a:r>
              <a:rPr lang="zh-CN" altLang="en-US" b="0" dirty="0"/>
              <a:t>开始一趟</a:t>
            </a:r>
            <a:r>
              <a:rPr lang="en-US" altLang="zh-CN" b="0" dirty="0"/>
              <a:t>DFS</a:t>
            </a:r>
            <a:r>
              <a:rPr lang="zh-CN" altLang="en-US" b="0" dirty="0"/>
              <a:t>遍历</a:t>
            </a:r>
            <a:endParaRPr lang="zh-CN" altLang="zh-CN" b="0" dirty="0"/>
          </a:p>
          <a:p>
            <a:r>
              <a:rPr lang="en-US" altLang="zh-CN" b="0" dirty="0"/>
              <a:t>	</a:t>
            </a:r>
            <a:r>
              <a:rPr lang="en-US" altLang="zh-CN" b="0" dirty="0" err="1"/>
              <a:t>G.Visited</a:t>
            </a:r>
            <a:r>
              <a:rPr lang="en-US" altLang="zh-CN" b="0" dirty="0"/>
              <a:t>[V] = true;  //</a:t>
            </a:r>
            <a:r>
              <a:rPr lang="zh-CN" altLang="zh-CN" b="0" dirty="0"/>
              <a:t>标记顶点</a:t>
            </a:r>
            <a:r>
              <a:rPr lang="en-US" altLang="zh-CN" b="0" dirty="0"/>
              <a:t>V</a:t>
            </a:r>
            <a:endParaRPr lang="zh-CN" altLang="zh-CN" b="0" dirty="0"/>
          </a:p>
          <a:p>
            <a:r>
              <a:rPr lang="en-US" altLang="zh-CN" b="0" dirty="0"/>
              <a:t>	</a:t>
            </a:r>
            <a:r>
              <a:rPr lang="en-US" altLang="zh-CN" b="0" dirty="0" err="1"/>
              <a:t>cout</a:t>
            </a:r>
            <a:r>
              <a:rPr lang="en-US" altLang="zh-CN" b="0" dirty="0"/>
              <a:t>&lt;&lt; V &lt;&lt; "\t";	//</a:t>
            </a:r>
            <a:r>
              <a:rPr lang="zh-CN" altLang="zh-CN" b="0" dirty="0"/>
              <a:t>打印输出</a:t>
            </a:r>
          </a:p>
          <a:p>
            <a:r>
              <a:rPr lang="en-US" altLang="zh-CN" b="0" dirty="0"/>
              <a:t>	for(</a:t>
            </a:r>
            <a:r>
              <a:rPr lang="en-US" altLang="zh-CN" b="0" dirty="0" err="1"/>
              <a:t>int</a:t>
            </a:r>
            <a:r>
              <a:rPr lang="en-US" altLang="zh-CN" b="0" dirty="0"/>
              <a:t> w = </a:t>
            </a:r>
            <a:r>
              <a:rPr lang="en-US" altLang="zh-CN" b="0" dirty="0" err="1"/>
              <a:t>G.FirstAdj</a:t>
            </a:r>
            <a:r>
              <a:rPr lang="en-US" altLang="zh-CN" b="0" dirty="0"/>
              <a:t>(V); w != -1; w = </a:t>
            </a:r>
            <a:r>
              <a:rPr lang="en-US" altLang="zh-CN" b="0" dirty="0" err="1"/>
              <a:t>G.NextAdj</a:t>
            </a:r>
            <a:r>
              <a:rPr lang="en-US" altLang="zh-CN" b="0" dirty="0"/>
              <a:t>(V, w)) //</a:t>
            </a:r>
            <a:r>
              <a:rPr lang="zh-CN" altLang="en-US" b="0" dirty="0"/>
              <a:t>对</a:t>
            </a:r>
            <a:r>
              <a:rPr lang="zh-CN" altLang="zh-CN" b="0" dirty="0"/>
              <a:t>该点</a:t>
            </a:r>
            <a:r>
              <a:rPr lang="zh-CN" altLang="en-US" b="0" dirty="0"/>
              <a:t>所有邻接点</a:t>
            </a:r>
            <a:r>
              <a:rPr lang="zh-CN" altLang="zh-CN" b="0" dirty="0"/>
              <a:t>进行深度优先搜索</a:t>
            </a:r>
          </a:p>
          <a:p>
            <a:r>
              <a:rPr lang="en-US" altLang="zh-CN" b="0" dirty="0"/>
              <a:t>		if(</a:t>
            </a:r>
            <a:r>
              <a:rPr lang="en-US" altLang="zh-CN" b="0" dirty="0" err="1"/>
              <a:t>G.Visited</a:t>
            </a:r>
            <a:r>
              <a:rPr lang="en-US" altLang="zh-CN" b="0" dirty="0"/>
              <a:t>[w] == false) //</a:t>
            </a:r>
            <a:r>
              <a:rPr lang="zh-CN" altLang="en-US" b="0" dirty="0"/>
              <a:t>检查该邻接点是否</a:t>
            </a:r>
            <a:r>
              <a:rPr lang="zh-CN" altLang="zh-CN" b="0" dirty="0"/>
              <a:t>未被访问</a:t>
            </a:r>
          </a:p>
          <a:p>
            <a:r>
              <a:rPr lang="en-US" altLang="zh-CN" b="0" dirty="0"/>
              <a:t>            	    DFS(G, w);	//</a:t>
            </a:r>
            <a:r>
              <a:rPr lang="zh-CN" altLang="en-US" b="0" dirty="0"/>
              <a:t>对未访问的邻接点</a:t>
            </a:r>
            <a:r>
              <a:rPr lang="zh-CN" altLang="zh-CN" b="0" dirty="0"/>
              <a:t>递归调用</a:t>
            </a:r>
            <a:r>
              <a:rPr lang="en-US" altLang="zh-CN" b="0" dirty="0"/>
              <a:t>DFS</a:t>
            </a:r>
            <a:endParaRPr lang="zh-CN" altLang="zh-CN" b="0" dirty="0"/>
          </a:p>
          <a:p>
            <a:r>
              <a:rPr lang="en-US" altLang="zh-CN" b="0" dirty="0"/>
              <a:t>}</a:t>
            </a:r>
            <a:endParaRPr lang="zh-CN" altLang="zh-CN" b="0" dirty="0"/>
          </a:p>
          <a:p>
            <a:endParaRPr lang="zh-CN" altLang="en-US" dirty="0"/>
          </a:p>
        </p:txBody>
      </p:sp>
    </p:spTree>
    <p:extLst>
      <p:ext uri="{BB962C8B-B14F-4D97-AF65-F5344CB8AC3E}">
        <p14:creationId xmlns:p14="http://schemas.microsoft.com/office/powerpoint/2010/main" val="4330198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7118E64-7274-4EE2-8D39-CD52A8C860A9}"/>
              </a:ext>
            </a:extLst>
          </p:cNvPr>
          <p:cNvSpPr>
            <a:spLocks noGrp="1"/>
          </p:cNvSpPr>
          <p:nvPr>
            <p:ph type="dt" sz="half" idx="10"/>
          </p:nvPr>
        </p:nvSpPr>
        <p:spPr/>
        <p:txBody>
          <a:bodyPr/>
          <a:lstStyle/>
          <a:p>
            <a:fld id="{9A6B2991-BBE5-4E69-A281-1A8B0AE9CDD7}" type="datetime1">
              <a:rPr lang="zh-CN" altLang="en-US" smtClean="0"/>
              <a:pPr/>
              <a:t>2025/5/6</a:t>
            </a:fld>
            <a:endParaRPr lang="zh-CN" altLang="en-US"/>
          </a:p>
        </p:txBody>
      </p:sp>
      <p:sp>
        <p:nvSpPr>
          <p:cNvPr id="3" name="Rectangle 2">
            <a:extLst>
              <a:ext uri="{FF2B5EF4-FFF2-40B4-BE49-F238E27FC236}">
                <a16:creationId xmlns:a16="http://schemas.microsoft.com/office/drawing/2014/main" id="{69B1F09C-154F-43F9-AF54-BD943DF4D4FF}"/>
              </a:ext>
            </a:extLst>
          </p:cNvPr>
          <p:cNvSpPr>
            <a:spLocks noChangeArrowheads="1"/>
          </p:cNvSpPr>
          <p:nvPr/>
        </p:nvSpPr>
        <p:spPr bwMode="auto">
          <a:xfrm>
            <a:off x="35496" y="1152127"/>
            <a:ext cx="11129369" cy="55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4" name="对象 3">
            <a:extLst>
              <a:ext uri="{FF2B5EF4-FFF2-40B4-BE49-F238E27FC236}">
                <a16:creationId xmlns:a16="http://schemas.microsoft.com/office/drawing/2014/main" id="{713DB429-DC53-4F22-9095-773475A1D797}"/>
              </a:ext>
            </a:extLst>
          </p:cNvPr>
          <p:cNvGraphicFramePr>
            <a:graphicFrameLocks noChangeAspect="1"/>
          </p:cNvGraphicFramePr>
          <p:nvPr>
            <p:extLst>
              <p:ext uri="{D42A27DB-BD31-4B8C-83A1-F6EECF244321}">
                <p14:modId xmlns:p14="http://schemas.microsoft.com/office/powerpoint/2010/main" val="815848762"/>
              </p:ext>
            </p:extLst>
          </p:nvPr>
        </p:nvGraphicFramePr>
        <p:xfrm>
          <a:off x="35497" y="116632"/>
          <a:ext cx="8928991" cy="3615716"/>
        </p:xfrm>
        <a:graphic>
          <a:graphicData uri="http://schemas.openxmlformats.org/presentationml/2006/ole">
            <mc:AlternateContent xmlns:mc="http://schemas.openxmlformats.org/markup-compatibility/2006">
              <mc:Choice xmlns:v="urn:schemas-microsoft-com:vml" Requires="v">
                <p:oleObj spid="_x0000_s3089" r:id="rId3" imgW="5815013" imgH="2300288" progId="Visio.Drawing.6">
                  <p:embed/>
                </p:oleObj>
              </mc:Choice>
              <mc:Fallback>
                <p:oleObj r:id="rId3" imgW="5815013" imgH="2300288" progId="Visio.Drawing.6">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497" y="116632"/>
                        <a:ext cx="8928991" cy="3615716"/>
                      </a:xfrm>
                      <a:prstGeom prst="rect">
                        <a:avLst/>
                      </a:prstGeom>
                      <a:noFill/>
                    </p:spPr>
                  </p:pic>
                </p:oleObj>
              </mc:Fallback>
            </mc:AlternateContent>
          </a:graphicData>
        </a:graphic>
      </p:graphicFrame>
      <p:pic>
        <p:nvPicPr>
          <p:cNvPr id="6" name="图片 5">
            <a:extLst>
              <a:ext uri="{FF2B5EF4-FFF2-40B4-BE49-F238E27FC236}">
                <a16:creationId xmlns:a16="http://schemas.microsoft.com/office/drawing/2014/main" id="{7538F985-975A-4B01-901E-2D7B62AFC914}"/>
              </a:ext>
            </a:extLst>
          </p:cNvPr>
          <p:cNvPicPr>
            <a:picLocks noChangeAspect="1"/>
          </p:cNvPicPr>
          <p:nvPr/>
        </p:nvPicPr>
        <p:blipFill>
          <a:blip r:embed="rId5"/>
          <a:stretch>
            <a:fillRect/>
          </a:stretch>
        </p:blipFill>
        <p:spPr>
          <a:xfrm>
            <a:off x="0" y="3181484"/>
            <a:ext cx="9144000" cy="3199844"/>
          </a:xfrm>
          <a:prstGeom prst="rect">
            <a:avLst/>
          </a:prstGeom>
        </p:spPr>
      </p:pic>
    </p:spTree>
    <p:extLst>
      <p:ext uri="{BB962C8B-B14F-4D97-AF65-F5344CB8AC3E}">
        <p14:creationId xmlns:p14="http://schemas.microsoft.com/office/powerpoint/2010/main" val="38865874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dirty="0"/>
              <a:t>性能分析：</a:t>
            </a:r>
          </a:p>
        </p:txBody>
      </p:sp>
      <p:sp>
        <p:nvSpPr>
          <p:cNvPr id="3" name="内容占位符 2"/>
          <p:cNvSpPr>
            <a:spLocks noGrp="1"/>
          </p:cNvSpPr>
          <p:nvPr>
            <p:ph idx="1"/>
          </p:nvPr>
        </p:nvSpPr>
        <p:spPr>
          <a:xfrm>
            <a:off x="770421" y="1556792"/>
            <a:ext cx="7560840" cy="4608512"/>
          </a:xfrm>
        </p:spPr>
        <p:txBody>
          <a:bodyPr>
            <a:normAutofit fontScale="92500" lnSpcReduction="10000"/>
          </a:bodyPr>
          <a:lstStyle/>
          <a:p>
            <a:pPr>
              <a:buFont typeface="Arial" panose="020B0604020202020204" pitchFamily="34" charset="0"/>
              <a:buChar char="•"/>
            </a:pPr>
            <a:r>
              <a:rPr lang="zh-CN" altLang="zh-CN" b="0" dirty="0"/>
              <a:t>对于具有</a:t>
            </a:r>
            <a:r>
              <a:rPr lang="en-US" altLang="zh-CN" b="0" dirty="0"/>
              <a:t>n</a:t>
            </a:r>
            <a:r>
              <a:rPr lang="zh-CN" altLang="zh-CN" b="0" dirty="0"/>
              <a:t>个顶点和</a:t>
            </a:r>
            <a:r>
              <a:rPr lang="en-US" altLang="zh-CN" b="0" dirty="0"/>
              <a:t>e</a:t>
            </a:r>
            <a:r>
              <a:rPr lang="zh-CN" altLang="zh-CN" b="0" dirty="0"/>
              <a:t>条边的图，深度优先搜索算法对图中每个顶点至多调用一次</a:t>
            </a:r>
            <a:r>
              <a:rPr lang="en-US" altLang="zh-CN" b="0" dirty="0"/>
              <a:t>DFS</a:t>
            </a:r>
            <a:r>
              <a:rPr lang="zh-CN" altLang="zh-CN" b="0" dirty="0"/>
              <a:t>函数，因为一旦某顶点被访问后，其标志位</a:t>
            </a:r>
            <a:r>
              <a:rPr lang="en-US" altLang="zh-CN" b="0" dirty="0"/>
              <a:t>Visited</a:t>
            </a:r>
            <a:r>
              <a:rPr lang="zh-CN" altLang="zh-CN" b="0" dirty="0"/>
              <a:t>就被置为</a:t>
            </a:r>
            <a:r>
              <a:rPr lang="en-US" altLang="zh-CN" b="0" dirty="0"/>
              <a:t>true</a:t>
            </a:r>
            <a:r>
              <a:rPr lang="zh-CN" altLang="zh-CN" b="0" dirty="0"/>
              <a:t>（已被访问），就不再从它出发进行搜索。</a:t>
            </a:r>
            <a:endParaRPr lang="en-US" altLang="zh-CN" b="0" dirty="0"/>
          </a:p>
          <a:p>
            <a:pPr>
              <a:buFont typeface="Arial" panose="020B0604020202020204" pitchFamily="34" charset="0"/>
              <a:buChar char="•"/>
            </a:pPr>
            <a:r>
              <a:rPr lang="zh-CN" altLang="zh-CN" b="0" dirty="0"/>
              <a:t>因此图的深度优先搜索时间主要耗费在从某顶点出发搜索它的所有邻接点上，这取决于所采用的存储结构。</a:t>
            </a:r>
            <a:endParaRPr lang="en-US" altLang="zh-CN" b="0" dirty="0"/>
          </a:p>
          <a:p>
            <a:pPr>
              <a:buFont typeface="Arial" panose="020B0604020202020204" pitchFamily="34" charset="0"/>
              <a:buChar char="•"/>
            </a:pPr>
            <a:r>
              <a:rPr lang="zh-CN" altLang="zh-CN" b="0" dirty="0"/>
              <a:t>当用邻接矩阵表示图时，查找每一个顶点的邻接点都要从头扫描该顶点所在行</a:t>
            </a:r>
            <a:r>
              <a:rPr lang="en-US" altLang="zh-CN" b="0" dirty="0"/>
              <a:t>O(n) </a:t>
            </a:r>
            <a:r>
              <a:rPr lang="zh-CN" altLang="zh-CN" b="0" dirty="0"/>
              <a:t>，因此，遍历全部顶点所需的时间为</a:t>
            </a:r>
            <a:r>
              <a:rPr lang="en-US" altLang="zh-CN" dirty="0">
                <a:solidFill>
                  <a:srgbClr val="FF0000"/>
                </a:solidFill>
              </a:rPr>
              <a:t>O(n</a:t>
            </a:r>
            <a:r>
              <a:rPr lang="en-US" altLang="zh-CN" baseline="30000" dirty="0">
                <a:solidFill>
                  <a:srgbClr val="FF0000"/>
                </a:solidFill>
              </a:rPr>
              <a:t>2</a:t>
            </a:r>
            <a:r>
              <a:rPr lang="en-US" altLang="zh-CN" dirty="0">
                <a:solidFill>
                  <a:srgbClr val="FF0000"/>
                </a:solidFill>
              </a:rPr>
              <a:t>)</a:t>
            </a:r>
            <a:r>
              <a:rPr lang="zh-CN" altLang="zh-CN" b="0" dirty="0"/>
              <a:t>；</a:t>
            </a:r>
            <a:endParaRPr lang="en-US" altLang="zh-CN" b="0" dirty="0"/>
          </a:p>
          <a:p>
            <a:pPr>
              <a:buFont typeface="Arial" panose="020B0604020202020204" pitchFamily="34" charset="0"/>
              <a:buChar char="•"/>
            </a:pPr>
            <a:r>
              <a:rPr lang="zh-CN" altLang="zh-CN" b="0" dirty="0"/>
              <a:t>而当用邻接表表示图时，查找所有顶点的邻接点所需的时间为</a:t>
            </a:r>
            <a:r>
              <a:rPr lang="en-US" altLang="zh-CN" b="0" dirty="0"/>
              <a:t>O(e)</a:t>
            </a:r>
            <a:r>
              <a:rPr lang="zh-CN" altLang="zh-CN" b="0" dirty="0"/>
              <a:t>。因此，深度优先搜索图的时间复杂度为</a:t>
            </a:r>
            <a:r>
              <a:rPr lang="en-US" altLang="zh-CN" dirty="0">
                <a:solidFill>
                  <a:srgbClr val="FF0000"/>
                </a:solidFill>
              </a:rPr>
              <a:t>O(</a:t>
            </a:r>
            <a:r>
              <a:rPr lang="en-US" altLang="zh-CN" dirty="0" err="1">
                <a:solidFill>
                  <a:srgbClr val="FF0000"/>
                </a:solidFill>
              </a:rPr>
              <a:t>n+e</a:t>
            </a:r>
            <a:r>
              <a:rPr lang="en-US" altLang="zh-CN" dirty="0">
                <a:solidFill>
                  <a:srgbClr val="FF0000"/>
                </a:solidFill>
              </a:rPr>
              <a:t>)</a:t>
            </a:r>
            <a:r>
              <a:rPr lang="zh-CN" altLang="zh-CN" b="0" dirty="0"/>
              <a:t>。</a:t>
            </a:r>
            <a:endParaRPr lang="zh-CN" altLang="en-US" b="0" dirty="0"/>
          </a:p>
        </p:txBody>
      </p:sp>
    </p:spTree>
    <p:extLst>
      <p:ext uri="{BB962C8B-B14F-4D97-AF65-F5344CB8AC3E}">
        <p14:creationId xmlns:p14="http://schemas.microsoft.com/office/powerpoint/2010/main" val="1686494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6.3.2  </a:t>
            </a:r>
            <a:r>
              <a:rPr lang="zh-CN" altLang="zh-CN" b="1" dirty="0"/>
              <a:t>广度优先搜索</a:t>
            </a:r>
            <a:endParaRPr lang="zh-CN" altLang="en-US" dirty="0"/>
          </a:p>
        </p:txBody>
      </p:sp>
      <p:sp>
        <p:nvSpPr>
          <p:cNvPr id="3" name="内容占位符 2"/>
          <p:cNvSpPr>
            <a:spLocks noGrp="1"/>
          </p:cNvSpPr>
          <p:nvPr>
            <p:ph idx="1"/>
          </p:nvPr>
        </p:nvSpPr>
        <p:spPr/>
        <p:txBody>
          <a:bodyPr/>
          <a:lstStyle/>
          <a:p>
            <a:r>
              <a:rPr lang="en-US" altLang="zh-CN" b="0" dirty="0"/>
              <a:t>	</a:t>
            </a:r>
            <a:r>
              <a:rPr lang="zh-CN" altLang="zh-CN" dirty="0">
                <a:solidFill>
                  <a:srgbClr val="FF0000"/>
                </a:solidFill>
              </a:rPr>
              <a:t>广度优先搜索</a:t>
            </a:r>
            <a:r>
              <a:rPr lang="en-US" altLang="zh-CN" b="0" dirty="0"/>
              <a:t>(Breadth-First Search</a:t>
            </a:r>
            <a:r>
              <a:rPr lang="zh-CN" altLang="zh-CN" b="0" dirty="0"/>
              <a:t>，</a:t>
            </a:r>
            <a:r>
              <a:rPr lang="en-US" altLang="zh-CN" b="0" dirty="0"/>
              <a:t>BFS)</a:t>
            </a:r>
            <a:r>
              <a:rPr lang="zh-CN" altLang="zh-CN" b="0" dirty="0"/>
              <a:t>遍历类似于树的按层次遍历。其特点是按路径长度搜索，尽可能先对横向进行搜索</a:t>
            </a:r>
            <a:r>
              <a:rPr lang="zh-CN" altLang="en-US" b="0" dirty="0"/>
              <a:t>。</a:t>
            </a:r>
          </a:p>
        </p:txBody>
      </p:sp>
      <p:pic>
        <p:nvPicPr>
          <p:cNvPr id="2253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47664" y="3068960"/>
            <a:ext cx="5400600" cy="31515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图片 4"/>
          <p:cNvPicPr/>
          <p:nvPr/>
        </p:nvPicPr>
        <p:blipFill>
          <a:blip r:embed="rId3" cstate="print">
            <a:extLst>
              <a:ext uri="{28A0092B-C50C-407E-A947-70E740481C1C}">
                <a14:useLocalDpi xmlns:a14="http://schemas.microsoft.com/office/drawing/2010/main" val="0"/>
              </a:ext>
            </a:extLst>
          </a:blip>
          <a:stretch>
            <a:fillRect/>
          </a:stretch>
        </p:blipFill>
        <p:spPr>
          <a:xfrm>
            <a:off x="8072462" y="428604"/>
            <a:ext cx="522514" cy="522514"/>
          </a:xfrm>
          <a:prstGeom prst="rect">
            <a:avLst/>
          </a:prstGeom>
        </p:spPr>
      </p:pic>
    </p:spTree>
    <p:extLst>
      <p:ext uri="{BB962C8B-B14F-4D97-AF65-F5344CB8AC3E}">
        <p14:creationId xmlns:p14="http://schemas.microsoft.com/office/powerpoint/2010/main" val="24922897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1124744"/>
            <a:ext cx="8712968" cy="5040560"/>
          </a:xfrm>
        </p:spPr>
        <p:txBody>
          <a:bodyPr>
            <a:normAutofit fontScale="92500"/>
          </a:bodyPr>
          <a:lstStyle/>
          <a:p>
            <a:r>
              <a:rPr lang="zh-CN" altLang="zh-CN" b="0" dirty="0">
                <a:solidFill>
                  <a:srgbClr val="FF0000"/>
                </a:solidFill>
              </a:rPr>
              <a:t>广度优先搜索基本思想</a:t>
            </a:r>
            <a:r>
              <a:rPr lang="zh-CN" altLang="zh-CN" b="0" dirty="0"/>
              <a:t>如下：</a:t>
            </a:r>
            <a:endParaRPr lang="en-US" altLang="zh-CN" b="0" dirty="0"/>
          </a:p>
          <a:p>
            <a:r>
              <a:rPr lang="en-US" altLang="zh-CN" b="0" dirty="0"/>
              <a:t>	1</a:t>
            </a:r>
            <a:r>
              <a:rPr lang="zh-CN" altLang="zh-CN" b="0" dirty="0"/>
              <a:t>） 假设初始状态为图中所有的顶点都未被访问，即标志位</a:t>
            </a:r>
            <a:r>
              <a:rPr lang="en-US" altLang="zh-CN" b="0" dirty="0"/>
              <a:t>Visited</a:t>
            </a:r>
            <a:r>
              <a:rPr lang="zh-CN" altLang="zh-CN" b="0" dirty="0"/>
              <a:t>置为</a:t>
            </a:r>
            <a:r>
              <a:rPr lang="en-US" altLang="zh-CN" b="0" dirty="0"/>
              <a:t>false</a:t>
            </a:r>
            <a:r>
              <a:rPr lang="zh-CN" altLang="zh-CN" b="0" dirty="0"/>
              <a:t>。从图中的某个顶点</a:t>
            </a:r>
            <a:r>
              <a:rPr lang="en-US" altLang="zh-CN" b="0" dirty="0"/>
              <a:t>v</a:t>
            </a:r>
            <a:r>
              <a:rPr lang="en-US" altLang="zh-CN" b="0" baseline="-25000" dirty="0"/>
              <a:t>0</a:t>
            </a:r>
            <a:r>
              <a:rPr lang="zh-CN" altLang="zh-CN" b="0" dirty="0"/>
              <a:t>出发，访问顶点</a:t>
            </a:r>
            <a:r>
              <a:rPr lang="en-US" altLang="zh-CN" b="0" dirty="0"/>
              <a:t>v</a:t>
            </a:r>
            <a:r>
              <a:rPr lang="en-US" altLang="zh-CN" b="0" baseline="-25000" dirty="0"/>
              <a:t>0</a:t>
            </a:r>
            <a:r>
              <a:rPr lang="zh-CN" altLang="zh-CN" b="0" dirty="0"/>
              <a:t>并标记其</a:t>
            </a:r>
            <a:r>
              <a:rPr lang="en-US" altLang="zh-CN" b="0" dirty="0"/>
              <a:t>Visited</a:t>
            </a:r>
            <a:r>
              <a:rPr lang="zh-CN" altLang="zh-CN" b="0" dirty="0"/>
              <a:t>为</a:t>
            </a:r>
            <a:r>
              <a:rPr lang="en-US" altLang="zh-CN" b="0" dirty="0"/>
              <a:t>true</a:t>
            </a:r>
            <a:r>
              <a:rPr lang="zh-CN" altLang="zh-CN" b="0" dirty="0"/>
              <a:t>；</a:t>
            </a:r>
          </a:p>
          <a:p>
            <a:r>
              <a:rPr lang="en-US" altLang="zh-CN" b="0" dirty="0"/>
              <a:t>	2</a:t>
            </a:r>
            <a:r>
              <a:rPr lang="zh-CN" altLang="zh-CN" b="0" dirty="0"/>
              <a:t>）横向搜索</a:t>
            </a:r>
            <a:r>
              <a:rPr lang="en-US" altLang="zh-CN" b="0" dirty="0"/>
              <a:t>v</a:t>
            </a:r>
            <a:r>
              <a:rPr lang="en-US" altLang="zh-CN" b="0" baseline="-25000" dirty="0"/>
              <a:t>0</a:t>
            </a:r>
            <a:r>
              <a:rPr lang="zh-CN" altLang="zh-CN" b="0" dirty="0"/>
              <a:t>的各个未被访问过的直接邻接点</a:t>
            </a:r>
            <a:r>
              <a:rPr lang="en-US" altLang="zh-CN" b="0" dirty="0"/>
              <a:t>w</a:t>
            </a:r>
            <a:r>
              <a:rPr lang="en-US" altLang="zh-CN" b="0" baseline="-25000" dirty="0"/>
              <a:t>1</a:t>
            </a:r>
            <a:r>
              <a:rPr lang="zh-CN" altLang="zh-CN" b="0" dirty="0"/>
              <a:t>，</a:t>
            </a:r>
            <a:r>
              <a:rPr lang="en-US" altLang="zh-CN" b="0" dirty="0"/>
              <a:t>w</a:t>
            </a:r>
            <a:r>
              <a:rPr lang="en-US" altLang="zh-CN" b="0" baseline="-25000" dirty="0"/>
              <a:t>2</a:t>
            </a:r>
            <a:r>
              <a:rPr lang="zh-CN" altLang="zh-CN" b="0" dirty="0"/>
              <a:t>，</a:t>
            </a:r>
            <a:r>
              <a:rPr lang="en-US" altLang="zh-CN" b="0" dirty="0"/>
              <a:t>…</a:t>
            </a:r>
            <a:r>
              <a:rPr lang="zh-CN" altLang="zh-CN" b="0" dirty="0"/>
              <a:t>，</a:t>
            </a:r>
            <a:r>
              <a:rPr lang="en-US" altLang="zh-CN" b="0" dirty="0" err="1"/>
              <a:t>w</a:t>
            </a:r>
            <a:r>
              <a:rPr lang="en-US" altLang="zh-CN" b="0" baseline="-25000" dirty="0" err="1"/>
              <a:t>m</a:t>
            </a:r>
            <a:r>
              <a:rPr lang="zh-CN" altLang="zh-CN" b="0" dirty="0"/>
              <a:t>；</a:t>
            </a:r>
          </a:p>
          <a:p>
            <a:r>
              <a:rPr lang="en-US" altLang="zh-CN" b="0" dirty="0"/>
              <a:t>	3</a:t>
            </a:r>
            <a:r>
              <a:rPr lang="zh-CN" altLang="zh-CN" b="0" dirty="0"/>
              <a:t>） 在依次访问完</a:t>
            </a:r>
            <a:r>
              <a:rPr lang="en-US" altLang="zh-CN" b="0" dirty="0"/>
              <a:t>v</a:t>
            </a:r>
            <a:r>
              <a:rPr lang="en-US" altLang="zh-CN" b="0" baseline="-25000" dirty="0"/>
              <a:t>0</a:t>
            </a:r>
            <a:r>
              <a:rPr lang="zh-CN" altLang="zh-CN" b="0" dirty="0"/>
              <a:t>的各个未被访问过的邻接点之后，再分别按照这些顶点被访问的先后次序，依次访问与它们邻接的所有未被访问过的顶点，直至图中所有已被访问的顶点的邻接点都被访问到；</a:t>
            </a:r>
          </a:p>
          <a:p>
            <a:r>
              <a:rPr lang="en-US" altLang="zh-CN" b="0" dirty="0"/>
              <a:t>	4</a:t>
            </a:r>
            <a:r>
              <a:rPr lang="zh-CN" altLang="zh-CN" b="0" dirty="0"/>
              <a:t>） 若此时图中尚有顶点未被访问，则另选图中一个未曾被访问的顶点作起始点，重复上述过程，直至图中所有顶点都被访问到为止。</a:t>
            </a:r>
            <a:endParaRPr lang="en-US" altLang="zh-CN" b="0" dirty="0"/>
          </a:p>
          <a:p>
            <a:r>
              <a:rPr lang="en-US" altLang="zh-CN" b="0" dirty="0"/>
              <a:t>	</a:t>
            </a:r>
            <a:r>
              <a:rPr lang="zh-CN" altLang="en-US" dirty="0"/>
              <a:t>广度优先遍历算法</a:t>
            </a:r>
            <a:r>
              <a:rPr lang="zh-CN" altLang="en-US" dirty="0">
                <a:solidFill>
                  <a:srgbClr val="FF0000"/>
                </a:solidFill>
              </a:rPr>
              <a:t>采用</a:t>
            </a:r>
            <a:r>
              <a:rPr lang="zh-CN" altLang="en-US" u="sng" dirty="0">
                <a:solidFill>
                  <a:srgbClr val="FF0000"/>
                </a:solidFill>
              </a:rPr>
              <a:t>队列结构</a:t>
            </a:r>
            <a:r>
              <a:rPr lang="zh-CN" altLang="en-US" dirty="0">
                <a:solidFill>
                  <a:srgbClr val="FF0000"/>
                </a:solidFill>
              </a:rPr>
              <a:t>保存按层遍历需要访问的顶点。</a:t>
            </a:r>
            <a:endParaRPr lang="zh-CN" altLang="zh-CN" dirty="0">
              <a:solidFill>
                <a:srgbClr val="FF0000"/>
              </a:solidFill>
            </a:endParaRPr>
          </a:p>
        </p:txBody>
      </p:sp>
    </p:spTree>
    <p:extLst>
      <p:ext uri="{BB962C8B-B14F-4D97-AF65-F5344CB8AC3E}">
        <p14:creationId xmlns:p14="http://schemas.microsoft.com/office/powerpoint/2010/main" val="2370481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4227921"/>
          </a:xfrm>
        </p:spPr>
        <p:txBody>
          <a:bodyPr/>
          <a:lstStyle/>
          <a:p>
            <a:r>
              <a:rPr lang="zh-CN" altLang="zh-CN" b="0" dirty="0"/>
              <a:t>无向图</a:t>
            </a:r>
            <a:r>
              <a:rPr lang="en-US" altLang="zh-CN" b="0" dirty="0"/>
              <a:t>G</a:t>
            </a:r>
            <a:r>
              <a:rPr lang="en-US" altLang="zh-CN" b="0" baseline="-25000" dirty="0"/>
              <a:t>7</a:t>
            </a:r>
            <a:r>
              <a:rPr lang="zh-CN" altLang="zh-CN" b="0" dirty="0"/>
              <a:t>为例说明广度优先搜索过程。</a:t>
            </a:r>
            <a:endParaRPr lang="zh-CN" altLang="en-US" b="0" dirty="0"/>
          </a:p>
        </p:txBody>
      </p:sp>
      <p:pic>
        <p:nvPicPr>
          <p:cNvPr id="2355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9512" y="1759817"/>
            <a:ext cx="3258492" cy="3613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31335" y="1759817"/>
            <a:ext cx="5153210" cy="3613075"/>
          </a:xfrm>
          <a:prstGeom prst="rect">
            <a:avLst/>
          </a:prstGeom>
        </p:spPr>
      </p:pic>
    </p:spTree>
    <p:extLst>
      <p:ext uri="{BB962C8B-B14F-4D97-AF65-F5344CB8AC3E}">
        <p14:creationId xmlns:p14="http://schemas.microsoft.com/office/powerpoint/2010/main" val="33944969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3568" y="5229200"/>
            <a:ext cx="8064896" cy="1152128"/>
          </a:xfrm>
        </p:spPr>
        <p:txBody>
          <a:bodyPr>
            <a:noAutofit/>
          </a:bodyPr>
          <a:lstStyle/>
          <a:p>
            <a:pPr>
              <a:buFont typeface="Arial" panose="020B0604020202020204" pitchFamily="34" charset="0"/>
              <a:buChar char="•"/>
            </a:pPr>
            <a:r>
              <a:rPr lang="zh-CN" altLang="zh-CN" sz="1800" b="0" dirty="0"/>
              <a:t>为了实现广度优先搜索，</a:t>
            </a:r>
            <a:r>
              <a:rPr lang="zh-CN" altLang="zh-CN" sz="1800" b="0" dirty="0">
                <a:solidFill>
                  <a:srgbClr val="FF0000"/>
                </a:solidFill>
              </a:rPr>
              <a:t>引入一个队列</a:t>
            </a:r>
            <a:r>
              <a:rPr lang="en-US" altLang="zh-CN" sz="1800" b="0" dirty="0">
                <a:solidFill>
                  <a:srgbClr val="FF0000"/>
                </a:solidFill>
              </a:rPr>
              <a:t>Q</a:t>
            </a:r>
            <a:r>
              <a:rPr lang="zh-CN" altLang="zh-CN" sz="1800" b="0" dirty="0">
                <a:solidFill>
                  <a:srgbClr val="FF0000"/>
                </a:solidFill>
              </a:rPr>
              <a:t>，将访问到的顶点依次入队</a:t>
            </a:r>
            <a:r>
              <a:rPr lang="zh-CN" altLang="zh-CN" sz="1800" b="0" dirty="0"/>
              <a:t>，以便按顶点入队的先后顺序访问它们的邻接点。</a:t>
            </a:r>
            <a:endParaRPr lang="en-US" altLang="zh-CN" sz="1800" b="0" dirty="0"/>
          </a:p>
          <a:p>
            <a:pPr>
              <a:buFont typeface="Arial" panose="020B0604020202020204" pitchFamily="34" charset="0"/>
              <a:buChar char="•"/>
            </a:pPr>
            <a:r>
              <a:rPr lang="zh-CN" altLang="zh-CN" sz="1800" b="0" dirty="0">
                <a:solidFill>
                  <a:srgbClr val="FF0000"/>
                </a:solidFill>
              </a:rPr>
              <a:t>广度优先搜索是一个非递归算法</a:t>
            </a:r>
            <a:r>
              <a:rPr lang="zh-CN" altLang="zh-CN" sz="1800" b="0" dirty="0"/>
              <a:t>。</a:t>
            </a:r>
            <a:endParaRPr lang="zh-CN" altLang="en-US" sz="1800" b="0" dirty="0"/>
          </a:p>
        </p:txBody>
      </p:sp>
      <p:sp>
        <p:nvSpPr>
          <p:cNvPr id="4" name="矩形 3"/>
          <p:cNvSpPr/>
          <p:nvPr/>
        </p:nvSpPr>
        <p:spPr>
          <a:xfrm>
            <a:off x="899592" y="548680"/>
            <a:ext cx="8208912" cy="4801314"/>
          </a:xfrm>
          <a:prstGeom prst="rect">
            <a:avLst/>
          </a:prstGeom>
        </p:spPr>
        <p:txBody>
          <a:bodyPr wrap="square">
            <a:spAutoFit/>
          </a:bodyPr>
          <a:lstStyle/>
          <a:p>
            <a:r>
              <a:rPr lang="zh-CN" altLang="zh-CN" b="1" dirty="0">
                <a:latin typeface="Times New Roman" panose="02020603050405020304" pitchFamily="18" charset="0"/>
                <a:ea typeface="楷体" panose="02010609060101010101" pitchFamily="49" charset="-122"/>
                <a:cs typeface="Times New Roman" panose="02020603050405020304" pitchFamily="18" charset="0"/>
              </a:rPr>
              <a:t>算法</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6.6</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广度优先搜索非递归算法</a:t>
            </a:r>
          </a:p>
          <a:p>
            <a:r>
              <a:rPr lang="en-US" altLang="zh-CN" b="1" dirty="0">
                <a:latin typeface="Times New Roman" panose="02020603050405020304" pitchFamily="18" charset="0"/>
                <a:ea typeface="楷体" panose="02010609060101010101" pitchFamily="49" charset="-122"/>
                <a:cs typeface="Times New Roman" panose="02020603050405020304" pitchFamily="18" charset="0"/>
              </a:rPr>
              <a:t>void BFS(Graph&amp; G, </a:t>
            </a: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int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V){</a:t>
            </a:r>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dirty="0">
                <a:latin typeface="Times New Roman" panose="02020603050405020304" pitchFamily="18" charset="0"/>
                <a:ea typeface="楷体" panose="02010609060101010101" pitchFamily="49" charset="-122"/>
                <a:cs typeface="Times New Roman" panose="02020603050405020304" pitchFamily="18" charset="0"/>
              </a:rPr>
              <a:t>	queue&lt;</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int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&gt;  Q; //</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初始化广度优先搜索</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所</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用队列</a:t>
            </a:r>
          </a:p>
          <a:p>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G.Visited</a:t>
            </a:r>
            <a:r>
              <a:rPr lang="en-US" altLang="zh-CN" dirty="0">
                <a:latin typeface="Times New Roman" panose="02020603050405020304" pitchFamily="18" charset="0"/>
                <a:ea typeface="楷体" panose="02010609060101010101" pitchFamily="49" charset="-122"/>
                <a:cs typeface="Times New Roman" panose="02020603050405020304" pitchFamily="18" charset="0"/>
              </a:rPr>
              <a:t>[V] = true;</a:t>
            </a:r>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Q.enqueue</a:t>
            </a:r>
            <a:r>
              <a:rPr lang="en-US" altLang="zh-CN" dirty="0">
                <a:latin typeface="Times New Roman" panose="02020603050405020304" pitchFamily="18" charset="0"/>
                <a:ea typeface="楷体" panose="02010609060101010101" pitchFamily="49" charset="-122"/>
                <a:cs typeface="Times New Roman" panose="02020603050405020304" pitchFamily="18" charset="0"/>
              </a:rPr>
              <a:t>(V);             //V</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入队</a:t>
            </a:r>
          </a:p>
          <a:p>
            <a:r>
              <a:rPr lang="en-US" altLang="zh-CN" dirty="0">
                <a:latin typeface="Times New Roman" panose="02020603050405020304" pitchFamily="18" charset="0"/>
                <a:ea typeface="楷体" panose="02010609060101010101" pitchFamily="49" charset="-122"/>
                <a:cs typeface="Times New Roman" panose="02020603050405020304" pitchFamily="18" charset="0"/>
              </a:rPr>
              <a:t>	while( ! </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Q.empty</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     //</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如果队列仍然有元素</a:t>
            </a:r>
          </a:p>
          <a:p>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int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v = </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Q.front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Q.dequeue</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出队</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cout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&lt;&lt; v &lt;&lt; “\t”;   //</a:t>
            </a:r>
            <a:r>
              <a:rPr lang="zh-CN" altLang="en-US" dirty="0">
                <a:latin typeface="Times New Roman" panose="02020603050405020304" pitchFamily="18" charset="0"/>
                <a:ea typeface="楷体" panose="02010609060101010101" pitchFamily="49" charset="-122"/>
                <a:cs typeface="Times New Roman" panose="02020603050405020304" pitchFamily="18" charset="0"/>
              </a:rPr>
              <a:t>访问输出对头顶点</a:t>
            </a:r>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dirty="0">
                <a:latin typeface="Times New Roman" panose="02020603050405020304" pitchFamily="18" charset="0"/>
                <a:ea typeface="楷体" panose="02010609060101010101" pitchFamily="49" charset="-122"/>
                <a:cs typeface="Times New Roman" panose="02020603050405020304" pitchFamily="18" charset="0"/>
              </a:rPr>
              <a:t>		for(</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int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w = </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G.FirstAdj</a:t>
            </a:r>
            <a:r>
              <a:rPr lang="en-US" altLang="zh-CN" dirty="0">
                <a:latin typeface="Times New Roman" panose="02020603050405020304" pitchFamily="18" charset="0"/>
                <a:ea typeface="楷体" panose="02010609060101010101" pitchFamily="49" charset="-122"/>
                <a:cs typeface="Times New Roman" panose="02020603050405020304" pitchFamily="18" charset="0"/>
              </a:rPr>
              <a:t>(v); w != -1; w = </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G.NextAdj</a:t>
            </a:r>
            <a:r>
              <a:rPr lang="en-US" altLang="zh-CN" dirty="0">
                <a:latin typeface="Times New Roman" panose="02020603050405020304" pitchFamily="18" charset="0"/>
                <a:ea typeface="楷体" panose="02010609060101010101" pitchFamily="49" charset="-122"/>
                <a:cs typeface="Times New Roman" panose="02020603050405020304" pitchFamily="18" charset="0"/>
              </a:rPr>
              <a:t>(v, w)){ </a:t>
            </a:r>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dirty="0">
                <a:latin typeface="Times New Roman" panose="02020603050405020304" pitchFamily="18" charset="0"/>
                <a:ea typeface="楷体" panose="02010609060101010101" pitchFamily="49" charset="-122"/>
                <a:cs typeface="Times New Roman" panose="02020603050405020304" pitchFamily="18" charset="0"/>
              </a:rPr>
              <a:t>		      if(</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G.Visited</a:t>
            </a:r>
            <a:r>
              <a:rPr lang="en-US" altLang="zh-CN" dirty="0">
                <a:latin typeface="Times New Roman" panose="02020603050405020304" pitchFamily="18" charset="0"/>
                <a:ea typeface="楷体" panose="02010609060101010101" pitchFamily="49" charset="-122"/>
                <a:cs typeface="Times New Roman" panose="02020603050405020304" pitchFamily="18" charset="0"/>
              </a:rPr>
              <a:t>[w] == false){ //</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所有未被访问过的顶点</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入队</a:t>
            </a:r>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G.Visited</a:t>
            </a:r>
            <a:r>
              <a:rPr lang="en-US" altLang="zh-CN" dirty="0">
                <a:latin typeface="Times New Roman" panose="02020603050405020304" pitchFamily="18" charset="0"/>
                <a:ea typeface="楷体" panose="02010609060101010101" pitchFamily="49" charset="-122"/>
                <a:cs typeface="Times New Roman" panose="02020603050405020304" pitchFamily="18" charset="0"/>
              </a:rPr>
              <a:t>[w] = true;</a:t>
            </a:r>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Q.enqueue</a:t>
            </a:r>
            <a:r>
              <a:rPr lang="en-US" altLang="zh-CN" dirty="0">
                <a:latin typeface="Times New Roman" panose="02020603050405020304" pitchFamily="18" charset="0"/>
                <a:ea typeface="楷体" panose="02010609060101010101" pitchFamily="49" charset="-122"/>
                <a:cs typeface="Times New Roman" panose="02020603050405020304" pitchFamily="18" charset="0"/>
              </a:rPr>
              <a:t>(w); </a:t>
            </a:r>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dirty="0">
                <a:latin typeface="Times New Roman" panose="02020603050405020304" pitchFamily="18" charset="0"/>
                <a:ea typeface="楷体" panose="02010609060101010101" pitchFamily="49" charset="-122"/>
                <a:cs typeface="Times New Roman" panose="02020603050405020304" pitchFamily="18" charset="0"/>
              </a:rPr>
              <a:t>		} //for(…)</a:t>
            </a:r>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dirty="0">
                <a:latin typeface="Times New Roman" panose="02020603050405020304" pitchFamily="18" charset="0"/>
                <a:ea typeface="楷体" panose="02010609060101010101" pitchFamily="49" charset="-122"/>
                <a:cs typeface="Times New Roman" panose="02020603050405020304" pitchFamily="18" charset="0"/>
              </a:rPr>
              <a:t>	} //while(…)</a:t>
            </a:r>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372505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1052737"/>
            <a:ext cx="8568952" cy="2880320"/>
          </a:xfrm>
        </p:spPr>
        <p:txBody>
          <a:bodyPr/>
          <a:lstStyle/>
          <a:p>
            <a:pPr>
              <a:buFont typeface="Arial" panose="020B0604020202020204" pitchFamily="34" charset="0"/>
              <a:buChar char="•"/>
            </a:pPr>
            <a:r>
              <a:rPr lang="zh-CN" altLang="zh-CN" b="0" dirty="0"/>
              <a:t>广度优先搜索实质上与深度优先搜索相同，只是对顶点的访问顺序不同而已。因此</a:t>
            </a:r>
            <a:r>
              <a:rPr lang="zh-CN" altLang="zh-CN" b="0" dirty="0">
                <a:solidFill>
                  <a:srgbClr val="FF0000"/>
                </a:solidFill>
              </a:rPr>
              <a:t>两者的时间复杂度也相同</a:t>
            </a:r>
            <a:r>
              <a:rPr lang="zh-CN" altLang="zh-CN" b="0" dirty="0"/>
              <a:t>。</a:t>
            </a:r>
            <a:endParaRPr lang="en-US" altLang="zh-CN" b="0" dirty="0"/>
          </a:p>
          <a:p>
            <a:pPr>
              <a:buFont typeface="Arial" panose="020B0604020202020204" pitchFamily="34" charset="0"/>
              <a:buChar char="•"/>
            </a:pPr>
            <a:r>
              <a:rPr lang="zh-CN" altLang="zh-CN" b="0" dirty="0"/>
              <a:t>一般情况下，广度优先搜索和深度优先搜索的结果是不同的，且对</a:t>
            </a:r>
            <a:r>
              <a:rPr lang="zh-CN" altLang="zh-CN" b="0" dirty="0">
                <a:solidFill>
                  <a:srgbClr val="FF0000"/>
                </a:solidFill>
              </a:rPr>
              <a:t>有向图</a:t>
            </a:r>
            <a:r>
              <a:rPr lang="zh-CN" altLang="zh-CN" b="0" dirty="0"/>
              <a:t>的遍历可能得到一个</a:t>
            </a:r>
            <a:r>
              <a:rPr lang="zh-CN" altLang="zh-CN" b="0" dirty="0">
                <a:solidFill>
                  <a:srgbClr val="FF0000"/>
                </a:solidFill>
              </a:rPr>
              <a:t>生成森林</a:t>
            </a:r>
            <a:r>
              <a:rPr lang="zh-CN" altLang="zh-CN" b="0" dirty="0"/>
              <a:t>，每调用一次</a:t>
            </a:r>
            <a:r>
              <a:rPr lang="zh-CN" altLang="en-US" b="0" dirty="0"/>
              <a:t>遍历</a:t>
            </a:r>
            <a:r>
              <a:rPr lang="zh-CN" altLang="zh-CN" b="0" dirty="0"/>
              <a:t>程序就生成一棵生成树，如图</a:t>
            </a:r>
            <a:r>
              <a:rPr lang="en-US" altLang="zh-CN" b="0" dirty="0"/>
              <a:t>6-24</a:t>
            </a:r>
            <a:r>
              <a:rPr lang="zh-CN" altLang="zh-CN" b="0" dirty="0"/>
              <a:t>有向图</a:t>
            </a:r>
            <a:r>
              <a:rPr lang="en-US" altLang="zh-CN" b="0" dirty="0"/>
              <a:t>G</a:t>
            </a:r>
            <a:r>
              <a:rPr lang="en-US" altLang="zh-CN" b="0" baseline="-25000" dirty="0"/>
              <a:t>8</a:t>
            </a:r>
            <a:r>
              <a:rPr lang="zh-CN" altLang="zh-CN" b="0" dirty="0"/>
              <a:t>广度优先遍历得到的生成森林。</a:t>
            </a:r>
            <a:endParaRPr lang="zh-CN" altLang="en-US" b="0" dirty="0"/>
          </a:p>
        </p:txBody>
      </p:sp>
      <p:pic>
        <p:nvPicPr>
          <p:cNvPr id="2457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35696" y="3789040"/>
            <a:ext cx="6004346" cy="24530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06199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578"/>
                                        </p:tgtEl>
                                        <p:attrNameLst>
                                          <p:attrName>style.visibility</p:attrName>
                                        </p:attrNameLst>
                                      </p:cBhvr>
                                      <p:to>
                                        <p:strVal val="visible"/>
                                      </p:to>
                                    </p:set>
                                    <p:animEffect transition="in" filter="fade">
                                      <p:cBhvr>
                                        <p:cTn id="12" dur="500"/>
                                        <p:tgtEl>
                                          <p:spTgt spid="245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DF967CA-9306-4BE0-AA31-13D895646D99}"/>
              </a:ext>
            </a:extLst>
          </p:cNvPr>
          <p:cNvSpPr>
            <a:spLocks noGrp="1"/>
          </p:cNvSpPr>
          <p:nvPr>
            <p:ph type="dt" sz="half" idx="10"/>
          </p:nvPr>
        </p:nvSpPr>
        <p:spPr/>
        <p:txBody>
          <a:bodyPr/>
          <a:lstStyle/>
          <a:p>
            <a:fld id="{9A6B2991-BBE5-4E69-A281-1A8B0AE9CDD7}" type="datetime1">
              <a:rPr lang="zh-CN" altLang="en-US" smtClean="0"/>
              <a:pPr/>
              <a:t>2025/5/6</a:t>
            </a:fld>
            <a:endParaRPr lang="zh-CN" altLang="en-US"/>
          </a:p>
        </p:txBody>
      </p:sp>
      <p:pic>
        <p:nvPicPr>
          <p:cNvPr id="4" name="图片 3">
            <a:extLst>
              <a:ext uri="{FF2B5EF4-FFF2-40B4-BE49-F238E27FC236}">
                <a16:creationId xmlns:a16="http://schemas.microsoft.com/office/drawing/2014/main" id="{832BC5E7-159C-4B0E-957D-5DFE8C06483D}"/>
              </a:ext>
            </a:extLst>
          </p:cNvPr>
          <p:cNvPicPr>
            <a:picLocks noChangeAspect="1"/>
          </p:cNvPicPr>
          <p:nvPr/>
        </p:nvPicPr>
        <p:blipFill>
          <a:blip r:embed="rId3"/>
          <a:stretch>
            <a:fillRect/>
          </a:stretch>
        </p:blipFill>
        <p:spPr>
          <a:xfrm>
            <a:off x="1037653" y="476672"/>
            <a:ext cx="6037845" cy="2952328"/>
          </a:xfrm>
          <a:prstGeom prst="rect">
            <a:avLst/>
          </a:prstGeom>
        </p:spPr>
      </p:pic>
      <p:pic>
        <p:nvPicPr>
          <p:cNvPr id="6" name="图片 5">
            <a:extLst>
              <a:ext uri="{FF2B5EF4-FFF2-40B4-BE49-F238E27FC236}">
                <a16:creationId xmlns:a16="http://schemas.microsoft.com/office/drawing/2014/main" id="{B45FF49F-A39D-446A-8CC9-9D6A089243E8}"/>
              </a:ext>
            </a:extLst>
          </p:cNvPr>
          <p:cNvPicPr>
            <a:picLocks noChangeAspect="1"/>
          </p:cNvPicPr>
          <p:nvPr/>
        </p:nvPicPr>
        <p:blipFill>
          <a:blip r:embed="rId4"/>
          <a:stretch>
            <a:fillRect/>
          </a:stretch>
        </p:blipFill>
        <p:spPr>
          <a:xfrm>
            <a:off x="0" y="3334269"/>
            <a:ext cx="9144000" cy="3551115"/>
          </a:xfrm>
          <a:prstGeom prst="rect">
            <a:avLst/>
          </a:prstGeom>
        </p:spPr>
      </p:pic>
      <p:sp>
        <p:nvSpPr>
          <p:cNvPr id="7" name="文本框 6">
            <a:extLst>
              <a:ext uri="{FF2B5EF4-FFF2-40B4-BE49-F238E27FC236}">
                <a16:creationId xmlns:a16="http://schemas.microsoft.com/office/drawing/2014/main" id="{63FB8561-5802-4E06-ACD8-FA3C9518FFFE}"/>
              </a:ext>
            </a:extLst>
          </p:cNvPr>
          <p:cNvSpPr txBox="1"/>
          <p:nvPr/>
        </p:nvSpPr>
        <p:spPr>
          <a:xfrm>
            <a:off x="2705747" y="548680"/>
            <a:ext cx="426093" cy="461665"/>
          </a:xfrm>
          <a:prstGeom prst="rect">
            <a:avLst/>
          </a:prstGeom>
          <a:solidFill>
            <a:schemeClr val="bg1"/>
          </a:solidFill>
        </p:spPr>
        <p:txBody>
          <a:bodyPr wrap="square" rtlCol="0">
            <a:spAutoFit/>
          </a:bodyPr>
          <a:lstStyle/>
          <a:p>
            <a:r>
              <a:rPr lang="en-US" altLang="zh-CN" sz="2400" dirty="0"/>
              <a:t>2</a:t>
            </a:r>
            <a:endParaRPr lang="zh-CN" altLang="en-US" dirty="0"/>
          </a:p>
        </p:txBody>
      </p:sp>
    </p:spTree>
    <p:extLst>
      <p:ext uri="{BB962C8B-B14F-4D97-AF65-F5344CB8AC3E}">
        <p14:creationId xmlns:p14="http://schemas.microsoft.com/office/powerpoint/2010/main" val="40642298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6.4  </a:t>
            </a:r>
            <a:r>
              <a:rPr lang="zh-CN" altLang="zh-CN" b="1" dirty="0"/>
              <a:t>图的应用</a:t>
            </a:r>
            <a:r>
              <a:rPr lang="en-US" altLang="zh-CN" b="1" dirty="0"/>
              <a:t>1</a:t>
            </a:r>
            <a:r>
              <a:rPr lang="zh-CN" altLang="zh-CN" b="1" dirty="0"/>
              <a:t>：拓扑排序</a:t>
            </a:r>
            <a:endParaRPr lang="zh-CN" altLang="en-US" dirty="0"/>
          </a:p>
        </p:txBody>
      </p:sp>
      <p:sp>
        <p:nvSpPr>
          <p:cNvPr id="3" name="内容占位符 2"/>
          <p:cNvSpPr>
            <a:spLocks noGrp="1"/>
          </p:cNvSpPr>
          <p:nvPr>
            <p:ph idx="1"/>
          </p:nvPr>
        </p:nvSpPr>
        <p:spPr>
          <a:xfrm>
            <a:off x="611560" y="2420888"/>
            <a:ext cx="8064896" cy="3960440"/>
          </a:xfrm>
        </p:spPr>
        <p:txBody>
          <a:bodyPr>
            <a:normAutofit/>
          </a:bodyPr>
          <a:lstStyle/>
          <a:p>
            <a:r>
              <a:rPr lang="en-US" altLang="zh-CN" b="0" dirty="0"/>
              <a:t>	</a:t>
            </a:r>
            <a:r>
              <a:rPr lang="zh-CN" altLang="zh-CN" b="0" dirty="0"/>
              <a:t>把子项目、工序或课程看成是图中的一个顶点</a:t>
            </a:r>
            <a:r>
              <a:rPr lang="zh-CN" altLang="en-US" b="0" dirty="0"/>
              <a:t>，</a:t>
            </a:r>
            <a:r>
              <a:rPr lang="zh-CN" altLang="zh-CN" b="0" dirty="0"/>
              <a:t>称之为活动</a:t>
            </a:r>
            <a:r>
              <a:rPr lang="zh-CN" altLang="en-US" b="0" dirty="0"/>
              <a:t>。</a:t>
            </a:r>
            <a:r>
              <a:rPr lang="zh-CN" altLang="zh-CN" b="0" dirty="0"/>
              <a:t>用图中的</a:t>
            </a:r>
            <a:r>
              <a:rPr lang="zh-CN" altLang="zh-CN" b="0" dirty="0">
                <a:solidFill>
                  <a:srgbClr val="FF0000"/>
                </a:solidFill>
              </a:rPr>
              <a:t>有向边来表示各活动之间的先后关系</a:t>
            </a:r>
            <a:r>
              <a:rPr lang="zh-CN" altLang="zh-CN" b="0" dirty="0"/>
              <a:t>，如果从顶点</a:t>
            </a:r>
            <a:r>
              <a:rPr lang="en-US" altLang="zh-CN" b="0" dirty="0"/>
              <a:t>v</a:t>
            </a:r>
            <a:r>
              <a:rPr lang="en-US" altLang="zh-CN" b="0" baseline="-25000" dirty="0"/>
              <a:t>i</a:t>
            </a:r>
            <a:r>
              <a:rPr lang="zh-CN" altLang="zh-CN" b="0" dirty="0"/>
              <a:t>到</a:t>
            </a:r>
            <a:r>
              <a:rPr lang="en-US" altLang="zh-CN" b="0" dirty="0" err="1"/>
              <a:t>v</a:t>
            </a:r>
            <a:r>
              <a:rPr lang="en-US" altLang="zh-CN" b="0" baseline="-25000" dirty="0" err="1"/>
              <a:t>j</a:t>
            </a:r>
            <a:r>
              <a:rPr lang="zh-CN" altLang="zh-CN" b="0" dirty="0"/>
              <a:t>之间存在有向边</a:t>
            </a:r>
            <a:r>
              <a:rPr lang="en-US" altLang="zh-CN" b="0" dirty="0"/>
              <a:t>&lt;v</a:t>
            </a:r>
            <a:r>
              <a:rPr lang="en-US" altLang="zh-CN" b="0" baseline="-25000" dirty="0"/>
              <a:t>i</a:t>
            </a:r>
            <a:r>
              <a:rPr lang="en-US" altLang="zh-CN" b="0" dirty="0"/>
              <a:t>, </a:t>
            </a:r>
            <a:r>
              <a:rPr lang="en-US" altLang="zh-CN" b="0" dirty="0" err="1"/>
              <a:t>v</a:t>
            </a:r>
            <a:r>
              <a:rPr lang="en-US" altLang="zh-CN" b="0" baseline="-25000" dirty="0" err="1"/>
              <a:t>j</a:t>
            </a:r>
            <a:r>
              <a:rPr lang="en-US" altLang="zh-CN" b="0" dirty="0"/>
              <a:t>&gt;</a:t>
            </a:r>
            <a:r>
              <a:rPr lang="zh-CN" altLang="zh-CN" b="0" dirty="0"/>
              <a:t>，则表示活动</a:t>
            </a:r>
            <a:r>
              <a:rPr lang="en-US" altLang="zh-CN" b="0" dirty="0"/>
              <a:t>v</a:t>
            </a:r>
            <a:r>
              <a:rPr lang="en-US" altLang="zh-CN" b="0" baseline="-25000" dirty="0"/>
              <a:t>i</a:t>
            </a:r>
            <a:r>
              <a:rPr lang="zh-CN" altLang="zh-CN" b="0" dirty="0"/>
              <a:t>必须优先于活动</a:t>
            </a:r>
            <a:r>
              <a:rPr lang="en-US" altLang="zh-CN" b="0" dirty="0" err="1"/>
              <a:t>v</a:t>
            </a:r>
            <a:r>
              <a:rPr lang="en-US" altLang="zh-CN" b="0" baseline="-25000" dirty="0" err="1"/>
              <a:t>j</a:t>
            </a:r>
            <a:r>
              <a:rPr lang="zh-CN" altLang="zh-CN" b="0" dirty="0"/>
              <a:t>进行。这样的</a:t>
            </a:r>
            <a:r>
              <a:rPr lang="en-US" altLang="zh-CN" b="0" dirty="0">
                <a:solidFill>
                  <a:srgbClr val="FF0000"/>
                </a:solidFill>
              </a:rPr>
              <a:t>DAG</a:t>
            </a:r>
            <a:r>
              <a:rPr lang="zh-CN" altLang="zh-CN" b="0" dirty="0">
                <a:solidFill>
                  <a:srgbClr val="FF0000"/>
                </a:solidFill>
              </a:rPr>
              <a:t>图称为顶点表示活动的网</a:t>
            </a:r>
            <a:r>
              <a:rPr lang="en-US" altLang="zh-CN" b="0" dirty="0"/>
              <a:t>(Activity On Vertex Network)</a:t>
            </a:r>
            <a:r>
              <a:rPr lang="zh-CN" altLang="zh-CN" b="0" dirty="0"/>
              <a:t>，简称</a:t>
            </a:r>
            <a:r>
              <a:rPr lang="en-US" altLang="zh-CN" dirty="0">
                <a:solidFill>
                  <a:srgbClr val="FF0000"/>
                </a:solidFill>
              </a:rPr>
              <a:t>AOV</a:t>
            </a:r>
            <a:r>
              <a:rPr lang="zh-CN" altLang="zh-CN" dirty="0">
                <a:solidFill>
                  <a:srgbClr val="FF0000"/>
                </a:solidFill>
              </a:rPr>
              <a:t>网</a:t>
            </a:r>
            <a:r>
              <a:rPr lang="zh-CN" altLang="en-US" dirty="0"/>
              <a:t>。</a:t>
            </a:r>
            <a:endParaRPr lang="en-US" altLang="zh-CN" dirty="0"/>
          </a:p>
          <a:p>
            <a:r>
              <a:rPr lang="en-US" altLang="zh-CN" b="0" dirty="0"/>
              <a:t>	</a:t>
            </a:r>
            <a:r>
              <a:rPr lang="zh-CN" altLang="zh-CN" b="0" dirty="0"/>
              <a:t>在</a:t>
            </a:r>
            <a:r>
              <a:rPr lang="en-US" altLang="zh-CN" b="0" dirty="0">
                <a:solidFill>
                  <a:srgbClr val="FF0000"/>
                </a:solidFill>
              </a:rPr>
              <a:t>AOV</a:t>
            </a:r>
            <a:r>
              <a:rPr lang="zh-CN" altLang="zh-CN" b="0" dirty="0">
                <a:solidFill>
                  <a:srgbClr val="FF0000"/>
                </a:solidFill>
              </a:rPr>
              <a:t>网中不能存在回路</a:t>
            </a:r>
            <a:r>
              <a:rPr lang="zh-CN" altLang="zh-CN" b="0" dirty="0"/>
              <a:t>，因为回路中隐含了相互冲突的条件，可能会出现某个活动将以自己为先决条件的情况，因此回路上的所有活动都将无法进行。</a:t>
            </a:r>
          </a:p>
          <a:p>
            <a:endParaRPr lang="zh-CN" altLang="en-US" dirty="0"/>
          </a:p>
        </p:txBody>
      </p:sp>
      <p:pic>
        <p:nvPicPr>
          <p:cNvPr id="2560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12160" y="116632"/>
            <a:ext cx="3012364" cy="23042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301050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052736"/>
            <a:ext cx="7520940" cy="3579849"/>
          </a:xfrm>
        </p:spPr>
        <p:txBody>
          <a:bodyPr/>
          <a:lstStyle/>
          <a:p>
            <a:r>
              <a:rPr lang="en-US" altLang="zh-CN" b="0" dirty="0"/>
              <a:t>	</a:t>
            </a:r>
            <a:r>
              <a:rPr lang="zh-CN" altLang="zh-CN" b="0" dirty="0"/>
              <a:t>对于一个</a:t>
            </a:r>
            <a:r>
              <a:rPr lang="en-US" altLang="zh-CN" b="0" dirty="0"/>
              <a:t>AOV</a:t>
            </a:r>
            <a:r>
              <a:rPr lang="zh-CN" altLang="zh-CN" b="0" dirty="0"/>
              <a:t>网，常常需要将它的所有活动按照它们之间的先后关系排成一个线形序列，使得在这个线性序列中，任何一个活动不依赖于排在它后面的活动。这种序列称为</a:t>
            </a:r>
            <a:r>
              <a:rPr lang="zh-CN" altLang="zh-CN" dirty="0">
                <a:solidFill>
                  <a:srgbClr val="FF0000"/>
                </a:solidFill>
              </a:rPr>
              <a:t>拓扑序列</a:t>
            </a:r>
            <a:r>
              <a:rPr lang="en-US" altLang="zh-CN" b="0" dirty="0"/>
              <a:t>(Topological Order)</a:t>
            </a:r>
            <a:r>
              <a:rPr lang="zh-CN" altLang="zh-CN" b="0" dirty="0"/>
              <a:t>，构造拓扑序列的过程称为</a:t>
            </a:r>
            <a:r>
              <a:rPr lang="zh-CN" altLang="zh-CN" dirty="0">
                <a:solidFill>
                  <a:srgbClr val="FF0000"/>
                </a:solidFill>
              </a:rPr>
              <a:t>拓扑排序</a:t>
            </a:r>
            <a:r>
              <a:rPr lang="en-US" altLang="zh-CN" dirty="0"/>
              <a:t>(Topological Sort)</a:t>
            </a:r>
            <a:r>
              <a:rPr lang="zh-CN" altLang="zh-CN" b="0" dirty="0"/>
              <a:t>。</a:t>
            </a:r>
            <a:endParaRPr lang="zh-CN" altLang="en-US" b="0" dirty="0"/>
          </a:p>
        </p:txBody>
      </p:sp>
      <p:pic>
        <p:nvPicPr>
          <p:cNvPr id="266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33735" y="3356992"/>
            <a:ext cx="5079330" cy="18688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676956" y="5373216"/>
            <a:ext cx="7992888" cy="830997"/>
          </a:xfrm>
          <a:prstGeom prst="rect">
            <a:avLst/>
          </a:prstGeom>
        </p:spPr>
        <p:txBody>
          <a:bodyPr wrap="square">
            <a:spAutoFit/>
          </a:bodyPr>
          <a:lstStyle/>
          <a:p>
            <a:r>
              <a:rPr lang="en-US" altLang="zh-CN" sz="2400" dirty="0">
                <a:sym typeface="Webdings"/>
              </a:rPr>
              <a:t></a:t>
            </a:r>
            <a:r>
              <a:rPr lang="zh-CN" altLang="zh-CN" sz="2400" dirty="0"/>
              <a:t>结论：拓扑排序必须满足以下要求：</a:t>
            </a:r>
            <a:endParaRPr lang="en-US" altLang="zh-CN" sz="2400" dirty="0"/>
          </a:p>
          <a:p>
            <a:r>
              <a:rPr lang="en-US" altLang="zh-CN" sz="2400" dirty="0"/>
              <a:t>	(1) </a:t>
            </a:r>
            <a:r>
              <a:rPr lang="zh-CN" altLang="zh-CN" sz="2400" dirty="0"/>
              <a:t>有向图；</a:t>
            </a:r>
            <a:r>
              <a:rPr lang="en-US" altLang="zh-CN" sz="2400" dirty="0"/>
              <a:t>(2) </a:t>
            </a:r>
            <a:r>
              <a:rPr lang="zh-CN" altLang="zh-CN" sz="2400" dirty="0"/>
              <a:t>图中没有回路。</a:t>
            </a:r>
          </a:p>
        </p:txBody>
      </p:sp>
    </p:spTree>
    <p:extLst>
      <p:ext uri="{BB962C8B-B14F-4D97-AF65-F5344CB8AC3E}">
        <p14:creationId xmlns:p14="http://schemas.microsoft.com/office/powerpoint/2010/main" val="10748753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8136904" cy="5328592"/>
          </a:xfrm>
        </p:spPr>
        <p:txBody>
          <a:bodyPr>
            <a:normAutofit fontScale="92500"/>
          </a:bodyPr>
          <a:lstStyle/>
          <a:p>
            <a:pPr>
              <a:spcBef>
                <a:spcPts val="0"/>
              </a:spcBef>
            </a:pPr>
            <a:r>
              <a:rPr lang="zh-CN" altLang="zh-CN" dirty="0"/>
              <a:t>算法</a:t>
            </a:r>
            <a:r>
              <a:rPr lang="en-US" altLang="zh-CN" dirty="0"/>
              <a:t>6.7</a:t>
            </a:r>
            <a:r>
              <a:rPr lang="zh-CN" altLang="zh-CN" dirty="0"/>
              <a:t>：</a:t>
            </a:r>
            <a:r>
              <a:rPr lang="zh-CN" altLang="en-US" dirty="0">
                <a:solidFill>
                  <a:srgbClr val="FF0000"/>
                </a:solidFill>
              </a:rPr>
              <a:t>深度优先</a:t>
            </a:r>
            <a:r>
              <a:rPr lang="zh-CN" altLang="zh-CN" dirty="0"/>
              <a:t>拓扑排序</a:t>
            </a:r>
          </a:p>
          <a:p>
            <a:pPr>
              <a:spcBef>
                <a:spcPts val="0"/>
              </a:spcBef>
            </a:pPr>
            <a:r>
              <a:rPr lang="en-US" altLang="zh-CN" b="0" dirty="0"/>
              <a:t>void </a:t>
            </a:r>
            <a:r>
              <a:rPr lang="en-US" altLang="zh-CN" b="0" dirty="0" err="1"/>
              <a:t>TopSort_DFS</a:t>
            </a:r>
            <a:r>
              <a:rPr lang="en-US" altLang="zh-CN" b="0" dirty="0"/>
              <a:t>(Graph&amp; G){  //</a:t>
            </a:r>
            <a:r>
              <a:rPr lang="zh-CN" altLang="en-US" b="0" dirty="0"/>
              <a:t>深度优先拓扑序的主程序</a:t>
            </a:r>
            <a:endParaRPr lang="zh-CN" altLang="zh-CN" b="0" dirty="0"/>
          </a:p>
          <a:p>
            <a:pPr>
              <a:spcBef>
                <a:spcPts val="0"/>
              </a:spcBef>
            </a:pPr>
            <a:r>
              <a:rPr lang="en-US" altLang="zh-CN" b="0" dirty="0"/>
              <a:t>    	for(</a:t>
            </a:r>
            <a:r>
              <a:rPr lang="en-US" altLang="zh-CN" b="0" dirty="0" err="1"/>
              <a:t>int</a:t>
            </a:r>
            <a:r>
              <a:rPr lang="en-US" altLang="zh-CN" b="0" dirty="0"/>
              <a:t> </a:t>
            </a:r>
            <a:r>
              <a:rPr lang="en-US" altLang="zh-CN" b="0" dirty="0" err="1"/>
              <a:t>i</a:t>
            </a:r>
            <a:r>
              <a:rPr lang="en-US" altLang="zh-CN" b="0" dirty="0"/>
              <a:t> = 0; </a:t>
            </a:r>
            <a:r>
              <a:rPr lang="en-US" altLang="zh-CN" b="0" dirty="0" err="1"/>
              <a:t>i</a:t>
            </a:r>
            <a:r>
              <a:rPr lang="en-US" altLang="zh-CN" b="0" dirty="0"/>
              <a:t> &lt; </a:t>
            </a:r>
            <a:r>
              <a:rPr lang="en-US" altLang="zh-CN" b="0" dirty="0" err="1"/>
              <a:t>G.VerticesNum</a:t>
            </a:r>
            <a:r>
              <a:rPr lang="en-US" altLang="zh-CN" b="0" dirty="0"/>
              <a:t>(); </a:t>
            </a:r>
            <a:r>
              <a:rPr lang="en-US" altLang="zh-CN" b="0" dirty="0" err="1"/>
              <a:t>i</a:t>
            </a:r>
            <a:r>
              <a:rPr lang="en-US" altLang="zh-CN" sz="2200" b="0" dirty="0"/>
              <a:t>++)</a:t>
            </a:r>
            <a:r>
              <a:rPr lang="en-US" altLang="zh-CN" sz="1500" b="0" dirty="0"/>
              <a:t> //</a:t>
            </a:r>
            <a:r>
              <a:rPr lang="zh-CN" altLang="zh-CN" sz="1500" b="0" dirty="0"/>
              <a:t>将图中所有顶点的标志位初始化为</a:t>
            </a:r>
            <a:r>
              <a:rPr lang="en-US" altLang="zh-CN" sz="1500" b="0" dirty="0"/>
              <a:t>false</a:t>
            </a:r>
            <a:endParaRPr lang="zh-CN" altLang="zh-CN" sz="1500" b="0" dirty="0"/>
          </a:p>
          <a:p>
            <a:pPr>
              <a:spcBef>
                <a:spcPts val="0"/>
              </a:spcBef>
            </a:pPr>
            <a:r>
              <a:rPr lang="en-US" altLang="zh-CN" b="0" dirty="0"/>
              <a:t>		</a:t>
            </a:r>
            <a:r>
              <a:rPr lang="en-US" altLang="zh-CN" b="0" dirty="0" err="1"/>
              <a:t>G.Visited</a:t>
            </a:r>
            <a:r>
              <a:rPr lang="en-US" altLang="zh-CN" b="0" dirty="0"/>
              <a:t>[</a:t>
            </a:r>
            <a:r>
              <a:rPr lang="en-US" altLang="zh-CN" b="0" dirty="0" err="1"/>
              <a:t>i</a:t>
            </a:r>
            <a:r>
              <a:rPr lang="en-US" altLang="zh-CN" b="0" dirty="0"/>
              <a:t>] = false;</a:t>
            </a:r>
            <a:endParaRPr lang="zh-CN" altLang="zh-CN" b="0" dirty="0"/>
          </a:p>
          <a:p>
            <a:pPr>
              <a:spcBef>
                <a:spcPts val="0"/>
              </a:spcBef>
            </a:pPr>
            <a:r>
              <a:rPr lang="en-US" altLang="zh-CN" b="0" dirty="0"/>
              <a:t>	for(</a:t>
            </a:r>
            <a:r>
              <a:rPr lang="en-US" altLang="zh-CN" b="0" dirty="0" err="1"/>
              <a:t>int</a:t>
            </a:r>
            <a:r>
              <a:rPr lang="en-US" altLang="zh-CN" b="0" dirty="0"/>
              <a:t> </a:t>
            </a:r>
            <a:r>
              <a:rPr lang="en-US" altLang="zh-CN" b="0" dirty="0" err="1"/>
              <a:t>i</a:t>
            </a:r>
            <a:r>
              <a:rPr lang="en-US" altLang="zh-CN" b="0" dirty="0"/>
              <a:t> = 0; </a:t>
            </a:r>
            <a:r>
              <a:rPr lang="en-US" altLang="zh-CN" b="0" dirty="0" err="1"/>
              <a:t>i</a:t>
            </a:r>
            <a:r>
              <a:rPr lang="en-US" altLang="zh-CN" b="0" dirty="0"/>
              <a:t> &lt; </a:t>
            </a:r>
            <a:r>
              <a:rPr lang="en-US" altLang="zh-CN" b="0" dirty="0" err="1"/>
              <a:t>G.VerticesNum</a:t>
            </a:r>
            <a:r>
              <a:rPr lang="en-US" altLang="zh-CN" b="0" dirty="0"/>
              <a:t>(); </a:t>
            </a:r>
            <a:r>
              <a:rPr lang="en-US" altLang="zh-CN" b="0" dirty="0" err="1"/>
              <a:t>i</a:t>
            </a:r>
            <a:r>
              <a:rPr lang="en-US" altLang="zh-CN" b="0" dirty="0"/>
              <a:t>++)</a:t>
            </a:r>
            <a:endParaRPr lang="zh-CN" altLang="zh-CN" b="0" dirty="0"/>
          </a:p>
          <a:p>
            <a:pPr>
              <a:spcBef>
                <a:spcPts val="0"/>
              </a:spcBef>
            </a:pPr>
            <a:r>
              <a:rPr lang="en-US" altLang="zh-CN" b="0" dirty="0"/>
              <a:t>		if(</a:t>
            </a:r>
            <a:r>
              <a:rPr lang="en-US" altLang="zh-CN" b="0" dirty="0" err="1"/>
              <a:t>G.Visited</a:t>
            </a:r>
            <a:r>
              <a:rPr lang="en-US" altLang="zh-CN" b="0" dirty="0"/>
              <a:t>[</a:t>
            </a:r>
            <a:r>
              <a:rPr lang="en-US" altLang="zh-CN" b="0" dirty="0" err="1"/>
              <a:t>i</a:t>
            </a:r>
            <a:r>
              <a:rPr lang="en-US" altLang="zh-CN" b="0" dirty="0"/>
              <a:t>] == false)  </a:t>
            </a:r>
            <a:r>
              <a:rPr lang="en-US" altLang="zh-CN" b="0" dirty="0" err="1">
                <a:solidFill>
                  <a:srgbClr val="FF0000"/>
                </a:solidFill>
              </a:rPr>
              <a:t>Do_TopSort</a:t>
            </a:r>
            <a:r>
              <a:rPr lang="en-US" altLang="zh-CN" b="0" dirty="0"/>
              <a:t>(</a:t>
            </a:r>
            <a:r>
              <a:rPr lang="en-US" altLang="zh-CN" b="0" dirty="0" err="1"/>
              <a:t>G,i</a:t>
            </a:r>
            <a:r>
              <a:rPr lang="en-US" altLang="zh-CN" b="0" dirty="0"/>
              <a:t>);  //</a:t>
            </a:r>
            <a:r>
              <a:rPr lang="zh-CN" altLang="zh-CN" b="0" dirty="0"/>
              <a:t>深度优先搜索</a:t>
            </a:r>
          </a:p>
          <a:p>
            <a:pPr>
              <a:spcBef>
                <a:spcPts val="0"/>
              </a:spcBef>
            </a:pPr>
            <a:r>
              <a:rPr lang="en-US" altLang="zh-CN" b="0" dirty="0"/>
              <a:t>}</a:t>
            </a:r>
            <a:endParaRPr lang="zh-CN" altLang="zh-CN" b="0" dirty="0"/>
          </a:p>
          <a:p>
            <a:pPr>
              <a:spcBef>
                <a:spcPts val="0"/>
              </a:spcBef>
            </a:pPr>
            <a:r>
              <a:rPr lang="en-US" altLang="zh-CN" b="0" dirty="0"/>
              <a:t>void </a:t>
            </a:r>
            <a:r>
              <a:rPr lang="en-US" altLang="zh-CN" b="0" dirty="0" err="1">
                <a:solidFill>
                  <a:srgbClr val="FF0000"/>
                </a:solidFill>
              </a:rPr>
              <a:t>Do_TopSort</a:t>
            </a:r>
            <a:r>
              <a:rPr lang="en-US" altLang="zh-CN" b="0" dirty="0"/>
              <a:t>(Graph&amp; G, </a:t>
            </a:r>
            <a:r>
              <a:rPr lang="en-US" altLang="zh-CN" b="0" dirty="0" err="1"/>
              <a:t>int</a:t>
            </a:r>
            <a:r>
              <a:rPr lang="en-US" altLang="zh-CN" b="0" dirty="0"/>
              <a:t> V){</a:t>
            </a:r>
            <a:endParaRPr lang="zh-CN" altLang="zh-CN" b="0" dirty="0"/>
          </a:p>
          <a:p>
            <a:pPr>
              <a:spcBef>
                <a:spcPts val="0"/>
              </a:spcBef>
            </a:pPr>
            <a:r>
              <a:rPr lang="en-US" altLang="zh-CN" b="0" dirty="0"/>
              <a:t>    	</a:t>
            </a:r>
            <a:r>
              <a:rPr lang="en-US" altLang="zh-CN" b="0" dirty="0" err="1"/>
              <a:t>G.Visited</a:t>
            </a:r>
            <a:r>
              <a:rPr lang="en-US" altLang="zh-CN" b="0" dirty="0"/>
              <a:t>[V] = true;</a:t>
            </a:r>
            <a:endParaRPr lang="zh-CN" altLang="zh-CN" b="0" dirty="0"/>
          </a:p>
          <a:p>
            <a:pPr>
              <a:spcBef>
                <a:spcPts val="0"/>
              </a:spcBef>
            </a:pPr>
            <a:r>
              <a:rPr lang="en-US" altLang="zh-CN" b="0" dirty="0"/>
              <a:t>	for(</a:t>
            </a:r>
            <a:r>
              <a:rPr lang="en-US" altLang="zh-CN" b="0" dirty="0" err="1"/>
              <a:t>int</a:t>
            </a:r>
            <a:r>
              <a:rPr lang="en-US" altLang="zh-CN" b="0" dirty="0"/>
              <a:t> w = </a:t>
            </a:r>
            <a:r>
              <a:rPr lang="en-US" altLang="zh-CN" b="0" dirty="0" err="1"/>
              <a:t>G.FirstAdj</a:t>
            </a:r>
            <a:r>
              <a:rPr lang="en-US" altLang="zh-CN" b="0" dirty="0"/>
              <a:t>(V); w != -1; w = </a:t>
            </a:r>
            <a:r>
              <a:rPr lang="en-US" altLang="zh-CN" b="0" dirty="0" err="1"/>
              <a:t>G.NextAdj</a:t>
            </a:r>
            <a:r>
              <a:rPr lang="en-US" altLang="zh-CN" b="0" dirty="0"/>
              <a:t>(V, w))</a:t>
            </a:r>
            <a:endParaRPr lang="zh-CN" altLang="zh-CN" b="0" dirty="0"/>
          </a:p>
          <a:p>
            <a:pPr>
              <a:spcBef>
                <a:spcPts val="0"/>
              </a:spcBef>
            </a:pPr>
            <a:r>
              <a:rPr lang="en-US" altLang="zh-CN" b="0" dirty="0"/>
              <a:t>		if(</a:t>
            </a:r>
            <a:r>
              <a:rPr lang="en-US" altLang="zh-CN" b="0" dirty="0" err="1"/>
              <a:t>G.Visited</a:t>
            </a:r>
            <a:r>
              <a:rPr lang="en-US" altLang="zh-CN" b="0" dirty="0"/>
              <a:t>[w] == false)  </a:t>
            </a:r>
            <a:r>
              <a:rPr lang="en-US" altLang="zh-CN" b="0" dirty="0" err="1">
                <a:solidFill>
                  <a:srgbClr val="FF0000"/>
                </a:solidFill>
              </a:rPr>
              <a:t>Do_TopSort</a:t>
            </a:r>
            <a:r>
              <a:rPr lang="en-US" altLang="zh-CN" b="0" dirty="0"/>
              <a:t>(G, w);</a:t>
            </a:r>
            <a:endParaRPr lang="zh-CN" altLang="zh-CN" b="0" dirty="0"/>
          </a:p>
          <a:p>
            <a:pPr>
              <a:spcBef>
                <a:spcPts val="0"/>
              </a:spcBef>
            </a:pPr>
            <a:r>
              <a:rPr lang="en-US" altLang="zh-CN" b="0" dirty="0"/>
              <a:t>     </a:t>
            </a:r>
            <a:r>
              <a:rPr lang="en-US" altLang="zh-CN" b="0" dirty="0" err="1"/>
              <a:t>cout</a:t>
            </a:r>
            <a:r>
              <a:rPr lang="en-US" altLang="zh-CN" b="0" dirty="0"/>
              <a:t> &lt;&lt; V &lt;&lt; "\t";</a:t>
            </a:r>
            <a:endParaRPr lang="zh-CN" altLang="zh-CN" b="0" dirty="0"/>
          </a:p>
          <a:p>
            <a:pPr>
              <a:spcBef>
                <a:spcPts val="0"/>
              </a:spcBef>
            </a:pPr>
            <a:r>
              <a:rPr lang="en-US" altLang="zh-CN" b="0" dirty="0"/>
              <a:t>}</a:t>
            </a:r>
            <a:endParaRPr lang="zh-CN" altLang="zh-CN" b="0" dirty="0"/>
          </a:p>
          <a:p>
            <a:pPr>
              <a:spcBef>
                <a:spcPts val="0"/>
              </a:spcBef>
            </a:pPr>
            <a:endParaRPr lang="zh-CN" altLang="en-US" dirty="0"/>
          </a:p>
        </p:txBody>
      </p:sp>
    </p:spTree>
    <p:extLst>
      <p:ext uri="{BB962C8B-B14F-4D97-AF65-F5344CB8AC3E}">
        <p14:creationId xmlns:p14="http://schemas.microsoft.com/office/powerpoint/2010/main" val="38075405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836712"/>
            <a:ext cx="7520940" cy="3579849"/>
          </a:xfrm>
        </p:spPr>
        <p:txBody>
          <a:bodyPr/>
          <a:lstStyle/>
          <a:p>
            <a:r>
              <a:rPr lang="en-US" altLang="zh-CN" dirty="0"/>
              <a:t>AOV</a:t>
            </a:r>
            <a:r>
              <a:rPr lang="zh-CN" altLang="zh-CN" dirty="0"/>
              <a:t>网深度优先拓扑排序的实现过程：</a:t>
            </a:r>
            <a:endParaRPr lang="zh-CN" altLang="en-US" dirty="0"/>
          </a:p>
        </p:txBody>
      </p:sp>
      <p:pic>
        <p:nvPicPr>
          <p:cNvPr id="2765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1489" y="1515811"/>
            <a:ext cx="6836816" cy="47802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4357182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475656" y="764704"/>
            <a:ext cx="6552728" cy="48824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1403648" y="5661248"/>
            <a:ext cx="7344816" cy="646331"/>
          </a:xfrm>
          <a:prstGeom prst="rect">
            <a:avLst/>
          </a:prstGeom>
        </p:spPr>
        <p:txBody>
          <a:bodyPr wrap="square">
            <a:spAutoFit/>
          </a:bodyPr>
          <a:lstStyle/>
          <a:p>
            <a:r>
              <a:rPr lang="zh-CN" altLang="zh-CN" dirty="0">
                <a:latin typeface="楷体" pitchFamily="49" charset="-122"/>
                <a:ea typeface="楷体" pitchFamily="49" charset="-122"/>
              </a:rPr>
              <a:t>利用深度优先搜索进行拓扑排序的方法只适用于</a:t>
            </a:r>
            <a:r>
              <a:rPr lang="en-US" altLang="zh-CN" dirty="0">
                <a:latin typeface="楷体" pitchFamily="49" charset="-122"/>
                <a:ea typeface="楷体" pitchFamily="49" charset="-122"/>
              </a:rPr>
              <a:t>DAG</a:t>
            </a:r>
            <a:r>
              <a:rPr lang="zh-CN" altLang="zh-CN" dirty="0">
                <a:latin typeface="楷体" pitchFamily="49" charset="-122"/>
                <a:ea typeface="楷体" pitchFamily="49" charset="-122"/>
              </a:rPr>
              <a:t>图，对于存在回路的图将给出错误的结果。</a:t>
            </a:r>
            <a:r>
              <a:rPr lang="zh-CN" altLang="en-US" dirty="0">
                <a:latin typeface="楷体" pitchFamily="49" charset="-122"/>
                <a:ea typeface="楷体" pitchFamily="49" charset="-122"/>
              </a:rPr>
              <a:t>（</a:t>
            </a:r>
            <a:r>
              <a:rPr lang="zh-CN" altLang="en-US" b="1" dirty="0">
                <a:solidFill>
                  <a:srgbClr val="FF0000"/>
                </a:solidFill>
                <a:latin typeface="楷体" pitchFamily="49" charset="-122"/>
                <a:ea typeface="楷体" pitchFamily="49" charset="-122"/>
              </a:rPr>
              <a:t>深度优先拓扑排序输出是一个逆拓扑序</a:t>
            </a:r>
            <a:r>
              <a:rPr lang="zh-CN" altLang="en-US" dirty="0">
                <a:latin typeface="楷体" pitchFamily="49" charset="-122"/>
                <a:ea typeface="楷体" pitchFamily="49" charset="-122"/>
              </a:rPr>
              <a:t>）</a:t>
            </a:r>
          </a:p>
        </p:txBody>
      </p:sp>
    </p:spTree>
    <p:extLst>
      <p:ext uri="{BB962C8B-B14F-4D97-AF65-F5344CB8AC3E}">
        <p14:creationId xmlns:p14="http://schemas.microsoft.com/office/powerpoint/2010/main" val="36448861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980728"/>
            <a:ext cx="8496944" cy="5256584"/>
          </a:xfrm>
        </p:spPr>
        <p:txBody>
          <a:bodyPr>
            <a:normAutofit fontScale="92500" lnSpcReduction="10000"/>
          </a:bodyPr>
          <a:lstStyle/>
          <a:p>
            <a:r>
              <a:rPr lang="en-US" altLang="zh-CN" b="0" dirty="0"/>
              <a:t>	</a:t>
            </a:r>
            <a:r>
              <a:rPr lang="zh-CN" altLang="zh-CN" b="0" dirty="0"/>
              <a:t>第二种方法是</a:t>
            </a:r>
            <a:r>
              <a:rPr lang="zh-CN" altLang="zh-CN" dirty="0">
                <a:solidFill>
                  <a:srgbClr val="FF0000"/>
                </a:solidFill>
              </a:rPr>
              <a:t>广度优先拓扑排序</a:t>
            </a:r>
            <a:r>
              <a:rPr lang="zh-CN" altLang="zh-CN" b="0" dirty="0"/>
              <a:t>，即使用队列代替递归来实现拓扑排序。具体步骤如下：</a:t>
            </a:r>
          </a:p>
          <a:p>
            <a:r>
              <a:rPr lang="en-US" altLang="zh-CN" b="0" dirty="0"/>
              <a:t>	(1) </a:t>
            </a:r>
            <a:r>
              <a:rPr lang="zh-CN" altLang="zh-CN" b="0" dirty="0"/>
              <a:t>计算各个结点的入度，邻接矩阵的行为出度数，列为入度数（将</a:t>
            </a:r>
            <a:r>
              <a:rPr lang="en-US" altLang="zh-CN" b="0" dirty="0"/>
              <a:t>1</a:t>
            </a:r>
            <a:r>
              <a:rPr lang="zh-CN" altLang="zh-CN" b="0" dirty="0"/>
              <a:t>相加）；</a:t>
            </a:r>
          </a:p>
          <a:p>
            <a:r>
              <a:rPr lang="en-US" altLang="zh-CN" b="0" dirty="0"/>
              <a:t>	(2) </a:t>
            </a:r>
            <a:r>
              <a:rPr lang="zh-CN" altLang="zh-CN" b="0" dirty="0"/>
              <a:t>所有入度为</a:t>
            </a:r>
            <a:r>
              <a:rPr lang="en-US" altLang="zh-CN" b="0" dirty="0"/>
              <a:t>0</a:t>
            </a:r>
            <a:r>
              <a:rPr lang="zh-CN" altLang="zh-CN" b="0" dirty="0"/>
              <a:t>的结点放进一个队列；</a:t>
            </a:r>
          </a:p>
          <a:p>
            <a:r>
              <a:rPr lang="en-US" altLang="zh-CN" b="0" dirty="0"/>
              <a:t>	(3) </a:t>
            </a:r>
            <a:r>
              <a:rPr lang="zh-CN" altLang="zh-CN" b="0" dirty="0"/>
              <a:t>如果队列为空，则转到第</a:t>
            </a:r>
            <a:r>
              <a:rPr lang="en-US" altLang="zh-CN" b="0" dirty="0"/>
              <a:t>(7)</a:t>
            </a:r>
            <a:r>
              <a:rPr lang="zh-CN" altLang="zh-CN" b="0" dirty="0"/>
              <a:t>步；</a:t>
            </a:r>
          </a:p>
          <a:p>
            <a:r>
              <a:rPr lang="en-US" altLang="zh-CN" b="0" dirty="0"/>
              <a:t>	(4) </a:t>
            </a:r>
            <a:r>
              <a:rPr lang="zh-CN" altLang="zh-CN" b="0" dirty="0"/>
              <a:t>如队列非空，将队头元素从队列中删除，并输出队头元素；</a:t>
            </a:r>
          </a:p>
          <a:p>
            <a:r>
              <a:rPr lang="en-US" altLang="zh-CN" b="0" dirty="0"/>
              <a:t>	(5) </a:t>
            </a:r>
            <a:r>
              <a:rPr lang="zh-CN" altLang="zh-CN" b="0" dirty="0"/>
              <a:t>把它的每一个邻接点的入度减</a:t>
            </a:r>
            <a:r>
              <a:rPr lang="en-US" altLang="zh-CN" b="0" dirty="0"/>
              <a:t>1</a:t>
            </a:r>
            <a:r>
              <a:rPr lang="zh-CN" altLang="zh-CN" b="0" dirty="0"/>
              <a:t>，如果减</a:t>
            </a:r>
            <a:r>
              <a:rPr lang="en-US" altLang="zh-CN" b="0" dirty="0"/>
              <a:t>1</a:t>
            </a:r>
            <a:r>
              <a:rPr lang="zh-CN" altLang="zh-CN" b="0" dirty="0"/>
              <a:t>后入度变为</a:t>
            </a:r>
            <a:r>
              <a:rPr lang="en-US" altLang="zh-CN" b="0" dirty="0"/>
              <a:t>0</a:t>
            </a:r>
            <a:r>
              <a:rPr lang="zh-CN" altLang="zh-CN" b="0" dirty="0"/>
              <a:t>，则把这个顶点立刻入队；</a:t>
            </a:r>
          </a:p>
          <a:p>
            <a:r>
              <a:rPr lang="en-US" altLang="zh-CN" b="0" dirty="0"/>
              <a:t>	(6) </a:t>
            </a:r>
            <a:r>
              <a:rPr lang="zh-CN" altLang="zh-CN" b="0" dirty="0"/>
              <a:t>转到第</a:t>
            </a:r>
            <a:r>
              <a:rPr lang="en-US" altLang="zh-CN" b="0" dirty="0"/>
              <a:t>(3)</a:t>
            </a:r>
            <a:r>
              <a:rPr lang="zh-CN" altLang="zh-CN" b="0" dirty="0"/>
              <a:t>步，循环执行，直到队列为空；</a:t>
            </a:r>
          </a:p>
          <a:p>
            <a:r>
              <a:rPr lang="en-US" altLang="zh-CN" b="0" dirty="0"/>
              <a:t>	(7) </a:t>
            </a:r>
            <a:r>
              <a:rPr lang="zh-CN" altLang="zh-CN" b="0" dirty="0"/>
              <a:t>如果所有的顶点均输出，则给出一个广度优先拓扑序，如果有剩余的顶点未被输出，且当前队列已经为空，则认为存在回路。</a:t>
            </a:r>
          </a:p>
          <a:p>
            <a:endParaRPr lang="zh-CN" altLang="en-US" dirty="0"/>
          </a:p>
        </p:txBody>
      </p:sp>
      <p:pic>
        <p:nvPicPr>
          <p:cNvPr id="4" name="图片 3"/>
          <p:cNvPicPr/>
          <p:nvPr/>
        </p:nvPicPr>
        <p:blipFill>
          <a:blip r:embed="rId2" cstate="print">
            <a:extLst>
              <a:ext uri="{28A0092B-C50C-407E-A947-70E740481C1C}">
                <a14:useLocalDpi xmlns:a14="http://schemas.microsoft.com/office/drawing/2010/main" val="0"/>
              </a:ext>
            </a:extLst>
          </a:blip>
          <a:stretch>
            <a:fillRect/>
          </a:stretch>
        </p:blipFill>
        <p:spPr>
          <a:xfrm>
            <a:off x="8286776" y="285728"/>
            <a:ext cx="385948" cy="391886"/>
          </a:xfrm>
          <a:prstGeom prst="rect">
            <a:avLst/>
          </a:prstGeom>
        </p:spPr>
      </p:pic>
    </p:spTree>
    <p:extLst>
      <p:ext uri="{BB962C8B-B14F-4D97-AF65-F5344CB8AC3E}">
        <p14:creationId xmlns:p14="http://schemas.microsoft.com/office/powerpoint/2010/main" val="126571558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980728"/>
            <a:ext cx="8097004" cy="3579849"/>
          </a:xfrm>
        </p:spPr>
        <p:txBody>
          <a:bodyPr/>
          <a:lstStyle/>
          <a:p>
            <a:r>
              <a:rPr lang="zh-CN" altLang="zh-CN" dirty="0"/>
              <a:t>★注：</a:t>
            </a:r>
            <a:r>
              <a:rPr lang="zh-CN" altLang="zh-CN" dirty="0">
                <a:solidFill>
                  <a:srgbClr val="FF0000"/>
                </a:solidFill>
              </a:rPr>
              <a:t>拓扑排序也是检验回路的一种方法。</a:t>
            </a:r>
          </a:p>
          <a:p>
            <a:r>
              <a:rPr lang="zh-CN" altLang="zh-CN" b="0" dirty="0"/>
              <a:t>表</a:t>
            </a:r>
            <a:r>
              <a:rPr lang="en-US" altLang="zh-CN" b="0" dirty="0"/>
              <a:t>6-1</a:t>
            </a:r>
            <a:r>
              <a:rPr lang="zh-CN" altLang="zh-CN" b="0" dirty="0"/>
              <a:t>为图</a:t>
            </a:r>
            <a:r>
              <a:rPr lang="en-US" altLang="zh-CN" b="0" dirty="0"/>
              <a:t>6-28</a:t>
            </a:r>
            <a:r>
              <a:rPr lang="zh-CN" altLang="zh-CN" b="0" dirty="0"/>
              <a:t>所示</a:t>
            </a:r>
            <a:r>
              <a:rPr lang="en-US" altLang="zh-CN" b="0" dirty="0"/>
              <a:t>AOV</a:t>
            </a:r>
            <a:r>
              <a:rPr lang="zh-CN" altLang="zh-CN" b="0" dirty="0"/>
              <a:t>网广度优先拓扑排序的实现过程。</a:t>
            </a:r>
            <a:endParaRPr lang="zh-CN" altLang="en-US" b="0" dirty="0"/>
          </a:p>
        </p:txBody>
      </p:sp>
      <p:pic>
        <p:nvPicPr>
          <p:cNvPr id="296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059" y="2924944"/>
            <a:ext cx="2692556" cy="19442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699"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29782" y="2060848"/>
            <a:ext cx="6014217" cy="42106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466772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40C1F18-31F3-470D-B9EA-628F8ABEBC42}"/>
              </a:ext>
            </a:extLst>
          </p:cNvPr>
          <p:cNvSpPr>
            <a:spLocks noGrp="1"/>
          </p:cNvSpPr>
          <p:nvPr>
            <p:ph type="dt" sz="half" idx="10"/>
          </p:nvPr>
        </p:nvSpPr>
        <p:spPr/>
        <p:txBody>
          <a:bodyPr/>
          <a:lstStyle/>
          <a:p>
            <a:fld id="{9A6B2991-BBE5-4E69-A281-1A8B0AE9CDD7}" type="datetime1">
              <a:rPr lang="zh-CN" altLang="en-US" smtClean="0"/>
              <a:pPr/>
              <a:t>2025/5/6</a:t>
            </a:fld>
            <a:endParaRPr lang="zh-CN" altLang="en-US"/>
          </a:p>
        </p:txBody>
      </p:sp>
      <p:sp>
        <p:nvSpPr>
          <p:cNvPr id="3" name="椭圆 2">
            <a:extLst>
              <a:ext uri="{FF2B5EF4-FFF2-40B4-BE49-F238E27FC236}">
                <a16:creationId xmlns:a16="http://schemas.microsoft.com/office/drawing/2014/main" id="{50D20DF6-4AC6-4652-BA8F-8073688FFCB1}"/>
              </a:ext>
            </a:extLst>
          </p:cNvPr>
          <p:cNvSpPr/>
          <p:nvPr/>
        </p:nvSpPr>
        <p:spPr>
          <a:xfrm>
            <a:off x="1496961" y="1339512"/>
            <a:ext cx="842791" cy="721336"/>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kern="1000" dirty="0">
                <a:latin typeface="Arial Black" panose="020B0A04020102020204" pitchFamily="34" charset="0"/>
              </a:rPr>
              <a:t>V1</a:t>
            </a:r>
            <a:endParaRPr lang="zh-CN" altLang="en-US" b="1" kern="1000" dirty="0">
              <a:latin typeface="Arial Black" panose="020B0A04020102020204" pitchFamily="34" charset="0"/>
            </a:endParaRPr>
          </a:p>
        </p:txBody>
      </p:sp>
      <p:sp>
        <p:nvSpPr>
          <p:cNvPr id="5" name="椭圆 4">
            <a:extLst>
              <a:ext uri="{FF2B5EF4-FFF2-40B4-BE49-F238E27FC236}">
                <a16:creationId xmlns:a16="http://schemas.microsoft.com/office/drawing/2014/main" id="{95F7A9AC-4A66-47D5-B0C5-C27AF77E1337}"/>
              </a:ext>
            </a:extLst>
          </p:cNvPr>
          <p:cNvSpPr/>
          <p:nvPr/>
        </p:nvSpPr>
        <p:spPr>
          <a:xfrm>
            <a:off x="3369169" y="404664"/>
            <a:ext cx="842791" cy="721336"/>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kern="1000" dirty="0">
                <a:latin typeface="Arial Black" panose="020B0A04020102020204" pitchFamily="34" charset="0"/>
              </a:rPr>
              <a:t>V2</a:t>
            </a:r>
            <a:endParaRPr lang="zh-CN" altLang="en-US" b="1" kern="1000" dirty="0">
              <a:latin typeface="Arial Black" panose="020B0A04020102020204" pitchFamily="34" charset="0"/>
            </a:endParaRPr>
          </a:p>
        </p:txBody>
      </p:sp>
      <p:sp>
        <p:nvSpPr>
          <p:cNvPr id="6" name="椭圆 5">
            <a:extLst>
              <a:ext uri="{FF2B5EF4-FFF2-40B4-BE49-F238E27FC236}">
                <a16:creationId xmlns:a16="http://schemas.microsoft.com/office/drawing/2014/main" id="{684893D8-D480-4D65-B7FD-2C3FE04B457B}"/>
              </a:ext>
            </a:extLst>
          </p:cNvPr>
          <p:cNvSpPr/>
          <p:nvPr/>
        </p:nvSpPr>
        <p:spPr>
          <a:xfrm>
            <a:off x="3369169" y="2203608"/>
            <a:ext cx="842791" cy="721336"/>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kern="1000" dirty="0">
                <a:latin typeface="Arial Black" panose="020B0A04020102020204" pitchFamily="34" charset="0"/>
              </a:rPr>
              <a:t>V4</a:t>
            </a:r>
            <a:endParaRPr lang="zh-CN" altLang="en-US" b="1" kern="1000" dirty="0">
              <a:latin typeface="Arial Black" panose="020B0A04020102020204" pitchFamily="34" charset="0"/>
            </a:endParaRPr>
          </a:p>
        </p:txBody>
      </p:sp>
      <p:sp>
        <p:nvSpPr>
          <p:cNvPr id="7" name="椭圆 6">
            <a:extLst>
              <a:ext uri="{FF2B5EF4-FFF2-40B4-BE49-F238E27FC236}">
                <a16:creationId xmlns:a16="http://schemas.microsoft.com/office/drawing/2014/main" id="{93CDECBF-59E1-4C17-9BF2-BFBB65BE1F9D}"/>
              </a:ext>
            </a:extLst>
          </p:cNvPr>
          <p:cNvSpPr/>
          <p:nvPr/>
        </p:nvSpPr>
        <p:spPr>
          <a:xfrm>
            <a:off x="5529409" y="404664"/>
            <a:ext cx="842791" cy="721336"/>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kern="1000" dirty="0">
                <a:latin typeface="Arial Black" panose="020B0A04020102020204" pitchFamily="34" charset="0"/>
              </a:rPr>
              <a:t>V3</a:t>
            </a:r>
            <a:endParaRPr lang="zh-CN" altLang="en-US" b="1" kern="1000" dirty="0">
              <a:latin typeface="Arial Black" panose="020B0A04020102020204" pitchFamily="34" charset="0"/>
            </a:endParaRPr>
          </a:p>
        </p:txBody>
      </p:sp>
      <p:sp>
        <p:nvSpPr>
          <p:cNvPr id="8" name="椭圆 7">
            <a:extLst>
              <a:ext uri="{FF2B5EF4-FFF2-40B4-BE49-F238E27FC236}">
                <a16:creationId xmlns:a16="http://schemas.microsoft.com/office/drawing/2014/main" id="{D618D501-79F1-42A7-ABED-1315ED98E330}"/>
              </a:ext>
            </a:extLst>
          </p:cNvPr>
          <p:cNvSpPr/>
          <p:nvPr/>
        </p:nvSpPr>
        <p:spPr>
          <a:xfrm>
            <a:off x="5529409" y="2132856"/>
            <a:ext cx="842791" cy="721336"/>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kern="1000" dirty="0">
                <a:latin typeface="Arial Black" panose="020B0A04020102020204" pitchFamily="34" charset="0"/>
              </a:rPr>
              <a:t>V5</a:t>
            </a:r>
            <a:endParaRPr lang="zh-CN" altLang="en-US" b="1" kern="1000" dirty="0">
              <a:latin typeface="Arial Black" panose="020B0A04020102020204" pitchFamily="34" charset="0"/>
            </a:endParaRPr>
          </a:p>
        </p:txBody>
      </p:sp>
      <p:sp>
        <p:nvSpPr>
          <p:cNvPr id="9" name="椭圆 8">
            <a:extLst>
              <a:ext uri="{FF2B5EF4-FFF2-40B4-BE49-F238E27FC236}">
                <a16:creationId xmlns:a16="http://schemas.microsoft.com/office/drawing/2014/main" id="{F1EFE5EF-71EB-4C99-9ED4-6A58292701AD}"/>
              </a:ext>
            </a:extLst>
          </p:cNvPr>
          <p:cNvSpPr/>
          <p:nvPr/>
        </p:nvSpPr>
        <p:spPr>
          <a:xfrm>
            <a:off x="1496961" y="3645024"/>
            <a:ext cx="842791" cy="721336"/>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kern="1000" dirty="0">
                <a:latin typeface="Arial Black" panose="020B0A04020102020204" pitchFamily="34" charset="0"/>
              </a:rPr>
              <a:t>V1</a:t>
            </a:r>
            <a:endParaRPr lang="zh-CN" altLang="en-US" b="1" kern="1000" dirty="0">
              <a:latin typeface="Arial Black" panose="020B0A04020102020204" pitchFamily="34" charset="0"/>
            </a:endParaRPr>
          </a:p>
        </p:txBody>
      </p:sp>
      <p:sp>
        <p:nvSpPr>
          <p:cNvPr id="10" name="椭圆 9">
            <a:extLst>
              <a:ext uri="{FF2B5EF4-FFF2-40B4-BE49-F238E27FC236}">
                <a16:creationId xmlns:a16="http://schemas.microsoft.com/office/drawing/2014/main" id="{87DA330D-3DB9-4049-8366-3CC254C09E8E}"/>
              </a:ext>
            </a:extLst>
          </p:cNvPr>
          <p:cNvSpPr/>
          <p:nvPr/>
        </p:nvSpPr>
        <p:spPr>
          <a:xfrm>
            <a:off x="3441177" y="3643768"/>
            <a:ext cx="842791" cy="721336"/>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kern="1000" dirty="0">
                <a:latin typeface="Arial Black" panose="020B0A04020102020204" pitchFamily="34" charset="0"/>
              </a:rPr>
              <a:t>V2</a:t>
            </a:r>
            <a:endParaRPr lang="zh-CN" altLang="en-US" b="1" kern="1000" dirty="0">
              <a:latin typeface="Arial Black" panose="020B0A04020102020204" pitchFamily="34" charset="0"/>
            </a:endParaRPr>
          </a:p>
        </p:txBody>
      </p:sp>
      <p:sp>
        <p:nvSpPr>
          <p:cNvPr id="11" name="椭圆 10">
            <a:extLst>
              <a:ext uri="{FF2B5EF4-FFF2-40B4-BE49-F238E27FC236}">
                <a16:creationId xmlns:a16="http://schemas.microsoft.com/office/drawing/2014/main" id="{AD952202-1936-47D4-AF22-CDA2C6ED2879}"/>
              </a:ext>
            </a:extLst>
          </p:cNvPr>
          <p:cNvSpPr/>
          <p:nvPr/>
        </p:nvSpPr>
        <p:spPr>
          <a:xfrm>
            <a:off x="5529409" y="3643768"/>
            <a:ext cx="842791" cy="721336"/>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kern="1000" dirty="0">
                <a:latin typeface="Arial Black" panose="020B0A04020102020204" pitchFamily="34" charset="0"/>
              </a:rPr>
              <a:t>V3</a:t>
            </a:r>
            <a:endParaRPr lang="zh-CN" altLang="en-US" b="1" kern="1000" dirty="0">
              <a:latin typeface="Arial Black" panose="020B0A04020102020204" pitchFamily="34" charset="0"/>
            </a:endParaRPr>
          </a:p>
        </p:txBody>
      </p:sp>
      <p:cxnSp>
        <p:nvCxnSpPr>
          <p:cNvPr id="13" name="直接箭头连接符 12">
            <a:extLst>
              <a:ext uri="{FF2B5EF4-FFF2-40B4-BE49-F238E27FC236}">
                <a16:creationId xmlns:a16="http://schemas.microsoft.com/office/drawing/2014/main" id="{C928D064-26D3-49E4-B611-A5604B504225}"/>
              </a:ext>
            </a:extLst>
          </p:cNvPr>
          <p:cNvCxnSpPr>
            <a:stCxn id="3" idx="7"/>
          </p:cNvCxnSpPr>
          <p:nvPr/>
        </p:nvCxnSpPr>
        <p:spPr>
          <a:xfrm flipV="1">
            <a:off x="2216328" y="908720"/>
            <a:ext cx="1152841" cy="53642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34DDE091-8848-4B4F-A824-E5A431547C2F}"/>
              </a:ext>
            </a:extLst>
          </p:cNvPr>
          <p:cNvCxnSpPr>
            <a:stCxn id="7" idx="2"/>
            <a:endCxn id="5" idx="6"/>
          </p:cNvCxnSpPr>
          <p:nvPr/>
        </p:nvCxnSpPr>
        <p:spPr>
          <a:xfrm flipH="1">
            <a:off x="4211960" y="765332"/>
            <a:ext cx="1317449"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29F84846-5018-4BFA-8B4B-DCF2B721664E}"/>
              </a:ext>
            </a:extLst>
          </p:cNvPr>
          <p:cNvCxnSpPr>
            <a:stCxn id="6" idx="2"/>
            <a:endCxn id="3" idx="5"/>
          </p:cNvCxnSpPr>
          <p:nvPr/>
        </p:nvCxnSpPr>
        <p:spPr>
          <a:xfrm flipH="1" flipV="1">
            <a:off x="2216328" y="1955211"/>
            <a:ext cx="1152841" cy="60906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55B6B132-39BC-4FE3-B975-48487AAF5A87}"/>
              </a:ext>
            </a:extLst>
          </p:cNvPr>
          <p:cNvCxnSpPr>
            <a:stCxn id="6" idx="0"/>
            <a:endCxn id="5" idx="4"/>
          </p:cNvCxnSpPr>
          <p:nvPr/>
        </p:nvCxnSpPr>
        <p:spPr>
          <a:xfrm flipV="1">
            <a:off x="3790565" y="1126000"/>
            <a:ext cx="0" cy="107760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08552679-0579-4A11-B6DD-4BC532C529FA}"/>
              </a:ext>
            </a:extLst>
          </p:cNvPr>
          <p:cNvCxnSpPr>
            <a:stCxn id="7" idx="4"/>
            <a:endCxn id="8" idx="0"/>
          </p:cNvCxnSpPr>
          <p:nvPr/>
        </p:nvCxnSpPr>
        <p:spPr>
          <a:xfrm>
            <a:off x="5950805" y="1126000"/>
            <a:ext cx="0" cy="100685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D907CD3F-BBC5-4690-ABC5-EAE2CDF8EDC5}"/>
              </a:ext>
            </a:extLst>
          </p:cNvPr>
          <p:cNvCxnSpPr>
            <a:cxnSpLocks/>
            <a:stCxn id="8" idx="2"/>
            <a:endCxn id="6" idx="6"/>
          </p:cNvCxnSpPr>
          <p:nvPr/>
        </p:nvCxnSpPr>
        <p:spPr>
          <a:xfrm flipH="1">
            <a:off x="4211960" y="2493524"/>
            <a:ext cx="1317449" cy="7075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5" name="椭圆 24">
            <a:extLst>
              <a:ext uri="{FF2B5EF4-FFF2-40B4-BE49-F238E27FC236}">
                <a16:creationId xmlns:a16="http://schemas.microsoft.com/office/drawing/2014/main" id="{B583E616-5260-4F93-A4E2-B79AC2B5E158}"/>
              </a:ext>
            </a:extLst>
          </p:cNvPr>
          <p:cNvSpPr/>
          <p:nvPr/>
        </p:nvSpPr>
        <p:spPr>
          <a:xfrm>
            <a:off x="1496961" y="5155936"/>
            <a:ext cx="842791" cy="721336"/>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kern="1000" dirty="0">
                <a:latin typeface="Arial Black" panose="020B0A04020102020204" pitchFamily="34" charset="0"/>
              </a:rPr>
              <a:t>V4</a:t>
            </a:r>
            <a:endParaRPr lang="zh-CN" altLang="en-US" b="1" kern="1000" dirty="0">
              <a:latin typeface="Arial Black" panose="020B0A04020102020204" pitchFamily="34" charset="0"/>
            </a:endParaRPr>
          </a:p>
        </p:txBody>
      </p:sp>
      <p:sp>
        <p:nvSpPr>
          <p:cNvPr id="26" name="椭圆 25">
            <a:extLst>
              <a:ext uri="{FF2B5EF4-FFF2-40B4-BE49-F238E27FC236}">
                <a16:creationId xmlns:a16="http://schemas.microsoft.com/office/drawing/2014/main" id="{D56F6EB4-2124-4D09-B293-1DEBF99CF030}"/>
              </a:ext>
            </a:extLst>
          </p:cNvPr>
          <p:cNvSpPr/>
          <p:nvPr/>
        </p:nvSpPr>
        <p:spPr>
          <a:xfrm>
            <a:off x="3441177" y="5155936"/>
            <a:ext cx="842791" cy="721336"/>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kern="1000" dirty="0">
                <a:latin typeface="Arial Black" panose="020B0A04020102020204" pitchFamily="34" charset="0"/>
              </a:rPr>
              <a:t>V5</a:t>
            </a:r>
            <a:endParaRPr lang="zh-CN" altLang="en-US" b="1" kern="1000" dirty="0">
              <a:latin typeface="Arial Black" panose="020B0A04020102020204" pitchFamily="34" charset="0"/>
            </a:endParaRPr>
          </a:p>
        </p:txBody>
      </p:sp>
      <p:sp>
        <p:nvSpPr>
          <p:cNvPr id="27" name="椭圆 26">
            <a:extLst>
              <a:ext uri="{FF2B5EF4-FFF2-40B4-BE49-F238E27FC236}">
                <a16:creationId xmlns:a16="http://schemas.microsoft.com/office/drawing/2014/main" id="{A454A9E2-DB09-46E2-AB59-03BFD97A9B04}"/>
              </a:ext>
            </a:extLst>
          </p:cNvPr>
          <p:cNvSpPr/>
          <p:nvPr/>
        </p:nvSpPr>
        <p:spPr>
          <a:xfrm>
            <a:off x="5529409" y="5155936"/>
            <a:ext cx="842791" cy="721336"/>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kern="1000" dirty="0">
                <a:latin typeface="Arial Black" panose="020B0A04020102020204" pitchFamily="34" charset="0"/>
              </a:rPr>
              <a:t>V6</a:t>
            </a:r>
            <a:endParaRPr lang="zh-CN" altLang="en-US" b="1" kern="1000" dirty="0">
              <a:latin typeface="Arial Black" panose="020B0A04020102020204" pitchFamily="34" charset="0"/>
            </a:endParaRPr>
          </a:p>
        </p:txBody>
      </p:sp>
      <p:cxnSp>
        <p:nvCxnSpPr>
          <p:cNvPr id="29" name="直接箭头连接符 28">
            <a:extLst>
              <a:ext uri="{FF2B5EF4-FFF2-40B4-BE49-F238E27FC236}">
                <a16:creationId xmlns:a16="http://schemas.microsoft.com/office/drawing/2014/main" id="{A8CE6395-E2E4-4F91-B80E-A871469E6361}"/>
              </a:ext>
            </a:extLst>
          </p:cNvPr>
          <p:cNvCxnSpPr>
            <a:stCxn id="9" idx="6"/>
            <a:endCxn id="10" idx="2"/>
          </p:cNvCxnSpPr>
          <p:nvPr/>
        </p:nvCxnSpPr>
        <p:spPr>
          <a:xfrm flipV="1">
            <a:off x="2339752" y="4004436"/>
            <a:ext cx="1101425" cy="125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EFA604DF-D1C6-464A-AF8B-7069B3A2EBA0}"/>
              </a:ext>
            </a:extLst>
          </p:cNvPr>
          <p:cNvCxnSpPr>
            <a:stCxn id="11" idx="2"/>
            <a:endCxn id="10" idx="6"/>
          </p:cNvCxnSpPr>
          <p:nvPr/>
        </p:nvCxnSpPr>
        <p:spPr>
          <a:xfrm flipH="1">
            <a:off x="4283968" y="4004436"/>
            <a:ext cx="1245441"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5A4F5399-A8B3-4E94-AEB2-57544C1491E2}"/>
              </a:ext>
            </a:extLst>
          </p:cNvPr>
          <p:cNvCxnSpPr>
            <a:stCxn id="26" idx="0"/>
            <a:endCxn id="10" idx="4"/>
          </p:cNvCxnSpPr>
          <p:nvPr/>
        </p:nvCxnSpPr>
        <p:spPr>
          <a:xfrm flipV="1">
            <a:off x="3862573" y="4365104"/>
            <a:ext cx="0" cy="79083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40B97E92-F98D-42A4-B93C-1A66C6196E9E}"/>
              </a:ext>
            </a:extLst>
          </p:cNvPr>
          <p:cNvCxnSpPr>
            <a:stCxn id="11" idx="4"/>
            <a:endCxn id="27" idx="0"/>
          </p:cNvCxnSpPr>
          <p:nvPr/>
        </p:nvCxnSpPr>
        <p:spPr>
          <a:xfrm>
            <a:off x="5950805" y="4365104"/>
            <a:ext cx="0" cy="79083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BC58DC0B-4052-4FCB-B177-90D23F306468}"/>
              </a:ext>
            </a:extLst>
          </p:cNvPr>
          <p:cNvCxnSpPr>
            <a:stCxn id="27" idx="2"/>
            <a:endCxn id="26" idx="6"/>
          </p:cNvCxnSpPr>
          <p:nvPr/>
        </p:nvCxnSpPr>
        <p:spPr>
          <a:xfrm flipH="1">
            <a:off x="4283968" y="5516604"/>
            <a:ext cx="1245441"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967651D3-69CD-4B0B-A666-E8987905E364}"/>
              </a:ext>
            </a:extLst>
          </p:cNvPr>
          <p:cNvCxnSpPr>
            <a:endCxn id="9" idx="5"/>
          </p:cNvCxnSpPr>
          <p:nvPr/>
        </p:nvCxnSpPr>
        <p:spPr>
          <a:xfrm flipH="1" flipV="1">
            <a:off x="2216328" y="4260723"/>
            <a:ext cx="1224849" cy="104048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F3419357-BF35-47F5-8B7E-5B33E8FF6AAD}"/>
              </a:ext>
            </a:extLst>
          </p:cNvPr>
          <p:cNvCxnSpPr>
            <a:stCxn id="9" idx="4"/>
            <a:endCxn id="25" idx="0"/>
          </p:cNvCxnSpPr>
          <p:nvPr/>
        </p:nvCxnSpPr>
        <p:spPr>
          <a:xfrm>
            <a:off x="1918357" y="4366360"/>
            <a:ext cx="0" cy="78957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F505784F-5517-427C-A17F-E883AA4E1C75}"/>
              </a:ext>
            </a:extLst>
          </p:cNvPr>
          <p:cNvSpPr txBox="1"/>
          <p:nvPr/>
        </p:nvSpPr>
        <p:spPr>
          <a:xfrm>
            <a:off x="251520" y="404664"/>
            <a:ext cx="2160240" cy="523220"/>
          </a:xfrm>
          <a:prstGeom prst="rect">
            <a:avLst/>
          </a:prstGeom>
          <a:noFill/>
        </p:spPr>
        <p:txBody>
          <a:bodyPr wrap="square" rtlCol="0">
            <a:spAutoFit/>
          </a:bodyPr>
          <a:lstStyle/>
          <a:p>
            <a:r>
              <a:rPr lang="zh-CN" altLang="en-US" sz="2800" b="1" dirty="0"/>
              <a:t>测试用例一</a:t>
            </a:r>
          </a:p>
        </p:txBody>
      </p:sp>
      <p:sp>
        <p:nvSpPr>
          <p:cNvPr id="43" name="文本框 42">
            <a:extLst>
              <a:ext uri="{FF2B5EF4-FFF2-40B4-BE49-F238E27FC236}">
                <a16:creationId xmlns:a16="http://schemas.microsoft.com/office/drawing/2014/main" id="{94477BAA-ED02-433E-BEE4-B922451071B3}"/>
              </a:ext>
            </a:extLst>
          </p:cNvPr>
          <p:cNvSpPr txBox="1"/>
          <p:nvPr/>
        </p:nvSpPr>
        <p:spPr>
          <a:xfrm>
            <a:off x="251520" y="2833772"/>
            <a:ext cx="2160240" cy="523220"/>
          </a:xfrm>
          <a:prstGeom prst="rect">
            <a:avLst/>
          </a:prstGeom>
          <a:noFill/>
        </p:spPr>
        <p:txBody>
          <a:bodyPr wrap="square" rtlCol="0">
            <a:spAutoFit/>
          </a:bodyPr>
          <a:lstStyle/>
          <a:p>
            <a:r>
              <a:rPr lang="zh-CN" altLang="en-US" sz="2800" b="1" dirty="0"/>
              <a:t>测试用例二</a:t>
            </a:r>
          </a:p>
        </p:txBody>
      </p:sp>
    </p:spTree>
    <p:extLst>
      <p:ext uri="{BB962C8B-B14F-4D97-AF65-F5344CB8AC3E}">
        <p14:creationId xmlns:p14="http://schemas.microsoft.com/office/powerpoint/2010/main" val="280184584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4A6CF75-1D27-4452-A634-CD0ECCA3229A}"/>
              </a:ext>
            </a:extLst>
          </p:cNvPr>
          <p:cNvSpPr>
            <a:spLocks noGrp="1"/>
          </p:cNvSpPr>
          <p:nvPr>
            <p:ph type="dt" sz="half" idx="10"/>
          </p:nvPr>
        </p:nvSpPr>
        <p:spPr/>
        <p:txBody>
          <a:bodyPr/>
          <a:lstStyle/>
          <a:p>
            <a:fld id="{9A6B2991-BBE5-4E69-A281-1A8B0AE9CDD7}" type="datetime1">
              <a:rPr lang="zh-CN" altLang="en-US" smtClean="0"/>
              <a:pPr/>
              <a:t>2025/5/6</a:t>
            </a:fld>
            <a:endParaRPr lang="zh-CN" altLang="en-US"/>
          </a:p>
        </p:txBody>
      </p:sp>
      <p:pic>
        <p:nvPicPr>
          <p:cNvPr id="4" name="图片 3">
            <a:extLst>
              <a:ext uri="{FF2B5EF4-FFF2-40B4-BE49-F238E27FC236}">
                <a16:creationId xmlns:a16="http://schemas.microsoft.com/office/drawing/2014/main" id="{9CF2988E-8B52-434C-B285-A076874378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552" y="-27384"/>
            <a:ext cx="8235520" cy="4220919"/>
          </a:xfrm>
          <a:prstGeom prst="rect">
            <a:avLst/>
          </a:prstGeom>
        </p:spPr>
      </p:pic>
      <p:sp>
        <p:nvSpPr>
          <p:cNvPr id="5" name="文本框 4">
            <a:extLst>
              <a:ext uri="{FF2B5EF4-FFF2-40B4-BE49-F238E27FC236}">
                <a16:creationId xmlns:a16="http://schemas.microsoft.com/office/drawing/2014/main" id="{EE5F0079-F5D4-45C3-8D9D-F7AAB1AB56E8}"/>
              </a:ext>
            </a:extLst>
          </p:cNvPr>
          <p:cNvSpPr txBox="1"/>
          <p:nvPr/>
        </p:nvSpPr>
        <p:spPr>
          <a:xfrm>
            <a:off x="755576" y="4293096"/>
            <a:ext cx="4536504" cy="523220"/>
          </a:xfrm>
          <a:prstGeom prst="rect">
            <a:avLst/>
          </a:prstGeom>
          <a:noFill/>
        </p:spPr>
        <p:txBody>
          <a:bodyPr wrap="square" rtlCol="0">
            <a:spAutoFit/>
          </a:bodyPr>
          <a:lstStyle/>
          <a:p>
            <a:r>
              <a:rPr lang="zh-CN" altLang="en-US" sz="2800" dirty="0"/>
              <a:t>求青椒炒肉步骤：</a:t>
            </a:r>
          </a:p>
        </p:txBody>
      </p:sp>
      <p:pic>
        <p:nvPicPr>
          <p:cNvPr id="7" name="图片 6">
            <a:extLst>
              <a:ext uri="{FF2B5EF4-FFF2-40B4-BE49-F238E27FC236}">
                <a16:creationId xmlns:a16="http://schemas.microsoft.com/office/drawing/2014/main" id="{92F1DE2D-B823-41DB-BF75-A49E2AA744B1}"/>
              </a:ext>
            </a:extLst>
          </p:cNvPr>
          <p:cNvPicPr>
            <a:picLocks noChangeAspect="1"/>
          </p:cNvPicPr>
          <p:nvPr/>
        </p:nvPicPr>
        <p:blipFill>
          <a:blip r:embed="rId4"/>
          <a:stretch>
            <a:fillRect/>
          </a:stretch>
        </p:blipFill>
        <p:spPr>
          <a:xfrm>
            <a:off x="14287" y="5146501"/>
            <a:ext cx="9115425" cy="1666875"/>
          </a:xfrm>
          <a:prstGeom prst="rect">
            <a:avLst/>
          </a:prstGeom>
        </p:spPr>
      </p:pic>
      <p:sp>
        <p:nvSpPr>
          <p:cNvPr id="9" name="文本框 8">
            <a:extLst>
              <a:ext uri="{FF2B5EF4-FFF2-40B4-BE49-F238E27FC236}">
                <a16:creationId xmlns:a16="http://schemas.microsoft.com/office/drawing/2014/main" id="{593B3913-7F91-4EBD-841C-1C2CB8D0B7CE}"/>
              </a:ext>
            </a:extLst>
          </p:cNvPr>
          <p:cNvSpPr txBox="1"/>
          <p:nvPr/>
        </p:nvSpPr>
        <p:spPr>
          <a:xfrm>
            <a:off x="251520" y="260648"/>
            <a:ext cx="2160240" cy="523220"/>
          </a:xfrm>
          <a:prstGeom prst="rect">
            <a:avLst/>
          </a:prstGeom>
          <a:noFill/>
        </p:spPr>
        <p:txBody>
          <a:bodyPr wrap="square" rtlCol="0">
            <a:spAutoFit/>
          </a:bodyPr>
          <a:lstStyle/>
          <a:p>
            <a:r>
              <a:rPr lang="zh-CN" altLang="en-US" sz="2800" b="1" dirty="0"/>
              <a:t>测试用例三</a:t>
            </a:r>
          </a:p>
        </p:txBody>
      </p:sp>
    </p:spTree>
    <p:extLst>
      <p:ext uri="{BB962C8B-B14F-4D97-AF65-F5344CB8AC3E}">
        <p14:creationId xmlns:p14="http://schemas.microsoft.com/office/powerpoint/2010/main" val="105648219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611DB56-8BEF-470A-8B8B-0DF9331668ED}"/>
              </a:ext>
            </a:extLst>
          </p:cNvPr>
          <p:cNvSpPr>
            <a:spLocks noGrp="1"/>
          </p:cNvSpPr>
          <p:nvPr>
            <p:ph type="dt" sz="half" idx="10"/>
          </p:nvPr>
        </p:nvSpPr>
        <p:spPr/>
        <p:txBody>
          <a:bodyPr/>
          <a:lstStyle/>
          <a:p>
            <a:fld id="{9A6B2991-BBE5-4E69-A281-1A8B0AE9CDD7}" type="datetime1">
              <a:rPr lang="zh-CN" altLang="en-US" smtClean="0"/>
              <a:pPr/>
              <a:t>2025/5/5</a:t>
            </a:fld>
            <a:endParaRPr lang="zh-CN" altLang="en-US"/>
          </a:p>
        </p:txBody>
      </p:sp>
      <p:sp>
        <p:nvSpPr>
          <p:cNvPr id="4" name="文本框 3">
            <a:extLst>
              <a:ext uri="{FF2B5EF4-FFF2-40B4-BE49-F238E27FC236}">
                <a16:creationId xmlns:a16="http://schemas.microsoft.com/office/drawing/2014/main" id="{CBED5582-A985-4928-9C2A-207B41ADD2B2}"/>
              </a:ext>
            </a:extLst>
          </p:cNvPr>
          <p:cNvSpPr txBox="1"/>
          <p:nvPr/>
        </p:nvSpPr>
        <p:spPr>
          <a:xfrm>
            <a:off x="35496" y="332656"/>
            <a:ext cx="8856984" cy="5693866"/>
          </a:xfrm>
          <a:prstGeom prst="rect">
            <a:avLst/>
          </a:prstGeom>
          <a:noFill/>
        </p:spPr>
        <p:txBody>
          <a:bodyPr wrap="square" rtlCol="0">
            <a:spAutoFit/>
          </a:bodyPr>
          <a:lstStyle/>
          <a:p>
            <a:r>
              <a:rPr lang="zh-CN" altLang="zh-CN" sz="2800" b="1" dirty="0">
                <a:solidFill>
                  <a:srgbClr val="FF0000"/>
                </a:solidFill>
              </a:rPr>
              <a:t>广度优先拓扑排序</a:t>
            </a:r>
            <a:r>
              <a:rPr lang="zh-CN" altLang="en-US" sz="2800" b="1" dirty="0">
                <a:solidFill>
                  <a:srgbClr val="FF0000"/>
                </a:solidFill>
              </a:rPr>
              <a:t>：</a:t>
            </a:r>
            <a:endParaRPr lang="en-US" altLang="zh-CN" sz="2800" b="1" dirty="0">
              <a:solidFill>
                <a:srgbClr val="FF0000"/>
              </a:solidFill>
            </a:endParaRPr>
          </a:p>
          <a:p>
            <a:r>
              <a:rPr lang="zh-CN" altLang="en-US" sz="2800" b="1" dirty="0">
                <a:solidFill>
                  <a:srgbClr val="FF0000"/>
                </a:solidFill>
              </a:rPr>
              <a:t>借助队列，来一次</a:t>
            </a:r>
            <a:r>
              <a:rPr lang="en-US" altLang="zh-CN" sz="2800" b="1" dirty="0">
                <a:solidFill>
                  <a:srgbClr val="FF0000"/>
                </a:solidFill>
              </a:rPr>
              <a:t>BFS</a:t>
            </a:r>
          </a:p>
          <a:p>
            <a:r>
              <a:rPr lang="zh-CN" altLang="en-US" sz="2800" b="1" dirty="0">
                <a:solidFill>
                  <a:srgbClr val="FF0000"/>
                </a:solidFill>
              </a:rPr>
              <a:t>初始化：将所有入度为</a:t>
            </a:r>
            <a:r>
              <a:rPr lang="en-US" altLang="zh-CN" sz="2800" b="1" dirty="0">
                <a:solidFill>
                  <a:srgbClr val="FF0000"/>
                </a:solidFill>
              </a:rPr>
              <a:t>0</a:t>
            </a:r>
            <a:r>
              <a:rPr lang="zh-CN" altLang="en-US" sz="2800" b="1" dirty="0">
                <a:solidFill>
                  <a:srgbClr val="FF0000"/>
                </a:solidFill>
              </a:rPr>
              <a:t>的顶点加入到队列中</a:t>
            </a:r>
            <a:endParaRPr lang="en-US" altLang="zh-CN" sz="2800" b="1" dirty="0">
              <a:solidFill>
                <a:srgbClr val="FF0000"/>
              </a:solidFill>
            </a:endParaRPr>
          </a:p>
          <a:p>
            <a:r>
              <a:rPr lang="zh-CN" altLang="en-US" sz="2800" b="1" dirty="0">
                <a:solidFill>
                  <a:srgbClr val="FF0000"/>
                </a:solidFill>
              </a:rPr>
              <a:t>当队列不为空时</a:t>
            </a:r>
            <a:endParaRPr lang="en-US" altLang="zh-CN" sz="2800" b="1" dirty="0">
              <a:solidFill>
                <a:srgbClr val="FF0000"/>
              </a:solidFill>
            </a:endParaRPr>
          </a:p>
          <a:p>
            <a:r>
              <a:rPr lang="en-US" altLang="zh-CN" sz="2800" b="1" dirty="0">
                <a:solidFill>
                  <a:srgbClr val="FF0000"/>
                </a:solidFill>
              </a:rPr>
              <a:t>     1</a:t>
            </a:r>
            <a:r>
              <a:rPr lang="zh-CN" altLang="en-US" sz="2800" b="1" dirty="0">
                <a:solidFill>
                  <a:srgbClr val="FF0000"/>
                </a:solidFill>
              </a:rPr>
              <a:t>、拿出对头元素，加入到最终结果中</a:t>
            </a:r>
            <a:endParaRPr lang="en-US" altLang="zh-CN" sz="2800" b="1" dirty="0">
              <a:solidFill>
                <a:srgbClr val="FF0000"/>
              </a:solidFill>
            </a:endParaRPr>
          </a:p>
          <a:p>
            <a:r>
              <a:rPr lang="en-US" altLang="zh-CN" sz="2800" b="1" dirty="0">
                <a:solidFill>
                  <a:srgbClr val="FF0000"/>
                </a:solidFill>
              </a:rPr>
              <a:t>     2</a:t>
            </a:r>
            <a:r>
              <a:rPr lang="zh-CN" altLang="en-US" sz="2800" b="1" dirty="0">
                <a:solidFill>
                  <a:srgbClr val="FF0000"/>
                </a:solidFill>
              </a:rPr>
              <a:t>、删除与该元素相连的弧</a:t>
            </a:r>
            <a:endParaRPr lang="en-US" altLang="zh-CN" sz="2800" b="1" dirty="0">
              <a:solidFill>
                <a:srgbClr val="FF0000"/>
              </a:solidFill>
            </a:endParaRPr>
          </a:p>
          <a:p>
            <a:r>
              <a:rPr lang="en-US" altLang="zh-CN" sz="2800" b="1" dirty="0">
                <a:solidFill>
                  <a:srgbClr val="FF0000"/>
                </a:solidFill>
              </a:rPr>
              <a:t>     3</a:t>
            </a:r>
            <a:r>
              <a:rPr lang="zh-CN" altLang="en-US" sz="2800" b="1" dirty="0">
                <a:solidFill>
                  <a:srgbClr val="FF0000"/>
                </a:solidFill>
              </a:rPr>
              <a:t>、判断：与删除弧相连的顶点，是否入度变为</a:t>
            </a:r>
            <a:r>
              <a:rPr lang="en-US" altLang="zh-CN" sz="2800" b="1" dirty="0">
                <a:solidFill>
                  <a:srgbClr val="FF0000"/>
                </a:solidFill>
              </a:rPr>
              <a:t>0</a:t>
            </a:r>
            <a:r>
              <a:rPr lang="zh-CN" altLang="en-US" sz="2800" b="1" dirty="0">
                <a:solidFill>
                  <a:srgbClr val="FF0000"/>
                </a:solidFill>
              </a:rPr>
              <a:t>，如果入度为</a:t>
            </a:r>
            <a:r>
              <a:rPr lang="en-US" altLang="zh-CN" sz="2800" b="1" dirty="0">
                <a:solidFill>
                  <a:srgbClr val="FF0000"/>
                </a:solidFill>
              </a:rPr>
              <a:t>0</a:t>
            </a:r>
            <a:r>
              <a:rPr lang="zh-CN" altLang="en-US" sz="2800" b="1" dirty="0">
                <a:solidFill>
                  <a:srgbClr val="FF0000"/>
                </a:solidFill>
              </a:rPr>
              <a:t>，加入到队列中</a:t>
            </a:r>
            <a:endParaRPr lang="en-US" altLang="zh-CN" sz="2800" b="1" dirty="0">
              <a:solidFill>
                <a:srgbClr val="FF0000"/>
              </a:solidFill>
            </a:endParaRPr>
          </a:p>
          <a:p>
            <a:endParaRPr lang="en-US" altLang="zh-CN" sz="2800" b="1" dirty="0">
              <a:solidFill>
                <a:srgbClr val="FF0000"/>
              </a:solidFill>
            </a:endParaRPr>
          </a:p>
          <a:p>
            <a:r>
              <a:rPr lang="zh-CN" altLang="en-US" sz="2800" b="1" dirty="0">
                <a:solidFill>
                  <a:srgbClr val="FF0000"/>
                </a:solidFill>
              </a:rPr>
              <a:t>如何判断有向图中是否有环？</a:t>
            </a:r>
            <a:endParaRPr lang="en-US" altLang="zh-CN" sz="2800" b="1" dirty="0">
              <a:solidFill>
                <a:srgbClr val="FF0000"/>
              </a:solidFill>
            </a:endParaRPr>
          </a:p>
          <a:p>
            <a:r>
              <a:rPr lang="zh-CN" altLang="en-US" sz="2800" b="1" dirty="0">
                <a:solidFill>
                  <a:srgbClr val="FF0000"/>
                </a:solidFill>
              </a:rPr>
              <a:t>直接对图来一次拓扑排序，当拓扑排序中，发现没有入度为</a:t>
            </a:r>
            <a:r>
              <a:rPr lang="en-US" altLang="zh-CN" sz="2800" b="1" dirty="0">
                <a:solidFill>
                  <a:srgbClr val="FF0000"/>
                </a:solidFill>
              </a:rPr>
              <a:t>0</a:t>
            </a:r>
            <a:r>
              <a:rPr lang="zh-CN" altLang="en-US" sz="2800" b="1" dirty="0">
                <a:solidFill>
                  <a:srgbClr val="FF0000"/>
                </a:solidFill>
              </a:rPr>
              <a:t>的顶点，但是图中还有剩余顶点时候，此时该图一定存在环形结构。</a:t>
            </a:r>
          </a:p>
        </p:txBody>
      </p:sp>
    </p:spTree>
    <p:extLst>
      <p:ext uri="{BB962C8B-B14F-4D97-AF65-F5344CB8AC3E}">
        <p14:creationId xmlns:p14="http://schemas.microsoft.com/office/powerpoint/2010/main" val="238155417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6.6  </a:t>
            </a:r>
            <a:r>
              <a:rPr lang="zh-CN" altLang="zh-CN" b="1" dirty="0"/>
              <a:t>图的应用</a:t>
            </a:r>
            <a:r>
              <a:rPr lang="en-US" altLang="zh-CN" b="1" dirty="0"/>
              <a:t>3</a:t>
            </a:r>
            <a:r>
              <a:rPr lang="zh-CN" altLang="zh-CN" b="1" dirty="0"/>
              <a:t>：</a:t>
            </a:r>
            <a:r>
              <a:rPr lang="zh-CN" altLang="zh-CN" b="1" dirty="0">
                <a:solidFill>
                  <a:srgbClr val="FF0000"/>
                </a:solidFill>
              </a:rPr>
              <a:t>最短路径</a:t>
            </a:r>
            <a:endParaRPr lang="zh-CN" altLang="en-US" dirty="0">
              <a:solidFill>
                <a:srgbClr val="FF0000"/>
              </a:solidFill>
            </a:endParaRPr>
          </a:p>
        </p:txBody>
      </p:sp>
      <p:sp>
        <p:nvSpPr>
          <p:cNvPr id="3" name="内容占位符 2"/>
          <p:cNvSpPr>
            <a:spLocks noGrp="1"/>
          </p:cNvSpPr>
          <p:nvPr>
            <p:ph idx="1"/>
          </p:nvPr>
        </p:nvSpPr>
        <p:spPr>
          <a:xfrm>
            <a:off x="179512" y="1772816"/>
            <a:ext cx="8964488" cy="3579849"/>
          </a:xfrm>
        </p:spPr>
        <p:txBody>
          <a:bodyPr/>
          <a:lstStyle/>
          <a:p>
            <a:r>
              <a:rPr lang="en-US" altLang="zh-CN" b="0" dirty="0"/>
              <a:t>	</a:t>
            </a:r>
            <a:r>
              <a:rPr lang="zh-CN" altLang="zh-CN" dirty="0">
                <a:solidFill>
                  <a:srgbClr val="FF0000"/>
                </a:solidFill>
              </a:rPr>
              <a:t>路径代价</a:t>
            </a:r>
            <a:r>
              <a:rPr lang="zh-CN" altLang="zh-CN" b="0" dirty="0"/>
              <a:t>为路径上所有边的权值之和</a:t>
            </a:r>
            <a:r>
              <a:rPr lang="zh-CN" altLang="en-US" b="0" dirty="0"/>
              <a:t>。</a:t>
            </a:r>
            <a:endParaRPr lang="en-US" altLang="zh-CN" b="0" dirty="0"/>
          </a:p>
          <a:p>
            <a:r>
              <a:rPr lang="en-US" altLang="zh-CN" b="0" dirty="0"/>
              <a:t>	</a:t>
            </a:r>
            <a:r>
              <a:rPr lang="zh-CN" altLang="zh-CN" b="0" dirty="0"/>
              <a:t>假定两个顶点</a:t>
            </a:r>
            <a:r>
              <a:rPr lang="en-US" altLang="zh-CN" b="0" dirty="0"/>
              <a:t>v</a:t>
            </a:r>
            <a:r>
              <a:rPr lang="en-US" altLang="zh-CN" b="0" baseline="-25000" dirty="0"/>
              <a:t>i</a:t>
            </a:r>
            <a:r>
              <a:rPr lang="zh-CN" altLang="zh-CN" b="0" dirty="0"/>
              <a:t>和</a:t>
            </a:r>
            <a:r>
              <a:rPr lang="en-US" altLang="zh-CN" b="0" dirty="0" err="1"/>
              <a:t>v</a:t>
            </a:r>
            <a:r>
              <a:rPr lang="en-US" altLang="zh-CN" b="0" baseline="-25000" dirty="0" err="1"/>
              <a:t>j</a:t>
            </a:r>
            <a:r>
              <a:rPr lang="zh-CN" altLang="zh-CN" b="0" dirty="0"/>
              <a:t>，从</a:t>
            </a:r>
            <a:r>
              <a:rPr lang="en-US" altLang="zh-CN" b="0" dirty="0"/>
              <a:t>v</a:t>
            </a:r>
            <a:r>
              <a:rPr lang="en-US" altLang="zh-CN" b="0" baseline="-25000" dirty="0"/>
              <a:t>i</a:t>
            </a:r>
            <a:r>
              <a:rPr lang="zh-CN" altLang="zh-CN" b="0" dirty="0"/>
              <a:t>到</a:t>
            </a:r>
            <a:r>
              <a:rPr lang="en-US" altLang="zh-CN" b="0" dirty="0" err="1"/>
              <a:t>v</a:t>
            </a:r>
            <a:r>
              <a:rPr lang="en-US" altLang="zh-CN" b="0" baseline="-25000" dirty="0" err="1"/>
              <a:t>j</a:t>
            </a:r>
            <a:r>
              <a:rPr lang="zh-CN" altLang="zh-CN" b="0" dirty="0"/>
              <a:t>有多条路径存在时，权值最小（即路径代价最小）的路径称为这两个顶点之间的</a:t>
            </a:r>
            <a:r>
              <a:rPr lang="zh-CN" altLang="zh-CN" dirty="0">
                <a:solidFill>
                  <a:srgbClr val="FF0000"/>
                </a:solidFill>
              </a:rPr>
              <a:t>最短路径</a:t>
            </a:r>
            <a:r>
              <a:rPr lang="zh-CN" altLang="zh-CN" b="0" dirty="0"/>
              <a:t>。</a:t>
            </a:r>
          </a:p>
          <a:p>
            <a:r>
              <a:rPr lang="en-US" altLang="zh-CN" b="0" dirty="0"/>
              <a:t>    </a:t>
            </a:r>
            <a:r>
              <a:rPr lang="zh-CN" altLang="zh-CN" b="0" dirty="0"/>
              <a:t>对于给定的两个顶点</a:t>
            </a:r>
            <a:r>
              <a:rPr lang="en-US" altLang="zh-CN" b="0" dirty="0"/>
              <a:t>v</a:t>
            </a:r>
            <a:r>
              <a:rPr lang="en-US" altLang="zh-CN" b="0" baseline="-25000" dirty="0"/>
              <a:t>i</a:t>
            </a:r>
            <a:r>
              <a:rPr lang="zh-CN" altLang="zh-CN" b="0" dirty="0"/>
              <a:t>和</a:t>
            </a:r>
            <a:r>
              <a:rPr lang="en-US" altLang="zh-CN" b="0" dirty="0" err="1"/>
              <a:t>v</a:t>
            </a:r>
            <a:r>
              <a:rPr lang="en-US" altLang="zh-CN" b="0" baseline="-25000" dirty="0" err="1"/>
              <a:t>j</a:t>
            </a:r>
            <a:r>
              <a:rPr lang="zh-CN" altLang="zh-CN" b="0" dirty="0"/>
              <a:t>，最短路径问题需要</a:t>
            </a:r>
            <a:r>
              <a:rPr lang="zh-CN" altLang="zh-CN" dirty="0">
                <a:solidFill>
                  <a:srgbClr val="FF0000"/>
                </a:solidFill>
              </a:rPr>
              <a:t>解决两个问题</a:t>
            </a:r>
            <a:r>
              <a:rPr lang="zh-CN" altLang="zh-CN" b="0" dirty="0">
                <a:solidFill>
                  <a:srgbClr val="FF0000"/>
                </a:solidFill>
              </a:rPr>
              <a:t>：</a:t>
            </a:r>
          </a:p>
          <a:p>
            <a:r>
              <a:rPr lang="en-US" altLang="zh-CN" b="0" dirty="0"/>
              <a:t>	(1) </a:t>
            </a:r>
            <a:r>
              <a:rPr lang="zh-CN" altLang="zh-CN" b="0" dirty="0"/>
              <a:t>从</a:t>
            </a:r>
            <a:r>
              <a:rPr lang="en-US" altLang="zh-CN" b="0" dirty="0"/>
              <a:t>v</a:t>
            </a:r>
            <a:r>
              <a:rPr lang="en-US" altLang="zh-CN" b="0" baseline="-25000" dirty="0"/>
              <a:t>i</a:t>
            </a:r>
            <a:r>
              <a:rPr lang="zh-CN" altLang="zh-CN" b="0" dirty="0"/>
              <a:t>到</a:t>
            </a:r>
            <a:r>
              <a:rPr lang="en-US" altLang="zh-CN" b="0" dirty="0" err="1"/>
              <a:t>v</a:t>
            </a:r>
            <a:r>
              <a:rPr lang="en-US" altLang="zh-CN" b="0" baseline="-25000" dirty="0" err="1"/>
              <a:t>j</a:t>
            </a:r>
            <a:r>
              <a:rPr lang="zh-CN" altLang="zh-CN" b="0" dirty="0"/>
              <a:t>是否有路径可达？</a:t>
            </a:r>
          </a:p>
          <a:p>
            <a:r>
              <a:rPr lang="en-US" altLang="zh-CN" b="0" dirty="0"/>
              <a:t>	(2) </a:t>
            </a:r>
            <a:r>
              <a:rPr lang="zh-CN" altLang="zh-CN" b="0" dirty="0"/>
              <a:t>如果存在多条路径时，哪个路径最短？</a:t>
            </a:r>
          </a:p>
          <a:p>
            <a:endParaRPr lang="zh-CN" altLang="en-US" dirty="0"/>
          </a:p>
        </p:txBody>
      </p:sp>
    </p:spTree>
    <p:extLst>
      <p:ext uri="{BB962C8B-B14F-4D97-AF65-F5344CB8AC3E}">
        <p14:creationId xmlns:p14="http://schemas.microsoft.com/office/powerpoint/2010/main" val="367666735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995936" y="188640"/>
            <a:ext cx="2438400" cy="2165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539552" y="2492896"/>
            <a:ext cx="8280920" cy="3416320"/>
          </a:xfrm>
          <a:prstGeom prst="rect">
            <a:avLst/>
          </a:prstGeom>
        </p:spPr>
        <p:txBody>
          <a:bodyPr wrap="square">
            <a:spAutoFit/>
          </a:bodyPr>
          <a:lstStyle/>
          <a:p>
            <a:pPr>
              <a:lnSpc>
                <a:spcPct val="15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如图</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6-31</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所示的</a:t>
            </a: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带权有向图</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，从顶点</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0</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到顶点</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4</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共有四条路径：</a:t>
            </a:r>
          </a:p>
          <a:p>
            <a:pPr lvl="0">
              <a:lnSpc>
                <a:spcPct val="150000"/>
              </a:lnSpc>
            </a:pPr>
            <a:r>
              <a:rPr lang="zh-CN" altLang="en-US" sz="2400" dirty="0">
                <a:latin typeface="宋体"/>
                <a:ea typeface="宋体"/>
                <a:cs typeface="Times New Roman" panose="02020603050405020304" pitchFamily="18" charset="0"/>
              </a:rPr>
              <a:t>①</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路径</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0</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4</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：路径代价为</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80</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p>
          <a:p>
            <a:pPr>
              <a:lnSpc>
                <a:spcPct val="15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②路径</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0</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3</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4</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：路径代价为</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80</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p>
          <a:p>
            <a:pPr>
              <a:lnSpc>
                <a:spcPct val="15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③路径</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0</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4</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：路径代价为</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60</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p>
          <a:p>
            <a:pPr>
              <a:lnSpc>
                <a:spcPct val="15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④路径</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0</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3</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4</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：路径代价为</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55</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p>
          <a:p>
            <a:pPr>
              <a:lnSpc>
                <a:spcPct val="15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因此，从顶点</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0</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到顶点</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4</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的最短路径为</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0</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3</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4</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val="288402173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6.6.1  </a:t>
            </a:r>
            <a:r>
              <a:rPr lang="zh-CN" altLang="zh-CN" b="1" dirty="0"/>
              <a:t>单源点最短路径问题</a:t>
            </a:r>
            <a:endParaRPr lang="zh-CN" altLang="en-US" dirty="0"/>
          </a:p>
        </p:txBody>
      </p:sp>
      <p:sp>
        <p:nvSpPr>
          <p:cNvPr id="3" name="内容占位符 2"/>
          <p:cNvSpPr>
            <a:spLocks noGrp="1"/>
          </p:cNvSpPr>
          <p:nvPr>
            <p:ph idx="1"/>
          </p:nvPr>
        </p:nvSpPr>
        <p:spPr/>
        <p:txBody>
          <a:bodyPr/>
          <a:lstStyle/>
          <a:p>
            <a:r>
              <a:rPr lang="en-US" altLang="zh-CN" b="0" dirty="0"/>
              <a:t>	</a:t>
            </a:r>
            <a:r>
              <a:rPr lang="zh-CN" altLang="zh-CN" b="0" dirty="0"/>
              <a:t>设给定一个</a:t>
            </a:r>
            <a:r>
              <a:rPr lang="zh-CN" altLang="zh-CN" b="0" dirty="0">
                <a:solidFill>
                  <a:srgbClr val="FF0000"/>
                </a:solidFill>
              </a:rPr>
              <a:t>带权有向图</a:t>
            </a:r>
            <a:r>
              <a:rPr lang="en-US" altLang="zh-CN" b="0" dirty="0"/>
              <a:t>G = ( V, E )</a:t>
            </a:r>
            <a:r>
              <a:rPr lang="zh-CN" altLang="zh-CN" b="0" dirty="0"/>
              <a:t>，假设源点为</a:t>
            </a:r>
            <a:r>
              <a:rPr lang="en-US" altLang="zh-CN" b="0" dirty="0"/>
              <a:t>v</a:t>
            </a:r>
            <a:r>
              <a:rPr lang="en-US" altLang="zh-CN" b="0" baseline="-25000" dirty="0"/>
              <a:t>s</a:t>
            </a:r>
            <a:r>
              <a:rPr lang="zh-CN" altLang="zh-CN" b="0" dirty="0"/>
              <a:t>，求从</a:t>
            </a:r>
            <a:r>
              <a:rPr lang="en-US" altLang="zh-CN" b="0" dirty="0"/>
              <a:t>v</a:t>
            </a:r>
            <a:r>
              <a:rPr lang="en-US" altLang="zh-CN" b="0" baseline="-25000" dirty="0"/>
              <a:t>s</a:t>
            </a:r>
            <a:r>
              <a:rPr lang="zh-CN" altLang="zh-CN" b="0" dirty="0"/>
              <a:t>到</a:t>
            </a:r>
            <a:r>
              <a:rPr lang="en-US" altLang="zh-CN" b="0" dirty="0"/>
              <a:t>G</a:t>
            </a:r>
            <a:r>
              <a:rPr lang="zh-CN" altLang="zh-CN" b="0" dirty="0"/>
              <a:t>中其余各顶点之间的最短路径，这类问题就称为</a:t>
            </a:r>
            <a:r>
              <a:rPr lang="zh-CN" altLang="zh-CN" dirty="0">
                <a:solidFill>
                  <a:srgbClr val="FF0000"/>
                </a:solidFill>
              </a:rPr>
              <a:t>单源点最短路径问题</a:t>
            </a:r>
            <a:r>
              <a:rPr lang="zh-CN" altLang="en-US" b="0" dirty="0"/>
              <a:t>。</a:t>
            </a:r>
            <a:endParaRPr lang="en-US" altLang="zh-CN" b="0" dirty="0"/>
          </a:p>
          <a:p>
            <a:r>
              <a:rPr lang="en-US" altLang="zh-CN" b="0" dirty="0"/>
              <a:t>	</a:t>
            </a:r>
            <a:r>
              <a:rPr lang="zh-CN" altLang="zh-CN" b="0" dirty="0"/>
              <a:t>解决单源点最短路径问题的一个常用算法是</a:t>
            </a:r>
            <a:r>
              <a:rPr lang="en-US" altLang="zh-CN" b="0" dirty="0">
                <a:solidFill>
                  <a:srgbClr val="FF0000"/>
                </a:solidFill>
              </a:rPr>
              <a:t>Dijkstra</a:t>
            </a:r>
            <a:r>
              <a:rPr lang="zh-CN" altLang="zh-CN" b="0" dirty="0">
                <a:solidFill>
                  <a:srgbClr val="FF0000"/>
                </a:solidFill>
              </a:rPr>
              <a:t>算法</a:t>
            </a:r>
            <a:r>
              <a:rPr lang="zh-CN" altLang="zh-CN" b="0" dirty="0"/>
              <a:t>，它是由</a:t>
            </a:r>
            <a:r>
              <a:rPr lang="en-US" altLang="zh-CN" b="0" dirty="0" err="1"/>
              <a:t>E.W.Dijkstra</a:t>
            </a:r>
            <a:r>
              <a:rPr lang="zh-CN" altLang="zh-CN" b="0" dirty="0"/>
              <a:t>提出的一种</a:t>
            </a:r>
            <a:r>
              <a:rPr lang="zh-CN" altLang="zh-CN" b="0" dirty="0">
                <a:solidFill>
                  <a:srgbClr val="FF0000"/>
                </a:solidFill>
              </a:rPr>
              <a:t>按</a:t>
            </a:r>
            <a:r>
              <a:rPr lang="zh-CN" altLang="en-US" b="0" dirty="0">
                <a:solidFill>
                  <a:srgbClr val="FF0000"/>
                </a:solidFill>
              </a:rPr>
              <a:t>最短</a:t>
            </a:r>
            <a:r>
              <a:rPr lang="zh-CN" altLang="zh-CN" b="0" dirty="0">
                <a:solidFill>
                  <a:srgbClr val="FF0000"/>
                </a:solidFill>
              </a:rPr>
              <a:t>路径长度递增的次序产生最短路径</a:t>
            </a:r>
            <a:r>
              <a:rPr lang="zh-CN" altLang="zh-CN" b="0" dirty="0"/>
              <a:t>的算法。</a:t>
            </a:r>
          </a:p>
          <a:p>
            <a:endParaRPr lang="zh-CN" altLang="en-US" b="0" dirty="0"/>
          </a:p>
        </p:txBody>
      </p:sp>
      <p:pic>
        <p:nvPicPr>
          <p:cNvPr id="4" name="图片 3"/>
          <p:cNvPicPr/>
          <p:nvPr/>
        </p:nvPicPr>
        <p:blipFill>
          <a:blip r:embed="rId2" cstate="print">
            <a:extLst>
              <a:ext uri="{28A0092B-C50C-407E-A947-70E740481C1C}">
                <a14:useLocalDpi xmlns:a14="http://schemas.microsoft.com/office/drawing/2010/main" val="0"/>
              </a:ext>
            </a:extLst>
          </a:blip>
          <a:stretch>
            <a:fillRect/>
          </a:stretch>
        </p:blipFill>
        <p:spPr>
          <a:xfrm>
            <a:off x="8143900" y="428604"/>
            <a:ext cx="391885" cy="397824"/>
          </a:xfrm>
          <a:prstGeom prst="rect">
            <a:avLst/>
          </a:prstGeom>
        </p:spPr>
      </p:pic>
    </p:spTree>
    <p:extLst>
      <p:ext uri="{BB962C8B-B14F-4D97-AF65-F5344CB8AC3E}">
        <p14:creationId xmlns:p14="http://schemas.microsoft.com/office/powerpoint/2010/main" val="401341663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340768"/>
            <a:ext cx="7848872" cy="3867881"/>
          </a:xfrm>
        </p:spPr>
        <p:txBody>
          <a:bodyPr/>
          <a:lstStyle/>
          <a:p>
            <a:r>
              <a:rPr lang="en-US" altLang="zh-CN" dirty="0">
                <a:solidFill>
                  <a:srgbClr val="FF0000"/>
                </a:solidFill>
              </a:rPr>
              <a:t>Dijkstra</a:t>
            </a:r>
            <a:r>
              <a:rPr lang="zh-CN" altLang="zh-CN" dirty="0">
                <a:solidFill>
                  <a:srgbClr val="FF0000"/>
                </a:solidFill>
              </a:rPr>
              <a:t>算法</a:t>
            </a:r>
            <a:r>
              <a:rPr lang="zh-CN" altLang="zh-CN" b="0" dirty="0"/>
              <a:t>的基本思想是：</a:t>
            </a:r>
          </a:p>
          <a:p>
            <a:r>
              <a:rPr lang="en-US" altLang="zh-CN" b="0" dirty="0"/>
              <a:t>(1) </a:t>
            </a:r>
            <a:r>
              <a:rPr lang="zh-CN" altLang="zh-CN" b="0" dirty="0"/>
              <a:t>将图的顶点集划分为两个集合</a:t>
            </a:r>
            <a:r>
              <a:rPr lang="en-US" altLang="zh-CN" b="0" dirty="0"/>
              <a:t>S</a:t>
            </a:r>
            <a:r>
              <a:rPr lang="zh-CN" altLang="zh-CN" b="0" dirty="0"/>
              <a:t>和</a:t>
            </a:r>
            <a:r>
              <a:rPr lang="en-US" altLang="zh-CN" b="0" dirty="0"/>
              <a:t>V-S</a:t>
            </a:r>
            <a:r>
              <a:rPr lang="zh-CN" altLang="zh-CN" b="0" dirty="0"/>
              <a:t>，集合</a:t>
            </a:r>
            <a:r>
              <a:rPr lang="en-US" altLang="zh-CN" b="0" dirty="0"/>
              <a:t>S</a:t>
            </a:r>
            <a:r>
              <a:rPr lang="zh-CN" altLang="zh-CN" b="0" dirty="0"/>
              <a:t>存放已经确定最短路径的终点集合；</a:t>
            </a:r>
          </a:p>
          <a:p>
            <a:r>
              <a:rPr lang="en-US" altLang="zh-CN" b="0" dirty="0"/>
              <a:t>(2) </a:t>
            </a:r>
            <a:r>
              <a:rPr lang="zh-CN" altLang="zh-CN" b="0" dirty="0"/>
              <a:t>初始状态时，</a:t>
            </a:r>
            <a:r>
              <a:rPr lang="en-US" altLang="zh-CN" b="0" dirty="0"/>
              <a:t>S</a:t>
            </a:r>
            <a:r>
              <a:rPr lang="zh-CN" altLang="zh-CN" b="0" dirty="0"/>
              <a:t>中只包含源点</a:t>
            </a:r>
            <a:r>
              <a:rPr lang="en-US" altLang="zh-CN" b="0" dirty="0"/>
              <a:t>v</a:t>
            </a:r>
            <a:r>
              <a:rPr lang="en-US" altLang="zh-CN" b="0" baseline="-25000" dirty="0"/>
              <a:t>s</a:t>
            </a:r>
            <a:r>
              <a:rPr lang="zh-CN" altLang="zh-CN" b="0" dirty="0"/>
              <a:t>，每求得一条最短路径，就将该路径的终点加入到集合</a:t>
            </a:r>
            <a:r>
              <a:rPr lang="en-US" altLang="zh-CN" b="0" dirty="0"/>
              <a:t>S</a:t>
            </a:r>
            <a:r>
              <a:rPr lang="zh-CN" altLang="zh-CN" b="0" dirty="0"/>
              <a:t>中，直到全部顶点都加入到集合</a:t>
            </a:r>
            <a:r>
              <a:rPr lang="en-US" altLang="zh-CN" b="0" dirty="0"/>
              <a:t>S</a:t>
            </a:r>
            <a:r>
              <a:rPr lang="zh-CN" altLang="zh-CN" b="0" dirty="0"/>
              <a:t>中，即</a:t>
            </a:r>
            <a:r>
              <a:rPr lang="en-US" altLang="zh-CN" b="0" dirty="0"/>
              <a:t>S = V</a:t>
            </a:r>
            <a:r>
              <a:rPr lang="zh-CN" altLang="zh-CN" b="0" dirty="0"/>
              <a:t>为止。</a:t>
            </a:r>
          </a:p>
          <a:p>
            <a:endParaRPr lang="zh-CN" altLang="en-US" dirty="0"/>
          </a:p>
        </p:txBody>
      </p:sp>
    </p:spTree>
    <p:extLst>
      <p:ext uri="{BB962C8B-B14F-4D97-AF65-F5344CB8AC3E}">
        <p14:creationId xmlns:p14="http://schemas.microsoft.com/office/powerpoint/2010/main" val="246586297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32F2EC3-C1DF-4D12-A3EC-02BBDFB440AE}"/>
              </a:ext>
            </a:extLst>
          </p:cNvPr>
          <p:cNvSpPr>
            <a:spLocks noGrp="1"/>
          </p:cNvSpPr>
          <p:nvPr>
            <p:ph idx="1"/>
          </p:nvPr>
        </p:nvSpPr>
        <p:spPr>
          <a:xfrm>
            <a:off x="323528" y="908720"/>
            <a:ext cx="8640960" cy="5400600"/>
          </a:xfrm>
        </p:spPr>
        <p:txBody>
          <a:bodyPr>
            <a:normAutofit fontScale="92500" lnSpcReduction="10000"/>
          </a:bodyPr>
          <a:lstStyle/>
          <a:p>
            <a:pPr algn="l"/>
            <a:r>
              <a:rPr lang="en-US" altLang="zh-CN" i="0" dirty="0">
                <a:solidFill>
                  <a:schemeClr val="accent3">
                    <a:lumMod val="75000"/>
                  </a:schemeClr>
                </a:solidFill>
                <a:effectLst/>
                <a:latin typeface="pingfang SC"/>
              </a:rPr>
              <a:t>Dijkstra</a:t>
            </a:r>
            <a:r>
              <a:rPr lang="zh-CN" altLang="en-US" i="0" dirty="0">
                <a:solidFill>
                  <a:schemeClr val="accent3">
                    <a:lumMod val="75000"/>
                  </a:schemeClr>
                </a:solidFill>
                <a:effectLst/>
                <a:latin typeface="pingfang SC"/>
              </a:rPr>
              <a:t>算法采用的是一种贪心的策略，声明一个数组</a:t>
            </a:r>
            <a:r>
              <a:rPr lang="en-US" altLang="zh-CN" i="0" dirty="0">
                <a:solidFill>
                  <a:schemeClr val="accent3">
                    <a:lumMod val="75000"/>
                  </a:schemeClr>
                </a:solidFill>
                <a:effectLst/>
                <a:latin typeface="pingfang SC"/>
              </a:rPr>
              <a:t>dis</a:t>
            </a:r>
            <a:r>
              <a:rPr lang="zh-CN" altLang="en-US" i="0" dirty="0">
                <a:solidFill>
                  <a:schemeClr val="accent3">
                    <a:lumMod val="75000"/>
                  </a:schemeClr>
                </a:solidFill>
                <a:effectLst/>
                <a:latin typeface="pingfang SC"/>
              </a:rPr>
              <a:t>来保存原点到各个顶点的最短距离和一个保存已经找到了最短路径的顶点的集合：</a:t>
            </a:r>
            <a:r>
              <a:rPr lang="en-US" altLang="zh-CN" i="0" dirty="0">
                <a:solidFill>
                  <a:schemeClr val="accent3">
                    <a:lumMod val="75000"/>
                  </a:schemeClr>
                </a:solidFill>
                <a:effectLst/>
                <a:latin typeface="pingfang SC"/>
              </a:rPr>
              <a:t>T={}</a:t>
            </a:r>
            <a:r>
              <a:rPr lang="zh-CN" altLang="en-US" i="0" dirty="0">
                <a:solidFill>
                  <a:schemeClr val="accent3">
                    <a:lumMod val="75000"/>
                  </a:schemeClr>
                </a:solidFill>
                <a:effectLst/>
                <a:latin typeface="pingfang SC"/>
              </a:rPr>
              <a:t>，初始时，原点 </a:t>
            </a:r>
            <a:r>
              <a:rPr lang="en-US" altLang="zh-CN" i="0" dirty="0">
                <a:solidFill>
                  <a:schemeClr val="accent3">
                    <a:lumMod val="75000"/>
                  </a:schemeClr>
                </a:solidFill>
                <a:effectLst/>
                <a:latin typeface="pingfang SC"/>
              </a:rPr>
              <a:t>s </a:t>
            </a:r>
            <a:r>
              <a:rPr lang="zh-CN" altLang="en-US" i="0" dirty="0">
                <a:solidFill>
                  <a:schemeClr val="accent3">
                    <a:lumMod val="75000"/>
                  </a:schemeClr>
                </a:solidFill>
                <a:effectLst/>
                <a:latin typeface="pingfang SC"/>
              </a:rPr>
              <a:t>的路径权重被赋为 </a:t>
            </a:r>
            <a:r>
              <a:rPr lang="en-US" altLang="zh-CN" i="0" dirty="0">
                <a:solidFill>
                  <a:schemeClr val="accent3">
                    <a:lumMod val="75000"/>
                  </a:schemeClr>
                </a:solidFill>
                <a:effectLst/>
                <a:latin typeface="pingfang SC"/>
              </a:rPr>
              <a:t>0 </a:t>
            </a:r>
            <a:r>
              <a:rPr lang="zh-CN" altLang="en-US" i="0" dirty="0">
                <a:solidFill>
                  <a:schemeClr val="accent3">
                    <a:lumMod val="75000"/>
                  </a:schemeClr>
                </a:solidFill>
                <a:effectLst/>
                <a:latin typeface="pingfang SC"/>
              </a:rPr>
              <a:t>（</a:t>
            </a:r>
            <a:r>
              <a:rPr lang="en-US" altLang="zh-CN" i="0" dirty="0">
                <a:solidFill>
                  <a:schemeClr val="accent3">
                    <a:lumMod val="75000"/>
                  </a:schemeClr>
                </a:solidFill>
                <a:effectLst/>
                <a:latin typeface="pingfang SC"/>
              </a:rPr>
              <a:t>dis[s] = 0</a:t>
            </a:r>
            <a:r>
              <a:rPr lang="zh-CN" altLang="en-US" i="0" dirty="0">
                <a:solidFill>
                  <a:schemeClr val="accent3">
                    <a:lumMod val="75000"/>
                  </a:schemeClr>
                </a:solidFill>
                <a:effectLst/>
                <a:latin typeface="pingfang SC"/>
              </a:rPr>
              <a:t>）。</a:t>
            </a:r>
          </a:p>
          <a:p>
            <a:pPr algn="l"/>
            <a:r>
              <a:rPr lang="zh-CN" altLang="en-US" i="0" dirty="0">
                <a:solidFill>
                  <a:schemeClr val="accent3">
                    <a:lumMod val="75000"/>
                  </a:schemeClr>
                </a:solidFill>
                <a:effectLst/>
                <a:latin typeface="pingfang SC"/>
              </a:rPr>
              <a:t>若对于顶点 </a:t>
            </a:r>
            <a:r>
              <a:rPr lang="en-US" altLang="zh-CN" i="0" dirty="0">
                <a:solidFill>
                  <a:schemeClr val="accent3">
                    <a:lumMod val="75000"/>
                  </a:schemeClr>
                </a:solidFill>
                <a:effectLst/>
                <a:latin typeface="pingfang SC"/>
              </a:rPr>
              <a:t>s </a:t>
            </a:r>
            <a:r>
              <a:rPr lang="zh-CN" altLang="en-US" i="0" dirty="0">
                <a:solidFill>
                  <a:schemeClr val="accent3">
                    <a:lumMod val="75000"/>
                  </a:schemeClr>
                </a:solidFill>
                <a:effectLst/>
                <a:latin typeface="pingfang SC"/>
              </a:rPr>
              <a:t>存在能直接到达的边（</a:t>
            </a:r>
            <a:r>
              <a:rPr lang="en-US" altLang="zh-CN" i="0" dirty="0" err="1">
                <a:solidFill>
                  <a:schemeClr val="accent3">
                    <a:lumMod val="75000"/>
                  </a:schemeClr>
                </a:solidFill>
                <a:effectLst/>
                <a:latin typeface="pingfang SC"/>
              </a:rPr>
              <a:t>s,m</a:t>
            </a:r>
            <a:r>
              <a:rPr lang="zh-CN" altLang="en-US" i="0" dirty="0">
                <a:solidFill>
                  <a:schemeClr val="accent3">
                    <a:lumMod val="75000"/>
                  </a:schemeClr>
                </a:solidFill>
                <a:effectLst/>
                <a:latin typeface="pingfang SC"/>
              </a:rPr>
              <a:t>），则把</a:t>
            </a:r>
            <a:r>
              <a:rPr lang="en-US" altLang="zh-CN" i="0" dirty="0">
                <a:solidFill>
                  <a:schemeClr val="accent3">
                    <a:lumMod val="75000"/>
                  </a:schemeClr>
                </a:solidFill>
                <a:effectLst/>
                <a:latin typeface="pingfang SC"/>
              </a:rPr>
              <a:t>dis[m]</a:t>
            </a:r>
            <a:r>
              <a:rPr lang="zh-CN" altLang="en-US" i="0" dirty="0">
                <a:solidFill>
                  <a:schemeClr val="accent3">
                    <a:lumMod val="75000"/>
                  </a:schemeClr>
                </a:solidFill>
                <a:effectLst/>
                <a:latin typeface="pingfang SC"/>
              </a:rPr>
              <a:t>设为</a:t>
            </a:r>
            <a:r>
              <a:rPr lang="en-US" altLang="zh-CN" i="0" dirty="0">
                <a:solidFill>
                  <a:schemeClr val="accent3">
                    <a:lumMod val="75000"/>
                  </a:schemeClr>
                </a:solidFill>
                <a:effectLst/>
                <a:latin typeface="pingfang SC"/>
              </a:rPr>
              <a:t>w</a:t>
            </a:r>
            <a:r>
              <a:rPr lang="zh-CN" altLang="en-US" i="0" dirty="0">
                <a:solidFill>
                  <a:schemeClr val="accent3">
                    <a:lumMod val="75000"/>
                  </a:schemeClr>
                </a:solidFill>
                <a:effectLst/>
                <a:latin typeface="pingfang SC"/>
              </a:rPr>
              <a:t>（</a:t>
            </a:r>
            <a:r>
              <a:rPr lang="en-US" altLang="zh-CN" i="0" dirty="0">
                <a:solidFill>
                  <a:schemeClr val="accent3">
                    <a:lumMod val="75000"/>
                  </a:schemeClr>
                </a:solidFill>
                <a:effectLst/>
                <a:latin typeface="pingfang SC"/>
              </a:rPr>
              <a:t>s, m</a:t>
            </a:r>
            <a:r>
              <a:rPr lang="zh-CN" altLang="en-US" i="0" dirty="0">
                <a:solidFill>
                  <a:schemeClr val="accent3">
                    <a:lumMod val="75000"/>
                  </a:schemeClr>
                </a:solidFill>
                <a:effectLst/>
                <a:latin typeface="pingfang SC"/>
              </a:rPr>
              <a:t>）</a:t>
            </a:r>
            <a:r>
              <a:rPr lang="en-US" altLang="zh-CN" i="0" dirty="0">
                <a:solidFill>
                  <a:schemeClr val="accent3">
                    <a:lumMod val="75000"/>
                  </a:schemeClr>
                </a:solidFill>
                <a:effectLst/>
                <a:latin typeface="pingfang SC"/>
              </a:rPr>
              <a:t>,</a:t>
            </a:r>
            <a:r>
              <a:rPr lang="zh-CN" altLang="en-US" i="0" dirty="0">
                <a:solidFill>
                  <a:schemeClr val="accent3">
                    <a:lumMod val="75000"/>
                  </a:schemeClr>
                </a:solidFill>
                <a:effectLst/>
                <a:latin typeface="pingfang SC"/>
              </a:rPr>
              <a:t>同时把其他所有</a:t>
            </a:r>
            <a:r>
              <a:rPr lang="en-US" altLang="zh-CN" i="0" dirty="0">
                <a:solidFill>
                  <a:schemeClr val="accent3">
                    <a:lumMod val="75000"/>
                  </a:schemeClr>
                </a:solidFill>
                <a:effectLst/>
                <a:latin typeface="pingfang SC"/>
              </a:rPr>
              <a:t>s</a:t>
            </a:r>
            <a:r>
              <a:rPr lang="zh-CN" altLang="en-US" i="0" dirty="0">
                <a:solidFill>
                  <a:schemeClr val="accent3">
                    <a:lumMod val="75000"/>
                  </a:schemeClr>
                </a:solidFill>
                <a:effectLst/>
                <a:latin typeface="pingfang SC"/>
              </a:rPr>
              <a:t>不能直接到达的顶点的路径长度设为无穷大。初始时，集合</a:t>
            </a:r>
            <a:r>
              <a:rPr lang="en-US" altLang="zh-CN" i="0" dirty="0">
                <a:solidFill>
                  <a:schemeClr val="accent3">
                    <a:lumMod val="75000"/>
                  </a:schemeClr>
                </a:solidFill>
                <a:effectLst/>
                <a:latin typeface="pingfang SC"/>
              </a:rPr>
              <a:t>T</a:t>
            </a:r>
            <a:r>
              <a:rPr lang="zh-CN" altLang="en-US" i="0" dirty="0">
                <a:solidFill>
                  <a:schemeClr val="accent3">
                    <a:lumMod val="75000"/>
                  </a:schemeClr>
                </a:solidFill>
                <a:effectLst/>
                <a:latin typeface="pingfang SC"/>
              </a:rPr>
              <a:t>只有顶点</a:t>
            </a:r>
            <a:r>
              <a:rPr lang="en-US" altLang="zh-CN" i="0" dirty="0">
                <a:solidFill>
                  <a:schemeClr val="accent3">
                    <a:lumMod val="75000"/>
                  </a:schemeClr>
                </a:solidFill>
                <a:effectLst/>
                <a:latin typeface="pingfang SC"/>
              </a:rPr>
              <a:t>s</a:t>
            </a:r>
            <a:r>
              <a:rPr lang="zh-CN" altLang="en-US" i="0" dirty="0">
                <a:solidFill>
                  <a:schemeClr val="accent3">
                    <a:lumMod val="75000"/>
                  </a:schemeClr>
                </a:solidFill>
                <a:effectLst/>
                <a:latin typeface="pingfang SC"/>
              </a:rPr>
              <a:t>。 </a:t>
            </a:r>
          </a:p>
          <a:p>
            <a:pPr algn="l"/>
            <a:r>
              <a:rPr lang="zh-CN" altLang="en-US" i="0" dirty="0">
                <a:solidFill>
                  <a:schemeClr val="accent3">
                    <a:lumMod val="75000"/>
                  </a:schemeClr>
                </a:solidFill>
                <a:effectLst/>
                <a:latin typeface="pingfang SC"/>
              </a:rPr>
              <a:t>然后，从</a:t>
            </a:r>
            <a:r>
              <a:rPr lang="en-US" altLang="zh-CN" i="0" dirty="0">
                <a:solidFill>
                  <a:schemeClr val="accent3">
                    <a:lumMod val="75000"/>
                  </a:schemeClr>
                </a:solidFill>
                <a:effectLst/>
                <a:latin typeface="pingfang SC"/>
              </a:rPr>
              <a:t>dis</a:t>
            </a:r>
            <a:r>
              <a:rPr lang="zh-CN" altLang="en-US" i="0" dirty="0">
                <a:solidFill>
                  <a:schemeClr val="accent3">
                    <a:lumMod val="75000"/>
                  </a:schemeClr>
                </a:solidFill>
                <a:effectLst/>
                <a:latin typeface="pingfang SC"/>
              </a:rPr>
              <a:t>数组选择最小值，则该值就是原点</a:t>
            </a:r>
            <a:r>
              <a:rPr lang="en-US" altLang="zh-CN" i="0" dirty="0">
                <a:solidFill>
                  <a:schemeClr val="accent3">
                    <a:lumMod val="75000"/>
                  </a:schemeClr>
                </a:solidFill>
                <a:effectLst/>
                <a:latin typeface="pingfang SC"/>
              </a:rPr>
              <a:t>s</a:t>
            </a:r>
            <a:r>
              <a:rPr lang="zh-CN" altLang="en-US" i="0" dirty="0">
                <a:solidFill>
                  <a:schemeClr val="accent3">
                    <a:lumMod val="75000"/>
                  </a:schemeClr>
                </a:solidFill>
                <a:effectLst/>
                <a:latin typeface="pingfang SC"/>
              </a:rPr>
              <a:t>到该值对应的顶点的最短路径，并且把该点加入到</a:t>
            </a:r>
            <a:r>
              <a:rPr lang="en-US" altLang="zh-CN" i="0" dirty="0">
                <a:solidFill>
                  <a:schemeClr val="accent3">
                    <a:lumMod val="75000"/>
                  </a:schemeClr>
                </a:solidFill>
                <a:effectLst/>
                <a:latin typeface="pingfang SC"/>
              </a:rPr>
              <a:t>T</a:t>
            </a:r>
            <a:r>
              <a:rPr lang="zh-CN" altLang="en-US" i="0" dirty="0">
                <a:solidFill>
                  <a:schemeClr val="accent3">
                    <a:lumMod val="75000"/>
                  </a:schemeClr>
                </a:solidFill>
                <a:effectLst/>
                <a:latin typeface="pingfang SC"/>
              </a:rPr>
              <a:t>中，</a:t>
            </a:r>
            <a:r>
              <a:rPr lang="en-US" altLang="zh-CN" i="0" dirty="0">
                <a:solidFill>
                  <a:schemeClr val="accent3">
                    <a:lumMod val="75000"/>
                  </a:schemeClr>
                </a:solidFill>
                <a:effectLst/>
                <a:latin typeface="pingfang SC"/>
              </a:rPr>
              <a:t>OK</a:t>
            </a:r>
            <a:r>
              <a:rPr lang="zh-CN" altLang="en-US" i="0" dirty="0">
                <a:solidFill>
                  <a:schemeClr val="accent3">
                    <a:lumMod val="75000"/>
                  </a:schemeClr>
                </a:solidFill>
                <a:effectLst/>
                <a:latin typeface="pingfang SC"/>
              </a:rPr>
              <a:t>，此时完成一个顶点。 </a:t>
            </a:r>
          </a:p>
          <a:p>
            <a:pPr algn="l"/>
            <a:r>
              <a:rPr lang="zh-CN" altLang="en-US" i="0" dirty="0">
                <a:solidFill>
                  <a:schemeClr val="accent3">
                    <a:lumMod val="75000"/>
                  </a:schemeClr>
                </a:solidFill>
                <a:effectLst/>
                <a:latin typeface="pingfang SC"/>
              </a:rPr>
              <a:t>然后，我们需要看看新加入的顶点是否可以到达其他顶点并且看看通过该顶点到达其他点的路径长度是否比源点直接到达短，如果是，那么就替换这些顶点在</a:t>
            </a:r>
            <a:r>
              <a:rPr lang="en-US" altLang="zh-CN" i="0" dirty="0">
                <a:solidFill>
                  <a:schemeClr val="accent3">
                    <a:lumMod val="75000"/>
                  </a:schemeClr>
                </a:solidFill>
                <a:effectLst/>
                <a:latin typeface="pingfang SC"/>
              </a:rPr>
              <a:t>dis</a:t>
            </a:r>
            <a:r>
              <a:rPr lang="zh-CN" altLang="en-US" i="0" dirty="0">
                <a:solidFill>
                  <a:schemeClr val="accent3">
                    <a:lumMod val="75000"/>
                  </a:schemeClr>
                </a:solidFill>
                <a:effectLst/>
                <a:latin typeface="pingfang SC"/>
              </a:rPr>
              <a:t>中的值。 </a:t>
            </a:r>
          </a:p>
          <a:p>
            <a:pPr algn="l"/>
            <a:r>
              <a:rPr lang="zh-CN" altLang="en-US" i="0" dirty="0">
                <a:solidFill>
                  <a:schemeClr val="accent3">
                    <a:lumMod val="75000"/>
                  </a:schemeClr>
                </a:solidFill>
                <a:effectLst/>
                <a:latin typeface="pingfang SC"/>
              </a:rPr>
              <a:t>然后，又从</a:t>
            </a:r>
            <a:r>
              <a:rPr lang="en-US" altLang="zh-CN" i="0" dirty="0">
                <a:solidFill>
                  <a:schemeClr val="accent3">
                    <a:lumMod val="75000"/>
                  </a:schemeClr>
                </a:solidFill>
                <a:effectLst/>
                <a:latin typeface="pingfang SC"/>
              </a:rPr>
              <a:t>dis</a:t>
            </a:r>
            <a:r>
              <a:rPr lang="zh-CN" altLang="en-US" i="0" dirty="0">
                <a:solidFill>
                  <a:schemeClr val="accent3">
                    <a:lumMod val="75000"/>
                  </a:schemeClr>
                </a:solidFill>
                <a:effectLst/>
                <a:latin typeface="pingfang SC"/>
              </a:rPr>
              <a:t>中找出最小值，重复上述动作，直到</a:t>
            </a:r>
            <a:r>
              <a:rPr lang="en-US" altLang="zh-CN" i="0" dirty="0">
                <a:solidFill>
                  <a:schemeClr val="accent3">
                    <a:lumMod val="75000"/>
                  </a:schemeClr>
                </a:solidFill>
                <a:effectLst/>
                <a:latin typeface="pingfang SC"/>
              </a:rPr>
              <a:t>T</a:t>
            </a:r>
            <a:r>
              <a:rPr lang="zh-CN" altLang="en-US" i="0" dirty="0">
                <a:solidFill>
                  <a:schemeClr val="accent3">
                    <a:lumMod val="75000"/>
                  </a:schemeClr>
                </a:solidFill>
                <a:effectLst/>
                <a:latin typeface="pingfang SC"/>
              </a:rPr>
              <a:t>中包含了图的所有顶点。</a:t>
            </a:r>
          </a:p>
          <a:p>
            <a:endParaRPr lang="zh-CN" altLang="en-US" dirty="0">
              <a:solidFill>
                <a:schemeClr val="accent3">
                  <a:lumMod val="75000"/>
                </a:schemeClr>
              </a:solidFill>
            </a:endParaRPr>
          </a:p>
        </p:txBody>
      </p:sp>
    </p:spTree>
    <p:extLst>
      <p:ext uri="{BB962C8B-B14F-4D97-AF65-F5344CB8AC3E}">
        <p14:creationId xmlns:p14="http://schemas.microsoft.com/office/powerpoint/2010/main" val="280249414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539552" y="692696"/>
            <a:ext cx="8352928" cy="5379510"/>
          </a:xfrm>
        </p:spPr>
        <p:txBody>
          <a:bodyPr>
            <a:normAutofit/>
          </a:bodyPr>
          <a:lstStyle/>
          <a:p>
            <a:r>
              <a:rPr lang="en-US" altLang="zh-CN" b="0" dirty="0"/>
              <a:t>	</a:t>
            </a:r>
            <a:r>
              <a:rPr lang="zh-CN" altLang="en-US" b="0" dirty="0"/>
              <a:t>为了便于描述，引入一个辅助数组</a:t>
            </a:r>
            <a:r>
              <a:rPr lang="en-US" b="0" dirty="0"/>
              <a:t>dist[]</a:t>
            </a:r>
            <a:r>
              <a:rPr lang="zh-CN" altLang="en-US" b="0" dirty="0"/>
              <a:t>，它的每一个分量</a:t>
            </a:r>
            <a:r>
              <a:rPr lang="en-US" dirty="0"/>
              <a:t>dist[</a:t>
            </a:r>
            <a:r>
              <a:rPr lang="en-US" dirty="0" err="1"/>
              <a:t>i</a:t>
            </a:r>
            <a:r>
              <a:rPr lang="en-US" dirty="0"/>
              <a:t>]</a:t>
            </a:r>
            <a:r>
              <a:rPr lang="zh-CN" altLang="en-US" b="0" dirty="0"/>
              <a:t>表示当前所找到的从源点</a:t>
            </a:r>
            <a:r>
              <a:rPr lang="en-US" b="0" dirty="0" err="1"/>
              <a:t>v</a:t>
            </a:r>
            <a:r>
              <a:rPr lang="en-US" b="0" baseline="-25000" dirty="0" err="1"/>
              <a:t>s</a:t>
            </a:r>
            <a:r>
              <a:rPr lang="zh-CN" altLang="en-US" b="0" dirty="0"/>
              <a:t>到终点</a:t>
            </a:r>
            <a:r>
              <a:rPr lang="en-US" b="0" dirty="0"/>
              <a:t>v</a:t>
            </a:r>
            <a:r>
              <a:rPr lang="en-US" b="0" baseline="-25000" dirty="0"/>
              <a:t>i</a:t>
            </a:r>
            <a:r>
              <a:rPr lang="zh-CN" altLang="en-US" b="0" dirty="0"/>
              <a:t>的最短路径长度。</a:t>
            </a:r>
            <a:endParaRPr lang="en-US" altLang="zh-CN" b="0" dirty="0"/>
          </a:p>
          <a:p>
            <a:r>
              <a:rPr lang="zh-CN" altLang="en-US" b="0" dirty="0"/>
              <a:t>它的初始状态是：</a:t>
            </a:r>
            <a:endParaRPr lang="en-US" altLang="zh-CN" b="0" dirty="0"/>
          </a:p>
          <a:p>
            <a:r>
              <a:rPr lang="en-US" altLang="zh-CN" b="0" dirty="0"/>
              <a:t>     </a:t>
            </a:r>
            <a:r>
              <a:rPr lang="zh-CN" altLang="en-US" b="0" dirty="0"/>
              <a:t>若</a:t>
            </a:r>
            <a:r>
              <a:rPr lang="en-US" b="0" dirty="0" err="1"/>
              <a:t>v</a:t>
            </a:r>
            <a:r>
              <a:rPr lang="en-US" b="0" baseline="-25000" dirty="0" err="1"/>
              <a:t>s</a:t>
            </a:r>
            <a:r>
              <a:rPr lang="en-US" b="0" dirty="0"/>
              <a:t> = v</a:t>
            </a:r>
            <a:r>
              <a:rPr lang="en-US" b="0" baseline="-25000" dirty="0"/>
              <a:t>i</a:t>
            </a:r>
            <a:r>
              <a:rPr lang="zh-CN" altLang="en-US" b="0" dirty="0"/>
              <a:t>，</a:t>
            </a:r>
            <a:r>
              <a:rPr lang="en-US" b="0" dirty="0"/>
              <a:t>dist[</a:t>
            </a:r>
            <a:r>
              <a:rPr lang="en-US" b="0" dirty="0" err="1"/>
              <a:t>i</a:t>
            </a:r>
            <a:r>
              <a:rPr lang="en-US" b="0" dirty="0"/>
              <a:t>] = 0</a:t>
            </a:r>
            <a:r>
              <a:rPr lang="zh-CN" altLang="en-US" b="0" dirty="0"/>
              <a:t>；</a:t>
            </a:r>
            <a:endParaRPr lang="en-US" altLang="zh-CN" b="0" dirty="0"/>
          </a:p>
          <a:p>
            <a:r>
              <a:rPr lang="en-US" altLang="zh-CN" b="0" dirty="0"/>
              <a:t>     </a:t>
            </a:r>
            <a:r>
              <a:rPr lang="zh-CN" altLang="en-US" b="0" dirty="0"/>
              <a:t>若从源点</a:t>
            </a:r>
            <a:r>
              <a:rPr lang="en-US" b="0" dirty="0" err="1"/>
              <a:t>v</a:t>
            </a:r>
            <a:r>
              <a:rPr lang="en-US" b="0" baseline="-25000" dirty="0" err="1"/>
              <a:t>s</a:t>
            </a:r>
            <a:r>
              <a:rPr lang="zh-CN" altLang="en-US" b="0" dirty="0"/>
              <a:t>到终点</a:t>
            </a:r>
            <a:r>
              <a:rPr lang="en-US" b="0" dirty="0"/>
              <a:t>v</a:t>
            </a:r>
            <a:r>
              <a:rPr lang="en-US" b="0" baseline="-25000" dirty="0"/>
              <a:t>i</a:t>
            </a:r>
            <a:r>
              <a:rPr lang="zh-CN" altLang="en-US" b="0" dirty="0"/>
              <a:t>存在弧</a:t>
            </a:r>
            <a:r>
              <a:rPr lang="en-US" b="0" dirty="0"/>
              <a:t>&lt;</a:t>
            </a:r>
            <a:r>
              <a:rPr lang="en-US" b="0" dirty="0" err="1"/>
              <a:t>v</a:t>
            </a:r>
            <a:r>
              <a:rPr lang="en-US" b="0" baseline="-25000" dirty="0" err="1"/>
              <a:t>s</a:t>
            </a:r>
            <a:r>
              <a:rPr lang="en-US" b="0" dirty="0"/>
              <a:t>, v</a:t>
            </a:r>
            <a:r>
              <a:rPr lang="en-US" b="0" baseline="-25000" dirty="0"/>
              <a:t>i</a:t>
            </a:r>
            <a:r>
              <a:rPr lang="en-US" b="0" dirty="0"/>
              <a:t>&gt;</a:t>
            </a:r>
            <a:r>
              <a:rPr lang="zh-CN" altLang="en-US" b="0" dirty="0"/>
              <a:t>，则</a:t>
            </a:r>
            <a:r>
              <a:rPr lang="en-US" altLang="zh-CN" b="0" dirty="0"/>
              <a:t>dist[</a:t>
            </a:r>
            <a:r>
              <a:rPr lang="en-US" altLang="zh-CN" b="0" dirty="0" err="1"/>
              <a:t>i</a:t>
            </a:r>
            <a:r>
              <a:rPr lang="en-US" altLang="zh-CN" b="0" dirty="0"/>
              <a:t>] = </a:t>
            </a:r>
            <a:r>
              <a:rPr lang="en-US" altLang="zh-CN" b="0" dirty="0" err="1"/>
              <a:t>G.weight</a:t>
            </a:r>
            <a:r>
              <a:rPr lang="en-US" altLang="zh-CN" b="0" dirty="0"/>
              <a:t>(</a:t>
            </a:r>
            <a:r>
              <a:rPr lang="en-US" altLang="zh-CN" b="0" dirty="0" err="1"/>
              <a:t>s,i</a:t>
            </a:r>
            <a:r>
              <a:rPr lang="en-US" altLang="zh-CN" b="0" dirty="0"/>
              <a:t>)</a:t>
            </a:r>
            <a:r>
              <a:rPr lang="zh-CN" altLang="en-US" b="0" dirty="0"/>
              <a:t>；</a:t>
            </a:r>
            <a:endParaRPr lang="en-US" altLang="zh-CN" b="0" dirty="0"/>
          </a:p>
          <a:p>
            <a:r>
              <a:rPr lang="en-US" altLang="zh-CN" b="0" dirty="0"/>
              <a:t>     </a:t>
            </a:r>
            <a:r>
              <a:rPr lang="zh-CN" altLang="en-US" b="0" dirty="0"/>
              <a:t>若不存在弧</a:t>
            </a:r>
            <a:r>
              <a:rPr lang="en-US" b="0" dirty="0"/>
              <a:t>&lt;</a:t>
            </a:r>
            <a:r>
              <a:rPr lang="en-US" b="0" dirty="0" err="1"/>
              <a:t>v</a:t>
            </a:r>
            <a:r>
              <a:rPr lang="en-US" b="0" baseline="-25000" dirty="0" err="1"/>
              <a:t>s</a:t>
            </a:r>
            <a:r>
              <a:rPr lang="en-US" b="0" dirty="0"/>
              <a:t>, v</a:t>
            </a:r>
            <a:r>
              <a:rPr lang="en-US" b="0" baseline="-25000" dirty="0"/>
              <a:t>i</a:t>
            </a:r>
            <a:r>
              <a:rPr lang="en-US" b="0" dirty="0"/>
              <a:t>&gt;</a:t>
            </a:r>
            <a:r>
              <a:rPr lang="zh-CN" altLang="en-US" b="0" dirty="0"/>
              <a:t>，则</a:t>
            </a:r>
            <a:r>
              <a:rPr lang="en-US" b="0" dirty="0"/>
              <a:t>dist[</a:t>
            </a:r>
            <a:r>
              <a:rPr lang="en-US" b="0" dirty="0" err="1"/>
              <a:t>i</a:t>
            </a:r>
            <a:r>
              <a:rPr lang="en-US" b="0" dirty="0"/>
              <a:t>] = ∞</a:t>
            </a:r>
            <a:r>
              <a:rPr lang="zh-CN" altLang="en-US" b="0" dirty="0"/>
              <a:t>。</a:t>
            </a:r>
          </a:p>
          <a:p>
            <a:r>
              <a:rPr lang="zh-CN" altLang="en-US" b="0" dirty="0"/>
              <a:t>显然，长度为</a:t>
            </a:r>
            <a:r>
              <a:rPr lang="en-US" altLang="zh-CN" b="0" dirty="0"/>
              <a:t>                                            </a:t>
            </a:r>
            <a:r>
              <a:rPr lang="zh-CN" altLang="en-US" b="0" dirty="0"/>
              <a:t>的路径就是从源点</a:t>
            </a:r>
            <a:r>
              <a:rPr lang="en-US" b="0" dirty="0" err="1"/>
              <a:t>v</a:t>
            </a:r>
            <a:r>
              <a:rPr lang="en-US" b="0" baseline="-25000" dirty="0" err="1"/>
              <a:t>s</a:t>
            </a:r>
            <a:r>
              <a:rPr lang="zh-CN" altLang="en-US" b="0" dirty="0"/>
              <a:t>出发的长度最短的一条最短路径，即</a:t>
            </a:r>
            <a:r>
              <a:rPr lang="en-US" b="0" dirty="0"/>
              <a:t>(</a:t>
            </a:r>
            <a:r>
              <a:rPr lang="en-US" b="0" dirty="0" err="1"/>
              <a:t>v</a:t>
            </a:r>
            <a:r>
              <a:rPr lang="en-US" b="0" baseline="-25000" dirty="0" err="1"/>
              <a:t>s</a:t>
            </a:r>
            <a:r>
              <a:rPr lang="en-US" b="0" dirty="0"/>
              <a:t>, </a:t>
            </a:r>
            <a:r>
              <a:rPr lang="en-US" b="0" dirty="0" err="1"/>
              <a:t>v</a:t>
            </a:r>
            <a:r>
              <a:rPr lang="en-US" b="0" baseline="-25000" dirty="0" err="1"/>
              <a:t>j</a:t>
            </a:r>
            <a:r>
              <a:rPr lang="en-US" b="0" dirty="0"/>
              <a:t>)</a:t>
            </a:r>
            <a:r>
              <a:rPr lang="zh-CN" altLang="en-US" b="0" dirty="0"/>
              <a:t>，将顶点</a:t>
            </a:r>
            <a:r>
              <a:rPr lang="en-US" b="0" dirty="0" err="1"/>
              <a:t>v</a:t>
            </a:r>
            <a:r>
              <a:rPr lang="en-US" b="0" baseline="-25000" dirty="0" err="1"/>
              <a:t>j</a:t>
            </a:r>
            <a:r>
              <a:rPr lang="zh-CN" altLang="en-US" b="0" dirty="0"/>
              <a:t>加入集合</a:t>
            </a:r>
            <a:r>
              <a:rPr lang="en-US" b="0" dirty="0"/>
              <a:t>S</a:t>
            </a:r>
            <a:r>
              <a:rPr lang="zh-CN" altLang="en-US" b="0" dirty="0"/>
              <a:t>中。</a:t>
            </a:r>
          </a:p>
          <a:p>
            <a:endParaRPr lang="zh-CN" altLang="en-US" dirty="0"/>
          </a:p>
        </p:txBody>
      </p:sp>
      <p:pic>
        <p:nvPicPr>
          <p:cNvPr id="5122" name="Picture 2"/>
          <p:cNvPicPr>
            <a:picLocks noChangeAspect="1" noChangeArrowheads="1"/>
          </p:cNvPicPr>
          <p:nvPr/>
        </p:nvPicPr>
        <p:blipFill>
          <a:blip r:embed="rId2" cstate="print"/>
          <a:srcRect/>
          <a:stretch>
            <a:fillRect/>
          </a:stretch>
        </p:blipFill>
        <p:spPr bwMode="auto">
          <a:xfrm>
            <a:off x="2627784" y="3789040"/>
            <a:ext cx="3057525" cy="600075"/>
          </a:xfrm>
          <a:prstGeom prst="rect">
            <a:avLst/>
          </a:prstGeom>
          <a:noFill/>
          <a:ln w="9525">
            <a:noFill/>
            <a:miter lim="800000"/>
            <a:headEnd/>
            <a:tailEnd/>
          </a:ln>
          <a:effectLst/>
        </p:spPr>
      </p:pic>
    </p:spTree>
    <p:extLst>
      <p:ext uri="{BB962C8B-B14F-4D97-AF65-F5344CB8AC3E}">
        <p14:creationId xmlns:p14="http://schemas.microsoft.com/office/powerpoint/2010/main" val="236809028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827584" y="1214422"/>
            <a:ext cx="7776864" cy="4857784"/>
          </a:xfrm>
        </p:spPr>
        <p:txBody>
          <a:bodyPr/>
          <a:lstStyle/>
          <a:p>
            <a:r>
              <a:rPr lang="zh-CN" altLang="en-US" b="0" dirty="0"/>
              <a:t>    </a:t>
            </a:r>
            <a:r>
              <a:rPr lang="zh-CN" altLang="en-US" dirty="0">
                <a:solidFill>
                  <a:srgbClr val="FF0000"/>
                </a:solidFill>
              </a:rPr>
              <a:t>注意：</a:t>
            </a:r>
            <a:r>
              <a:rPr lang="zh-CN" altLang="en-US" b="0" dirty="0"/>
              <a:t>如果求得一条从</a:t>
            </a:r>
            <a:r>
              <a:rPr lang="en-US" b="0" dirty="0"/>
              <a:t>v</a:t>
            </a:r>
            <a:r>
              <a:rPr lang="en-US" b="0" baseline="-25000" dirty="0"/>
              <a:t>i</a:t>
            </a:r>
            <a:r>
              <a:rPr lang="zh-CN" altLang="en-US" b="0" dirty="0"/>
              <a:t>到</a:t>
            </a:r>
            <a:r>
              <a:rPr lang="en-US" b="0" dirty="0" err="1"/>
              <a:t>v</a:t>
            </a:r>
            <a:r>
              <a:rPr lang="en-US" b="0" baseline="-25000" dirty="0" err="1"/>
              <a:t>j</a:t>
            </a:r>
            <a:r>
              <a:rPr lang="zh-CN" altLang="en-US" b="0" dirty="0"/>
              <a:t>的最短路径</a:t>
            </a:r>
            <a:r>
              <a:rPr lang="en-US" b="0" dirty="0"/>
              <a:t>(v</a:t>
            </a:r>
            <a:r>
              <a:rPr lang="en-US" b="0" baseline="-25000" dirty="0"/>
              <a:t>i</a:t>
            </a:r>
            <a:r>
              <a:rPr lang="en-US" b="0" dirty="0"/>
              <a:t>, …, </a:t>
            </a:r>
            <a:r>
              <a:rPr lang="en-US" b="0" dirty="0" err="1"/>
              <a:t>v</a:t>
            </a:r>
            <a:r>
              <a:rPr lang="en-US" b="0" baseline="-25000" dirty="0" err="1"/>
              <a:t>k</a:t>
            </a:r>
            <a:r>
              <a:rPr lang="en-US" b="0" dirty="0"/>
              <a:t>, </a:t>
            </a:r>
            <a:r>
              <a:rPr lang="en-US" b="0" dirty="0" err="1"/>
              <a:t>v</a:t>
            </a:r>
            <a:r>
              <a:rPr lang="en-US" b="0" baseline="-25000" dirty="0" err="1"/>
              <a:t>j</a:t>
            </a:r>
            <a:r>
              <a:rPr lang="en-US" b="0" dirty="0"/>
              <a:t>)</a:t>
            </a:r>
            <a:r>
              <a:rPr lang="zh-CN" altLang="en-US" b="0" dirty="0"/>
              <a:t>，</a:t>
            </a:r>
            <a:r>
              <a:rPr lang="en-US" b="0" dirty="0" err="1"/>
              <a:t>v</a:t>
            </a:r>
            <a:r>
              <a:rPr lang="en-US" b="0" baseline="-25000" dirty="0" err="1"/>
              <a:t>k</a:t>
            </a:r>
            <a:r>
              <a:rPr lang="zh-CN" altLang="en-US" b="0" dirty="0"/>
              <a:t>是</a:t>
            </a:r>
            <a:r>
              <a:rPr lang="en-US" b="0" dirty="0" err="1"/>
              <a:t>v</a:t>
            </a:r>
            <a:r>
              <a:rPr lang="en-US" b="0" baseline="-25000" dirty="0" err="1"/>
              <a:t>j</a:t>
            </a:r>
            <a:r>
              <a:rPr lang="zh-CN" altLang="en-US" b="0" dirty="0"/>
              <a:t>前面的一个顶点，那么</a:t>
            </a:r>
            <a:r>
              <a:rPr lang="en-US" b="0" dirty="0"/>
              <a:t>(v</a:t>
            </a:r>
            <a:r>
              <a:rPr lang="en-US" b="0" baseline="-25000" dirty="0"/>
              <a:t>i</a:t>
            </a:r>
            <a:r>
              <a:rPr lang="en-US" b="0" dirty="0"/>
              <a:t>, …, </a:t>
            </a:r>
            <a:r>
              <a:rPr lang="en-US" b="0" dirty="0" err="1"/>
              <a:t>v</a:t>
            </a:r>
            <a:r>
              <a:rPr lang="en-US" b="0" baseline="-25000" dirty="0" err="1"/>
              <a:t>k</a:t>
            </a:r>
            <a:r>
              <a:rPr lang="en-US" b="0" dirty="0"/>
              <a:t>)</a:t>
            </a:r>
            <a:r>
              <a:rPr lang="zh-CN" altLang="en-US" b="0" dirty="0"/>
              <a:t>也必定是从</a:t>
            </a:r>
            <a:r>
              <a:rPr lang="en-US" b="0" dirty="0"/>
              <a:t>v</a:t>
            </a:r>
            <a:r>
              <a:rPr lang="en-US" b="0" baseline="-25000" dirty="0"/>
              <a:t>i</a:t>
            </a:r>
            <a:r>
              <a:rPr lang="zh-CN" altLang="en-US" b="0" dirty="0"/>
              <a:t>到</a:t>
            </a:r>
            <a:r>
              <a:rPr lang="en-US" b="0" dirty="0" err="1"/>
              <a:t>v</a:t>
            </a:r>
            <a:r>
              <a:rPr lang="en-US" b="0" baseline="-25000" dirty="0" err="1"/>
              <a:t>k</a:t>
            </a:r>
            <a:r>
              <a:rPr lang="zh-CN" altLang="en-US" b="0" dirty="0"/>
              <a:t>的最短路径，且该路径上的顶点均在集合</a:t>
            </a:r>
            <a:r>
              <a:rPr lang="en-US" b="0" dirty="0"/>
              <a:t>S</a:t>
            </a:r>
            <a:r>
              <a:rPr lang="zh-CN" altLang="en-US" b="0" dirty="0"/>
              <a:t>中。</a:t>
            </a:r>
          </a:p>
          <a:p>
            <a:r>
              <a:rPr lang="en-US" b="0" dirty="0"/>
              <a:t>	</a:t>
            </a:r>
            <a:r>
              <a:rPr lang="zh-CN" altLang="en-US" b="0" dirty="0"/>
              <a:t>因此，在一般情况下，下一条长度次短的最短路径，设其终点为</a:t>
            </a:r>
            <a:r>
              <a:rPr lang="en-US" b="0" dirty="0" err="1"/>
              <a:t>v</a:t>
            </a:r>
            <a:r>
              <a:rPr lang="en-US" b="0" baseline="-25000" dirty="0" err="1"/>
              <a:t>k</a:t>
            </a:r>
            <a:r>
              <a:rPr lang="zh-CN" altLang="en-US" b="0" dirty="0"/>
              <a:t>，则或者是</a:t>
            </a:r>
            <a:r>
              <a:rPr lang="zh-CN" altLang="en-US" dirty="0">
                <a:solidFill>
                  <a:srgbClr val="FF0000"/>
                </a:solidFill>
              </a:rPr>
              <a:t>边</a:t>
            </a:r>
            <a:r>
              <a:rPr lang="en-US" dirty="0">
                <a:solidFill>
                  <a:srgbClr val="FF0000"/>
                </a:solidFill>
              </a:rPr>
              <a:t>(</a:t>
            </a:r>
            <a:r>
              <a:rPr lang="en-US" dirty="0" err="1">
                <a:solidFill>
                  <a:srgbClr val="FF0000"/>
                </a:solidFill>
              </a:rPr>
              <a:t>v</a:t>
            </a:r>
            <a:r>
              <a:rPr lang="en-US" baseline="-25000" dirty="0" err="1">
                <a:solidFill>
                  <a:srgbClr val="FF0000"/>
                </a:solidFill>
              </a:rPr>
              <a:t>s</a:t>
            </a:r>
            <a:r>
              <a:rPr lang="en-US" dirty="0">
                <a:solidFill>
                  <a:srgbClr val="FF0000"/>
                </a:solidFill>
              </a:rPr>
              <a:t>, </a:t>
            </a:r>
            <a:r>
              <a:rPr lang="en-US" dirty="0" err="1">
                <a:solidFill>
                  <a:srgbClr val="FF0000"/>
                </a:solidFill>
              </a:rPr>
              <a:t>v</a:t>
            </a:r>
            <a:r>
              <a:rPr lang="en-US" baseline="-25000" dirty="0" err="1">
                <a:solidFill>
                  <a:srgbClr val="FF0000"/>
                </a:solidFill>
              </a:rPr>
              <a:t>k</a:t>
            </a:r>
            <a:r>
              <a:rPr lang="en-US" dirty="0">
                <a:solidFill>
                  <a:srgbClr val="FF0000"/>
                </a:solidFill>
              </a:rPr>
              <a:t>)</a:t>
            </a:r>
            <a:r>
              <a:rPr lang="zh-CN" altLang="en-US" b="0" dirty="0"/>
              <a:t>，或者是</a:t>
            </a:r>
            <a:r>
              <a:rPr lang="zh-CN" altLang="en-US" b="0" dirty="0">
                <a:solidFill>
                  <a:srgbClr val="FF0000"/>
                </a:solidFill>
              </a:rPr>
              <a:t>经过中间顶点</a:t>
            </a:r>
            <a:r>
              <a:rPr lang="en-US" b="0" dirty="0" err="1">
                <a:solidFill>
                  <a:srgbClr val="FF0000"/>
                </a:solidFill>
              </a:rPr>
              <a:t>v</a:t>
            </a:r>
            <a:r>
              <a:rPr lang="en-US" b="0" baseline="-25000" dirty="0" err="1">
                <a:solidFill>
                  <a:srgbClr val="FF0000"/>
                </a:solidFill>
              </a:rPr>
              <a:t>j</a:t>
            </a:r>
            <a:r>
              <a:rPr lang="en-US" b="0" dirty="0">
                <a:solidFill>
                  <a:srgbClr val="FF0000"/>
                </a:solidFill>
              </a:rPr>
              <a:t>(</a:t>
            </a:r>
            <a:r>
              <a:rPr lang="en-US" b="0" dirty="0" err="1">
                <a:solidFill>
                  <a:srgbClr val="FF0000"/>
                </a:solidFill>
              </a:rPr>
              <a:t>v</a:t>
            </a:r>
            <a:r>
              <a:rPr lang="en-US" b="0" baseline="-25000" dirty="0" err="1">
                <a:solidFill>
                  <a:srgbClr val="FF0000"/>
                </a:solidFill>
              </a:rPr>
              <a:t>j</a:t>
            </a:r>
            <a:r>
              <a:rPr lang="zh-CN" altLang="en-US" b="0" dirty="0">
                <a:solidFill>
                  <a:srgbClr val="FF0000"/>
                </a:solidFill>
              </a:rPr>
              <a:t>∈</a:t>
            </a:r>
            <a:r>
              <a:rPr lang="en-US" b="0" dirty="0">
                <a:solidFill>
                  <a:srgbClr val="FF0000"/>
                </a:solidFill>
              </a:rPr>
              <a:t>S)</a:t>
            </a:r>
            <a:r>
              <a:rPr lang="zh-CN" altLang="en-US" b="0" dirty="0">
                <a:solidFill>
                  <a:srgbClr val="FF0000"/>
                </a:solidFill>
              </a:rPr>
              <a:t>的路径</a:t>
            </a:r>
            <a:r>
              <a:rPr lang="en-US" b="0" dirty="0">
                <a:solidFill>
                  <a:srgbClr val="FF0000"/>
                </a:solidFill>
              </a:rPr>
              <a:t>(v</a:t>
            </a:r>
            <a:r>
              <a:rPr lang="en-US" b="0" baseline="-25000" dirty="0">
                <a:solidFill>
                  <a:srgbClr val="FF0000"/>
                </a:solidFill>
              </a:rPr>
              <a:t>s</a:t>
            </a:r>
            <a:r>
              <a:rPr lang="en-US" b="0" dirty="0">
                <a:solidFill>
                  <a:srgbClr val="FF0000"/>
                </a:solidFill>
              </a:rPr>
              <a:t>, …,</a:t>
            </a:r>
            <a:r>
              <a:rPr lang="en-US" b="0" dirty="0" err="1">
                <a:solidFill>
                  <a:srgbClr val="FF0000"/>
                </a:solidFill>
              </a:rPr>
              <a:t>v</a:t>
            </a:r>
            <a:r>
              <a:rPr lang="en-US" b="0" baseline="-25000" dirty="0" err="1">
                <a:solidFill>
                  <a:srgbClr val="FF0000"/>
                </a:solidFill>
              </a:rPr>
              <a:t>j</a:t>
            </a:r>
            <a:r>
              <a:rPr lang="en-US" b="0" dirty="0">
                <a:solidFill>
                  <a:srgbClr val="FF0000"/>
                </a:solidFill>
              </a:rPr>
              <a:t>, </a:t>
            </a:r>
            <a:r>
              <a:rPr lang="en-US" b="0" dirty="0" err="1">
                <a:solidFill>
                  <a:srgbClr val="FF0000"/>
                </a:solidFill>
              </a:rPr>
              <a:t>v</a:t>
            </a:r>
            <a:r>
              <a:rPr lang="en-US" b="0" baseline="-25000" dirty="0" err="1">
                <a:solidFill>
                  <a:srgbClr val="FF0000"/>
                </a:solidFill>
              </a:rPr>
              <a:t>k</a:t>
            </a:r>
            <a:r>
              <a:rPr lang="en-US" b="0" dirty="0">
                <a:solidFill>
                  <a:srgbClr val="FF0000"/>
                </a:solidFill>
              </a:rPr>
              <a:t>)</a:t>
            </a:r>
            <a:r>
              <a:rPr lang="zh-CN" altLang="en-US" b="0" dirty="0"/>
              <a:t>。其长度为：</a:t>
            </a:r>
            <a:endParaRPr lang="en-US" altLang="zh-CN" b="0" dirty="0"/>
          </a:p>
          <a:p>
            <a:endParaRPr lang="zh-CN" altLang="en-US" b="0" dirty="0"/>
          </a:p>
          <a:p>
            <a:r>
              <a:rPr lang="en-US" altLang="zh-CN" b="0" dirty="0"/>
              <a:t>	</a:t>
            </a:r>
          </a:p>
          <a:p>
            <a:r>
              <a:rPr lang="en-US" altLang="zh-CN" b="0" dirty="0"/>
              <a:t>	</a:t>
            </a:r>
            <a:r>
              <a:rPr lang="zh-CN" altLang="en-US" b="0" dirty="0"/>
              <a:t>其中，</a:t>
            </a:r>
            <a:r>
              <a:rPr lang="en-US" b="0" dirty="0"/>
              <a:t>dist[</a:t>
            </a:r>
            <a:r>
              <a:rPr lang="en-US" b="0" dirty="0" err="1"/>
              <a:t>i</a:t>
            </a:r>
            <a:r>
              <a:rPr lang="en-US" b="0" dirty="0"/>
              <a:t>]</a:t>
            </a:r>
            <a:r>
              <a:rPr lang="zh-CN" altLang="en-US" b="0" dirty="0"/>
              <a:t>或者等于</a:t>
            </a:r>
            <a:r>
              <a:rPr lang="en-US" b="0" dirty="0"/>
              <a:t>dist[k]</a:t>
            </a:r>
            <a:r>
              <a:rPr lang="zh-CN" altLang="en-US" b="0" dirty="0"/>
              <a:t>，或者等于</a:t>
            </a:r>
            <a:r>
              <a:rPr lang="en-US" altLang="zh-CN" b="0" dirty="0" err="1"/>
              <a:t>G.weight</a:t>
            </a:r>
            <a:r>
              <a:rPr lang="en-US" altLang="zh-CN" b="0" dirty="0"/>
              <a:t>(s, k) </a:t>
            </a:r>
            <a:r>
              <a:rPr lang="zh-CN" altLang="en-US" b="0" dirty="0"/>
              <a:t>。</a:t>
            </a:r>
          </a:p>
          <a:p>
            <a:endParaRPr lang="zh-CN" altLang="en-US" dirty="0"/>
          </a:p>
        </p:txBody>
      </p:sp>
      <p:pic>
        <p:nvPicPr>
          <p:cNvPr id="6146" name="Picture 2"/>
          <p:cNvPicPr>
            <a:picLocks noChangeAspect="1" noChangeArrowheads="1"/>
          </p:cNvPicPr>
          <p:nvPr/>
        </p:nvPicPr>
        <p:blipFill>
          <a:blip r:embed="rId2" cstate="print"/>
          <a:srcRect/>
          <a:stretch>
            <a:fillRect/>
          </a:stretch>
        </p:blipFill>
        <p:spPr bwMode="auto">
          <a:xfrm>
            <a:off x="2000232" y="4286256"/>
            <a:ext cx="4107685" cy="642942"/>
          </a:xfrm>
          <a:prstGeom prst="rect">
            <a:avLst/>
          </a:prstGeom>
          <a:noFill/>
          <a:ln w="9525">
            <a:noFill/>
            <a:miter lim="800000"/>
            <a:headEnd/>
            <a:tailEnd/>
          </a:ln>
          <a:effectLst/>
        </p:spPr>
      </p:pic>
    </p:spTree>
    <p:extLst>
      <p:ext uri="{BB962C8B-B14F-4D97-AF65-F5344CB8AC3E}">
        <p14:creationId xmlns:p14="http://schemas.microsoft.com/office/powerpoint/2010/main" val="69332888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827584" y="1000108"/>
            <a:ext cx="8316416" cy="5143536"/>
          </a:xfrm>
        </p:spPr>
        <p:txBody>
          <a:bodyPr>
            <a:normAutofit/>
          </a:bodyPr>
          <a:lstStyle/>
          <a:p>
            <a:r>
              <a:rPr lang="zh-CN" altLang="en-US" b="0" dirty="0"/>
              <a:t>根据上面的分析，</a:t>
            </a:r>
            <a:r>
              <a:rPr lang="en-US" b="0" dirty="0" err="1">
                <a:solidFill>
                  <a:srgbClr val="FF0000"/>
                </a:solidFill>
              </a:rPr>
              <a:t>Dijkstra</a:t>
            </a:r>
            <a:r>
              <a:rPr lang="zh-CN" altLang="en-US" b="0" dirty="0">
                <a:solidFill>
                  <a:srgbClr val="FF0000"/>
                </a:solidFill>
              </a:rPr>
              <a:t>算法的基本步骤</a:t>
            </a:r>
            <a:r>
              <a:rPr lang="zh-CN" altLang="en-US" b="0" dirty="0"/>
              <a:t>可描述如下：</a:t>
            </a:r>
          </a:p>
          <a:p>
            <a:r>
              <a:rPr lang="en-US" b="0" dirty="0"/>
              <a:t>(1) </a:t>
            </a:r>
            <a:r>
              <a:rPr lang="zh-CN" altLang="en-US" b="0" dirty="0"/>
              <a:t>令</a:t>
            </a:r>
            <a:r>
              <a:rPr lang="en-US" b="0" dirty="0"/>
              <a:t>S = {</a:t>
            </a:r>
            <a:r>
              <a:rPr lang="en-US" b="0" dirty="0" err="1"/>
              <a:t>v</a:t>
            </a:r>
            <a:r>
              <a:rPr lang="en-US" b="0" baseline="-25000" dirty="0" err="1"/>
              <a:t>s</a:t>
            </a:r>
            <a:r>
              <a:rPr lang="en-US" b="0" dirty="0"/>
              <a:t>}</a:t>
            </a:r>
            <a:r>
              <a:rPr lang="zh-CN" altLang="en-US" b="0" dirty="0"/>
              <a:t>，并对</a:t>
            </a:r>
            <a:r>
              <a:rPr lang="en-US" b="0" dirty="0"/>
              <a:t>dist[</a:t>
            </a:r>
            <a:r>
              <a:rPr lang="en-US" b="0" dirty="0" err="1"/>
              <a:t>i</a:t>
            </a:r>
            <a:r>
              <a:rPr lang="en-US" b="0" dirty="0"/>
              <a:t>]</a:t>
            </a:r>
            <a:r>
              <a:rPr lang="zh-CN" altLang="en-US" b="0" dirty="0"/>
              <a:t>数组按下面的公式赋初值：</a:t>
            </a:r>
            <a:endParaRPr lang="en-US" altLang="zh-CN" b="0" dirty="0"/>
          </a:p>
          <a:p>
            <a:endParaRPr lang="en-US" altLang="zh-CN" b="0" dirty="0"/>
          </a:p>
          <a:p>
            <a:endParaRPr lang="zh-CN" altLang="en-US" b="0" dirty="0"/>
          </a:p>
          <a:p>
            <a:r>
              <a:rPr lang="en-US" b="0" dirty="0"/>
              <a:t>	</a:t>
            </a:r>
          </a:p>
          <a:p>
            <a:r>
              <a:rPr lang="en-US" b="0" dirty="0"/>
              <a:t>(2) </a:t>
            </a:r>
            <a:r>
              <a:rPr lang="zh-CN" altLang="en-US" b="0" dirty="0"/>
              <a:t>选择顶点</a:t>
            </a:r>
            <a:r>
              <a:rPr lang="en-US" b="0" dirty="0" err="1"/>
              <a:t>v</a:t>
            </a:r>
            <a:r>
              <a:rPr lang="en-US" b="0" baseline="-25000" dirty="0" err="1"/>
              <a:t>j</a:t>
            </a:r>
            <a:r>
              <a:rPr lang="zh-CN" altLang="en-US" b="0" dirty="0"/>
              <a:t>，使得</a:t>
            </a:r>
            <a:endParaRPr lang="en-US" altLang="zh-CN" b="0" dirty="0"/>
          </a:p>
          <a:p>
            <a:endParaRPr lang="en-US" altLang="zh-CN" b="0" dirty="0"/>
          </a:p>
          <a:p>
            <a:r>
              <a:rPr lang="en-US" b="0" dirty="0"/>
              <a:t>(3) </a:t>
            </a:r>
            <a:r>
              <a:rPr lang="en-US" b="0" dirty="0" err="1"/>
              <a:t>v</a:t>
            </a:r>
            <a:r>
              <a:rPr lang="en-US" b="0" baseline="-25000" dirty="0" err="1"/>
              <a:t>j</a:t>
            </a:r>
            <a:r>
              <a:rPr lang="zh-CN" altLang="en-US" b="0" dirty="0"/>
              <a:t>即为所求下一条最短路径的终点，将</a:t>
            </a:r>
            <a:r>
              <a:rPr lang="en-US" b="0" dirty="0" err="1"/>
              <a:t>v</a:t>
            </a:r>
            <a:r>
              <a:rPr lang="en-US" b="0" baseline="-25000" dirty="0" err="1"/>
              <a:t>j</a:t>
            </a:r>
            <a:r>
              <a:rPr lang="zh-CN" altLang="en-US" b="0" dirty="0"/>
              <a:t>并入到集合</a:t>
            </a:r>
            <a:r>
              <a:rPr lang="en-US" b="0" dirty="0"/>
              <a:t>S</a:t>
            </a:r>
            <a:r>
              <a:rPr lang="zh-CN" altLang="en-US" b="0" dirty="0"/>
              <a:t>中，即</a:t>
            </a:r>
          </a:p>
          <a:p>
            <a:endParaRPr lang="zh-CN" altLang="en-US" dirty="0"/>
          </a:p>
        </p:txBody>
      </p:sp>
      <p:pic>
        <p:nvPicPr>
          <p:cNvPr id="7170" name="Picture 2"/>
          <p:cNvPicPr>
            <a:picLocks noChangeAspect="1" noChangeArrowheads="1"/>
          </p:cNvPicPr>
          <p:nvPr/>
        </p:nvPicPr>
        <p:blipFill>
          <a:blip r:embed="rId2" cstate="print"/>
          <a:srcRect/>
          <a:stretch>
            <a:fillRect/>
          </a:stretch>
        </p:blipFill>
        <p:spPr bwMode="auto">
          <a:xfrm>
            <a:off x="1547664" y="2337227"/>
            <a:ext cx="7542578" cy="1053666"/>
          </a:xfrm>
          <a:prstGeom prst="rect">
            <a:avLst/>
          </a:prstGeom>
          <a:noFill/>
          <a:ln w="9525">
            <a:noFill/>
            <a:miter lim="800000"/>
            <a:headEnd/>
            <a:tailEnd/>
          </a:ln>
          <a:effectLst/>
        </p:spPr>
      </p:pic>
      <p:pic>
        <p:nvPicPr>
          <p:cNvPr id="7171" name="Picture 3"/>
          <p:cNvPicPr>
            <a:picLocks noChangeAspect="1" noChangeArrowheads="1"/>
          </p:cNvPicPr>
          <p:nvPr/>
        </p:nvPicPr>
        <p:blipFill>
          <a:blip r:embed="rId3" cstate="print"/>
          <a:srcRect/>
          <a:stretch>
            <a:fillRect/>
          </a:stretch>
        </p:blipFill>
        <p:spPr bwMode="auto">
          <a:xfrm>
            <a:off x="1851482" y="4207539"/>
            <a:ext cx="3512606" cy="661621"/>
          </a:xfrm>
          <a:prstGeom prst="rect">
            <a:avLst/>
          </a:prstGeom>
          <a:noFill/>
          <a:ln w="9525">
            <a:noFill/>
            <a:miter lim="800000"/>
            <a:headEnd/>
            <a:tailEnd/>
          </a:ln>
          <a:effectLst/>
        </p:spPr>
      </p:pic>
      <p:pic>
        <p:nvPicPr>
          <p:cNvPr id="7172" name="Picture 4"/>
          <p:cNvPicPr>
            <a:picLocks noChangeAspect="1" noChangeArrowheads="1"/>
          </p:cNvPicPr>
          <p:nvPr/>
        </p:nvPicPr>
        <p:blipFill>
          <a:blip r:embed="rId4" cstate="print"/>
          <a:srcRect/>
          <a:stretch>
            <a:fillRect/>
          </a:stretch>
        </p:blipFill>
        <p:spPr bwMode="auto">
          <a:xfrm>
            <a:off x="1649562" y="5229200"/>
            <a:ext cx="1724992" cy="504056"/>
          </a:xfrm>
          <a:prstGeom prst="rect">
            <a:avLst/>
          </a:prstGeom>
          <a:noFill/>
          <a:ln w="9525">
            <a:noFill/>
            <a:miter lim="800000"/>
            <a:headEnd/>
            <a:tailEnd/>
          </a:ln>
          <a:effectLst/>
        </p:spPr>
      </p:pic>
    </p:spTree>
    <p:extLst>
      <p:ext uri="{BB962C8B-B14F-4D97-AF65-F5344CB8AC3E}">
        <p14:creationId xmlns:p14="http://schemas.microsoft.com/office/powerpoint/2010/main" val="138307202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827584" y="1285860"/>
            <a:ext cx="7520940" cy="4643470"/>
          </a:xfrm>
        </p:spPr>
        <p:txBody>
          <a:bodyPr>
            <a:normAutofit/>
          </a:bodyPr>
          <a:lstStyle/>
          <a:p>
            <a:r>
              <a:rPr lang="en-US" b="0" dirty="0"/>
              <a:t>(4) </a:t>
            </a:r>
            <a:r>
              <a:rPr lang="zh-CN" altLang="en-US" b="0" dirty="0"/>
              <a:t>对</a:t>
            </a:r>
            <a:r>
              <a:rPr lang="en-US" b="0" dirty="0" err="1"/>
              <a:t>v</a:t>
            </a:r>
            <a:r>
              <a:rPr lang="en-US" b="0" baseline="-25000" dirty="0" err="1"/>
              <a:t>i</a:t>
            </a:r>
            <a:r>
              <a:rPr lang="en-US" b="0" dirty="0" err="1">
                <a:sym typeface="Symbol"/>
              </a:rPr>
              <a:t></a:t>
            </a:r>
            <a:r>
              <a:rPr lang="en-US" b="0" dirty="0" err="1"/>
              <a:t>S</a:t>
            </a:r>
            <a:r>
              <a:rPr lang="zh-CN" altLang="en-US" b="0" dirty="0"/>
              <a:t>，修改</a:t>
            </a:r>
            <a:r>
              <a:rPr lang="en-US" b="0" dirty="0"/>
              <a:t>dist[</a:t>
            </a:r>
            <a:r>
              <a:rPr lang="en-US" b="0" dirty="0" err="1"/>
              <a:t>i</a:t>
            </a:r>
            <a:r>
              <a:rPr lang="en-US" b="0" dirty="0"/>
              <a:t>]</a:t>
            </a:r>
            <a:r>
              <a:rPr lang="zh-CN" altLang="en-US" b="0" dirty="0"/>
              <a:t>的值。由于</a:t>
            </a:r>
            <a:r>
              <a:rPr lang="en-US" b="0" dirty="0"/>
              <a:t>(3)</a:t>
            </a:r>
            <a:r>
              <a:rPr lang="zh-CN" altLang="en-US" b="0" dirty="0"/>
              <a:t>中对</a:t>
            </a:r>
            <a:r>
              <a:rPr lang="en-US" b="0" dirty="0"/>
              <a:t>S</a:t>
            </a:r>
            <a:r>
              <a:rPr lang="zh-CN" altLang="en-US" b="0" dirty="0"/>
              <a:t>新增加了</a:t>
            </a:r>
            <a:r>
              <a:rPr lang="en-US" b="0" dirty="0" err="1"/>
              <a:t>v</a:t>
            </a:r>
            <a:r>
              <a:rPr lang="en-US" b="0" baseline="-25000" dirty="0" err="1"/>
              <a:t>j</a:t>
            </a:r>
            <a:r>
              <a:rPr lang="zh-CN" altLang="en-US" b="0" dirty="0"/>
              <a:t>，集合</a:t>
            </a:r>
            <a:r>
              <a:rPr lang="en-US" b="0" dirty="0"/>
              <a:t>{V-S}</a:t>
            </a:r>
            <a:r>
              <a:rPr lang="zh-CN" altLang="en-US" b="0" dirty="0"/>
              <a:t>中与</a:t>
            </a:r>
            <a:r>
              <a:rPr lang="en-US" b="0" dirty="0" err="1"/>
              <a:t>v</a:t>
            </a:r>
            <a:r>
              <a:rPr lang="en-US" b="0" baseline="-25000" dirty="0" err="1"/>
              <a:t>j</a:t>
            </a:r>
            <a:r>
              <a:rPr lang="zh-CN" altLang="en-US" b="0" dirty="0"/>
              <a:t>相连的顶点</a:t>
            </a:r>
            <a:r>
              <a:rPr lang="en-US" b="0" dirty="0"/>
              <a:t>v</a:t>
            </a:r>
            <a:r>
              <a:rPr lang="en-US" b="0" baseline="-25000" dirty="0"/>
              <a:t>i</a:t>
            </a:r>
            <a:r>
              <a:rPr lang="zh-CN" altLang="en-US" b="0" dirty="0"/>
              <a:t>的</a:t>
            </a:r>
            <a:r>
              <a:rPr lang="en-US" b="0" dirty="0"/>
              <a:t>dist[</a:t>
            </a:r>
            <a:r>
              <a:rPr lang="en-US" b="0" dirty="0" err="1"/>
              <a:t>i</a:t>
            </a:r>
            <a:r>
              <a:rPr lang="en-US" b="0" dirty="0"/>
              <a:t>]</a:t>
            </a:r>
            <a:r>
              <a:rPr lang="zh-CN" altLang="en-US" b="0" dirty="0"/>
              <a:t>值可能变小，因为可能存在一条从</a:t>
            </a:r>
            <a:r>
              <a:rPr lang="en-US" b="0" dirty="0" err="1"/>
              <a:t>v</a:t>
            </a:r>
            <a:r>
              <a:rPr lang="en-US" b="0" baseline="-25000" dirty="0" err="1"/>
              <a:t>s</a:t>
            </a:r>
            <a:r>
              <a:rPr lang="zh-CN" altLang="en-US" b="0" dirty="0"/>
              <a:t>通过</a:t>
            </a:r>
            <a:r>
              <a:rPr lang="en-US" b="0" dirty="0" err="1"/>
              <a:t>v</a:t>
            </a:r>
            <a:r>
              <a:rPr lang="en-US" b="0" baseline="-25000" dirty="0" err="1"/>
              <a:t>j</a:t>
            </a:r>
            <a:r>
              <a:rPr lang="zh-CN" altLang="en-US" b="0" dirty="0"/>
              <a:t>再到达</a:t>
            </a:r>
            <a:r>
              <a:rPr lang="en-US" b="0" dirty="0"/>
              <a:t>v</a:t>
            </a:r>
            <a:r>
              <a:rPr lang="en-US" b="0" baseline="-25000" dirty="0"/>
              <a:t>i</a:t>
            </a:r>
            <a:r>
              <a:rPr lang="zh-CN" altLang="en-US" b="0" dirty="0"/>
              <a:t>的路径</a:t>
            </a:r>
            <a:r>
              <a:rPr lang="en-US" b="0" dirty="0"/>
              <a:t>(</a:t>
            </a:r>
            <a:r>
              <a:rPr lang="en-US" b="0" dirty="0" err="1"/>
              <a:t>v</a:t>
            </a:r>
            <a:r>
              <a:rPr lang="en-US" b="0" baseline="-25000" dirty="0" err="1"/>
              <a:t>s</a:t>
            </a:r>
            <a:r>
              <a:rPr lang="en-US" b="0" dirty="0"/>
              <a:t>, …, </a:t>
            </a:r>
            <a:r>
              <a:rPr lang="en-US" b="0" dirty="0" err="1"/>
              <a:t>v</a:t>
            </a:r>
            <a:r>
              <a:rPr lang="en-US" b="0" baseline="-25000" dirty="0" err="1"/>
              <a:t>j</a:t>
            </a:r>
            <a:r>
              <a:rPr lang="en-US" b="0" dirty="0"/>
              <a:t>, v</a:t>
            </a:r>
            <a:r>
              <a:rPr lang="en-US" b="0" baseline="-25000" dirty="0"/>
              <a:t>i</a:t>
            </a:r>
            <a:r>
              <a:rPr lang="en-US" b="0" dirty="0"/>
              <a:t>)</a:t>
            </a:r>
            <a:r>
              <a:rPr lang="zh-CN" altLang="en-US" b="0" dirty="0"/>
              <a:t>，其长度小于原先的</a:t>
            </a:r>
            <a:r>
              <a:rPr lang="en-US" b="0" dirty="0"/>
              <a:t>dist[</a:t>
            </a:r>
            <a:r>
              <a:rPr lang="en-US" b="0" dirty="0" err="1"/>
              <a:t>i</a:t>
            </a:r>
            <a:r>
              <a:rPr lang="en-US" b="0" dirty="0"/>
              <a:t>]</a:t>
            </a:r>
            <a:r>
              <a:rPr lang="zh-CN" altLang="en-US" b="0" dirty="0"/>
              <a:t>，即</a:t>
            </a:r>
            <a:endParaRPr lang="en-US" altLang="zh-CN" b="0" dirty="0"/>
          </a:p>
          <a:p>
            <a:endParaRPr lang="zh-CN" altLang="en-US" b="0" dirty="0"/>
          </a:p>
          <a:p>
            <a:r>
              <a:rPr lang="zh-CN" altLang="en-US" b="0" dirty="0"/>
              <a:t>    此时应修改</a:t>
            </a:r>
            <a:r>
              <a:rPr lang="en-US" b="0" dirty="0"/>
              <a:t>dist[</a:t>
            </a:r>
            <a:r>
              <a:rPr lang="en-US" b="0" dirty="0" err="1"/>
              <a:t>i</a:t>
            </a:r>
            <a:r>
              <a:rPr lang="en-US" b="0" dirty="0"/>
              <a:t>]</a:t>
            </a:r>
            <a:r>
              <a:rPr lang="zh-CN" altLang="en-US" b="0" dirty="0"/>
              <a:t>，使得</a:t>
            </a:r>
            <a:endParaRPr lang="en-US" altLang="zh-CN" b="0" dirty="0"/>
          </a:p>
          <a:p>
            <a:endParaRPr lang="zh-CN" altLang="en-US" b="0" dirty="0"/>
          </a:p>
          <a:p>
            <a:r>
              <a:rPr lang="en-US" b="0" dirty="0"/>
              <a:t>(5) </a:t>
            </a:r>
            <a:r>
              <a:rPr lang="zh-CN" altLang="en-US" b="0" dirty="0"/>
              <a:t>重复步骤</a:t>
            </a:r>
            <a:r>
              <a:rPr lang="en-US" b="0" dirty="0"/>
              <a:t>(2)</a:t>
            </a:r>
            <a:r>
              <a:rPr lang="zh-CN" altLang="en-US" b="0" dirty="0"/>
              <a:t>、</a:t>
            </a:r>
            <a:r>
              <a:rPr lang="en-US" b="0" dirty="0"/>
              <a:t>(3)</a:t>
            </a:r>
            <a:r>
              <a:rPr lang="zh-CN" altLang="en-US" b="0" dirty="0"/>
              <a:t>和</a:t>
            </a:r>
            <a:r>
              <a:rPr lang="en-US" b="0" dirty="0"/>
              <a:t>(4)</a:t>
            </a:r>
            <a:r>
              <a:rPr lang="zh-CN" altLang="en-US" b="0" dirty="0"/>
              <a:t>，直到</a:t>
            </a:r>
            <a:r>
              <a:rPr lang="en-US" b="0" dirty="0"/>
              <a:t>S = V</a:t>
            </a:r>
            <a:r>
              <a:rPr lang="zh-CN" altLang="en-US" b="0" dirty="0"/>
              <a:t>为止。这样就求出了图中从源点</a:t>
            </a:r>
            <a:r>
              <a:rPr lang="en-US" b="0" dirty="0" err="1"/>
              <a:t>v</a:t>
            </a:r>
            <a:r>
              <a:rPr lang="en-US" b="0" baseline="-25000" dirty="0" err="1"/>
              <a:t>s</a:t>
            </a:r>
            <a:r>
              <a:rPr lang="zh-CN" altLang="en-US" b="0" dirty="0"/>
              <a:t>到其它顶点的最短路径。</a:t>
            </a:r>
          </a:p>
          <a:p>
            <a:endParaRPr lang="zh-CN" altLang="en-US" dirty="0"/>
          </a:p>
        </p:txBody>
      </p:sp>
      <p:pic>
        <p:nvPicPr>
          <p:cNvPr id="8194" name="Picture 2"/>
          <p:cNvPicPr>
            <a:picLocks noChangeAspect="1" noChangeArrowheads="1"/>
          </p:cNvPicPr>
          <p:nvPr/>
        </p:nvPicPr>
        <p:blipFill>
          <a:blip r:embed="rId2" cstate="print"/>
          <a:srcRect/>
          <a:stretch>
            <a:fillRect/>
          </a:stretch>
        </p:blipFill>
        <p:spPr bwMode="auto">
          <a:xfrm>
            <a:off x="3000375" y="3186113"/>
            <a:ext cx="3143250" cy="485775"/>
          </a:xfrm>
          <a:prstGeom prst="rect">
            <a:avLst/>
          </a:prstGeom>
          <a:noFill/>
          <a:ln w="9525">
            <a:noFill/>
            <a:miter lim="800000"/>
            <a:headEnd/>
            <a:tailEnd/>
          </a:ln>
          <a:effectLst/>
        </p:spPr>
      </p:pic>
      <p:pic>
        <p:nvPicPr>
          <p:cNvPr id="8195" name="Picture 3"/>
          <p:cNvPicPr>
            <a:picLocks noChangeAspect="1" noChangeArrowheads="1"/>
          </p:cNvPicPr>
          <p:nvPr/>
        </p:nvPicPr>
        <p:blipFill>
          <a:blip r:embed="rId3" cstate="print"/>
          <a:srcRect/>
          <a:stretch>
            <a:fillRect/>
          </a:stretch>
        </p:blipFill>
        <p:spPr bwMode="auto">
          <a:xfrm>
            <a:off x="2928926" y="4214818"/>
            <a:ext cx="3238500" cy="476250"/>
          </a:xfrm>
          <a:prstGeom prst="rect">
            <a:avLst/>
          </a:prstGeom>
          <a:noFill/>
          <a:ln w="9525">
            <a:noFill/>
            <a:miter lim="800000"/>
            <a:headEnd/>
            <a:tailEnd/>
          </a:ln>
          <a:effectLst/>
        </p:spPr>
      </p:pic>
    </p:spTree>
    <p:extLst>
      <p:ext uri="{BB962C8B-B14F-4D97-AF65-F5344CB8AC3E}">
        <p14:creationId xmlns:p14="http://schemas.microsoft.com/office/powerpoint/2010/main" val="321361130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268760"/>
            <a:ext cx="7520940" cy="3939889"/>
          </a:xfrm>
        </p:spPr>
        <p:txBody>
          <a:bodyPr/>
          <a:lstStyle/>
          <a:p>
            <a:r>
              <a:rPr lang="en-US" altLang="zh-CN" dirty="0"/>
              <a:t>	</a:t>
            </a:r>
            <a:r>
              <a:rPr lang="zh-CN" altLang="zh-CN" b="0" dirty="0"/>
              <a:t>表</a:t>
            </a:r>
            <a:r>
              <a:rPr lang="en-US" altLang="zh-CN" b="0" dirty="0"/>
              <a:t>6-4</a:t>
            </a:r>
            <a:r>
              <a:rPr lang="zh-CN" altLang="zh-CN" b="0" dirty="0"/>
              <a:t>为图</a:t>
            </a:r>
            <a:r>
              <a:rPr lang="en-US" altLang="zh-CN" b="0" dirty="0"/>
              <a:t>6-31</a:t>
            </a:r>
            <a:r>
              <a:rPr lang="zh-CN" altLang="zh-CN" b="0" dirty="0"/>
              <a:t>所示带权有向图用</a:t>
            </a:r>
            <a:r>
              <a:rPr lang="en-US" altLang="zh-CN" b="0" dirty="0"/>
              <a:t>Dijkstra</a:t>
            </a:r>
            <a:r>
              <a:rPr lang="zh-CN" altLang="zh-CN" b="0" dirty="0"/>
              <a:t>算法求解最短路径过程中</a:t>
            </a:r>
            <a:r>
              <a:rPr lang="en-US" altLang="zh-CN" b="0" dirty="0" err="1"/>
              <a:t>dist</a:t>
            </a:r>
            <a:r>
              <a:rPr lang="zh-CN" altLang="zh-CN" b="0" dirty="0"/>
              <a:t>数组的变化情况。</a:t>
            </a:r>
            <a:endParaRPr lang="zh-CN" altLang="en-US" b="0" dirty="0"/>
          </a:p>
        </p:txBody>
      </p:sp>
      <p:pic>
        <p:nvPicPr>
          <p:cNvPr id="3379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3568" y="2636912"/>
            <a:ext cx="7569200" cy="2374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2003514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827584" y="785794"/>
            <a:ext cx="7887820" cy="5715040"/>
          </a:xfrm>
        </p:spPr>
        <p:txBody>
          <a:bodyPr>
            <a:normAutofit fontScale="62500" lnSpcReduction="20000"/>
          </a:bodyPr>
          <a:lstStyle/>
          <a:p>
            <a:r>
              <a:rPr lang="en-US" altLang="zh-CN" sz="4500" b="0" dirty="0"/>
              <a:t>	</a:t>
            </a:r>
            <a:r>
              <a:rPr lang="zh-CN" altLang="en-US" sz="4500" b="0" dirty="0"/>
              <a:t>为了存储最短路径，再引入一个辅助数组</a:t>
            </a:r>
            <a:r>
              <a:rPr lang="en-US" sz="4500" b="0" dirty="0"/>
              <a:t>pre</a:t>
            </a:r>
            <a:r>
              <a:rPr lang="zh-CN" altLang="en-US" sz="4500" b="0" dirty="0"/>
              <a:t>，</a:t>
            </a:r>
            <a:r>
              <a:rPr lang="en-US" sz="4500" b="0" dirty="0"/>
              <a:t>pre[j]</a:t>
            </a:r>
            <a:r>
              <a:rPr lang="zh-CN" altLang="en-US" sz="4500" b="0" dirty="0"/>
              <a:t>记录路径上的</a:t>
            </a:r>
            <a:r>
              <a:rPr lang="zh-CN" altLang="en-US" sz="4500" b="0" dirty="0">
                <a:solidFill>
                  <a:srgbClr val="FF0000"/>
                </a:solidFill>
              </a:rPr>
              <a:t>前一个顶点</a:t>
            </a:r>
            <a:r>
              <a:rPr lang="zh-CN" altLang="en-US" sz="4500" b="0" dirty="0"/>
              <a:t>，即</a:t>
            </a:r>
            <a:r>
              <a:rPr lang="en-US" sz="4500" b="0" dirty="0"/>
              <a:t>pre[j] = </a:t>
            </a:r>
            <a:r>
              <a:rPr lang="en-US" sz="4500" b="0" dirty="0" err="1"/>
              <a:t>i</a:t>
            </a:r>
            <a:r>
              <a:rPr lang="zh-CN" altLang="en-US" sz="4500" b="0" dirty="0"/>
              <a:t>。</a:t>
            </a:r>
            <a:endParaRPr lang="en-US" altLang="zh-CN" sz="4500" b="0" dirty="0"/>
          </a:p>
          <a:p>
            <a:r>
              <a:rPr lang="en-US" sz="4000" dirty="0" err="1"/>
              <a:t>Dijkstra</a:t>
            </a:r>
            <a:r>
              <a:rPr lang="zh-CN" altLang="en-US" sz="4000" dirty="0"/>
              <a:t>算法实现如下：</a:t>
            </a:r>
          </a:p>
          <a:p>
            <a:pPr>
              <a:spcBef>
                <a:spcPts val="0"/>
              </a:spcBef>
            </a:pPr>
            <a:r>
              <a:rPr lang="en-US" sz="2900" b="0" dirty="0"/>
              <a:t>	//</a:t>
            </a:r>
            <a:r>
              <a:rPr lang="zh-CN" altLang="en-US" sz="2900" b="0" dirty="0"/>
              <a:t>用</a:t>
            </a:r>
            <a:r>
              <a:rPr lang="en-US" sz="2900" b="0" dirty="0" err="1"/>
              <a:t>Dijkstra</a:t>
            </a:r>
            <a:r>
              <a:rPr lang="zh-CN" altLang="en-US" sz="2900" b="0" dirty="0"/>
              <a:t>算法求带权有向图</a:t>
            </a:r>
            <a:r>
              <a:rPr lang="en-US" sz="2900" b="0" dirty="0"/>
              <a:t>G</a:t>
            </a:r>
            <a:r>
              <a:rPr lang="zh-CN" altLang="en-US" sz="2900" b="0" dirty="0"/>
              <a:t>的顶点</a:t>
            </a:r>
            <a:r>
              <a:rPr lang="en-US" sz="2900" b="0" dirty="0"/>
              <a:t>s</a:t>
            </a:r>
            <a:r>
              <a:rPr lang="zh-CN" altLang="en-US" sz="2900" b="0" dirty="0"/>
              <a:t>到其余顶点的最短路径和路径长度</a:t>
            </a:r>
          </a:p>
          <a:p>
            <a:pPr>
              <a:spcBef>
                <a:spcPts val="0"/>
              </a:spcBef>
            </a:pPr>
            <a:r>
              <a:rPr lang="en-US" sz="2900" b="0" dirty="0"/>
              <a:t>void </a:t>
            </a:r>
            <a:r>
              <a:rPr lang="en-US" sz="2900" b="0" dirty="0" err="1"/>
              <a:t>Dijkstra</a:t>
            </a:r>
            <a:r>
              <a:rPr lang="en-US" sz="2900" b="0" dirty="0"/>
              <a:t>(Graph&amp; G, </a:t>
            </a:r>
            <a:r>
              <a:rPr lang="en-US" sz="2900" b="0" dirty="0" err="1"/>
              <a:t>int</a:t>
            </a:r>
            <a:r>
              <a:rPr lang="en-US" sz="2900" b="0" dirty="0"/>
              <a:t> *dist, </a:t>
            </a:r>
            <a:r>
              <a:rPr lang="en-US" sz="2900" b="0" dirty="0" err="1"/>
              <a:t>int</a:t>
            </a:r>
            <a:r>
              <a:rPr lang="en-US" sz="2900" b="0" dirty="0"/>
              <a:t> *pre, </a:t>
            </a:r>
            <a:r>
              <a:rPr lang="en-US" sz="2900" b="0" dirty="0" err="1"/>
              <a:t>int</a:t>
            </a:r>
            <a:r>
              <a:rPr lang="en-US" sz="2900" b="0" dirty="0"/>
              <a:t> s){</a:t>
            </a:r>
            <a:endParaRPr lang="zh-CN" altLang="en-US" sz="2900" b="0" dirty="0"/>
          </a:p>
          <a:p>
            <a:pPr>
              <a:spcBef>
                <a:spcPts val="0"/>
              </a:spcBef>
            </a:pPr>
            <a:r>
              <a:rPr lang="en-US" sz="2900" b="0" dirty="0"/>
              <a:t>    </a:t>
            </a:r>
            <a:r>
              <a:rPr lang="en-US" sz="2900" b="0" dirty="0" err="1"/>
              <a:t>int</a:t>
            </a:r>
            <a:r>
              <a:rPr lang="en-US" sz="2900" b="0" dirty="0"/>
              <a:t> </a:t>
            </a:r>
            <a:r>
              <a:rPr lang="en-US" sz="2900" b="0" dirty="0" err="1"/>
              <a:t>i</a:t>
            </a:r>
            <a:r>
              <a:rPr lang="en-US" sz="2900" b="0" dirty="0"/>
              <a:t>, j, n = </a:t>
            </a:r>
            <a:r>
              <a:rPr lang="en-US" sz="2900" b="0" dirty="0" err="1"/>
              <a:t>G.VerticesNum</a:t>
            </a:r>
            <a:r>
              <a:rPr lang="en-US" sz="2900" b="0" dirty="0"/>
              <a:t>();</a:t>
            </a:r>
            <a:endParaRPr lang="zh-CN" altLang="en-US" sz="2900" b="0" dirty="0"/>
          </a:p>
          <a:p>
            <a:pPr>
              <a:spcBef>
                <a:spcPts val="0"/>
              </a:spcBef>
            </a:pPr>
            <a:r>
              <a:rPr lang="en-US" sz="2900" b="0" dirty="0"/>
              <a:t>    </a:t>
            </a:r>
            <a:r>
              <a:rPr lang="en-US" sz="2900" b="0" dirty="0" err="1"/>
              <a:t>bool</a:t>
            </a:r>
            <a:r>
              <a:rPr lang="en-US" sz="2900" b="0" dirty="0"/>
              <a:t> *S = new </a:t>
            </a:r>
            <a:r>
              <a:rPr lang="en-US" sz="2900" b="0" dirty="0" err="1"/>
              <a:t>bool</a:t>
            </a:r>
            <a:r>
              <a:rPr lang="en-US" sz="2900" b="0" dirty="0"/>
              <a:t>[n];      	//</a:t>
            </a:r>
            <a:r>
              <a:rPr lang="zh-CN" altLang="en-US" sz="2900" b="0" dirty="0"/>
              <a:t>最短路径终点集</a:t>
            </a:r>
            <a:r>
              <a:rPr lang="en-US" sz="2900" b="0" dirty="0"/>
              <a:t>S</a:t>
            </a:r>
            <a:endParaRPr lang="zh-CN" altLang="en-US" sz="2900" b="0" dirty="0"/>
          </a:p>
          <a:p>
            <a:pPr>
              <a:spcBef>
                <a:spcPts val="0"/>
              </a:spcBef>
            </a:pPr>
            <a:r>
              <a:rPr lang="en-US" sz="2900" b="0" dirty="0"/>
              <a:t>    for(</a:t>
            </a:r>
            <a:r>
              <a:rPr lang="en-US" sz="2900" b="0" dirty="0" err="1"/>
              <a:t>i</a:t>
            </a:r>
            <a:r>
              <a:rPr lang="en-US" sz="2900" b="0" dirty="0"/>
              <a:t> = 0; </a:t>
            </a:r>
            <a:r>
              <a:rPr lang="en-US" sz="2900" b="0" dirty="0" err="1"/>
              <a:t>i</a:t>
            </a:r>
            <a:r>
              <a:rPr lang="en-US" sz="2900" b="0" dirty="0"/>
              <a:t> &lt; n; </a:t>
            </a:r>
            <a:r>
              <a:rPr lang="en-US" sz="2900" b="0" dirty="0" err="1"/>
              <a:t>i</a:t>
            </a:r>
            <a:r>
              <a:rPr lang="en-US" sz="2900" b="0" dirty="0"/>
              <a:t>++){     		//</a:t>
            </a:r>
            <a:r>
              <a:rPr lang="zh-CN" altLang="en-US" sz="2900" b="0" dirty="0"/>
              <a:t>初始化</a:t>
            </a:r>
            <a:r>
              <a:rPr lang="en-US" sz="2900" b="0" dirty="0"/>
              <a:t>dist</a:t>
            </a:r>
            <a:r>
              <a:rPr lang="zh-CN" altLang="en-US" sz="2900" b="0" dirty="0"/>
              <a:t>、</a:t>
            </a:r>
            <a:r>
              <a:rPr lang="en-US" sz="2900" b="0" dirty="0"/>
              <a:t>pre</a:t>
            </a:r>
            <a:r>
              <a:rPr lang="zh-CN" altLang="en-US" sz="2900" b="0" dirty="0"/>
              <a:t>、</a:t>
            </a:r>
            <a:r>
              <a:rPr lang="en-US" sz="2900" b="0" dirty="0"/>
              <a:t>S</a:t>
            </a:r>
            <a:endParaRPr lang="zh-CN" altLang="en-US" sz="2900" b="0" dirty="0"/>
          </a:p>
          <a:p>
            <a:pPr>
              <a:spcBef>
                <a:spcPts val="0"/>
              </a:spcBef>
            </a:pPr>
            <a:r>
              <a:rPr lang="en-US" sz="2900" b="0" dirty="0"/>
              <a:t>        S[</a:t>
            </a:r>
            <a:r>
              <a:rPr lang="en-US" sz="2900" b="0" dirty="0" err="1"/>
              <a:t>i</a:t>
            </a:r>
            <a:r>
              <a:rPr lang="en-US" sz="2900" b="0" dirty="0"/>
              <a:t>] = false;</a:t>
            </a:r>
            <a:endParaRPr lang="zh-CN" altLang="en-US" sz="2900" b="0" dirty="0"/>
          </a:p>
          <a:p>
            <a:pPr>
              <a:spcBef>
                <a:spcPts val="0"/>
              </a:spcBef>
            </a:pPr>
            <a:r>
              <a:rPr lang="en-US" sz="2900" b="0" dirty="0"/>
              <a:t>        if(</a:t>
            </a:r>
            <a:r>
              <a:rPr lang="en-US" sz="2900" b="0" dirty="0" err="1"/>
              <a:t>i</a:t>
            </a:r>
            <a:r>
              <a:rPr lang="en-US" sz="2900" b="0" dirty="0"/>
              <a:t> != s &amp;&amp; </a:t>
            </a:r>
            <a:r>
              <a:rPr lang="en-US" sz="2900" b="0" dirty="0" err="1"/>
              <a:t>G.weight</a:t>
            </a:r>
            <a:r>
              <a:rPr lang="en-US" sz="2900" b="0" dirty="0"/>
              <a:t>(</a:t>
            </a:r>
            <a:r>
              <a:rPr lang="en-US" sz="2900" b="0" dirty="0" err="1"/>
              <a:t>s,i</a:t>
            </a:r>
            <a:r>
              <a:rPr lang="en-US" sz="2900" b="0" dirty="0"/>
              <a:t>) == 0)</a:t>
            </a:r>
            <a:endParaRPr lang="zh-CN" altLang="en-US" sz="2900" b="0" dirty="0"/>
          </a:p>
          <a:p>
            <a:pPr>
              <a:spcBef>
                <a:spcPts val="0"/>
              </a:spcBef>
            </a:pPr>
            <a:r>
              <a:rPr lang="en-US" sz="2900" b="0" dirty="0"/>
              <a:t>            dist[</a:t>
            </a:r>
            <a:r>
              <a:rPr lang="en-US" sz="2900" b="0" dirty="0" err="1"/>
              <a:t>i</a:t>
            </a:r>
            <a:r>
              <a:rPr lang="en-US" sz="2900" b="0" dirty="0"/>
              <a:t>] = </a:t>
            </a:r>
            <a:r>
              <a:rPr lang="en-US" sz="2900" b="0" dirty="0" err="1"/>
              <a:t>maxValue</a:t>
            </a:r>
            <a:r>
              <a:rPr lang="en-US" sz="2900" b="0" dirty="0"/>
              <a:t>;</a:t>
            </a:r>
            <a:endParaRPr lang="zh-CN" altLang="en-US" sz="2900" b="0" dirty="0"/>
          </a:p>
          <a:p>
            <a:pPr>
              <a:spcBef>
                <a:spcPts val="0"/>
              </a:spcBef>
            </a:pPr>
            <a:r>
              <a:rPr lang="en-US" sz="2900" b="0" dirty="0"/>
              <a:t>        else</a:t>
            </a:r>
            <a:endParaRPr lang="zh-CN" altLang="en-US" sz="2900" b="0" dirty="0"/>
          </a:p>
          <a:p>
            <a:pPr>
              <a:spcBef>
                <a:spcPts val="0"/>
              </a:spcBef>
            </a:pPr>
            <a:r>
              <a:rPr lang="en-US" sz="2900" b="0" dirty="0"/>
              <a:t>            dist[</a:t>
            </a:r>
            <a:r>
              <a:rPr lang="en-US" sz="2900" b="0" dirty="0" err="1"/>
              <a:t>i</a:t>
            </a:r>
            <a:r>
              <a:rPr lang="en-US" sz="2900" b="0" dirty="0"/>
              <a:t>] = </a:t>
            </a:r>
            <a:r>
              <a:rPr lang="en-US" sz="2900" b="0" dirty="0" err="1"/>
              <a:t>G.weight</a:t>
            </a:r>
            <a:r>
              <a:rPr lang="en-US" sz="2900" b="0" dirty="0"/>
              <a:t>(</a:t>
            </a:r>
            <a:r>
              <a:rPr lang="en-US" sz="2900" b="0" dirty="0" err="1"/>
              <a:t>s,i</a:t>
            </a:r>
            <a:r>
              <a:rPr lang="en-US" sz="2900" b="0" dirty="0"/>
              <a:t>);</a:t>
            </a:r>
            <a:endParaRPr lang="zh-CN" altLang="en-US" sz="2900" b="0" dirty="0"/>
          </a:p>
          <a:p>
            <a:pPr>
              <a:spcBef>
                <a:spcPts val="0"/>
              </a:spcBef>
            </a:pPr>
            <a:r>
              <a:rPr lang="en-US" sz="2900" b="0" dirty="0"/>
              <a:t>        if(</a:t>
            </a:r>
            <a:r>
              <a:rPr lang="en-US" sz="2900" b="0" dirty="0" err="1"/>
              <a:t>i</a:t>
            </a:r>
            <a:r>
              <a:rPr lang="en-US" sz="2900" b="0" dirty="0"/>
              <a:t> != s &amp;&amp; dist[</a:t>
            </a:r>
            <a:r>
              <a:rPr lang="en-US" sz="2900" b="0" dirty="0" err="1"/>
              <a:t>i</a:t>
            </a:r>
            <a:r>
              <a:rPr lang="en-US" sz="2900" b="0" dirty="0"/>
              <a:t>] &lt; </a:t>
            </a:r>
            <a:r>
              <a:rPr lang="en-US" sz="2900" b="0" dirty="0" err="1"/>
              <a:t>maxValue</a:t>
            </a:r>
            <a:r>
              <a:rPr lang="en-US" sz="2900" b="0" dirty="0"/>
              <a:t>)</a:t>
            </a:r>
            <a:endParaRPr lang="zh-CN" altLang="en-US" sz="2900" b="0" dirty="0"/>
          </a:p>
          <a:p>
            <a:pPr>
              <a:spcBef>
                <a:spcPts val="0"/>
              </a:spcBef>
            </a:pPr>
            <a:r>
              <a:rPr lang="en-US" sz="2900" b="0" dirty="0"/>
              <a:t>            pre[</a:t>
            </a:r>
            <a:r>
              <a:rPr lang="en-US" sz="2900" b="0" dirty="0" err="1"/>
              <a:t>i</a:t>
            </a:r>
            <a:r>
              <a:rPr lang="en-US" sz="2900" b="0" dirty="0"/>
              <a:t>] = s;</a:t>
            </a:r>
            <a:endParaRPr lang="zh-CN" altLang="en-US" sz="2900" b="0" dirty="0"/>
          </a:p>
          <a:p>
            <a:pPr>
              <a:spcBef>
                <a:spcPts val="0"/>
              </a:spcBef>
            </a:pPr>
            <a:r>
              <a:rPr lang="en-US" sz="2900" b="0" dirty="0"/>
              <a:t>        else</a:t>
            </a:r>
            <a:endParaRPr lang="zh-CN" altLang="en-US" sz="2900" b="0" dirty="0"/>
          </a:p>
          <a:p>
            <a:pPr>
              <a:spcBef>
                <a:spcPts val="0"/>
              </a:spcBef>
            </a:pPr>
            <a:r>
              <a:rPr lang="en-US" sz="2900" b="0" dirty="0"/>
              <a:t>            pre[</a:t>
            </a:r>
            <a:r>
              <a:rPr lang="en-US" sz="2900" b="0" dirty="0" err="1"/>
              <a:t>i</a:t>
            </a:r>
            <a:r>
              <a:rPr lang="en-US" sz="2900" b="0" dirty="0"/>
              <a:t>] = -1;</a:t>
            </a:r>
            <a:endParaRPr lang="zh-CN" altLang="en-US" sz="2900" b="0" dirty="0"/>
          </a:p>
          <a:p>
            <a:pPr>
              <a:spcBef>
                <a:spcPts val="0"/>
              </a:spcBef>
            </a:pPr>
            <a:r>
              <a:rPr lang="en-US" sz="2900" b="0" dirty="0"/>
              <a:t>    }</a:t>
            </a:r>
            <a:endParaRPr lang="zh-CN" altLang="en-US" sz="2900" b="0" dirty="0"/>
          </a:p>
        </p:txBody>
      </p:sp>
    </p:spTree>
    <p:extLst>
      <p:ext uri="{BB962C8B-B14F-4D97-AF65-F5344CB8AC3E}">
        <p14:creationId xmlns:p14="http://schemas.microsoft.com/office/powerpoint/2010/main" val="391606685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7520940" cy="5544616"/>
          </a:xfrm>
        </p:spPr>
        <p:txBody>
          <a:bodyPr>
            <a:normAutofit fontScale="70000" lnSpcReduction="20000"/>
          </a:bodyPr>
          <a:lstStyle/>
          <a:p>
            <a:pPr>
              <a:spcBef>
                <a:spcPts val="0"/>
              </a:spcBef>
            </a:pPr>
            <a:r>
              <a:rPr lang="en-US" altLang="zh-CN" b="0" dirty="0"/>
              <a:t>    S[s] = true;</a:t>
            </a:r>
            <a:endParaRPr lang="zh-CN" altLang="zh-CN" b="0" dirty="0"/>
          </a:p>
          <a:p>
            <a:pPr>
              <a:spcBef>
                <a:spcPts val="0"/>
              </a:spcBef>
            </a:pPr>
            <a:r>
              <a:rPr lang="en-US" altLang="zh-CN" b="0" dirty="0"/>
              <a:t>    </a:t>
            </a:r>
            <a:r>
              <a:rPr lang="en-US" altLang="zh-CN" b="0" dirty="0" err="1"/>
              <a:t>int</a:t>
            </a:r>
            <a:r>
              <a:rPr lang="en-US" altLang="zh-CN" b="0" dirty="0"/>
              <a:t> Min, v;</a:t>
            </a:r>
            <a:endParaRPr lang="zh-CN" altLang="zh-CN" b="0" dirty="0"/>
          </a:p>
          <a:p>
            <a:pPr>
              <a:spcBef>
                <a:spcPts val="0"/>
              </a:spcBef>
            </a:pPr>
            <a:r>
              <a:rPr lang="en-US" altLang="zh-CN" b="0" dirty="0"/>
              <a:t>    for(</a:t>
            </a:r>
            <a:r>
              <a:rPr lang="en-US" altLang="zh-CN" b="0" dirty="0" err="1"/>
              <a:t>i</a:t>
            </a:r>
            <a:r>
              <a:rPr lang="en-US" altLang="zh-CN" b="0" dirty="0"/>
              <a:t> = 0; </a:t>
            </a:r>
            <a:r>
              <a:rPr lang="en-US" altLang="zh-CN" b="0" dirty="0" err="1"/>
              <a:t>i</a:t>
            </a:r>
            <a:r>
              <a:rPr lang="en-US" altLang="zh-CN" b="0" dirty="0"/>
              <a:t> &lt; n-1; </a:t>
            </a:r>
            <a:r>
              <a:rPr lang="en-US" altLang="zh-CN" b="0" dirty="0" err="1"/>
              <a:t>i</a:t>
            </a:r>
            <a:r>
              <a:rPr lang="en-US" altLang="zh-CN" b="0" dirty="0"/>
              <a:t>++){</a:t>
            </a:r>
            <a:endParaRPr lang="zh-CN" altLang="zh-CN" b="0" dirty="0"/>
          </a:p>
          <a:p>
            <a:pPr>
              <a:spcBef>
                <a:spcPts val="0"/>
              </a:spcBef>
            </a:pPr>
            <a:r>
              <a:rPr lang="en-US" altLang="zh-CN" b="0" dirty="0"/>
              <a:t>        Min = </a:t>
            </a:r>
            <a:r>
              <a:rPr lang="en-US" altLang="zh-CN" b="0" dirty="0" err="1"/>
              <a:t>maxValue</a:t>
            </a:r>
            <a:r>
              <a:rPr lang="en-US" altLang="zh-CN" b="0" dirty="0"/>
              <a:t>;</a:t>
            </a:r>
            <a:endParaRPr lang="zh-CN" altLang="zh-CN" b="0" dirty="0"/>
          </a:p>
          <a:p>
            <a:pPr>
              <a:spcBef>
                <a:spcPts val="0"/>
              </a:spcBef>
            </a:pPr>
            <a:r>
              <a:rPr lang="en-US" altLang="zh-CN" b="0" dirty="0"/>
              <a:t>        v = s;</a:t>
            </a:r>
            <a:endParaRPr lang="zh-CN" altLang="zh-CN" b="0" dirty="0"/>
          </a:p>
          <a:p>
            <a:pPr>
              <a:spcBef>
                <a:spcPts val="0"/>
              </a:spcBef>
            </a:pPr>
            <a:r>
              <a:rPr lang="en-US" altLang="zh-CN" b="0" dirty="0"/>
              <a:t>        for(j = 0; j &lt; n; </a:t>
            </a:r>
            <a:r>
              <a:rPr lang="en-US" altLang="zh-CN" b="0" dirty="0" err="1"/>
              <a:t>j++</a:t>
            </a:r>
            <a:r>
              <a:rPr lang="en-US" altLang="zh-CN" b="0" dirty="0"/>
              <a:t>){</a:t>
            </a:r>
            <a:endParaRPr lang="zh-CN" altLang="zh-CN" b="0" dirty="0"/>
          </a:p>
          <a:p>
            <a:pPr>
              <a:spcBef>
                <a:spcPts val="0"/>
              </a:spcBef>
            </a:pPr>
            <a:r>
              <a:rPr lang="en-US" altLang="zh-CN" b="0" dirty="0"/>
              <a:t>            if (S[j] == false &amp;&amp; </a:t>
            </a:r>
            <a:r>
              <a:rPr lang="en-US" altLang="zh-CN" b="0" dirty="0" err="1"/>
              <a:t>dist</a:t>
            </a:r>
            <a:r>
              <a:rPr lang="en-US" altLang="zh-CN" b="0" dirty="0"/>
              <a:t>[j] &lt; Min){</a:t>
            </a:r>
            <a:endParaRPr lang="zh-CN" altLang="zh-CN" b="0" dirty="0"/>
          </a:p>
          <a:p>
            <a:pPr>
              <a:spcBef>
                <a:spcPts val="0"/>
              </a:spcBef>
            </a:pPr>
            <a:r>
              <a:rPr lang="en-US" altLang="zh-CN" b="0" dirty="0"/>
              <a:t>                v = j;</a:t>
            </a:r>
            <a:endParaRPr lang="zh-CN" altLang="zh-CN" b="0" dirty="0"/>
          </a:p>
          <a:p>
            <a:pPr>
              <a:spcBef>
                <a:spcPts val="0"/>
              </a:spcBef>
            </a:pPr>
            <a:r>
              <a:rPr lang="en-US" altLang="zh-CN" b="0" dirty="0"/>
              <a:t>                Min = </a:t>
            </a:r>
            <a:r>
              <a:rPr lang="en-US" altLang="zh-CN" b="0" dirty="0" err="1"/>
              <a:t>dist</a:t>
            </a:r>
            <a:r>
              <a:rPr lang="en-US" altLang="zh-CN" b="0" dirty="0"/>
              <a:t>[j];</a:t>
            </a:r>
            <a:endParaRPr lang="zh-CN" altLang="zh-CN" b="0" dirty="0"/>
          </a:p>
          <a:p>
            <a:pPr>
              <a:spcBef>
                <a:spcPts val="0"/>
              </a:spcBef>
            </a:pPr>
            <a:r>
              <a:rPr lang="en-US" altLang="zh-CN" b="0" dirty="0"/>
              <a:t>            }</a:t>
            </a:r>
            <a:endParaRPr lang="zh-CN" altLang="zh-CN" b="0" dirty="0"/>
          </a:p>
          <a:p>
            <a:pPr>
              <a:spcBef>
                <a:spcPts val="0"/>
              </a:spcBef>
            </a:pPr>
            <a:r>
              <a:rPr lang="en-US" altLang="zh-CN" b="0" dirty="0"/>
              <a:t>        }</a:t>
            </a:r>
            <a:endParaRPr lang="zh-CN" altLang="zh-CN" b="0" dirty="0"/>
          </a:p>
          <a:p>
            <a:pPr>
              <a:spcBef>
                <a:spcPts val="0"/>
              </a:spcBef>
            </a:pPr>
            <a:r>
              <a:rPr lang="en-US" altLang="zh-CN" b="0" dirty="0"/>
              <a:t>        S[v] = true;    			//</a:t>
            </a:r>
            <a:r>
              <a:rPr lang="zh-CN" altLang="zh-CN" b="0" dirty="0"/>
              <a:t>将顶点</a:t>
            </a:r>
            <a:r>
              <a:rPr lang="en-US" altLang="zh-CN" b="0" dirty="0"/>
              <a:t>v</a:t>
            </a:r>
            <a:r>
              <a:rPr lang="zh-CN" altLang="zh-CN" b="0" dirty="0"/>
              <a:t>加入到集合</a:t>
            </a:r>
            <a:r>
              <a:rPr lang="en-US" altLang="zh-CN" b="0" dirty="0"/>
              <a:t>S</a:t>
            </a:r>
            <a:r>
              <a:rPr lang="zh-CN" altLang="zh-CN" b="0" dirty="0"/>
              <a:t>中</a:t>
            </a:r>
          </a:p>
          <a:p>
            <a:pPr>
              <a:spcBef>
                <a:spcPts val="0"/>
              </a:spcBef>
            </a:pPr>
            <a:r>
              <a:rPr lang="en-US" altLang="zh-CN" b="0" dirty="0"/>
              <a:t>        for(j = 0; j &lt; n; </a:t>
            </a:r>
            <a:r>
              <a:rPr lang="en-US" altLang="zh-CN" b="0" dirty="0" err="1"/>
              <a:t>j++</a:t>
            </a:r>
            <a:r>
              <a:rPr lang="en-US" altLang="zh-CN" b="0" dirty="0"/>
              <a:t>){  	//</a:t>
            </a:r>
            <a:r>
              <a:rPr lang="zh-CN" altLang="zh-CN" b="0" dirty="0"/>
              <a:t>修改</a:t>
            </a:r>
          </a:p>
          <a:p>
            <a:pPr>
              <a:spcBef>
                <a:spcPts val="0"/>
              </a:spcBef>
            </a:pPr>
            <a:r>
              <a:rPr lang="en-US" altLang="zh-CN" b="0" dirty="0"/>
              <a:t>            if(S[j] == false &amp;&amp; </a:t>
            </a:r>
            <a:r>
              <a:rPr lang="en-US" altLang="zh-CN" b="0" dirty="0" err="1"/>
              <a:t>G.weight</a:t>
            </a:r>
            <a:r>
              <a:rPr lang="en-US" altLang="zh-CN" b="0" dirty="0"/>
              <a:t>(</a:t>
            </a:r>
            <a:r>
              <a:rPr lang="en-US" altLang="zh-CN" b="0" dirty="0" err="1"/>
              <a:t>v,j</a:t>
            </a:r>
            <a:r>
              <a:rPr lang="en-US" altLang="zh-CN" b="0" dirty="0"/>
              <a:t>) != 0 &amp;&amp; </a:t>
            </a:r>
            <a:r>
              <a:rPr lang="en-US" altLang="zh-CN" b="0" dirty="0" err="1"/>
              <a:t>dist</a:t>
            </a:r>
            <a:r>
              <a:rPr lang="en-US" altLang="zh-CN" b="0" dirty="0"/>
              <a:t>[v] + </a:t>
            </a:r>
            <a:r>
              <a:rPr lang="en-US" altLang="zh-CN" b="0" dirty="0" err="1"/>
              <a:t>G.weight</a:t>
            </a:r>
            <a:r>
              <a:rPr lang="en-US" altLang="zh-CN" b="0" dirty="0"/>
              <a:t>(</a:t>
            </a:r>
            <a:r>
              <a:rPr lang="en-US" altLang="zh-CN" b="0" dirty="0" err="1"/>
              <a:t>v,j</a:t>
            </a:r>
            <a:r>
              <a:rPr lang="en-US" altLang="zh-CN" b="0" dirty="0"/>
              <a:t>) &lt; </a:t>
            </a:r>
            <a:r>
              <a:rPr lang="en-US" altLang="zh-CN" b="0" dirty="0" err="1"/>
              <a:t>dist</a:t>
            </a:r>
            <a:r>
              <a:rPr lang="en-US" altLang="zh-CN" b="0" dirty="0"/>
              <a:t>[j]){</a:t>
            </a:r>
            <a:endParaRPr lang="zh-CN" altLang="zh-CN" b="0" dirty="0"/>
          </a:p>
          <a:p>
            <a:pPr>
              <a:spcBef>
                <a:spcPts val="0"/>
              </a:spcBef>
            </a:pPr>
            <a:r>
              <a:rPr lang="en-US" altLang="zh-CN" b="0" dirty="0"/>
              <a:t>                </a:t>
            </a:r>
            <a:r>
              <a:rPr lang="en-US" altLang="zh-CN" b="0" dirty="0" err="1"/>
              <a:t>dist</a:t>
            </a:r>
            <a:r>
              <a:rPr lang="en-US" altLang="zh-CN" b="0" dirty="0"/>
              <a:t>[j] = </a:t>
            </a:r>
            <a:r>
              <a:rPr lang="en-US" altLang="zh-CN" b="0" dirty="0" err="1"/>
              <a:t>dist</a:t>
            </a:r>
            <a:r>
              <a:rPr lang="en-US" altLang="zh-CN" b="0" dirty="0"/>
              <a:t>[v] + </a:t>
            </a:r>
            <a:r>
              <a:rPr lang="en-US" altLang="zh-CN" b="0" dirty="0" err="1"/>
              <a:t>G.weight</a:t>
            </a:r>
            <a:r>
              <a:rPr lang="en-US" altLang="zh-CN" b="0" dirty="0"/>
              <a:t>(</a:t>
            </a:r>
            <a:r>
              <a:rPr lang="en-US" altLang="zh-CN" b="0" dirty="0" err="1"/>
              <a:t>v,j</a:t>
            </a:r>
            <a:r>
              <a:rPr lang="en-US" altLang="zh-CN" b="0" dirty="0"/>
              <a:t>);</a:t>
            </a:r>
            <a:endParaRPr lang="zh-CN" altLang="zh-CN" b="0" dirty="0"/>
          </a:p>
          <a:p>
            <a:pPr>
              <a:spcBef>
                <a:spcPts val="0"/>
              </a:spcBef>
            </a:pPr>
            <a:r>
              <a:rPr lang="en-US" altLang="zh-CN" b="0" dirty="0"/>
              <a:t>                pre[j] = v;</a:t>
            </a:r>
            <a:endParaRPr lang="zh-CN" altLang="zh-CN" b="0" dirty="0"/>
          </a:p>
          <a:p>
            <a:pPr>
              <a:spcBef>
                <a:spcPts val="0"/>
              </a:spcBef>
            </a:pPr>
            <a:r>
              <a:rPr lang="en-US" altLang="zh-CN" b="0" dirty="0"/>
              <a:t>            }</a:t>
            </a:r>
            <a:endParaRPr lang="zh-CN" altLang="zh-CN" b="0" dirty="0"/>
          </a:p>
          <a:p>
            <a:pPr>
              <a:spcBef>
                <a:spcPts val="0"/>
              </a:spcBef>
            </a:pPr>
            <a:r>
              <a:rPr lang="en-US" altLang="zh-CN" b="0" dirty="0"/>
              <a:t>        }</a:t>
            </a:r>
            <a:endParaRPr lang="zh-CN" altLang="zh-CN" b="0" dirty="0"/>
          </a:p>
          <a:p>
            <a:pPr>
              <a:spcBef>
                <a:spcPts val="0"/>
              </a:spcBef>
            </a:pPr>
            <a:r>
              <a:rPr lang="en-US" altLang="zh-CN" b="0" dirty="0"/>
              <a:t>    }</a:t>
            </a:r>
            <a:endParaRPr lang="zh-CN" altLang="zh-CN" b="0" dirty="0"/>
          </a:p>
          <a:p>
            <a:pPr>
              <a:spcBef>
                <a:spcPts val="0"/>
              </a:spcBef>
            </a:pPr>
            <a:r>
              <a:rPr lang="en-US" altLang="zh-CN" b="0" dirty="0"/>
              <a:t>}</a:t>
            </a:r>
            <a:endParaRPr lang="zh-CN" altLang="en-US" b="0" dirty="0"/>
          </a:p>
        </p:txBody>
      </p:sp>
    </p:spTree>
    <p:extLst>
      <p:ext uri="{BB962C8B-B14F-4D97-AF65-F5344CB8AC3E}">
        <p14:creationId xmlns:p14="http://schemas.microsoft.com/office/powerpoint/2010/main" val="282328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59632" y="3140968"/>
            <a:ext cx="6261100" cy="2609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内容占位符 3"/>
          <p:cNvSpPr>
            <a:spLocks noGrp="1"/>
          </p:cNvSpPr>
          <p:nvPr>
            <p:ph idx="1"/>
          </p:nvPr>
        </p:nvSpPr>
        <p:spPr>
          <a:xfrm>
            <a:off x="928662" y="1071546"/>
            <a:ext cx="7520940" cy="3579849"/>
          </a:xfrm>
        </p:spPr>
        <p:txBody>
          <a:bodyPr/>
          <a:lstStyle/>
          <a:p>
            <a:r>
              <a:rPr lang="en-US" altLang="zh-CN" b="0" dirty="0"/>
              <a:t>	</a:t>
            </a:r>
            <a:r>
              <a:rPr lang="zh-CN" altLang="en-US" b="0" dirty="0"/>
              <a:t>对图</a:t>
            </a:r>
            <a:r>
              <a:rPr lang="en-US" b="0" dirty="0"/>
              <a:t>6-32</a:t>
            </a:r>
            <a:r>
              <a:rPr lang="zh-CN" altLang="en-US" b="0" dirty="0"/>
              <a:t>所示的带权有向图使用</a:t>
            </a:r>
            <a:r>
              <a:rPr lang="en-US" b="0" dirty="0" err="1"/>
              <a:t>Dijkstra</a:t>
            </a:r>
            <a:r>
              <a:rPr lang="zh-CN" altLang="en-US" b="0" dirty="0"/>
              <a:t>算法求从顶点</a:t>
            </a:r>
            <a:r>
              <a:rPr lang="en-US" b="0" dirty="0"/>
              <a:t>v</a:t>
            </a:r>
            <a:r>
              <a:rPr lang="en-US" b="0" baseline="-25000" dirty="0"/>
              <a:t>0</a:t>
            </a:r>
            <a:r>
              <a:rPr lang="zh-CN" altLang="en-US" b="0" dirty="0"/>
              <a:t>到其余顶点的最短路径，求解过程中辅助数组和的变化情况如表</a:t>
            </a:r>
            <a:r>
              <a:rPr lang="en-US" b="0" dirty="0"/>
              <a:t>6-5</a:t>
            </a:r>
            <a:r>
              <a:rPr lang="zh-CN" altLang="en-US" b="0" dirty="0"/>
              <a:t>所示。</a:t>
            </a:r>
          </a:p>
        </p:txBody>
      </p:sp>
      <p:sp>
        <p:nvSpPr>
          <p:cNvPr id="5" name="文本框 4">
            <a:extLst>
              <a:ext uri="{FF2B5EF4-FFF2-40B4-BE49-F238E27FC236}">
                <a16:creationId xmlns:a16="http://schemas.microsoft.com/office/drawing/2014/main" id="{7D0A0FBA-2B8B-4C6A-BDC3-0D6D50DC8E34}"/>
              </a:ext>
            </a:extLst>
          </p:cNvPr>
          <p:cNvSpPr txBox="1"/>
          <p:nvPr/>
        </p:nvSpPr>
        <p:spPr>
          <a:xfrm>
            <a:off x="251520" y="2617748"/>
            <a:ext cx="2160240" cy="523220"/>
          </a:xfrm>
          <a:prstGeom prst="rect">
            <a:avLst/>
          </a:prstGeom>
          <a:noFill/>
        </p:spPr>
        <p:txBody>
          <a:bodyPr wrap="square" rtlCol="0">
            <a:spAutoFit/>
          </a:bodyPr>
          <a:lstStyle/>
          <a:p>
            <a:r>
              <a:rPr lang="zh-CN" altLang="en-US" sz="2800" b="1" dirty="0">
                <a:solidFill>
                  <a:srgbClr val="FF0000"/>
                </a:solidFill>
              </a:rPr>
              <a:t>测试用例二</a:t>
            </a:r>
          </a:p>
        </p:txBody>
      </p:sp>
    </p:spTree>
    <p:extLst>
      <p:ext uri="{BB962C8B-B14F-4D97-AF65-F5344CB8AC3E}">
        <p14:creationId xmlns:p14="http://schemas.microsoft.com/office/powerpoint/2010/main" val="71501638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1043608" y="1124744"/>
            <a:ext cx="7278739" cy="43718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1331640" y="5661248"/>
            <a:ext cx="3502882" cy="369332"/>
          </a:xfrm>
          <a:prstGeom prst="rect">
            <a:avLst/>
          </a:prstGeom>
        </p:spPr>
        <p:txBody>
          <a:bodyPr wrap="none">
            <a:spAutoFit/>
          </a:bodyPr>
          <a:lstStyle/>
          <a:p>
            <a:r>
              <a:rPr lang="en-US" altLang="zh-CN" dirty="0"/>
              <a:t>Dijkstra</a:t>
            </a:r>
            <a:r>
              <a:rPr lang="zh-CN" altLang="zh-CN" dirty="0"/>
              <a:t>算法的时间复杂度为</a:t>
            </a:r>
            <a:r>
              <a:rPr lang="en-US" altLang="zh-CN" dirty="0"/>
              <a:t>O(n</a:t>
            </a:r>
            <a:r>
              <a:rPr lang="en-US" altLang="zh-CN" baseline="30000" dirty="0"/>
              <a:t>2</a:t>
            </a:r>
            <a:r>
              <a:rPr lang="en-US" altLang="zh-CN" dirty="0"/>
              <a:t>)</a:t>
            </a:r>
            <a:endParaRPr lang="zh-CN" altLang="en-US" dirty="0"/>
          </a:p>
        </p:txBody>
      </p:sp>
    </p:spTree>
    <p:extLst>
      <p:ext uri="{BB962C8B-B14F-4D97-AF65-F5344CB8AC3E}">
        <p14:creationId xmlns:p14="http://schemas.microsoft.com/office/powerpoint/2010/main" val="297967172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B99AE8-A770-4A3B-8549-49F6B2A60F93}"/>
              </a:ext>
            </a:extLst>
          </p:cNvPr>
          <p:cNvSpPr>
            <a:spLocks noGrp="1"/>
          </p:cNvSpPr>
          <p:nvPr>
            <p:ph type="title"/>
          </p:nvPr>
        </p:nvSpPr>
        <p:spPr/>
        <p:txBody>
          <a:bodyPr/>
          <a:lstStyle/>
          <a:p>
            <a:endParaRPr lang="zh-CN" altLang="en-US"/>
          </a:p>
        </p:txBody>
      </p:sp>
      <p:pic>
        <p:nvPicPr>
          <p:cNvPr id="2050" name="Picture 2">
            <a:extLst>
              <a:ext uri="{FF2B5EF4-FFF2-40B4-BE49-F238E27FC236}">
                <a16:creationId xmlns:a16="http://schemas.microsoft.com/office/drawing/2014/main" id="{A951D898-34B7-41A1-BC4B-74D07C0F09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1276" y="628533"/>
            <a:ext cx="4897913" cy="474356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0D6E014F-8D84-42F9-A33C-FCE9519D73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520" y="1485900"/>
            <a:ext cx="4124325" cy="388620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69BF22B9-B23C-4055-9166-DF22548F7A33}"/>
              </a:ext>
            </a:extLst>
          </p:cNvPr>
          <p:cNvSpPr txBox="1"/>
          <p:nvPr/>
        </p:nvSpPr>
        <p:spPr>
          <a:xfrm>
            <a:off x="251520" y="404664"/>
            <a:ext cx="2160240" cy="523220"/>
          </a:xfrm>
          <a:prstGeom prst="rect">
            <a:avLst/>
          </a:prstGeom>
          <a:noFill/>
        </p:spPr>
        <p:txBody>
          <a:bodyPr wrap="square" rtlCol="0">
            <a:spAutoFit/>
          </a:bodyPr>
          <a:lstStyle/>
          <a:p>
            <a:r>
              <a:rPr lang="zh-CN" altLang="en-US" sz="2800" b="1" dirty="0">
                <a:solidFill>
                  <a:srgbClr val="FF0000"/>
                </a:solidFill>
              </a:rPr>
              <a:t>测试用例一</a:t>
            </a:r>
          </a:p>
        </p:txBody>
      </p:sp>
    </p:spTree>
    <p:extLst>
      <p:ext uri="{BB962C8B-B14F-4D97-AF65-F5344CB8AC3E}">
        <p14:creationId xmlns:p14="http://schemas.microsoft.com/office/powerpoint/2010/main" val="382688269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6.6.2  </a:t>
            </a:r>
            <a:r>
              <a:rPr lang="zh-CN" altLang="zh-CN" b="1" dirty="0">
                <a:solidFill>
                  <a:srgbClr val="FF0000"/>
                </a:solidFill>
              </a:rPr>
              <a:t>任意对顶点之间的最短路径</a:t>
            </a:r>
            <a:endParaRPr lang="zh-CN" altLang="en-US" dirty="0">
              <a:solidFill>
                <a:srgbClr val="FF0000"/>
              </a:solidFill>
            </a:endParaRPr>
          </a:p>
        </p:txBody>
      </p:sp>
      <p:sp>
        <p:nvSpPr>
          <p:cNvPr id="4" name="内容占位符 3"/>
          <p:cNvSpPr>
            <a:spLocks noGrp="1"/>
          </p:cNvSpPr>
          <p:nvPr>
            <p:ph idx="1"/>
          </p:nvPr>
        </p:nvSpPr>
        <p:spPr/>
        <p:txBody>
          <a:bodyPr/>
          <a:lstStyle/>
          <a:p>
            <a:pPr>
              <a:buFont typeface="Arial" pitchFamily="34" charset="0"/>
              <a:buChar char="•"/>
            </a:pPr>
            <a:r>
              <a:rPr lang="zh-CN" altLang="en-US" b="0" dirty="0"/>
              <a:t>另一种求每对顶点之间最短路径的方法</a:t>
            </a:r>
            <a:r>
              <a:rPr lang="en-US" b="0" dirty="0"/>
              <a:t>——</a:t>
            </a:r>
            <a:r>
              <a:rPr lang="en-US" b="0" dirty="0">
                <a:solidFill>
                  <a:srgbClr val="FF0000"/>
                </a:solidFill>
              </a:rPr>
              <a:t>Floyd</a:t>
            </a:r>
            <a:r>
              <a:rPr lang="zh-CN" altLang="en-US" b="0" dirty="0">
                <a:solidFill>
                  <a:srgbClr val="FF0000"/>
                </a:solidFill>
              </a:rPr>
              <a:t>算法</a:t>
            </a:r>
            <a:r>
              <a:rPr lang="zh-CN" altLang="en-US" b="0" dirty="0"/>
              <a:t>。</a:t>
            </a:r>
            <a:r>
              <a:rPr lang="en-US" b="0" dirty="0"/>
              <a:t>Floyd</a:t>
            </a:r>
            <a:r>
              <a:rPr lang="zh-CN" altLang="en-US" b="0" dirty="0"/>
              <a:t>算法的时间复杂度也是</a:t>
            </a:r>
            <a:r>
              <a:rPr lang="en-US" b="0" dirty="0"/>
              <a:t>O(n</a:t>
            </a:r>
            <a:r>
              <a:rPr lang="en-US" b="0" baseline="30000" dirty="0"/>
              <a:t>3</a:t>
            </a:r>
            <a:r>
              <a:rPr lang="en-US" b="0" dirty="0"/>
              <a:t>)</a:t>
            </a:r>
            <a:r>
              <a:rPr lang="en-US" altLang="zh-CN" b="0" dirty="0"/>
              <a:t>;</a:t>
            </a:r>
          </a:p>
          <a:p>
            <a:pPr>
              <a:buFont typeface="Arial" pitchFamily="34" charset="0"/>
              <a:buChar char="•"/>
            </a:pPr>
            <a:r>
              <a:rPr lang="en-US" b="0" dirty="0">
                <a:solidFill>
                  <a:srgbClr val="FF0000"/>
                </a:solidFill>
              </a:rPr>
              <a:t>Floyd</a:t>
            </a:r>
            <a:r>
              <a:rPr lang="zh-CN" altLang="en-US" b="0" dirty="0">
                <a:solidFill>
                  <a:srgbClr val="FF0000"/>
                </a:solidFill>
              </a:rPr>
              <a:t>算法的基本思想</a:t>
            </a:r>
            <a:r>
              <a:rPr lang="zh-CN" altLang="en-US" b="0" dirty="0"/>
              <a:t>是：从任意顶点</a:t>
            </a:r>
            <a:r>
              <a:rPr lang="en-US" b="0" dirty="0"/>
              <a:t>v</a:t>
            </a:r>
            <a:r>
              <a:rPr lang="en-US" b="0" baseline="-25000" dirty="0"/>
              <a:t>i</a:t>
            </a:r>
            <a:r>
              <a:rPr lang="zh-CN" altLang="en-US" b="0" dirty="0"/>
              <a:t>到任意顶点</a:t>
            </a:r>
            <a:r>
              <a:rPr lang="en-US" b="0" dirty="0" err="1"/>
              <a:t>v</a:t>
            </a:r>
            <a:r>
              <a:rPr lang="en-US" b="0" baseline="-25000" dirty="0" err="1"/>
              <a:t>j</a:t>
            </a:r>
            <a:r>
              <a:rPr lang="zh-CN" altLang="en-US" b="0" dirty="0"/>
              <a:t>的最短路径只有两种情况，一种是直接从顶点</a:t>
            </a:r>
            <a:r>
              <a:rPr lang="en-US" b="0" dirty="0"/>
              <a:t>v</a:t>
            </a:r>
            <a:r>
              <a:rPr lang="en-US" b="0" baseline="-25000" dirty="0"/>
              <a:t>i</a:t>
            </a:r>
            <a:r>
              <a:rPr lang="zh-CN" altLang="en-US" b="0" dirty="0"/>
              <a:t>到顶点</a:t>
            </a:r>
            <a:r>
              <a:rPr lang="en-US" b="0" dirty="0" err="1"/>
              <a:t>v</a:t>
            </a:r>
            <a:r>
              <a:rPr lang="en-US" b="0" baseline="-25000" dirty="0" err="1"/>
              <a:t>j</a:t>
            </a:r>
            <a:r>
              <a:rPr lang="zh-CN" altLang="en-US" b="0" dirty="0"/>
              <a:t>，另一种是从顶点</a:t>
            </a:r>
            <a:r>
              <a:rPr lang="en-US" b="0" dirty="0"/>
              <a:t>v</a:t>
            </a:r>
            <a:r>
              <a:rPr lang="en-US" b="0" baseline="-25000" dirty="0"/>
              <a:t>i</a:t>
            </a:r>
            <a:r>
              <a:rPr lang="zh-CN" altLang="en-US" b="0" dirty="0"/>
              <a:t>经过若干个中间顶点到顶点</a:t>
            </a:r>
            <a:r>
              <a:rPr lang="en-US" b="0" dirty="0" err="1"/>
              <a:t>v</a:t>
            </a:r>
            <a:r>
              <a:rPr lang="en-US" b="0" baseline="-25000" dirty="0" err="1"/>
              <a:t>j</a:t>
            </a:r>
            <a:r>
              <a:rPr lang="zh-CN" altLang="en-US" b="0" dirty="0"/>
              <a:t>。因此设一个顶点集合</a:t>
            </a:r>
            <a:r>
              <a:rPr lang="en-US" b="0" dirty="0"/>
              <a:t>S</a:t>
            </a:r>
            <a:r>
              <a:rPr lang="zh-CN" altLang="en-US" b="0" dirty="0"/>
              <a:t>表示路径上可能含的中间顶点的集合，其初始状态为空。</a:t>
            </a:r>
          </a:p>
          <a:p>
            <a:endParaRPr lang="zh-CN" altLang="en-US" dirty="0"/>
          </a:p>
        </p:txBody>
      </p:sp>
    </p:spTree>
    <p:extLst>
      <p:ext uri="{BB962C8B-B14F-4D97-AF65-F5344CB8AC3E}">
        <p14:creationId xmlns:p14="http://schemas.microsoft.com/office/powerpoint/2010/main" val="48701211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827584" y="1214422"/>
            <a:ext cx="7520940" cy="4786346"/>
          </a:xfrm>
        </p:spPr>
        <p:txBody>
          <a:bodyPr>
            <a:normAutofit fontScale="92500" lnSpcReduction="10000"/>
          </a:bodyPr>
          <a:lstStyle/>
          <a:p>
            <a:pPr>
              <a:buFont typeface="Arial" pitchFamily="34" charset="0"/>
              <a:buChar char="•"/>
            </a:pPr>
            <a:r>
              <a:rPr lang="zh-CN" altLang="en-US" b="0" dirty="0"/>
              <a:t>引入一个</a:t>
            </a:r>
            <a:r>
              <a:rPr lang="zh-CN" altLang="en-US" b="0" dirty="0">
                <a:solidFill>
                  <a:srgbClr val="FF0000"/>
                </a:solidFill>
              </a:rPr>
              <a:t>二维数组</a:t>
            </a:r>
            <a:r>
              <a:rPr lang="en-US" b="0" dirty="0">
                <a:solidFill>
                  <a:srgbClr val="FF0000"/>
                </a:solidFill>
              </a:rPr>
              <a:t>dist</a:t>
            </a:r>
            <a:r>
              <a:rPr lang="zh-CN" altLang="en-US" b="0" dirty="0"/>
              <a:t>，其每个分量</a:t>
            </a:r>
            <a:r>
              <a:rPr lang="en-US" b="0" dirty="0">
                <a:solidFill>
                  <a:srgbClr val="FF0000"/>
                </a:solidFill>
              </a:rPr>
              <a:t>dist[</a:t>
            </a:r>
            <a:r>
              <a:rPr lang="en-US" b="0" dirty="0" err="1">
                <a:solidFill>
                  <a:srgbClr val="FF0000"/>
                </a:solidFill>
              </a:rPr>
              <a:t>i</a:t>
            </a:r>
            <a:r>
              <a:rPr lang="en-US" b="0" dirty="0">
                <a:solidFill>
                  <a:srgbClr val="FF0000"/>
                </a:solidFill>
              </a:rPr>
              <a:t>][j]</a:t>
            </a:r>
            <a:r>
              <a:rPr lang="zh-CN" altLang="en-US" b="0" dirty="0">
                <a:solidFill>
                  <a:srgbClr val="FF0000"/>
                </a:solidFill>
              </a:rPr>
              <a:t>存储求得的从顶点</a:t>
            </a:r>
            <a:r>
              <a:rPr lang="en-US" b="0" dirty="0">
                <a:solidFill>
                  <a:srgbClr val="FF0000"/>
                </a:solidFill>
              </a:rPr>
              <a:t>v</a:t>
            </a:r>
            <a:r>
              <a:rPr lang="en-US" b="0" baseline="-25000" dirty="0">
                <a:solidFill>
                  <a:srgbClr val="FF0000"/>
                </a:solidFill>
              </a:rPr>
              <a:t>i</a:t>
            </a:r>
            <a:r>
              <a:rPr lang="zh-CN" altLang="en-US" b="0" dirty="0">
                <a:solidFill>
                  <a:srgbClr val="FF0000"/>
                </a:solidFill>
              </a:rPr>
              <a:t>只经过集合</a:t>
            </a:r>
            <a:r>
              <a:rPr lang="en-US" b="0" dirty="0">
                <a:solidFill>
                  <a:srgbClr val="FF0000"/>
                </a:solidFill>
              </a:rPr>
              <a:t>S</a:t>
            </a:r>
            <a:r>
              <a:rPr lang="zh-CN" altLang="en-US" b="0" dirty="0">
                <a:solidFill>
                  <a:srgbClr val="FF0000"/>
                </a:solidFill>
              </a:rPr>
              <a:t>中的中间顶点到达顶点</a:t>
            </a:r>
            <a:r>
              <a:rPr lang="en-US" b="0" dirty="0" err="1">
                <a:solidFill>
                  <a:srgbClr val="FF0000"/>
                </a:solidFill>
              </a:rPr>
              <a:t>v</a:t>
            </a:r>
            <a:r>
              <a:rPr lang="en-US" b="0" baseline="-25000" dirty="0" err="1">
                <a:solidFill>
                  <a:srgbClr val="FF0000"/>
                </a:solidFill>
              </a:rPr>
              <a:t>j</a:t>
            </a:r>
            <a:r>
              <a:rPr lang="zh-CN" altLang="en-US" b="0" dirty="0">
                <a:solidFill>
                  <a:srgbClr val="FF0000"/>
                </a:solidFill>
              </a:rPr>
              <a:t>的最短路径的长度</a:t>
            </a:r>
            <a:r>
              <a:rPr lang="zh-CN" altLang="en-US" b="0" dirty="0"/>
              <a:t>。初始状态时由于</a:t>
            </a:r>
            <a:r>
              <a:rPr lang="en-US" b="0" dirty="0"/>
              <a:t>S</a:t>
            </a:r>
            <a:r>
              <a:rPr lang="zh-CN" altLang="en-US" b="0" dirty="0"/>
              <a:t>为空，因此</a:t>
            </a:r>
            <a:r>
              <a:rPr lang="en-US" b="0" dirty="0"/>
              <a:t>dist</a:t>
            </a:r>
            <a:r>
              <a:rPr lang="en-US" b="0" baseline="-25000" dirty="0"/>
              <a:t>0</a:t>
            </a:r>
            <a:r>
              <a:rPr lang="en-US" b="0" dirty="0"/>
              <a:t>[</a:t>
            </a:r>
            <a:r>
              <a:rPr lang="en-US" b="0" dirty="0" err="1"/>
              <a:t>i</a:t>
            </a:r>
            <a:r>
              <a:rPr lang="en-US" b="0" dirty="0"/>
              <a:t>][j]</a:t>
            </a:r>
            <a:r>
              <a:rPr lang="zh-CN" altLang="en-US" b="0" dirty="0"/>
              <a:t>为从</a:t>
            </a:r>
            <a:r>
              <a:rPr lang="en-US" b="0" dirty="0"/>
              <a:t>v</a:t>
            </a:r>
            <a:r>
              <a:rPr lang="en-US" b="0" baseline="-25000" dirty="0"/>
              <a:t>i</a:t>
            </a:r>
            <a:r>
              <a:rPr lang="zh-CN" altLang="en-US" b="0" dirty="0"/>
              <a:t>不经过任何顶点直接到达</a:t>
            </a:r>
            <a:r>
              <a:rPr lang="en-US" b="0" dirty="0" err="1"/>
              <a:t>v</a:t>
            </a:r>
            <a:r>
              <a:rPr lang="en-US" b="0" baseline="-25000" dirty="0" err="1"/>
              <a:t>j</a:t>
            </a:r>
            <a:r>
              <a:rPr lang="zh-CN" altLang="en-US" b="0" dirty="0"/>
              <a:t>的路径长度，即</a:t>
            </a:r>
            <a:endParaRPr lang="en-US" altLang="zh-CN" b="0" dirty="0"/>
          </a:p>
          <a:p>
            <a:endParaRPr lang="en-US" altLang="zh-CN" b="0" dirty="0"/>
          </a:p>
          <a:p>
            <a:endParaRPr lang="en-US" altLang="zh-CN" b="0" dirty="0"/>
          </a:p>
          <a:p>
            <a:endParaRPr lang="zh-CN" altLang="en-US" b="0" dirty="0"/>
          </a:p>
          <a:p>
            <a:pPr>
              <a:buFont typeface="Arial" pitchFamily="34" charset="0"/>
              <a:buChar char="•"/>
            </a:pPr>
            <a:r>
              <a:rPr lang="zh-CN" altLang="en-US" b="0" dirty="0"/>
              <a:t>将图中的所有顶点</a:t>
            </a:r>
            <a:r>
              <a:rPr lang="en-US" b="0" dirty="0"/>
              <a:t>v</a:t>
            </a:r>
            <a:r>
              <a:rPr lang="en-US" b="0" baseline="-25000" dirty="0"/>
              <a:t>0</a:t>
            </a:r>
            <a:r>
              <a:rPr lang="en-US" b="0" dirty="0"/>
              <a:t>, v</a:t>
            </a:r>
            <a:r>
              <a:rPr lang="en-US" b="0" baseline="-25000" dirty="0"/>
              <a:t>1</a:t>
            </a:r>
            <a:r>
              <a:rPr lang="en-US" b="0" dirty="0"/>
              <a:t>, … , v</a:t>
            </a:r>
            <a:r>
              <a:rPr lang="en-US" b="0" baseline="-25000" dirty="0"/>
              <a:t>n-1</a:t>
            </a:r>
            <a:r>
              <a:rPr lang="zh-CN" altLang="en-US" b="0" dirty="0"/>
              <a:t>依次加入到集合</a:t>
            </a:r>
            <a:r>
              <a:rPr lang="en-US" b="0" dirty="0"/>
              <a:t>S</a:t>
            </a:r>
            <a:r>
              <a:rPr lang="zh-CN" altLang="en-US" b="0" dirty="0"/>
              <a:t>中，每加入一个新顶点就对</a:t>
            </a:r>
            <a:r>
              <a:rPr lang="en-US" b="0" dirty="0"/>
              <a:t>dist[</a:t>
            </a:r>
            <a:r>
              <a:rPr lang="en-US" b="0" dirty="0" err="1"/>
              <a:t>i</a:t>
            </a:r>
            <a:r>
              <a:rPr lang="en-US" b="0" dirty="0"/>
              <a:t>][j]</a:t>
            </a:r>
            <a:r>
              <a:rPr lang="zh-CN" altLang="en-US" b="0" dirty="0"/>
              <a:t>的值进行修改，直到所有顶点都加入到集合</a:t>
            </a:r>
            <a:r>
              <a:rPr lang="en-US" b="0" dirty="0"/>
              <a:t>S</a:t>
            </a:r>
            <a:r>
              <a:rPr lang="zh-CN" altLang="en-US" b="0" dirty="0"/>
              <a:t>中为止，</a:t>
            </a:r>
            <a:r>
              <a:rPr lang="en-US" b="0" dirty="0" err="1"/>
              <a:t>dist</a:t>
            </a:r>
            <a:r>
              <a:rPr lang="en-US" b="0" baseline="-25000" dirty="0" err="1"/>
              <a:t>n</a:t>
            </a:r>
            <a:r>
              <a:rPr lang="en-US" b="0" dirty="0"/>
              <a:t>[</a:t>
            </a:r>
            <a:r>
              <a:rPr lang="en-US" b="0" dirty="0" err="1"/>
              <a:t>i</a:t>
            </a:r>
            <a:r>
              <a:rPr lang="en-US" b="0" dirty="0"/>
              <a:t>][j]</a:t>
            </a:r>
            <a:r>
              <a:rPr lang="zh-CN" altLang="en-US" b="0" dirty="0"/>
              <a:t>就是从顶点</a:t>
            </a:r>
            <a:r>
              <a:rPr lang="en-US" b="0" dirty="0"/>
              <a:t>v</a:t>
            </a:r>
            <a:r>
              <a:rPr lang="en-US" b="0" baseline="-25000" dirty="0"/>
              <a:t>i</a:t>
            </a:r>
            <a:r>
              <a:rPr lang="zh-CN" altLang="en-US" b="0" dirty="0"/>
              <a:t>到</a:t>
            </a:r>
            <a:r>
              <a:rPr lang="en-US" b="0" dirty="0" err="1"/>
              <a:t>v</a:t>
            </a:r>
            <a:r>
              <a:rPr lang="en-US" b="0" baseline="-25000" dirty="0" err="1"/>
              <a:t>j</a:t>
            </a:r>
            <a:r>
              <a:rPr lang="zh-CN" altLang="en-US" b="0" dirty="0"/>
              <a:t>的最短路径长度。</a:t>
            </a:r>
            <a:r>
              <a:rPr lang="en-US" b="0" dirty="0" err="1"/>
              <a:t>dist</a:t>
            </a:r>
            <a:r>
              <a:rPr lang="en-US" b="0" baseline="-25000" dirty="0" err="1"/>
              <a:t>k</a:t>
            </a:r>
            <a:r>
              <a:rPr lang="en-US" b="0" dirty="0"/>
              <a:t>[</a:t>
            </a:r>
            <a:r>
              <a:rPr lang="en-US" b="0" dirty="0" err="1"/>
              <a:t>i</a:t>
            </a:r>
            <a:r>
              <a:rPr lang="en-US" b="0" dirty="0"/>
              <a:t>][j]</a:t>
            </a:r>
            <a:r>
              <a:rPr lang="zh-CN" altLang="en-US" b="0" dirty="0"/>
              <a:t>可以由</a:t>
            </a:r>
            <a:r>
              <a:rPr lang="en-US" b="0" dirty="0"/>
              <a:t>dist</a:t>
            </a:r>
            <a:r>
              <a:rPr lang="en-US" b="0" baseline="-25000" dirty="0"/>
              <a:t>k-1</a:t>
            </a:r>
            <a:r>
              <a:rPr lang="en-US" b="0" dirty="0"/>
              <a:t>[</a:t>
            </a:r>
            <a:r>
              <a:rPr lang="en-US" b="0" dirty="0" err="1"/>
              <a:t>i</a:t>
            </a:r>
            <a:r>
              <a:rPr lang="en-US" b="0" dirty="0"/>
              <a:t>][j]</a:t>
            </a:r>
            <a:r>
              <a:rPr lang="zh-CN" altLang="en-US" b="0" dirty="0"/>
              <a:t>计算得到，</a:t>
            </a:r>
          </a:p>
        </p:txBody>
      </p:sp>
      <p:pic>
        <p:nvPicPr>
          <p:cNvPr id="9218" name="Picture 2"/>
          <p:cNvPicPr>
            <a:picLocks noChangeAspect="1" noChangeArrowheads="1"/>
          </p:cNvPicPr>
          <p:nvPr/>
        </p:nvPicPr>
        <p:blipFill>
          <a:blip r:embed="rId2" cstate="print"/>
          <a:srcRect/>
          <a:stretch>
            <a:fillRect/>
          </a:stretch>
        </p:blipFill>
        <p:spPr bwMode="auto">
          <a:xfrm>
            <a:off x="1604963" y="2971800"/>
            <a:ext cx="5934075" cy="914400"/>
          </a:xfrm>
          <a:prstGeom prst="rect">
            <a:avLst/>
          </a:prstGeom>
          <a:noFill/>
          <a:ln w="9525">
            <a:noFill/>
            <a:miter lim="800000"/>
            <a:headEnd/>
            <a:tailEnd/>
          </a:ln>
          <a:effectLst/>
        </p:spPr>
      </p:pic>
    </p:spTree>
    <p:extLst>
      <p:ext uri="{BB962C8B-B14F-4D97-AF65-F5344CB8AC3E}">
        <p14:creationId xmlns:p14="http://schemas.microsoft.com/office/powerpoint/2010/main" val="2073566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196752"/>
            <a:ext cx="7520940" cy="3579849"/>
          </a:xfrm>
        </p:spPr>
        <p:txBody>
          <a:bodyPr/>
          <a:lstStyle/>
          <a:p>
            <a:r>
              <a:rPr lang="en-US" altLang="zh-CN" b="0" dirty="0"/>
              <a:t>	</a:t>
            </a:r>
            <a:r>
              <a:rPr lang="zh-CN" altLang="zh-CN" b="0" dirty="0"/>
              <a:t>修改</a:t>
            </a:r>
            <a:r>
              <a:rPr lang="en-US" altLang="zh-CN" b="0" dirty="0" err="1"/>
              <a:t>dist</a:t>
            </a:r>
            <a:r>
              <a:rPr lang="en-US" altLang="zh-CN" b="0" baseline="-25000" dirty="0" err="1"/>
              <a:t>k</a:t>
            </a:r>
            <a:r>
              <a:rPr lang="en-US" altLang="zh-CN" b="0" dirty="0"/>
              <a:t>[</a:t>
            </a:r>
            <a:r>
              <a:rPr lang="en-US" altLang="zh-CN" b="0" dirty="0" err="1"/>
              <a:t>i</a:t>
            </a:r>
            <a:r>
              <a:rPr lang="en-US" altLang="zh-CN" b="0" dirty="0"/>
              <a:t>][j]</a:t>
            </a:r>
            <a:r>
              <a:rPr lang="zh-CN" altLang="zh-CN" b="0" dirty="0"/>
              <a:t>的方法如图</a:t>
            </a:r>
            <a:r>
              <a:rPr lang="en-US" altLang="zh-CN" b="0" dirty="0"/>
              <a:t>6-33</a:t>
            </a:r>
            <a:r>
              <a:rPr lang="zh-CN" altLang="zh-CN" b="0" dirty="0"/>
              <a:t>所示。</a:t>
            </a:r>
          </a:p>
          <a:p>
            <a:endParaRPr lang="zh-CN" altLang="en-US" dirty="0"/>
          </a:p>
        </p:txBody>
      </p:sp>
      <p:pic>
        <p:nvPicPr>
          <p:cNvPr id="3686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23728" y="2409096"/>
            <a:ext cx="3744416" cy="23697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9220493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857224" y="1214422"/>
            <a:ext cx="8035256" cy="3579849"/>
          </a:xfrm>
        </p:spPr>
        <p:txBody>
          <a:bodyPr>
            <a:normAutofit fontScale="92500" lnSpcReduction="20000"/>
          </a:bodyPr>
          <a:lstStyle/>
          <a:p>
            <a:r>
              <a:rPr lang="en-US" altLang="zh-CN" b="0" dirty="0"/>
              <a:t>	</a:t>
            </a:r>
            <a:r>
              <a:rPr lang="zh-CN" altLang="en-US" b="0" dirty="0"/>
              <a:t>假设当前的</a:t>
            </a:r>
            <a:r>
              <a:rPr lang="en-US" b="0" dirty="0"/>
              <a:t>S = {v</a:t>
            </a:r>
            <a:r>
              <a:rPr lang="en-US" b="0" baseline="-25000" dirty="0"/>
              <a:t>0</a:t>
            </a:r>
            <a:r>
              <a:rPr lang="en-US" b="0" dirty="0"/>
              <a:t>, v</a:t>
            </a:r>
            <a:r>
              <a:rPr lang="en-US" b="0" baseline="-25000" dirty="0"/>
              <a:t>1</a:t>
            </a:r>
            <a:r>
              <a:rPr lang="en-US" b="0" dirty="0"/>
              <a:t>, … , v</a:t>
            </a:r>
            <a:r>
              <a:rPr lang="en-US" b="0" baseline="-25000" dirty="0"/>
              <a:t>k-2</a:t>
            </a:r>
            <a:r>
              <a:rPr lang="en-US" b="0" dirty="0"/>
              <a:t>}</a:t>
            </a:r>
            <a:r>
              <a:rPr lang="zh-CN" altLang="en-US" b="0" dirty="0"/>
              <a:t>，此时</a:t>
            </a:r>
            <a:r>
              <a:rPr lang="en-US" b="0" dirty="0"/>
              <a:t>dist</a:t>
            </a:r>
            <a:r>
              <a:rPr lang="en-US" b="0" baseline="-25000" dirty="0"/>
              <a:t>k-1</a:t>
            </a:r>
            <a:r>
              <a:rPr lang="en-US" b="0" dirty="0"/>
              <a:t>[</a:t>
            </a:r>
            <a:r>
              <a:rPr lang="en-US" b="0" dirty="0" err="1"/>
              <a:t>i</a:t>
            </a:r>
            <a:r>
              <a:rPr lang="en-US" b="0" dirty="0"/>
              <a:t>][j]</a:t>
            </a:r>
            <a:r>
              <a:rPr lang="zh-CN" altLang="en-US" b="0" dirty="0"/>
              <a:t>存放的是从</a:t>
            </a:r>
            <a:r>
              <a:rPr lang="en-US" b="0" dirty="0"/>
              <a:t>v</a:t>
            </a:r>
            <a:r>
              <a:rPr lang="en-US" b="0" baseline="-25000" dirty="0"/>
              <a:t>i</a:t>
            </a:r>
            <a:r>
              <a:rPr lang="zh-CN" altLang="en-US" b="0" dirty="0"/>
              <a:t>出发只经过中间顶点</a:t>
            </a:r>
            <a:r>
              <a:rPr lang="en-US" b="0" dirty="0"/>
              <a:t>{v</a:t>
            </a:r>
            <a:r>
              <a:rPr lang="en-US" b="0" baseline="-25000" dirty="0"/>
              <a:t>0</a:t>
            </a:r>
            <a:r>
              <a:rPr lang="en-US" b="0" dirty="0"/>
              <a:t>, v</a:t>
            </a:r>
            <a:r>
              <a:rPr lang="en-US" b="0" baseline="-25000" dirty="0"/>
              <a:t>1</a:t>
            </a:r>
            <a:r>
              <a:rPr lang="en-US" b="0" dirty="0"/>
              <a:t>, … , v</a:t>
            </a:r>
            <a:r>
              <a:rPr lang="en-US" b="0" baseline="-25000" dirty="0"/>
              <a:t>k-2</a:t>
            </a:r>
            <a:r>
              <a:rPr lang="en-US" b="0" dirty="0"/>
              <a:t>}</a:t>
            </a:r>
            <a:r>
              <a:rPr lang="zh-CN" altLang="en-US" b="0" dirty="0"/>
              <a:t>到达</a:t>
            </a:r>
            <a:r>
              <a:rPr lang="en-US" b="0" dirty="0" err="1"/>
              <a:t>v</a:t>
            </a:r>
            <a:r>
              <a:rPr lang="en-US" b="0" baseline="-25000" dirty="0" err="1"/>
              <a:t>j</a:t>
            </a:r>
            <a:r>
              <a:rPr lang="zh-CN" altLang="en-US" b="0" dirty="0"/>
              <a:t>的当前最短路径长度，向集合</a:t>
            </a:r>
            <a:r>
              <a:rPr lang="en-US" b="0" dirty="0"/>
              <a:t>S</a:t>
            </a:r>
            <a:r>
              <a:rPr lang="zh-CN" altLang="en-US" b="0" dirty="0"/>
              <a:t>中加入一个新顶点</a:t>
            </a:r>
            <a:r>
              <a:rPr lang="en-US" b="0" dirty="0"/>
              <a:t>v</a:t>
            </a:r>
            <a:r>
              <a:rPr lang="en-US" b="0" baseline="-25000" dirty="0"/>
              <a:t>k-1</a:t>
            </a:r>
            <a:r>
              <a:rPr lang="zh-CN" altLang="en-US" b="0" dirty="0"/>
              <a:t>后，从顶点</a:t>
            </a:r>
            <a:r>
              <a:rPr lang="en-US" b="0" dirty="0"/>
              <a:t>v</a:t>
            </a:r>
            <a:r>
              <a:rPr lang="en-US" b="0" baseline="-25000" dirty="0"/>
              <a:t>i</a:t>
            </a:r>
            <a:r>
              <a:rPr lang="zh-CN" altLang="en-US" b="0" dirty="0"/>
              <a:t>到</a:t>
            </a:r>
            <a:r>
              <a:rPr lang="en-US" b="0" dirty="0" err="1"/>
              <a:t>v</a:t>
            </a:r>
            <a:r>
              <a:rPr lang="en-US" b="0" baseline="-25000" dirty="0" err="1"/>
              <a:t>j</a:t>
            </a:r>
            <a:r>
              <a:rPr lang="zh-CN" altLang="en-US" b="0" dirty="0"/>
              <a:t>的最短路径有两种可能：</a:t>
            </a:r>
            <a:endParaRPr lang="en-US" altLang="zh-CN" b="0" dirty="0"/>
          </a:p>
          <a:p>
            <a:r>
              <a:rPr lang="en-US" b="0" dirty="0"/>
              <a:t>	(1) v</a:t>
            </a:r>
            <a:r>
              <a:rPr lang="en-US" b="0" baseline="-25000" dirty="0"/>
              <a:t>k-1</a:t>
            </a:r>
            <a:r>
              <a:rPr lang="zh-CN" altLang="en-US" b="0" dirty="0"/>
              <a:t>为路径上的中间顶点，此时路径为</a:t>
            </a:r>
            <a:r>
              <a:rPr lang="en-US" b="0" dirty="0"/>
              <a:t>(v</a:t>
            </a:r>
            <a:r>
              <a:rPr lang="en-US" b="0" baseline="-25000" dirty="0"/>
              <a:t>i</a:t>
            </a:r>
            <a:r>
              <a:rPr lang="en-US" b="0" dirty="0"/>
              <a:t>, … , v</a:t>
            </a:r>
            <a:r>
              <a:rPr lang="en-US" b="0" baseline="-25000" dirty="0"/>
              <a:t>k-1</a:t>
            </a:r>
            <a:r>
              <a:rPr lang="en-US" b="0" dirty="0"/>
              <a:t>, … , </a:t>
            </a:r>
            <a:r>
              <a:rPr lang="en-US" b="0" dirty="0" err="1"/>
              <a:t>v</a:t>
            </a:r>
            <a:r>
              <a:rPr lang="en-US" b="0" baseline="-25000" dirty="0" err="1"/>
              <a:t>j</a:t>
            </a:r>
            <a:r>
              <a:rPr lang="en-US" b="0" dirty="0"/>
              <a:t>)</a:t>
            </a:r>
            <a:r>
              <a:rPr lang="zh-CN" altLang="en-US" b="0" dirty="0"/>
              <a:t>，路径长度为</a:t>
            </a:r>
            <a:r>
              <a:rPr lang="en-US" b="0" dirty="0"/>
              <a:t>dist</a:t>
            </a:r>
            <a:r>
              <a:rPr lang="en-US" b="0" baseline="-25000" dirty="0"/>
              <a:t>k-1</a:t>
            </a:r>
            <a:r>
              <a:rPr lang="en-US" b="0" dirty="0"/>
              <a:t>[</a:t>
            </a:r>
            <a:r>
              <a:rPr lang="en-US" b="0" dirty="0" err="1"/>
              <a:t>i</a:t>
            </a:r>
            <a:r>
              <a:rPr lang="en-US" b="0" dirty="0"/>
              <a:t>][k-1] + dist</a:t>
            </a:r>
            <a:r>
              <a:rPr lang="en-US" altLang="zh-CN" b="0" baseline="-25000" dirty="0"/>
              <a:t>k-1 </a:t>
            </a:r>
            <a:r>
              <a:rPr lang="en-US" b="0" dirty="0"/>
              <a:t>[k-1][j]</a:t>
            </a:r>
            <a:r>
              <a:rPr lang="zh-CN" altLang="en-US" b="0" dirty="0"/>
              <a:t>；</a:t>
            </a:r>
            <a:endParaRPr lang="en-US" altLang="zh-CN" b="0" dirty="0"/>
          </a:p>
          <a:p>
            <a:r>
              <a:rPr lang="en-US" b="0" dirty="0"/>
              <a:t>	(2) v</a:t>
            </a:r>
            <a:r>
              <a:rPr lang="en-US" b="0" baseline="-25000" dirty="0"/>
              <a:t>k-1</a:t>
            </a:r>
            <a:r>
              <a:rPr lang="zh-CN" altLang="en-US" b="0" dirty="0"/>
              <a:t>不为路径上的中间顶点，此时路径为</a:t>
            </a:r>
            <a:r>
              <a:rPr lang="en-US" b="0" dirty="0"/>
              <a:t>(v</a:t>
            </a:r>
            <a:r>
              <a:rPr lang="en-US" b="0" baseline="-25000" dirty="0"/>
              <a:t>i</a:t>
            </a:r>
            <a:r>
              <a:rPr lang="en-US" b="0" dirty="0"/>
              <a:t>, … , </a:t>
            </a:r>
            <a:r>
              <a:rPr lang="en-US" b="0" dirty="0" err="1"/>
              <a:t>v</a:t>
            </a:r>
            <a:r>
              <a:rPr lang="en-US" b="0" baseline="-25000" dirty="0" err="1"/>
              <a:t>j</a:t>
            </a:r>
            <a:r>
              <a:rPr lang="en-US" b="0" dirty="0"/>
              <a:t>)</a:t>
            </a:r>
            <a:r>
              <a:rPr lang="zh-CN" altLang="en-US" b="0" dirty="0"/>
              <a:t>，路径长度为</a:t>
            </a:r>
            <a:r>
              <a:rPr lang="en-US" b="0" dirty="0"/>
              <a:t>dist</a:t>
            </a:r>
            <a:r>
              <a:rPr lang="en-US" b="0" baseline="-25000" dirty="0"/>
              <a:t>k-1</a:t>
            </a:r>
            <a:r>
              <a:rPr lang="en-US" b="0" dirty="0"/>
              <a:t>[</a:t>
            </a:r>
            <a:r>
              <a:rPr lang="en-US" b="0" dirty="0" err="1"/>
              <a:t>i</a:t>
            </a:r>
            <a:r>
              <a:rPr lang="en-US" b="0" dirty="0"/>
              <a:t>][j]</a:t>
            </a:r>
            <a:r>
              <a:rPr lang="zh-CN" altLang="en-US" b="0" dirty="0"/>
              <a:t>。</a:t>
            </a:r>
            <a:endParaRPr lang="en-US" altLang="zh-CN" b="0" dirty="0"/>
          </a:p>
          <a:p>
            <a:r>
              <a:rPr lang="en-US" altLang="zh-CN" b="0" dirty="0"/>
              <a:t>	</a:t>
            </a:r>
            <a:r>
              <a:rPr lang="zh-CN" altLang="en-US" b="0" dirty="0"/>
              <a:t>修改</a:t>
            </a:r>
            <a:r>
              <a:rPr lang="en-US" b="0" dirty="0" err="1"/>
              <a:t>dist</a:t>
            </a:r>
            <a:r>
              <a:rPr lang="en-US" b="0" baseline="-25000" dirty="0" err="1"/>
              <a:t>k</a:t>
            </a:r>
            <a:r>
              <a:rPr lang="en-US" b="0" dirty="0"/>
              <a:t>[</a:t>
            </a:r>
            <a:r>
              <a:rPr lang="en-US" b="0" dirty="0" err="1"/>
              <a:t>i</a:t>
            </a:r>
            <a:r>
              <a:rPr lang="en-US" b="0" dirty="0"/>
              <a:t>][j]</a:t>
            </a:r>
            <a:r>
              <a:rPr lang="zh-CN" altLang="en-US" b="0" dirty="0"/>
              <a:t>的值为上述两种情况中路径长度较小的值，即：</a:t>
            </a:r>
          </a:p>
        </p:txBody>
      </p:sp>
      <p:pic>
        <p:nvPicPr>
          <p:cNvPr id="10242" name="Picture 2"/>
          <p:cNvPicPr>
            <a:picLocks noChangeAspect="1" noChangeArrowheads="1"/>
          </p:cNvPicPr>
          <p:nvPr/>
        </p:nvPicPr>
        <p:blipFill>
          <a:blip r:embed="rId2" cstate="print"/>
          <a:srcRect/>
          <a:stretch>
            <a:fillRect/>
          </a:stretch>
        </p:blipFill>
        <p:spPr bwMode="auto">
          <a:xfrm>
            <a:off x="1785918" y="4786322"/>
            <a:ext cx="5419725" cy="342900"/>
          </a:xfrm>
          <a:prstGeom prst="rect">
            <a:avLst/>
          </a:prstGeom>
          <a:noFill/>
          <a:ln w="9525">
            <a:noFill/>
            <a:miter lim="800000"/>
            <a:headEnd/>
            <a:tailEnd/>
          </a:ln>
          <a:effectLst/>
        </p:spPr>
      </p:pic>
    </p:spTree>
    <p:extLst>
      <p:ext uri="{BB962C8B-B14F-4D97-AF65-F5344CB8AC3E}">
        <p14:creationId xmlns:p14="http://schemas.microsoft.com/office/powerpoint/2010/main" val="98915362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520940" cy="5328592"/>
          </a:xfrm>
        </p:spPr>
        <p:txBody>
          <a:bodyPr>
            <a:normAutofit lnSpcReduction="10000"/>
          </a:bodyPr>
          <a:lstStyle/>
          <a:p>
            <a:r>
              <a:rPr lang="en-US" altLang="zh-CN" b="0" dirty="0"/>
              <a:t>	</a:t>
            </a:r>
            <a:r>
              <a:rPr lang="zh-CN" altLang="zh-CN" b="0" dirty="0"/>
              <a:t>为了记录最短路径上经过的顶点，引入一个</a:t>
            </a:r>
            <a:r>
              <a:rPr lang="zh-CN" altLang="zh-CN" b="0" dirty="0">
                <a:solidFill>
                  <a:srgbClr val="FF0000"/>
                </a:solidFill>
              </a:rPr>
              <a:t>二维数组</a:t>
            </a:r>
            <a:r>
              <a:rPr lang="en-US" altLang="zh-CN" b="0" dirty="0">
                <a:solidFill>
                  <a:srgbClr val="FF0000"/>
                </a:solidFill>
              </a:rPr>
              <a:t>path</a:t>
            </a:r>
            <a:r>
              <a:rPr lang="zh-CN" altLang="zh-CN" b="0" dirty="0"/>
              <a:t>，其每个分量</a:t>
            </a:r>
            <a:r>
              <a:rPr lang="en-US" altLang="zh-CN" b="0" dirty="0">
                <a:solidFill>
                  <a:srgbClr val="FF0000"/>
                </a:solidFill>
              </a:rPr>
              <a:t>path[</a:t>
            </a:r>
            <a:r>
              <a:rPr lang="en-US" altLang="zh-CN" b="0" dirty="0" err="1">
                <a:solidFill>
                  <a:srgbClr val="FF0000"/>
                </a:solidFill>
              </a:rPr>
              <a:t>i</a:t>
            </a:r>
            <a:r>
              <a:rPr lang="en-US" altLang="zh-CN" b="0" dirty="0">
                <a:solidFill>
                  <a:srgbClr val="FF0000"/>
                </a:solidFill>
              </a:rPr>
              <a:t>][j]</a:t>
            </a:r>
            <a:r>
              <a:rPr lang="zh-CN" altLang="zh-CN" b="0" dirty="0">
                <a:solidFill>
                  <a:srgbClr val="FF0000"/>
                </a:solidFill>
              </a:rPr>
              <a:t>用于存放从顶点</a:t>
            </a:r>
            <a:r>
              <a:rPr lang="en-US" altLang="zh-CN" b="0" dirty="0">
                <a:solidFill>
                  <a:srgbClr val="FF0000"/>
                </a:solidFill>
              </a:rPr>
              <a:t>v</a:t>
            </a:r>
            <a:r>
              <a:rPr lang="en-US" altLang="zh-CN" b="0" baseline="-25000" dirty="0">
                <a:solidFill>
                  <a:srgbClr val="FF0000"/>
                </a:solidFill>
              </a:rPr>
              <a:t>i</a:t>
            </a:r>
            <a:r>
              <a:rPr lang="zh-CN" altLang="zh-CN" b="0" dirty="0">
                <a:solidFill>
                  <a:srgbClr val="FF0000"/>
                </a:solidFill>
              </a:rPr>
              <a:t>到</a:t>
            </a:r>
            <a:r>
              <a:rPr lang="en-US" altLang="zh-CN" b="0" dirty="0" err="1">
                <a:solidFill>
                  <a:srgbClr val="FF0000"/>
                </a:solidFill>
              </a:rPr>
              <a:t>v</a:t>
            </a:r>
            <a:r>
              <a:rPr lang="en-US" altLang="zh-CN" b="0" baseline="-25000" dirty="0" err="1">
                <a:solidFill>
                  <a:srgbClr val="FF0000"/>
                </a:solidFill>
              </a:rPr>
              <a:t>j</a:t>
            </a:r>
            <a:r>
              <a:rPr lang="zh-CN" altLang="zh-CN" b="0" dirty="0">
                <a:solidFill>
                  <a:srgbClr val="FF0000"/>
                </a:solidFill>
              </a:rPr>
              <a:t>的最短路径所经过的某个顶点，即改变路径的中间点。</a:t>
            </a:r>
            <a:r>
              <a:rPr lang="zh-CN" altLang="zh-CN" b="0" dirty="0"/>
              <a:t>若</a:t>
            </a:r>
            <a:r>
              <a:rPr lang="en-US" altLang="zh-CN" b="0" dirty="0"/>
              <a:t>path[</a:t>
            </a:r>
            <a:r>
              <a:rPr lang="en-US" altLang="zh-CN" b="0" dirty="0" err="1"/>
              <a:t>i</a:t>
            </a:r>
            <a:r>
              <a:rPr lang="en-US" altLang="zh-CN" b="0" dirty="0"/>
              <a:t>][j] = k</a:t>
            </a:r>
            <a:r>
              <a:rPr lang="zh-CN" altLang="zh-CN" b="0" dirty="0"/>
              <a:t>，说明从</a:t>
            </a:r>
            <a:r>
              <a:rPr lang="en-US" altLang="zh-CN" b="0" dirty="0"/>
              <a:t>v</a:t>
            </a:r>
            <a:r>
              <a:rPr lang="en-US" altLang="zh-CN" b="0" baseline="-25000" dirty="0"/>
              <a:t>i</a:t>
            </a:r>
            <a:r>
              <a:rPr lang="zh-CN" altLang="zh-CN" b="0" dirty="0"/>
              <a:t>到</a:t>
            </a:r>
            <a:r>
              <a:rPr lang="en-US" altLang="zh-CN" b="0" dirty="0" err="1"/>
              <a:t>v</a:t>
            </a:r>
            <a:r>
              <a:rPr lang="en-US" altLang="zh-CN" b="0" baseline="-25000" dirty="0" err="1"/>
              <a:t>j</a:t>
            </a:r>
            <a:r>
              <a:rPr lang="zh-CN" altLang="zh-CN" b="0" dirty="0"/>
              <a:t>的最短路径经过顶点</a:t>
            </a:r>
            <a:r>
              <a:rPr lang="en-US" altLang="zh-CN" b="0" dirty="0" err="1"/>
              <a:t>v</a:t>
            </a:r>
            <a:r>
              <a:rPr lang="en-US" altLang="zh-CN" b="0" baseline="-25000" dirty="0" err="1"/>
              <a:t>k</a:t>
            </a:r>
            <a:r>
              <a:rPr lang="zh-CN" altLang="zh-CN" b="0" dirty="0"/>
              <a:t>，设该最短路径为</a:t>
            </a:r>
            <a:r>
              <a:rPr lang="en-US" altLang="zh-CN" b="0" dirty="0"/>
              <a:t>(v</a:t>
            </a:r>
            <a:r>
              <a:rPr lang="en-US" altLang="zh-CN" b="0" baseline="-25000" dirty="0"/>
              <a:t>i</a:t>
            </a:r>
            <a:r>
              <a:rPr lang="en-US" altLang="zh-CN" b="0" dirty="0"/>
              <a:t>, … , </a:t>
            </a:r>
            <a:r>
              <a:rPr lang="en-US" altLang="zh-CN" b="0" dirty="0" err="1"/>
              <a:t>v</a:t>
            </a:r>
            <a:r>
              <a:rPr lang="en-US" altLang="zh-CN" b="0" baseline="-25000" dirty="0" err="1"/>
              <a:t>k</a:t>
            </a:r>
            <a:r>
              <a:rPr lang="en-US" altLang="zh-CN" b="0" dirty="0"/>
              <a:t>, … , </a:t>
            </a:r>
            <a:r>
              <a:rPr lang="en-US" altLang="zh-CN" b="0" dirty="0" err="1"/>
              <a:t>v</a:t>
            </a:r>
            <a:r>
              <a:rPr lang="en-US" altLang="zh-CN" b="0" baseline="-25000" dirty="0" err="1"/>
              <a:t>j</a:t>
            </a:r>
            <a:r>
              <a:rPr lang="en-US" altLang="zh-CN" b="0" dirty="0"/>
              <a:t>)</a:t>
            </a:r>
            <a:r>
              <a:rPr lang="zh-CN" altLang="zh-CN" b="0" dirty="0"/>
              <a:t>，则由最短路径的最优子结构性质可知该最短路径的子序列</a:t>
            </a:r>
            <a:r>
              <a:rPr lang="en-US" altLang="zh-CN" b="0" dirty="0"/>
              <a:t>(v</a:t>
            </a:r>
            <a:r>
              <a:rPr lang="en-US" altLang="zh-CN" b="0" baseline="-25000" dirty="0"/>
              <a:t>i</a:t>
            </a:r>
            <a:r>
              <a:rPr lang="en-US" altLang="zh-CN" b="0" dirty="0"/>
              <a:t>, … , </a:t>
            </a:r>
            <a:r>
              <a:rPr lang="en-US" altLang="zh-CN" b="0" dirty="0" err="1"/>
              <a:t>v</a:t>
            </a:r>
            <a:r>
              <a:rPr lang="en-US" altLang="zh-CN" b="0" baseline="-25000" dirty="0" err="1"/>
              <a:t>k</a:t>
            </a:r>
            <a:r>
              <a:rPr lang="en-US" altLang="zh-CN" b="0" dirty="0"/>
              <a:t>)</a:t>
            </a:r>
            <a:r>
              <a:rPr lang="zh-CN" altLang="zh-CN" b="0" dirty="0"/>
              <a:t>和</a:t>
            </a:r>
            <a:r>
              <a:rPr lang="en-US" altLang="zh-CN" b="0" dirty="0"/>
              <a:t>(</a:t>
            </a:r>
            <a:r>
              <a:rPr lang="en-US" altLang="zh-CN" b="0" dirty="0" err="1"/>
              <a:t>v</a:t>
            </a:r>
            <a:r>
              <a:rPr lang="en-US" altLang="zh-CN" b="0" baseline="-25000" dirty="0" err="1"/>
              <a:t>k</a:t>
            </a:r>
            <a:r>
              <a:rPr lang="en-US" altLang="zh-CN" b="0" dirty="0"/>
              <a:t>, … , </a:t>
            </a:r>
            <a:r>
              <a:rPr lang="en-US" altLang="zh-CN" b="0" dirty="0" err="1"/>
              <a:t>v</a:t>
            </a:r>
            <a:r>
              <a:rPr lang="en-US" altLang="zh-CN" b="0" baseline="-25000" dirty="0" err="1"/>
              <a:t>j</a:t>
            </a:r>
            <a:r>
              <a:rPr lang="en-US" altLang="zh-CN" b="0" dirty="0"/>
              <a:t>)</a:t>
            </a:r>
            <a:r>
              <a:rPr lang="zh-CN" altLang="zh-CN" b="0" dirty="0"/>
              <a:t>一定是从</a:t>
            </a:r>
            <a:r>
              <a:rPr lang="en-US" altLang="zh-CN" b="0" dirty="0"/>
              <a:t>v</a:t>
            </a:r>
            <a:r>
              <a:rPr lang="en-US" altLang="zh-CN" b="0" baseline="-25000" dirty="0"/>
              <a:t>i</a:t>
            </a:r>
            <a:r>
              <a:rPr lang="zh-CN" altLang="zh-CN" b="0" dirty="0"/>
              <a:t>到</a:t>
            </a:r>
            <a:r>
              <a:rPr lang="en-US" altLang="zh-CN" b="0" dirty="0" err="1"/>
              <a:t>v</a:t>
            </a:r>
            <a:r>
              <a:rPr lang="en-US" altLang="zh-CN" b="0" baseline="-25000" dirty="0" err="1"/>
              <a:t>k</a:t>
            </a:r>
            <a:r>
              <a:rPr lang="zh-CN" altLang="zh-CN" b="0" dirty="0"/>
              <a:t>和从</a:t>
            </a:r>
            <a:r>
              <a:rPr lang="en-US" altLang="zh-CN" b="0" dirty="0" err="1"/>
              <a:t>v</a:t>
            </a:r>
            <a:r>
              <a:rPr lang="en-US" altLang="zh-CN" b="0" baseline="-25000" dirty="0" err="1"/>
              <a:t>k</a:t>
            </a:r>
            <a:r>
              <a:rPr lang="zh-CN" altLang="zh-CN" b="0" dirty="0"/>
              <a:t>到</a:t>
            </a:r>
            <a:r>
              <a:rPr lang="en-US" altLang="zh-CN" b="0" dirty="0" err="1"/>
              <a:t>v</a:t>
            </a:r>
            <a:r>
              <a:rPr lang="en-US" altLang="zh-CN" b="0" baseline="-25000" dirty="0" err="1"/>
              <a:t>j</a:t>
            </a:r>
            <a:r>
              <a:rPr lang="zh-CN" altLang="zh-CN" b="0" dirty="0"/>
              <a:t>的最短路径，根据</a:t>
            </a:r>
            <a:r>
              <a:rPr lang="en-US" altLang="zh-CN" b="0" dirty="0"/>
              <a:t>path[</a:t>
            </a:r>
            <a:r>
              <a:rPr lang="en-US" altLang="zh-CN" b="0" dirty="0" err="1"/>
              <a:t>i</a:t>
            </a:r>
            <a:r>
              <a:rPr lang="en-US" altLang="zh-CN" b="0" dirty="0"/>
              <a:t>][k]</a:t>
            </a:r>
            <a:r>
              <a:rPr lang="zh-CN" altLang="zh-CN" b="0" dirty="0"/>
              <a:t>和</a:t>
            </a:r>
            <a:r>
              <a:rPr lang="en-US" altLang="zh-CN" b="0" dirty="0"/>
              <a:t>path[k][j]</a:t>
            </a:r>
            <a:r>
              <a:rPr lang="zh-CN" altLang="zh-CN" b="0" dirty="0"/>
              <a:t>的值可找到该最短路径上经过的其它顶点，此为一个递归过程。初始状态时，令</a:t>
            </a:r>
            <a:r>
              <a:rPr lang="en-US" altLang="zh-CN" b="0" dirty="0"/>
              <a:t>path[</a:t>
            </a:r>
            <a:r>
              <a:rPr lang="en-US" altLang="zh-CN" b="0" dirty="0" err="1"/>
              <a:t>i</a:t>
            </a:r>
            <a:r>
              <a:rPr lang="en-US" altLang="zh-CN" b="0" dirty="0"/>
              <a:t>][j] = -1</a:t>
            </a:r>
            <a:r>
              <a:rPr lang="zh-CN" altLang="zh-CN" b="0" dirty="0"/>
              <a:t>，表示从</a:t>
            </a:r>
            <a:r>
              <a:rPr lang="en-US" altLang="zh-CN" b="0" dirty="0"/>
              <a:t>v</a:t>
            </a:r>
            <a:r>
              <a:rPr lang="en-US" altLang="zh-CN" b="0" baseline="-25000" dirty="0"/>
              <a:t>i</a:t>
            </a:r>
            <a:r>
              <a:rPr lang="zh-CN" altLang="zh-CN" b="0" dirty="0"/>
              <a:t>到</a:t>
            </a:r>
            <a:r>
              <a:rPr lang="en-US" altLang="zh-CN" b="0" dirty="0" err="1"/>
              <a:t>v</a:t>
            </a:r>
            <a:r>
              <a:rPr lang="en-US" altLang="zh-CN" b="0" baseline="-25000" dirty="0" err="1"/>
              <a:t>j</a:t>
            </a:r>
            <a:r>
              <a:rPr lang="zh-CN" altLang="zh-CN" b="0" dirty="0"/>
              <a:t>不经过任何顶点。当某个顶点</a:t>
            </a:r>
            <a:r>
              <a:rPr lang="en-US" altLang="zh-CN" b="0" dirty="0" err="1"/>
              <a:t>v</a:t>
            </a:r>
            <a:r>
              <a:rPr lang="en-US" altLang="zh-CN" b="0" baseline="-25000" dirty="0" err="1"/>
              <a:t>k</a:t>
            </a:r>
            <a:r>
              <a:rPr lang="zh-CN" altLang="zh-CN" b="0" dirty="0"/>
              <a:t>加入</a:t>
            </a:r>
            <a:r>
              <a:rPr lang="en-US" altLang="zh-CN" b="0" dirty="0"/>
              <a:t>S</a:t>
            </a:r>
            <a:r>
              <a:rPr lang="zh-CN" altLang="zh-CN" b="0" dirty="0"/>
              <a:t>后使得</a:t>
            </a:r>
            <a:r>
              <a:rPr lang="en-US" altLang="zh-CN" b="0" dirty="0" err="1"/>
              <a:t>dist</a:t>
            </a:r>
            <a:r>
              <a:rPr lang="en-US" altLang="zh-CN" b="0" dirty="0"/>
              <a:t>[</a:t>
            </a:r>
            <a:r>
              <a:rPr lang="en-US" altLang="zh-CN" b="0" dirty="0" err="1"/>
              <a:t>i</a:t>
            </a:r>
            <a:r>
              <a:rPr lang="en-US" altLang="zh-CN" b="0" dirty="0"/>
              <a:t>][j]</a:t>
            </a:r>
            <a:r>
              <a:rPr lang="zh-CN" altLang="zh-CN" b="0" dirty="0"/>
              <a:t>的值变小时，修改</a:t>
            </a:r>
            <a:r>
              <a:rPr lang="en-US" altLang="zh-CN" b="0" dirty="0"/>
              <a:t>path[</a:t>
            </a:r>
            <a:r>
              <a:rPr lang="en-US" altLang="zh-CN" b="0" dirty="0" err="1"/>
              <a:t>i</a:t>
            </a:r>
            <a:r>
              <a:rPr lang="en-US" altLang="zh-CN" b="0" dirty="0"/>
              <a:t>][j] = k</a:t>
            </a:r>
            <a:r>
              <a:rPr lang="zh-CN" altLang="zh-CN" b="0" dirty="0"/>
              <a:t>。</a:t>
            </a:r>
          </a:p>
          <a:p>
            <a:endParaRPr lang="zh-CN" altLang="en-US" dirty="0"/>
          </a:p>
        </p:txBody>
      </p:sp>
    </p:spTree>
    <p:extLst>
      <p:ext uri="{BB962C8B-B14F-4D97-AF65-F5344CB8AC3E}">
        <p14:creationId xmlns:p14="http://schemas.microsoft.com/office/powerpoint/2010/main" val="361154403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520940" cy="5688632"/>
          </a:xfrm>
        </p:spPr>
        <p:txBody>
          <a:bodyPr>
            <a:normAutofit fontScale="55000" lnSpcReduction="20000"/>
          </a:bodyPr>
          <a:lstStyle/>
          <a:p>
            <a:r>
              <a:rPr lang="en-US" altLang="zh-CN" dirty="0"/>
              <a:t>Floyd</a:t>
            </a:r>
            <a:r>
              <a:rPr lang="zh-CN" altLang="zh-CN" dirty="0"/>
              <a:t>算法的具体实现如下：</a:t>
            </a:r>
          </a:p>
          <a:p>
            <a:r>
              <a:rPr lang="zh-CN" altLang="zh-CN" b="0" dirty="0"/>
              <a:t>算法</a:t>
            </a:r>
            <a:r>
              <a:rPr lang="en-US" altLang="zh-CN" b="0" dirty="0"/>
              <a:t>6.11</a:t>
            </a:r>
            <a:r>
              <a:rPr lang="zh-CN" altLang="zh-CN" b="0" dirty="0"/>
              <a:t>：</a:t>
            </a:r>
            <a:r>
              <a:rPr lang="en-US" altLang="zh-CN" b="0" dirty="0"/>
              <a:t>Floyd</a:t>
            </a:r>
            <a:r>
              <a:rPr lang="zh-CN" altLang="zh-CN" b="0" dirty="0"/>
              <a:t>算法</a:t>
            </a:r>
          </a:p>
          <a:p>
            <a:r>
              <a:rPr lang="en-US" altLang="zh-CN" b="0" dirty="0"/>
              <a:t>void </a:t>
            </a:r>
            <a:r>
              <a:rPr lang="en-US" altLang="zh-CN" b="0" dirty="0" err="1"/>
              <a:t>MidNode</a:t>
            </a:r>
            <a:r>
              <a:rPr lang="en-US" altLang="zh-CN" b="0" dirty="0"/>
              <a:t>(</a:t>
            </a:r>
            <a:r>
              <a:rPr lang="en-US" altLang="zh-CN" b="0" dirty="0" err="1"/>
              <a:t>int</a:t>
            </a:r>
            <a:r>
              <a:rPr lang="en-US" altLang="zh-CN" b="0" dirty="0"/>
              <a:t> </a:t>
            </a:r>
            <a:r>
              <a:rPr lang="en-US" altLang="zh-CN" b="0" dirty="0" err="1"/>
              <a:t>i</a:t>
            </a:r>
            <a:r>
              <a:rPr lang="en-US" altLang="zh-CN" b="0" dirty="0"/>
              <a:t>, </a:t>
            </a:r>
            <a:r>
              <a:rPr lang="en-US" altLang="zh-CN" b="0" dirty="0" err="1"/>
              <a:t>int</a:t>
            </a:r>
            <a:r>
              <a:rPr lang="en-US" altLang="zh-CN" b="0" dirty="0"/>
              <a:t> j, </a:t>
            </a:r>
            <a:r>
              <a:rPr lang="en-US" altLang="zh-CN" b="0" dirty="0" err="1"/>
              <a:t>int</a:t>
            </a:r>
            <a:r>
              <a:rPr lang="en-US" altLang="zh-CN" b="0" dirty="0"/>
              <a:t> **path){ //</a:t>
            </a:r>
            <a:r>
              <a:rPr lang="zh-CN" altLang="zh-CN" b="0" dirty="0"/>
              <a:t>输出中间过渡点</a:t>
            </a:r>
          </a:p>
          <a:p>
            <a:r>
              <a:rPr lang="en-US" altLang="zh-CN" b="0" dirty="0"/>
              <a:t>	if (path[</a:t>
            </a:r>
            <a:r>
              <a:rPr lang="en-US" altLang="zh-CN" b="0" dirty="0" err="1"/>
              <a:t>i</a:t>
            </a:r>
            <a:r>
              <a:rPr lang="en-US" altLang="zh-CN" b="0" dirty="0"/>
              <a:t>][j] != -1 &amp;&amp; </a:t>
            </a:r>
            <a:r>
              <a:rPr lang="en-US" altLang="zh-CN" b="0" dirty="0" err="1"/>
              <a:t>i</a:t>
            </a:r>
            <a:r>
              <a:rPr lang="en-US" altLang="zh-CN" b="0" dirty="0"/>
              <a:t> != path[</a:t>
            </a:r>
            <a:r>
              <a:rPr lang="en-US" altLang="zh-CN" b="0" dirty="0" err="1"/>
              <a:t>i</a:t>
            </a:r>
            <a:r>
              <a:rPr lang="en-US" altLang="zh-CN" b="0" dirty="0"/>
              <a:t>][j]){</a:t>
            </a:r>
            <a:endParaRPr lang="zh-CN" altLang="zh-CN" b="0" dirty="0"/>
          </a:p>
          <a:p>
            <a:r>
              <a:rPr lang="en-US" altLang="zh-CN" b="0" dirty="0"/>
              <a:t>		</a:t>
            </a:r>
            <a:r>
              <a:rPr lang="en-US" altLang="zh-CN" b="0" dirty="0" err="1"/>
              <a:t>MidNode</a:t>
            </a:r>
            <a:r>
              <a:rPr lang="en-US" altLang="zh-CN" b="0" dirty="0"/>
              <a:t>(</a:t>
            </a:r>
            <a:r>
              <a:rPr lang="en-US" altLang="zh-CN" b="0" dirty="0" err="1"/>
              <a:t>i</a:t>
            </a:r>
            <a:r>
              <a:rPr lang="en-US" altLang="zh-CN" b="0" dirty="0"/>
              <a:t>, path[</a:t>
            </a:r>
            <a:r>
              <a:rPr lang="en-US" altLang="zh-CN" b="0" dirty="0" err="1"/>
              <a:t>i</a:t>
            </a:r>
            <a:r>
              <a:rPr lang="en-US" altLang="zh-CN" b="0" dirty="0"/>
              <a:t>][j], path);</a:t>
            </a:r>
            <a:endParaRPr lang="zh-CN" altLang="zh-CN" b="0" dirty="0"/>
          </a:p>
          <a:p>
            <a:r>
              <a:rPr lang="en-US" altLang="zh-CN" b="0" dirty="0"/>
              <a:t>		</a:t>
            </a:r>
            <a:r>
              <a:rPr lang="en-US" altLang="zh-CN" b="0" dirty="0" err="1"/>
              <a:t>cout</a:t>
            </a:r>
            <a:r>
              <a:rPr lang="en-US" altLang="zh-CN" b="0" dirty="0"/>
              <a:t> &lt;&lt; path[</a:t>
            </a:r>
            <a:r>
              <a:rPr lang="en-US" altLang="zh-CN" b="0" dirty="0" err="1"/>
              <a:t>i</a:t>
            </a:r>
            <a:r>
              <a:rPr lang="en-US" altLang="zh-CN" b="0" dirty="0"/>
              <a:t>][j] &lt;&lt; "-&gt;";</a:t>
            </a:r>
            <a:endParaRPr lang="zh-CN" altLang="zh-CN" b="0" dirty="0"/>
          </a:p>
          <a:p>
            <a:r>
              <a:rPr lang="en-US" altLang="zh-CN" b="0" dirty="0"/>
              <a:t>		</a:t>
            </a:r>
            <a:r>
              <a:rPr lang="en-US" altLang="zh-CN" b="0" dirty="0" err="1"/>
              <a:t>MidNode</a:t>
            </a:r>
            <a:r>
              <a:rPr lang="en-US" altLang="zh-CN" b="0" dirty="0"/>
              <a:t>(path[</a:t>
            </a:r>
            <a:r>
              <a:rPr lang="en-US" altLang="zh-CN" b="0" dirty="0" err="1"/>
              <a:t>i</a:t>
            </a:r>
            <a:r>
              <a:rPr lang="en-US" altLang="zh-CN" b="0" dirty="0"/>
              <a:t>][j], j, path);</a:t>
            </a:r>
            <a:endParaRPr lang="zh-CN" altLang="zh-CN" b="0" dirty="0"/>
          </a:p>
          <a:p>
            <a:r>
              <a:rPr lang="en-US" altLang="zh-CN" b="0" dirty="0"/>
              <a:t>	}</a:t>
            </a:r>
            <a:endParaRPr lang="zh-CN" altLang="zh-CN" b="0" dirty="0"/>
          </a:p>
          <a:p>
            <a:r>
              <a:rPr lang="en-US" altLang="zh-CN" b="0" dirty="0"/>
              <a:t>}</a:t>
            </a:r>
            <a:endParaRPr lang="zh-CN" altLang="zh-CN" b="0" dirty="0"/>
          </a:p>
          <a:p>
            <a:r>
              <a:rPr lang="en-US" altLang="zh-CN" b="0" dirty="0"/>
              <a:t>void </a:t>
            </a:r>
            <a:r>
              <a:rPr lang="en-US" altLang="zh-CN" b="0" dirty="0" err="1"/>
              <a:t>Output_AllPaths</a:t>
            </a:r>
            <a:r>
              <a:rPr lang="en-US" altLang="zh-CN" b="0" dirty="0"/>
              <a:t>(</a:t>
            </a:r>
            <a:r>
              <a:rPr lang="en-US" altLang="zh-CN" b="0" dirty="0" err="1"/>
              <a:t>int</a:t>
            </a:r>
            <a:r>
              <a:rPr lang="en-US" altLang="zh-CN" b="0" dirty="0"/>
              <a:t> n, </a:t>
            </a:r>
            <a:r>
              <a:rPr lang="en-US" altLang="zh-CN" b="0" dirty="0" err="1"/>
              <a:t>int</a:t>
            </a:r>
            <a:r>
              <a:rPr lang="en-US" altLang="zh-CN" b="0" dirty="0"/>
              <a:t> **path){ //</a:t>
            </a:r>
            <a:r>
              <a:rPr lang="zh-CN" altLang="zh-CN" b="0" dirty="0"/>
              <a:t>输出任意对顶点之间的最短路径</a:t>
            </a:r>
          </a:p>
          <a:p>
            <a:r>
              <a:rPr lang="en-US" altLang="zh-CN" b="0" dirty="0"/>
              <a:t>	for (</a:t>
            </a:r>
            <a:r>
              <a:rPr lang="en-US" altLang="zh-CN" b="0" dirty="0" err="1"/>
              <a:t>int</a:t>
            </a:r>
            <a:r>
              <a:rPr lang="en-US" altLang="zh-CN" b="0" dirty="0"/>
              <a:t> </a:t>
            </a:r>
            <a:r>
              <a:rPr lang="en-US" altLang="zh-CN" b="0" dirty="0" err="1"/>
              <a:t>i</a:t>
            </a:r>
            <a:r>
              <a:rPr lang="en-US" altLang="zh-CN" b="0" dirty="0"/>
              <a:t> = 0; </a:t>
            </a:r>
            <a:r>
              <a:rPr lang="en-US" altLang="zh-CN" b="0" dirty="0" err="1"/>
              <a:t>i</a:t>
            </a:r>
            <a:r>
              <a:rPr lang="en-US" altLang="zh-CN" b="0" dirty="0"/>
              <a:t> &lt; n; </a:t>
            </a:r>
            <a:r>
              <a:rPr lang="en-US" altLang="zh-CN" b="0" dirty="0" err="1"/>
              <a:t>i</a:t>
            </a:r>
            <a:r>
              <a:rPr lang="en-US" altLang="zh-CN" b="0" dirty="0"/>
              <a:t>++)</a:t>
            </a:r>
            <a:endParaRPr lang="zh-CN" altLang="zh-CN" b="0" dirty="0"/>
          </a:p>
          <a:p>
            <a:r>
              <a:rPr lang="en-US" altLang="zh-CN" b="0" dirty="0"/>
              <a:t>		for (</a:t>
            </a:r>
            <a:r>
              <a:rPr lang="en-US" altLang="zh-CN" b="0" dirty="0" err="1"/>
              <a:t>int</a:t>
            </a:r>
            <a:r>
              <a:rPr lang="en-US" altLang="zh-CN" b="0" dirty="0"/>
              <a:t> j = 0; j &lt; n; </a:t>
            </a:r>
            <a:r>
              <a:rPr lang="en-US" altLang="zh-CN" b="0" dirty="0" err="1"/>
              <a:t>j++</a:t>
            </a:r>
            <a:r>
              <a:rPr lang="en-US" altLang="zh-CN" b="0" dirty="0"/>
              <a:t>)</a:t>
            </a:r>
            <a:endParaRPr lang="zh-CN" altLang="zh-CN" b="0" dirty="0"/>
          </a:p>
          <a:p>
            <a:r>
              <a:rPr lang="en-US" altLang="zh-CN" b="0" dirty="0"/>
              <a:t>			if (</a:t>
            </a:r>
            <a:r>
              <a:rPr lang="en-US" altLang="zh-CN" b="0" dirty="0" err="1"/>
              <a:t>i</a:t>
            </a:r>
            <a:r>
              <a:rPr lang="en-US" altLang="zh-CN" b="0" dirty="0"/>
              <a:t> != j &amp;&amp; path[</a:t>
            </a:r>
            <a:r>
              <a:rPr lang="en-US" altLang="zh-CN" b="0" dirty="0" err="1"/>
              <a:t>i</a:t>
            </a:r>
            <a:r>
              <a:rPr lang="en-US" altLang="zh-CN" b="0" dirty="0"/>
              <a:t>][j] != -1){</a:t>
            </a:r>
            <a:endParaRPr lang="zh-CN" altLang="zh-CN" b="0" dirty="0"/>
          </a:p>
          <a:p>
            <a:r>
              <a:rPr lang="en-US" altLang="zh-CN" b="0" dirty="0"/>
              <a:t>				</a:t>
            </a:r>
            <a:r>
              <a:rPr lang="en-US" altLang="zh-CN" b="0" dirty="0" err="1"/>
              <a:t>cout</a:t>
            </a:r>
            <a:r>
              <a:rPr lang="en-US" altLang="zh-CN" b="0" dirty="0"/>
              <a:t> &lt;&lt; </a:t>
            </a:r>
            <a:r>
              <a:rPr lang="en-US" altLang="zh-CN" b="0" dirty="0" err="1"/>
              <a:t>i</a:t>
            </a:r>
            <a:r>
              <a:rPr lang="en-US" altLang="zh-CN" b="0" dirty="0"/>
              <a:t> &lt;&lt; "-&gt;";</a:t>
            </a:r>
            <a:endParaRPr lang="zh-CN" altLang="zh-CN" b="0" dirty="0"/>
          </a:p>
          <a:p>
            <a:r>
              <a:rPr lang="en-US" altLang="zh-CN" b="0" dirty="0"/>
              <a:t>				</a:t>
            </a:r>
            <a:r>
              <a:rPr lang="en-US" altLang="zh-CN" b="0" dirty="0" err="1"/>
              <a:t>MidNode</a:t>
            </a:r>
            <a:r>
              <a:rPr lang="en-US" altLang="zh-CN" b="0" dirty="0"/>
              <a:t>(</a:t>
            </a:r>
            <a:r>
              <a:rPr lang="en-US" altLang="zh-CN" b="0" dirty="0" err="1"/>
              <a:t>i</a:t>
            </a:r>
            <a:r>
              <a:rPr lang="en-US" altLang="zh-CN" b="0" dirty="0"/>
              <a:t>, j, path);</a:t>
            </a:r>
            <a:endParaRPr lang="zh-CN" altLang="zh-CN" b="0" dirty="0"/>
          </a:p>
          <a:p>
            <a:r>
              <a:rPr lang="en-US" altLang="zh-CN" b="0" dirty="0"/>
              <a:t>				</a:t>
            </a:r>
            <a:r>
              <a:rPr lang="en-US" altLang="zh-CN" b="0" dirty="0" err="1"/>
              <a:t>cout</a:t>
            </a:r>
            <a:r>
              <a:rPr lang="en-US" altLang="zh-CN" b="0" dirty="0"/>
              <a:t> &lt;&lt; j &lt;&lt; </a:t>
            </a:r>
            <a:r>
              <a:rPr lang="en-US" altLang="zh-CN" b="0" dirty="0" err="1"/>
              <a:t>endl</a:t>
            </a:r>
            <a:r>
              <a:rPr lang="en-US" altLang="zh-CN" b="0" dirty="0"/>
              <a:t>;</a:t>
            </a:r>
            <a:endParaRPr lang="zh-CN" altLang="zh-CN" b="0" dirty="0"/>
          </a:p>
          <a:p>
            <a:r>
              <a:rPr lang="en-US" altLang="zh-CN" b="0" dirty="0"/>
              <a:t>			} else </a:t>
            </a:r>
            <a:r>
              <a:rPr lang="en-US" altLang="zh-CN" b="0" dirty="0" err="1"/>
              <a:t>cout</a:t>
            </a:r>
            <a:r>
              <a:rPr lang="en-US" altLang="zh-CN" b="0" dirty="0"/>
              <a:t> &lt;&lt; </a:t>
            </a:r>
            <a:r>
              <a:rPr lang="en-US" altLang="zh-CN" b="0" dirty="0" err="1"/>
              <a:t>i</a:t>
            </a:r>
            <a:r>
              <a:rPr lang="en-US" altLang="zh-CN" b="0" dirty="0"/>
              <a:t> &lt;&lt; "-&gt;"&lt;&lt; j &lt;&lt; "</a:t>
            </a:r>
            <a:r>
              <a:rPr lang="zh-CN" altLang="zh-CN" b="0" dirty="0"/>
              <a:t>之间无路径可达！</a:t>
            </a:r>
            <a:r>
              <a:rPr lang="en-US" altLang="zh-CN" b="0" dirty="0"/>
              <a:t>" &lt;&lt; </a:t>
            </a:r>
            <a:r>
              <a:rPr lang="en-US" altLang="zh-CN" b="0" dirty="0" err="1"/>
              <a:t>endl</a:t>
            </a:r>
            <a:r>
              <a:rPr lang="en-US" altLang="zh-CN" b="0" dirty="0"/>
              <a:t>;</a:t>
            </a:r>
            <a:endParaRPr lang="zh-CN" altLang="zh-CN" b="0" dirty="0"/>
          </a:p>
          <a:p>
            <a:r>
              <a:rPr lang="en-US" altLang="zh-CN" b="0" dirty="0"/>
              <a:t>}</a:t>
            </a:r>
            <a:endParaRPr lang="zh-CN" altLang="zh-CN" b="0" dirty="0"/>
          </a:p>
          <a:p>
            <a:endParaRPr lang="zh-CN" altLang="en-US" dirty="0"/>
          </a:p>
        </p:txBody>
      </p:sp>
    </p:spTree>
    <p:extLst>
      <p:ext uri="{BB962C8B-B14F-4D97-AF65-F5344CB8AC3E}">
        <p14:creationId xmlns:p14="http://schemas.microsoft.com/office/powerpoint/2010/main" val="346188585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7520940" cy="5544616"/>
          </a:xfrm>
        </p:spPr>
        <p:txBody>
          <a:bodyPr>
            <a:normAutofit fontScale="70000" lnSpcReduction="20000"/>
          </a:bodyPr>
          <a:lstStyle/>
          <a:p>
            <a:pPr>
              <a:spcBef>
                <a:spcPts val="0"/>
              </a:spcBef>
            </a:pPr>
            <a:r>
              <a:rPr lang="en-US" altLang="zh-CN" dirty="0"/>
              <a:t>//</a:t>
            </a:r>
            <a:r>
              <a:rPr lang="zh-CN" altLang="zh-CN" dirty="0"/>
              <a:t>用</a:t>
            </a:r>
            <a:r>
              <a:rPr lang="en-US" altLang="zh-CN" dirty="0"/>
              <a:t>Floyd</a:t>
            </a:r>
            <a:r>
              <a:rPr lang="zh-CN" altLang="zh-CN" dirty="0"/>
              <a:t>算法求带权有向图</a:t>
            </a:r>
            <a:r>
              <a:rPr lang="en-US" altLang="zh-CN" dirty="0"/>
              <a:t>G</a:t>
            </a:r>
            <a:r>
              <a:rPr lang="zh-CN" altLang="zh-CN" dirty="0"/>
              <a:t>的任意对顶点之间的最短路径和路径长度</a:t>
            </a:r>
          </a:p>
          <a:p>
            <a:pPr>
              <a:spcBef>
                <a:spcPts val="0"/>
              </a:spcBef>
            </a:pPr>
            <a:r>
              <a:rPr lang="en-US" altLang="zh-CN" b="0" dirty="0"/>
              <a:t>void Floyd(Graph&amp; G, </a:t>
            </a:r>
            <a:r>
              <a:rPr lang="en-US" altLang="zh-CN" b="0" dirty="0" err="1"/>
              <a:t>int</a:t>
            </a:r>
            <a:r>
              <a:rPr lang="en-US" altLang="zh-CN" b="0" dirty="0"/>
              <a:t> **</a:t>
            </a:r>
            <a:r>
              <a:rPr lang="en-US" altLang="zh-CN" b="0" dirty="0" err="1"/>
              <a:t>dist</a:t>
            </a:r>
            <a:r>
              <a:rPr lang="en-US" altLang="zh-CN" b="0" dirty="0"/>
              <a:t>, </a:t>
            </a:r>
            <a:r>
              <a:rPr lang="en-US" altLang="zh-CN" b="0" dirty="0" err="1"/>
              <a:t>int</a:t>
            </a:r>
            <a:r>
              <a:rPr lang="en-US" altLang="zh-CN" b="0" dirty="0"/>
              <a:t> **path){</a:t>
            </a:r>
            <a:endParaRPr lang="zh-CN" altLang="zh-CN" b="0" dirty="0"/>
          </a:p>
          <a:p>
            <a:pPr>
              <a:spcBef>
                <a:spcPts val="0"/>
              </a:spcBef>
            </a:pPr>
            <a:r>
              <a:rPr lang="en-US" altLang="zh-CN" b="0" dirty="0"/>
              <a:t>    </a:t>
            </a:r>
            <a:r>
              <a:rPr lang="en-US" altLang="zh-CN" b="0" dirty="0" err="1"/>
              <a:t>int</a:t>
            </a:r>
            <a:r>
              <a:rPr lang="en-US" altLang="zh-CN" b="0" dirty="0"/>
              <a:t> </a:t>
            </a:r>
            <a:r>
              <a:rPr lang="en-US" altLang="zh-CN" b="0" dirty="0" err="1"/>
              <a:t>i,j,k,n</a:t>
            </a:r>
            <a:r>
              <a:rPr lang="en-US" altLang="zh-CN" b="0" dirty="0"/>
              <a:t> = </a:t>
            </a:r>
            <a:r>
              <a:rPr lang="en-US" altLang="zh-CN" b="0" dirty="0" err="1"/>
              <a:t>G.VerticesNum</a:t>
            </a:r>
            <a:r>
              <a:rPr lang="en-US" altLang="zh-CN" b="0" dirty="0"/>
              <a:t>();</a:t>
            </a:r>
            <a:endParaRPr lang="zh-CN" altLang="zh-CN" b="0" dirty="0"/>
          </a:p>
          <a:p>
            <a:pPr>
              <a:spcBef>
                <a:spcPts val="0"/>
              </a:spcBef>
            </a:pPr>
            <a:r>
              <a:rPr lang="en-US" altLang="zh-CN" b="0" dirty="0"/>
              <a:t>    for(</a:t>
            </a:r>
            <a:r>
              <a:rPr lang="en-US" altLang="zh-CN" b="0" dirty="0" err="1"/>
              <a:t>i</a:t>
            </a:r>
            <a:r>
              <a:rPr lang="en-US" altLang="zh-CN" b="0" dirty="0"/>
              <a:t> = 0; </a:t>
            </a:r>
            <a:r>
              <a:rPr lang="en-US" altLang="zh-CN" b="0" dirty="0" err="1"/>
              <a:t>i</a:t>
            </a:r>
            <a:r>
              <a:rPr lang="en-US" altLang="zh-CN" b="0" dirty="0"/>
              <a:t> &lt; n; </a:t>
            </a:r>
            <a:r>
              <a:rPr lang="en-US" altLang="zh-CN" b="0" dirty="0" err="1"/>
              <a:t>i</a:t>
            </a:r>
            <a:r>
              <a:rPr lang="en-US" altLang="zh-CN" b="0" dirty="0"/>
              <a:t>++)          //</a:t>
            </a:r>
            <a:r>
              <a:rPr lang="zh-CN" altLang="zh-CN" b="0" dirty="0"/>
              <a:t>初始化</a:t>
            </a:r>
            <a:r>
              <a:rPr lang="en-US" altLang="zh-CN" b="0" dirty="0" err="1"/>
              <a:t>dist</a:t>
            </a:r>
            <a:r>
              <a:rPr lang="zh-CN" altLang="zh-CN" b="0" dirty="0"/>
              <a:t>、</a:t>
            </a:r>
            <a:r>
              <a:rPr lang="en-US" altLang="zh-CN" b="0" dirty="0"/>
              <a:t>pre</a:t>
            </a:r>
            <a:endParaRPr lang="zh-CN" altLang="zh-CN" b="0" dirty="0"/>
          </a:p>
          <a:p>
            <a:pPr>
              <a:spcBef>
                <a:spcPts val="0"/>
              </a:spcBef>
            </a:pPr>
            <a:r>
              <a:rPr lang="en-US" altLang="zh-CN" b="0" dirty="0"/>
              <a:t>        for(j = 0; j &lt; n; </a:t>
            </a:r>
            <a:r>
              <a:rPr lang="en-US" altLang="zh-CN" b="0" dirty="0" err="1"/>
              <a:t>j++</a:t>
            </a:r>
            <a:r>
              <a:rPr lang="en-US" altLang="zh-CN" b="0" dirty="0"/>
              <a:t>){</a:t>
            </a:r>
            <a:endParaRPr lang="zh-CN" altLang="zh-CN" b="0" dirty="0"/>
          </a:p>
          <a:p>
            <a:pPr>
              <a:spcBef>
                <a:spcPts val="0"/>
              </a:spcBef>
            </a:pPr>
            <a:r>
              <a:rPr lang="en-US" altLang="zh-CN" b="0" dirty="0"/>
              <a:t>            if(</a:t>
            </a:r>
            <a:r>
              <a:rPr lang="en-US" altLang="zh-CN" b="0" dirty="0" err="1"/>
              <a:t>i</a:t>
            </a:r>
            <a:r>
              <a:rPr lang="en-US" altLang="zh-CN" b="0" dirty="0"/>
              <a:t> != j &amp;&amp; </a:t>
            </a:r>
            <a:r>
              <a:rPr lang="en-US" altLang="zh-CN" b="0" dirty="0" err="1"/>
              <a:t>G.weight</a:t>
            </a:r>
            <a:r>
              <a:rPr lang="en-US" altLang="zh-CN" b="0" dirty="0"/>
              <a:t>(</a:t>
            </a:r>
            <a:r>
              <a:rPr lang="en-US" altLang="zh-CN" b="0" dirty="0" err="1"/>
              <a:t>i,j</a:t>
            </a:r>
            <a:r>
              <a:rPr lang="en-US" altLang="zh-CN" b="0" dirty="0"/>
              <a:t>) == 0) </a:t>
            </a:r>
            <a:r>
              <a:rPr lang="en-US" altLang="zh-CN" b="0" dirty="0" err="1"/>
              <a:t>dist</a:t>
            </a:r>
            <a:r>
              <a:rPr lang="en-US" altLang="zh-CN" b="0" dirty="0"/>
              <a:t>[</a:t>
            </a:r>
            <a:r>
              <a:rPr lang="en-US" altLang="zh-CN" b="0" dirty="0" err="1"/>
              <a:t>i</a:t>
            </a:r>
            <a:r>
              <a:rPr lang="en-US" altLang="zh-CN" b="0" dirty="0"/>
              <a:t>][j] = </a:t>
            </a:r>
            <a:r>
              <a:rPr lang="en-US" altLang="zh-CN" b="0" dirty="0" err="1"/>
              <a:t>maxValue</a:t>
            </a:r>
            <a:r>
              <a:rPr lang="en-US" altLang="zh-CN" b="0" dirty="0"/>
              <a:t>;</a:t>
            </a:r>
            <a:endParaRPr lang="zh-CN" altLang="zh-CN" b="0" dirty="0"/>
          </a:p>
          <a:p>
            <a:pPr>
              <a:spcBef>
                <a:spcPts val="0"/>
              </a:spcBef>
            </a:pPr>
            <a:r>
              <a:rPr lang="en-US" altLang="zh-CN" b="0" dirty="0"/>
              <a:t>            else </a:t>
            </a:r>
            <a:r>
              <a:rPr lang="en-US" altLang="zh-CN" b="0" dirty="0" err="1"/>
              <a:t>dist</a:t>
            </a:r>
            <a:r>
              <a:rPr lang="en-US" altLang="zh-CN" b="0" dirty="0"/>
              <a:t>[</a:t>
            </a:r>
            <a:r>
              <a:rPr lang="en-US" altLang="zh-CN" b="0" dirty="0" err="1"/>
              <a:t>i</a:t>
            </a:r>
            <a:r>
              <a:rPr lang="en-US" altLang="zh-CN" b="0" dirty="0"/>
              <a:t>][j] = </a:t>
            </a:r>
            <a:r>
              <a:rPr lang="en-US" altLang="zh-CN" b="0" dirty="0" err="1"/>
              <a:t>G.weight</a:t>
            </a:r>
            <a:r>
              <a:rPr lang="en-US" altLang="zh-CN" b="0" dirty="0"/>
              <a:t>(</a:t>
            </a:r>
            <a:r>
              <a:rPr lang="en-US" altLang="zh-CN" b="0" dirty="0" err="1"/>
              <a:t>i,j</a:t>
            </a:r>
            <a:r>
              <a:rPr lang="en-US" altLang="zh-CN" b="0" dirty="0"/>
              <a:t>);</a:t>
            </a:r>
            <a:endParaRPr lang="zh-CN" altLang="zh-CN" b="0" dirty="0"/>
          </a:p>
          <a:p>
            <a:pPr>
              <a:spcBef>
                <a:spcPts val="0"/>
              </a:spcBef>
            </a:pPr>
            <a:r>
              <a:rPr lang="en-US" altLang="zh-CN" b="0" dirty="0"/>
              <a:t>            if(</a:t>
            </a:r>
            <a:r>
              <a:rPr lang="en-US" altLang="zh-CN" b="0" dirty="0" err="1"/>
              <a:t>i</a:t>
            </a:r>
            <a:r>
              <a:rPr lang="en-US" altLang="zh-CN" b="0" dirty="0"/>
              <a:t> != j &amp;&amp; </a:t>
            </a:r>
            <a:r>
              <a:rPr lang="en-US" altLang="zh-CN" b="0" dirty="0" err="1"/>
              <a:t>dist</a:t>
            </a:r>
            <a:r>
              <a:rPr lang="en-US" altLang="zh-CN" b="0" dirty="0"/>
              <a:t>[</a:t>
            </a:r>
            <a:r>
              <a:rPr lang="en-US" altLang="zh-CN" b="0" dirty="0" err="1"/>
              <a:t>i</a:t>
            </a:r>
            <a:r>
              <a:rPr lang="en-US" altLang="zh-CN" b="0" dirty="0"/>
              <a:t>][j] &lt; </a:t>
            </a:r>
            <a:r>
              <a:rPr lang="en-US" altLang="zh-CN" b="0" dirty="0" err="1"/>
              <a:t>maxValue</a:t>
            </a:r>
            <a:r>
              <a:rPr lang="en-US" altLang="zh-CN" b="0" dirty="0"/>
              <a:t>) path[</a:t>
            </a:r>
            <a:r>
              <a:rPr lang="en-US" altLang="zh-CN" b="0" dirty="0" err="1"/>
              <a:t>i</a:t>
            </a:r>
            <a:r>
              <a:rPr lang="en-US" altLang="zh-CN" b="0" dirty="0"/>
              <a:t>][j] = </a:t>
            </a:r>
            <a:r>
              <a:rPr lang="en-US" altLang="zh-CN" b="0" dirty="0" err="1"/>
              <a:t>i</a:t>
            </a:r>
            <a:r>
              <a:rPr lang="en-US" altLang="zh-CN" b="0" dirty="0"/>
              <a:t>;</a:t>
            </a:r>
            <a:endParaRPr lang="zh-CN" altLang="zh-CN" b="0" dirty="0"/>
          </a:p>
          <a:p>
            <a:pPr>
              <a:spcBef>
                <a:spcPts val="0"/>
              </a:spcBef>
            </a:pPr>
            <a:r>
              <a:rPr lang="en-US" altLang="zh-CN" b="0" dirty="0"/>
              <a:t>            else path[</a:t>
            </a:r>
            <a:r>
              <a:rPr lang="en-US" altLang="zh-CN" b="0" dirty="0" err="1"/>
              <a:t>i</a:t>
            </a:r>
            <a:r>
              <a:rPr lang="en-US" altLang="zh-CN" b="0" dirty="0"/>
              <a:t>][j] = -1;</a:t>
            </a:r>
            <a:endParaRPr lang="zh-CN" altLang="zh-CN" b="0" dirty="0"/>
          </a:p>
          <a:p>
            <a:pPr>
              <a:spcBef>
                <a:spcPts val="0"/>
              </a:spcBef>
            </a:pPr>
            <a:r>
              <a:rPr lang="en-US" altLang="zh-CN" b="0" dirty="0"/>
              <a:t>        }</a:t>
            </a:r>
            <a:endParaRPr lang="zh-CN" altLang="zh-CN" b="0" dirty="0"/>
          </a:p>
          <a:p>
            <a:pPr>
              <a:spcBef>
                <a:spcPts val="0"/>
              </a:spcBef>
            </a:pPr>
            <a:r>
              <a:rPr lang="en-US" altLang="zh-CN" b="0" dirty="0"/>
              <a:t>    for(k = 0; k &lt; n; k++){			//k</a:t>
            </a:r>
            <a:r>
              <a:rPr lang="zh-CN" altLang="zh-CN" b="0" dirty="0"/>
              <a:t>为中间过渡点</a:t>
            </a:r>
          </a:p>
          <a:p>
            <a:pPr>
              <a:spcBef>
                <a:spcPts val="0"/>
              </a:spcBef>
            </a:pPr>
            <a:r>
              <a:rPr lang="en-US" altLang="zh-CN" b="0" dirty="0"/>
              <a:t>        for(</a:t>
            </a:r>
            <a:r>
              <a:rPr lang="en-US" altLang="zh-CN" b="0" dirty="0" err="1"/>
              <a:t>i</a:t>
            </a:r>
            <a:r>
              <a:rPr lang="en-US" altLang="zh-CN" b="0" dirty="0"/>
              <a:t> = 0; </a:t>
            </a:r>
            <a:r>
              <a:rPr lang="en-US" altLang="zh-CN" b="0" dirty="0" err="1"/>
              <a:t>i</a:t>
            </a:r>
            <a:r>
              <a:rPr lang="en-US" altLang="zh-CN" b="0" dirty="0"/>
              <a:t> &lt; n; </a:t>
            </a:r>
            <a:r>
              <a:rPr lang="en-US" altLang="zh-CN" b="0" dirty="0" err="1"/>
              <a:t>i</a:t>
            </a:r>
            <a:r>
              <a:rPr lang="en-US" altLang="zh-CN" b="0" dirty="0"/>
              <a:t>++)</a:t>
            </a:r>
            <a:endParaRPr lang="zh-CN" altLang="zh-CN" b="0" dirty="0"/>
          </a:p>
          <a:p>
            <a:pPr>
              <a:spcBef>
                <a:spcPts val="0"/>
              </a:spcBef>
            </a:pPr>
            <a:r>
              <a:rPr lang="en-US" altLang="zh-CN" b="0" dirty="0"/>
              <a:t>            for(j = 0; j &lt; n; </a:t>
            </a:r>
            <a:r>
              <a:rPr lang="en-US" altLang="zh-CN" b="0" dirty="0" err="1"/>
              <a:t>j++</a:t>
            </a:r>
            <a:r>
              <a:rPr lang="en-US" altLang="zh-CN" b="0" dirty="0"/>
              <a:t>){</a:t>
            </a:r>
            <a:endParaRPr lang="zh-CN" altLang="zh-CN" b="0" dirty="0"/>
          </a:p>
          <a:p>
            <a:pPr>
              <a:spcBef>
                <a:spcPts val="0"/>
              </a:spcBef>
            </a:pPr>
            <a:r>
              <a:rPr lang="en-US" altLang="zh-CN" b="0" dirty="0"/>
              <a:t>                if (</a:t>
            </a:r>
            <a:r>
              <a:rPr lang="en-US" altLang="zh-CN" b="0" dirty="0" err="1"/>
              <a:t>dist</a:t>
            </a:r>
            <a:r>
              <a:rPr lang="en-US" altLang="zh-CN" b="0" dirty="0"/>
              <a:t>[</a:t>
            </a:r>
            <a:r>
              <a:rPr lang="en-US" altLang="zh-CN" b="0" dirty="0" err="1"/>
              <a:t>i</a:t>
            </a:r>
            <a:r>
              <a:rPr lang="en-US" altLang="zh-CN" b="0" dirty="0"/>
              <a:t>][k] + </a:t>
            </a:r>
            <a:r>
              <a:rPr lang="en-US" altLang="zh-CN" b="0" dirty="0" err="1"/>
              <a:t>dist</a:t>
            </a:r>
            <a:r>
              <a:rPr lang="en-US" altLang="zh-CN" b="0" dirty="0"/>
              <a:t>[k][j] &lt; </a:t>
            </a:r>
            <a:r>
              <a:rPr lang="en-US" altLang="zh-CN" b="0" dirty="0" err="1"/>
              <a:t>dist</a:t>
            </a:r>
            <a:r>
              <a:rPr lang="en-US" altLang="zh-CN" b="0" dirty="0"/>
              <a:t>[</a:t>
            </a:r>
            <a:r>
              <a:rPr lang="en-US" altLang="zh-CN" b="0" dirty="0" err="1"/>
              <a:t>i</a:t>
            </a:r>
            <a:r>
              <a:rPr lang="en-US" altLang="zh-CN" b="0" dirty="0"/>
              <a:t>][j]){</a:t>
            </a:r>
            <a:endParaRPr lang="zh-CN" altLang="zh-CN" b="0" dirty="0"/>
          </a:p>
          <a:p>
            <a:pPr>
              <a:spcBef>
                <a:spcPts val="0"/>
              </a:spcBef>
            </a:pPr>
            <a:r>
              <a:rPr lang="en-US" altLang="zh-CN" b="0" dirty="0"/>
              <a:t>                    </a:t>
            </a:r>
            <a:r>
              <a:rPr lang="en-US" altLang="zh-CN" b="0" dirty="0" err="1"/>
              <a:t>dist</a:t>
            </a:r>
            <a:r>
              <a:rPr lang="en-US" altLang="zh-CN" b="0" dirty="0"/>
              <a:t>[</a:t>
            </a:r>
            <a:r>
              <a:rPr lang="en-US" altLang="zh-CN" b="0" dirty="0" err="1"/>
              <a:t>i</a:t>
            </a:r>
            <a:r>
              <a:rPr lang="en-US" altLang="zh-CN" b="0" dirty="0"/>
              <a:t>][j] = </a:t>
            </a:r>
            <a:r>
              <a:rPr lang="en-US" altLang="zh-CN" b="0" dirty="0" err="1"/>
              <a:t>dist</a:t>
            </a:r>
            <a:r>
              <a:rPr lang="en-US" altLang="zh-CN" b="0" dirty="0"/>
              <a:t>[</a:t>
            </a:r>
            <a:r>
              <a:rPr lang="en-US" altLang="zh-CN" b="0" dirty="0" err="1"/>
              <a:t>i</a:t>
            </a:r>
            <a:r>
              <a:rPr lang="en-US" altLang="zh-CN" b="0" dirty="0"/>
              <a:t>][k] + </a:t>
            </a:r>
            <a:r>
              <a:rPr lang="en-US" altLang="zh-CN" b="0" dirty="0" err="1"/>
              <a:t>dist</a:t>
            </a:r>
            <a:r>
              <a:rPr lang="en-US" altLang="zh-CN" b="0" dirty="0"/>
              <a:t>[k][j];</a:t>
            </a:r>
            <a:endParaRPr lang="zh-CN" altLang="zh-CN" b="0" dirty="0"/>
          </a:p>
          <a:p>
            <a:pPr>
              <a:spcBef>
                <a:spcPts val="0"/>
              </a:spcBef>
            </a:pPr>
            <a:r>
              <a:rPr lang="en-US" altLang="zh-CN" b="0" dirty="0"/>
              <a:t>                    path[</a:t>
            </a:r>
            <a:r>
              <a:rPr lang="en-US" altLang="zh-CN" b="0" dirty="0" err="1"/>
              <a:t>i</a:t>
            </a:r>
            <a:r>
              <a:rPr lang="en-US" altLang="zh-CN" b="0" dirty="0"/>
              <a:t>][j] = k;</a:t>
            </a:r>
            <a:endParaRPr lang="zh-CN" altLang="zh-CN" b="0" dirty="0"/>
          </a:p>
          <a:p>
            <a:pPr>
              <a:spcBef>
                <a:spcPts val="0"/>
              </a:spcBef>
            </a:pPr>
            <a:r>
              <a:rPr lang="en-US" altLang="zh-CN" b="0" dirty="0"/>
              <a:t>                }</a:t>
            </a:r>
            <a:endParaRPr lang="zh-CN" altLang="zh-CN" b="0" dirty="0"/>
          </a:p>
          <a:p>
            <a:pPr>
              <a:spcBef>
                <a:spcPts val="0"/>
              </a:spcBef>
            </a:pPr>
            <a:r>
              <a:rPr lang="en-US" altLang="zh-CN" b="0" dirty="0"/>
              <a:t>            }</a:t>
            </a:r>
            <a:endParaRPr lang="zh-CN" altLang="zh-CN" b="0" dirty="0"/>
          </a:p>
          <a:p>
            <a:pPr>
              <a:spcBef>
                <a:spcPts val="0"/>
              </a:spcBef>
            </a:pPr>
            <a:r>
              <a:rPr lang="en-US" altLang="zh-CN" b="0" dirty="0"/>
              <a:t>    }</a:t>
            </a:r>
            <a:endParaRPr lang="zh-CN" altLang="zh-CN" b="0" dirty="0"/>
          </a:p>
          <a:p>
            <a:pPr>
              <a:spcBef>
                <a:spcPts val="0"/>
              </a:spcBef>
            </a:pPr>
            <a:r>
              <a:rPr lang="en-US" altLang="zh-CN" b="0" dirty="0"/>
              <a:t>	</a:t>
            </a:r>
            <a:r>
              <a:rPr lang="en-US" altLang="zh-CN" b="0" dirty="0" err="1"/>
              <a:t>Output_AllPaths</a:t>
            </a:r>
            <a:r>
              <a:rPr lang="en-US" altLang="zh-CN" b="0" dirty="0"/>
              <a:t>(n, path);		// </a:t>
            </a:r>
            <a:r>
              <a:rPr lang="zh-CN" altLang="zh-CN" b="0" dirty="0"/>
              <a:t>输出任意对顶点之间的最短路径</a:t>
            </a:r>
          </a:p>
          <a:p>
            <a:pPr>
              <a:spcBef>
                <a:spcPts val="0"/>
              </a:spcBef>
            </a:pPr>
            <a:r>
              <a:rPr lang="en-US" altLang="zh-CN" b="0" dirty="0"/>
              <a:t>}</a:t>
            </a:r>
            <a:endParaRPr lang="zh-CN" altLang="zh-CN" b="0" dirty="0"/>
          </a:p>
          <a:p>
            <a:pPr>
              <a:spcBef>
                <a:spcPts val="0"/>
              </a:spcBef>
            </a:pPr>
            <a:endParaRPr lang="zh-CN" altLang="en-US" dirty="0"/>
          </a:p>
        </p:txBody>
      </p:sp>
    </p:spTree>
    <p:extLst>
      <p:ext uri="{BB962C8B-B14F-4D97-AF65-F5344CB8AC3E}">
        <p14:creationId xmlns:p14="http://schemas.microsoft.com/office/powerpoint/2010/main" val="299870501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246472"/>
            <a:ext cx="7520940" cy="3579849"/>
          </a:xfrm>
        </p:spPr>
        <p:txBody>
          <a:bodyPr/>
          <a:lstStyle/>
          <a:p>
            <a:r>
              <a:rPr lang="en-US" altLang="zh-CN" b="0" dirty="0"/>
              <a:t>	</a:t>
            </a:r>
            <a:r>
              <a:rPr lang="zh-CN" altLang="zh-CN" b="0" dirty="0"/>
              <a:t>对于图</a:t>
            </a:r>
            <a:r>
              <a:rPr lang="en-US" altLang="zh-CN" b="0" dirty="0"/>
              <a:t>6-34</a:t>
            </a:r>
            <a:r>
              <a:rPr lang="zh-CN" altLang="zh-CN" b="0" dirty="0"/>
              <a:t>所示的带权有向图，利用</a:t>
            </a:r>
            <a:r>
              <a:rPr lang="en-US" altLang="zh-CN" b="0" dirty="0"/>
              <a:t>Floyd</a:t>
            </a:r>
            <a:r>
              <a:rPr lang="zh-CN" altLang="zh-CN" b="0" dirty="0"/>
              <a:t>算法求出每对顶点之间的最短路径及其路径长度，在求解过程中，二维数组</a:t>
            </a:r>
            <a:r>
              <a:rPr lang="en-US" altLang="zh-CN" b="0" dirty="0" err="1"/>
              <a:t>dist</a:t>
            </a:r>
            <a:r>
              <a:rPr lang="zh-CN" altLang="zh-CN" b="0" dirty="0"/>
              <a:t>和</a:t>
            </a:r>
            <a:r>
              <a:rPr lang="en-US" altLang="zh-CN" b="0" dirty="0"/>
              <a:t>path</a:t>
            </a:r>
            <a:r>
              <a:rPr lang="zh-CN" altLang="zh-CN" b="0" dirty="0"/>
              <a:t>中各个分量的变化情况如表</a:t>
            </a:r>
            <a:r>
              <a:rPr lang="en-US" altLang="zh-CN" b="0" dirty="0"/>
              <a:t>6-6</a:t>
            </a:r>
            <a:r>
              <a:rPr lang="zh-CN" altLang="zh-CN" b="0" dirty="0"/>
              <a:t>所示。</a:t>
            </a:r>
            <a:endParaRPr lang="zh-CN" altLang="en-US" b="0" dirty="0"/>
          </a:p>
        </p:txBody>
      </p:sp>
      <p:pic>
        <p:nvPicPr>
          <p:cNvPr id="3789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79712" y="3260013"/>
            <a:ext cx="5256584" cy="29868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986196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67544" y="1772816"/>
            <a:ext cx="8255594" cy="43718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图片 2"/>
          <p:cNvPicPr>
            <a:picLocks noChangeAspect="1"/>
          </p:cNvPicPr>
          <p:nvPr/>
        </p:nvPicPr>
        <p:blipFill>
          <a:blip r:embed="rId3"/>
          <a:stretch>
            <a:fillRect/>
          </a:stretch>
        </p:blipFill>
        <p:spPr>
          <a:xfrm>
            <a:off x="5937508" y="11992"/>
            <a:ext cx="3097612" cy="1760824"/>
          </a:xfrm>
          <a:prstGeom prst="rect">
            <a:avLst/>
          </a:prstGeom>
        </p:spPr>
      </p:pic>
    </p:spTree>
    <p:extLst>
      <p:ext uri="{BB962C8B-B14F-4D97-AF65-F5344CB8AC3E}">
        <p14:creationId xmlns:p14="http://schemas.microsoft.com/office/powerpoint/2010/main" val="198093599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1052736"/>
            <a:ext cx="7920880" cy="1080120"/>
          </a:xfrm>
        </p:spPr>
        <p:txBody>
          <a:bodyPr/>
          <a:lstStyle/>
          <a:p>
            <a:r>
              <a:rPr lang="en-US" altLang="zh-CN" b="0" dirty="0"/>
              <a:t>	</a:t>
            </a:r>
            <a:r>
              <a:rPr lang="zh-CN" altLang="zh-CN" b="0" dirty="0"/>
              <a:t>根据</a:t>
            </a:r>
            <a:r>
              <a:rPr lang="en-US" altLang="zh-CN" b="0" dirty="0"/>
              <a:t>path</a:t>
            </a:r>
            <a:r>
              <a:rPr lang="zh-CN" altLang="zh-CN" b="0" dirty="0"/>
              <a:t>数组，可以得到每对顶点的最短路径，图</a:t>
            </a:r>
            <a:r>
              <a:rPr lang="en-US" altLang="zh-CN" b="0" dirty="0"/>
              <a:t>6-34(a)</a:t>
            </a:r>
            <a:r>
              <a:rPr lang="zh-CN" altLang="zh-CN" b="0" dirty="0"/>
              <a:t>所示的带权有向图的最短路径如表</a:t>
            </a:r>
            <a:r>
              <a:rPr lang="en-US" altLang="zh-CN" b="0" dirty="0"/>
              <a:t>6-7</a:t>
            </a:r>
            <a:r>
              <a:rPr lang="zh-CN" altLang="zh-CN" b="0" dirty="0"/>
              <a:t>所示。</a:t>
            </a:r>
          </a:p>
          <a:p>
            <a:endParaRPr lang="zh-CN" altLang="en-US" b="0" dirty="0"/>
          </a:p>
        </p:txBody>
      </p:sp>
      <p:pic>
        <p:nvPicPr>
          <p:cNvPr id="3993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504" y="2276872"/>
            <a:ext cx="8724900" cy="3943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0296189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6.7  </a:t>
            </a:r>
            <a:r>
              <a:rPr lang="zh-CN" altLang="zh-CN" b="1" dirty="0"/>
              <a:t>图的应用</a:t>
            </a:r>
            <a:r>
              <a:rPr lang="en-US" altLang="zh-CN" b="1" dirty="0"/>
              <a:t>4</a:t>
            </a:r>
            <a:r>
              <a:rPr lang="zh-CN" altLang="zh-CN" b="1" dirty="0"/>
              <a:t>：</a:t>
            </a:r>
            <a:r>
              <a:rPr lang="zh-CN" altLang="zh-CN" b="1" dirty="0">
                <a:solidFill>
                  <a:srgbClr val="FF0000"/>
                </a:solidFill>
              </a:rPr>
              <a:t>图的最小生成树</a:t>
            </a:r>
            <a:endParaRPr lang="zh-CN" altLang="en-US" dirty="0">
              <a:solidFill>
                <a:srgbClr val="FF0000"/>
              </a:solidFill>
            </a:endParaRPr>
          </a:p>
        </p:txBody>
      </p:sp>
      <p:sp>
        <p:nvSpPr>
          <p:cNvPr id="3" name="内容占位符 2"/>
          <p:cNvSpPr>
            <a:spLocks noGrp="1"/>
          </p:cNvSpPr>
          <p:nvPr>
            <p:ph idx="1"/>
          </p:nvPr>
        </p:nvSpPr>
        <p:spPr>
          <a:xfrm>
            <a:off x="827584" y="1628800"/>
            <a:ext cx="7920880" cy="3579849"/>
          </a:xfrm>
        </p:spPr>
        <p:txBody>
          <a:bodyPr/>
          <a:lstStyle/>
          <a:p>
            <a:r>
              <a:rPr lang="en-US" altLang="zh-CN" b="0" dirty="0"/>
              <a:t>	</a:t>
            </a:r>
            <a:r>
              <a:rPr lang="zh-CN" altLang="zh-CN" b="0" dirty="0"/>
              <a:t>一个连通无向图的生成树是不唯一的。构造生成树的方法有多种，如图的深度优先搜索和广度优先搜索等，按照不同的遍历方法，将得到不同的生成树；从不同的顶点出发，也可能得到不同的生成树；而且生成树有时还和图的存储结构中具体的结点顺序有关</a:t>
            </a:r>
            <a:r>
              <a:rPr lang="zh-CN" altLang="zh-CN" dirty="0"/>
              <a:t>。</a:t>
            </a:r>
            <a:endParaRPr lang="zh-CN" altLang="en-US" dirty="0"/>
          </a:p>
        </p:txBody>
      </p:sp>
      <p:pic>
        <p:nvPicPr>
          <p:cNvPr id="4096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91680" y="3861048"/>
            <a:ext cx="6184900" cy="2387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5883044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dirty="0">
                <a:sym typeface="Webdings"/>
              </a:rPr>
              <a:t></a:t>
            </a:r>
            <a:r>
              <a:rPr lang="zh-CN" altLang="zh-CN" dirty="0">
                <a:solidFill>
                  <a:srgbClr val="FF0000"/>
                </a:solidFill>
              </a:rPr>
              <a:t>结论：</a:t>
            </a:r>
          </a:p>
          <a:p>
            <a:r>
              <a:rPr lang="en-US" altLang="zh-CN" dirty="0"/>
              <a:t>(1) </a:t>
            </a:r>
            <a:r>
              <a:rPr lang="zh-CN" altLang="zh-CN" dirty="0"/>
              <a:t>对连通图才构造最小生成树，非连通图无生成树。</a:t>
            </a:r>
          </a:p>
          <a:p>
            <a:r>
              <a:rPr lang="en-US" altLang="zh-CN" dirty="0"/>
              <a:t>(2) </a:t>
            </a:r>
            <a:r>
              <a:rPr lang="zh-CN" altLang="zh-CN" dirty="0"/>
              <a:t>对带权连通图构造生成树必须满足以下约束条件：</a:t>
            </a:r>
          </a:p>
          <a:p>
            <a:r>
              <a:rPr lang="en-US" altLang="zh-CN" dirty="0"/>
              <a:t>	</a:t>
            </a:r>
            <a:r>
              <a:rPr lang="zh-CN" altLang="zh-CN" dirty="0"/>
              <a:t>①</a:t>
            </a:r>
            <a:r>
              <a:rPr lang="zh-CN" altLang="zh-CN" dirty="0">
                <a:solidFill>
                  <a:srgbClr val="FF0000"/>
                </a:solidFill>
              </a:rPr>
              <a:t>必须且仅使用图中的</a:t>
            </a:r>
            <a:r>
              <a:rPr lang="en-US" altLang="zh-CN" dirty="0">
                <a:solidFill>
                  <a:srgbClr val="FF0000"/>
                </a:solidFill>
              </a:rPr>
              <a:t>n-1</a:t>
            </a:r>
            <a:r>
              <a:rPr lang="zh-CN" altLang="zh-CN" dirty="0">
                <a:solidFill>
                  <a:srgbClr val="FF0000"/>
                </a:solidFill>
              </a:rPr>
              <a:t>条边</a:t>
            </a:r>
            <a:r>
              <a:rPr lang="zh-CN" altLang="zh-CN" dirty="0"/>
              <a:t>；</a:t>
            </a:r>
          </a:p>
          <a:p>
            <a:r>
              <a:rPr lang="en-US" altLang="zh-CN" dirty="0"/>
              <a:t>	</a:t>
            </a:r>
            <a:r>
              <a:rPr lang="zh-CN" altLang="zh-CN" dirty="0"/>
              <a:t>②</a:t>
            </a:r>
            <a:r>
              <a:rPr lang="zh-CN" altLang="zh-CN" dirty="0">
                <a:solidFill>
                  <a:srgbClr val="FF0000"/>
                </a:solidFill>
              </a:rPr>
              <a:t>不能使用产生回路的边。</a:t>
            </a:r>
          </a:p>
          <a:p>
            <a:endParaRPr lang="zh-CN" altLang="en-US" dirty="0"/>
          </a:p>
        </p:txBody>
      </p:sp>
    </p:spTree>
    <p:extLst>
      <p:ext uri="{BB962C8B-B14F-4D97-AF65-F5344CB8AC3E}">
        <p14:creationId xmlns:p14="http://schemas.microsoft.com/office/powerpoint/2010/main" val="46723923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196752"/>
            <a:ext cx="7520940" cy="4608512"/>
          </a:xfrm>
        </p:spPr>
        <p:txBody>
          <a:bodyPr>
            <a:normAutofit/>
          </a:bodyPr>
          <a:lstStyle/>
          <a:p>
            <a:pPr>
              <a:lnSpc>
                <a:spcPct val="130000"/>
              </a:lnSpc>
            </a:pPr>
            <a:r>
              <a:rPr lang="en-US" altLang="zh-CN" b="0" dirty="0"/>
              <a:t>	</a:t>
            </a:r>
            <a:r>
              <a:rPr lang="zh-CN" altLang="zh-CN" b="0" dirty="0"/>
              <a:t>一个</a:t>
            </a:r>
            <a:r>
              <a:rPr lang="zh-CN" altLang="zh-CN" b="0" dirty="0">
                <a:solidFill>
                  <a:srgbClr val="FF0000"/>
                </a:solidFill>
              </a:rPr>
              <a:t>生成树的代价为该生成树中所有边的权值之和</a:t>
            </a:r>
            <a:r>
              <a:rPr lang="zh-CN" altLang="zh-CN" b="0" dirty="0"/>
              <a:t>。对于一个带权连通图，其不同生成树所对应的权值总和（即生成树的代价）也是不相同的，称代价最小的生成树为</a:t>
            </a:r>
            <a:r>
              <a:rPr lang="zh-CN" altLang="zh-CN" dirty="0">
                <a:solidFill>
                  <a:srgbClr val="FF0000"/>
                </a:solidFill>
              </a:rPr>
              <a:t>最小代价生成树</a:t>
            </a:r>
            <a:r>
              <a:rPr lang="en-US" altLang="zh-CN" b="0" dirty="0"/>
              <a:t>(Minimum Cost Spanning Tree)</a:t>
            </a:r>
            <a:r>
              <a:rPr lang="zh-CN" altLang="zh-CN" b="0" dirty="0"/>
              <a:t>，简称</a:t>
            </a:r>
            <a:r>
              <a:rPr lang="zh-CN" altLang="zh-CN" b="0" dirty="0">
                <a:solidFill>
                  <a:srgbClr val="FF0000"/>
                </a:solidFill>
              </a:rPr>
              <a:t>最小生成树</a:t>
            </a:r>
            <a:r>
              <a:rPr lang="en-US" altLang="zh-CN" b="0" dirty="0">
                <a:solidFill>
                  <a:srgbClr val="FF0000"/>
                </a:solidFill>
              </a:rPr>
              <a:t>(MST)</a:t>
            </a:r>
            <a:r>
              <a:rPr lang="zh-CN" altLang="zh-CN" b="0" dirty="0"/>
              <a:t>。最小生成树是图的一种重要应用，在描述和求解城市交通道路规划、网络路由选择、城市通信网络架设、汽车导航等实际问题中应用广泛。</a:t>
            </a:r>
          </a:p>
          <a:p>
            <a:endParaRPr lang="zh-CN" altLang="en-US" b="0" dirty="0"/>
          </a:p>
        </p:txBody>
      </p:sp>
      <p:sp>
        <p:nvSpPr>
          <p:cNvPr id="4" name="矩形 3"/>
          <p:cNvSpPr/>
          <p:nvPr/>
        </p:nvSpPr>
        <p:spPr>
          <a:xfrm>
            <a:off x="899592" y="5247573"/>
            <a:ext cx="7200800" cy="830997"/>
          </a:xfrm>
          <a:prstGeom prst="rect">
            <a:avLst/>
          </a:prstGeom>
        </p:spPr>
        <p:txBody>
          <a:bodyPr wrap="square">
            <a:spAutoFit/>
          </a:bodyPr>
          <a:lstStyle/>
          <a:p>
            <a:r>
              <a:rPr lang="zh-CN" altLang="zh-CN" sz="2400" dirty="0"/>
              <a:t>★注：同一个带权连通图可能有多棵最小生成树，比如当有两条边权值相等时就可能出现这种情况。</a:t>
            </a:r>
          </a:p>
        </p:txBody>
      </p:sp>
    </p:spTree>
    <p:extLst>
      <p:ext uri="{BB962C8B-B14F-4D97-AF65-F5344CB8AC3E}">
        <p14:creationId xmlns:p14="http://schemas.microsoft.com/office/powerpoint/2010/main" val="213807247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6.6.1  </a:t>
            </a:r>
            <a:r>
              <a:rPr lang="en-US" altLang="zh-CN" b="1" dirty="0">
                <a:solidFill>
                  <a:srgbClr val="FF0000"/>
                </a:solidFill>
              </a:rPr>
              <a:t>Prim</a:t>
            </a:r>
            <a:r>
              <a:rPr lang="zh-CN" altLang="zh-CN" b="1" dirty="0">
                <a:solidFill>
                  <a:srgbClr val="FF0000"/>
                </a:solidFill>
              </a:rPr>
              <a:t>算法</a:t>
            </a:r>
            <a:r>
              <a:rPr lang="en-US" altLang="zh-CN" b="1" dirty="0">
                <a:solidFill>
                  <a:srgbClr val="FF0000"/>
                </a:solidFill>
              </a:rPr>
              <a:t>---</a:t>
            </a:r>
            <a:r>
              <a:rPr lang="zh-CN" altLang="en-US" b="1" dirty="0">
                <a:solidFill>
                  <a:srgbClr val="FF0000"/>
                </a:solidFill>
              </a:rPr>
              <a:t>扩点法</a:t>
            </a:r>
            <a:endParaRPr lang="zh-CN" altLang="en-US" dirty="0">
              <a:solidFill>
                <a:srgbClr val="FF0000"/>
              </a:solidFill>
            </a:endParaRPr>
          </a:p>
        </p:txBody>
      </p:sp>
      <p:sp>
        <p:nvSpPr>
          <p:cNvPr id="3" name="内容占位符 2"/>
          <p:cNvSpPr>
            <a:spLocks noGrp="1"/>
          </p:cNvSpPr>
          <p:nvPr>
            <p:ph idx="1"/>
          </p:nvPr>
        </p:nvSpPr>
        <p:spPr/>
        <p:txBody>
          <a:bodyPr/>
          <a:lstStyle/>
          <a:p>
            <a:pPr>
              <a:buFont typeface="Arial" panose="020B0604020202020204" pitchFamily="34" charset="0"/>
              <a:buChar char="•"/>
            </a:pPr>
            <a:r>
              <a:rPr lang="en-US" altLang="zh-CN" b="0" dirty="0"/>
              <a:t>Prim</a:t>
            </a:r>
            <a:r>
              <a:rPr lang="zh-CN" altLang="zh-CN" b="0" dirty="0"/>
              <a:t>算法和</a:t>
            </a:r>
            <a:r>
              <a:rPr lang="en-US" altLang="zh-CN" b="0" dirty="0"/>
              <a:t>Dijkstra</a:t>
            </a:r>
            <a:r>
              <a:rPr lang="zh-CN" altLang="zh-CN" b="0" dirty="0"/>
              <a:t>算法类似，都是以顶点来扩展的，</a:t>
            </a:r>
            <a:r>
              <a:rPr lang="zh-CN" altLang="zh-CN" b="0" dirty="0">
                <a:solidFill>
                  <a:srgbClr val="FF0000"/>
                </a:solidFill>
              </a:rPr>
              <a:t>每次找到一条边并加入一个顶点</a:t>
            </a:r>
            <a:r>
              <a:rPr lang="zh-CN" altLang="zh-CN" b="0" dirty="0"/>
              <a:t>，同时保存从各顶点到当前生成树之间的距离。</a:t>
            </a:r>
            <a:endParaRPr lang="en-US" altLang="zh-CN" b="0" dirty="0"/>
          </a:p>
          <a:p>
            <a:pPr>
              <a:buFont typeface="Arial" panose="020B0604020202020204" pitchFamily="34" charset="0"/>
              <a:buChar char="•"/>
            </a:pPr>
            <a:r>
              <a:rPr lang="zh-CN" altLang="zh-CN" b="0" dirty="0"/>
              <a:t>设</a:t>
            </a:r>
            <a:r>
              <a:rPr lang="en-US" altLang="zh-CN" b="0" dirty="0"/>
              <a:t>G = ( V, E )</a:t>
            </a:r>
            <a:r>
              <a:rPr lang="zh-CN" altLang="zh-CN" b="0" dirty="0"/>
              <a:t>是一个带权连通图，</a:t>
            </a:r>
            <a:r>
              <a:rPr lang="en-US" altLang="zh-CN" b="0" dirty="0"/>
              <a:t>T = ( U, TE )</a:t>
            </a:r>
            <a:r>
              <a:rPr lang="zh-CN" altLang="zh-CN" b="0" dirty="0"/>
              <a:t>为欲构造的最小生成树，其中</a:t>
            </a:r>
            <a:r>
              <a:rPr lang="en-US" altLang="zh-CN" b="0" dirty="0"/>
              <a:t>U</a:t>
            </a:r>
            <a:r>
              <a:rPr lang="zh-CN" altLang="zh-CN" b="0" dirty="0"/>
              <a:t>和</a:t>
            </a:r>
            <a:r>
              <a:rPr lang="en-US" altLang="zh-CN" b="0" dirty="0"/>
              <a:t>TE</a:t>
            </a:r>
            <a:r>
              <a:rPr lang="zh-CN" altLang="zh-CN" b="0" dirty="0"/>
              <a:t>分别为</a:t>
            </a:r>
            <a:r>
              <a:rPr lang="en-US" altLang="zh-CN" b="0" dirty="0"/>
              <a:t>G</a:t>
            </a:r>
            <a:r>
              <a:rPr lang="zh-CN" altLang="zh-CN" b="0" dirty="0"/>
              <a:t>的最小生成树</a:t>
            </a:r>
            <a:r>
              <a:rPr lang="en-US" altLang="zh-CN" b="0" dirty="0"/>
              <a:t>T</a:t>
            </a:r>
            <a:r>
              <a:rPr lang="zh-CN" altLang="zh-CN" b="0" dirty="0"/>
              <a:t>中顶点和边的集合。</a:t>
            </a:r>
            <a:endParaRPr lang="zh-CN" altLang="en-US" b="0" dirty="0"/>
          </a:p>
        </p:txBody>
      </p:sp>
      <p:pic>
        <p:nvPicPr>
          <p:cNvPr id="4" name="图片 3"/>
          <p:cNvPicPr/>
          <p:nvPr/>
        </p:nvPicPr>
        <p:blipFill>
          <a:blip r:embed="rId2" cstate="print">
            <a:extLst>
              <a:ext uri="{28A0092B-C50C-407E-A947-70E740481C1C}">
                <a14:useLocalDpi xmlns:a14="http://schemas.microsoft.com/office/drawing/2010/main" val="0"/>
              </a:ext>
            </a:extLst>
          </a:blip>
          <a:stretch>
            <a:fillRect/>
          </a:stretch>
        </p:blipFill>
        <p:spPr>
          <a:xfrm>
            <a:off x="8001024" y="357166"/>
            <a:ext cx="397824" cy="397824"/>
          </a:xfrm>
          <a:prstGeom prst="rect">
            <a:avLst/>
          </a:prstGeom>
        </p:spPr>
      </p:pic>
    </p:spTree>
    <p:extLst>
      <p:ext uri="{BB962C8B-B14F-4D97-AF65-F5344CB8AC3E}">
        <p14:creationId xmlns:p14="http://schemas.microsoft.com/office/powerpoint/2010/main" val="171421689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43608" y="4509120"/>
            <a:ext cx="6840760" cy="1569660"/>
          </a:xfrm>
          <a:prstGeom prst="rect">
            <a:avLst/>
          </a:prstGeom>
        </p:spPr>
        <p:txBody>
          <a:bodyPr wrap="square">
            <a:spAutoFit/>
          </a:bodyPr>
          <a:lstStyle/>
          <a:p>
            <a:r>
              <a:rPr lang="en-US" altLang="zh-CN" sz="2400" dirty="0">
                <a:sym typeface="Webdings"/>
              </a:rPr>
              <a:t></a:t>
            </a:r>
            <a:r>
              <a:rPr lang="zh-CN" altLang="zh-CN" sz="2400" dirty="0"/>
              <a:t>结论：</a:t>
            </a:r>
          </a:p>
          <a:p>
            <a:r>
              <a:rPr lang="en-US" altLang="zh-CN" sz="2400" dirty="0"/>
              <a:t>	</a:t>
            </a:r>
            <a:r>
              <a:rPr lang="en-US" altLang="zh-CN" sz="2400" dirty="0">
                <a:solidFill>
                  <a:srgbClr val="FF0000"/>
                </a:solidFill>
              </a:rPr>
              <a:t>Prim</a:t>
            </a:r>
            <a:r>
              <a:rPr lang="zh-CN" altLang="zh-CN" sz="2400" dirty="0">
                <a:solidFill>
                  <a:srgbClr val="FF0000"/>
                </a:solidFill>
              </a:rPr>
              <a:t>算法也称扩点法。从一个顶点开始，每加入一条边则扩充一个顶点，加入的顶点一定是与已有生成树相关联的顶点。</a:t>
            </a:r>
          </a:p>
        </p:txBody>
      </p:sp>
      <p:sp>
        <p:nvSpPr>
          <p:cNvPr id="5" name="内容占位符 4"/>
          <p:cNvSpPr>
            <a:spLocks noGrp="1"/>
          </p:cNvSpPr>
          <p:nvPr>
            <p:ph idx="1"/>
          </p:nvPr>
        </p:nvSpPr>
        <p:spPr>
          <a:xfrm>
            <a:off x="857224" y="1071547"/>
            <a:ext cx="7675216" cy="3509582"/>
          </a:xfrm>
        </p:spPr>
        <p:txBody>
          <a:bodyPr>
            <a:normAutofit fontScale="92500" lnSpcReduction="10000"/>
          </a:bodyPr>
          <a:lstStyle/>
          <a:p>
            <a:r>
              <a:rPr lang="en-US" dirty="0">
                <a:solidFill>
                  <a:srgbClr val="FF0000"/>
                </a:solidFill>
              </a:rPr>
              <a:t>Prim</a:t>
            </a:r>
            <a:r>
              <a:rPr lang="zh-CN" altLang="en-US" dirty="0">
                <a:solidFill>
                  <a:srgbClr val="FF0000"/>
                </a:solidFill>
              </a:rPr>
              <a:t>算法的基本思想：</a:t>
            </a:r>
          </a:p>
          <a:p>
            <a:r>
              <a:rPr lang="en-US" dirty="0"/>
              <a:t>	</a:t>
            </a:r>
            <a:r>
              <a:rPr lang="en-US" b="0" dirty="0"/>
              <a:t>(1) </a:t>
            </a:r>
            <a:r>
              <a:rPr lang="zh-CN" altLang="en-US" b="0" dirty="0"/>
              <a:t>初始化顶点集、边集，即开始时，最小生成树</a:t>
            </a:r>
            <a:r>
              <a:rPr lang="en-US" b="0" dirty="0"/>
              <a:t>T</a:t>
            </a:r>
            <a:r>
              <a:rPr lang="zh-CN" altLang="en-US" b="0" dirty="0"/>
              <a:t>中只包含一个顶点</a:t>
            </a:r>
            <a:r>
              <a:rPr lang="en-US" b="0" dirty="0"/>
              <a:t>u</a:t>
            </a:r>
            <a:r>
              <a:rPr lang="en-US" b="0" baseline="-25000" dirty="0"/>
              <a:t>0</a:t>
            </a:r>
            <a:r>
              <a:rPr lang="zh-CN" altLang="en-US" b="0" dirty="0"/>
              <a:t>而没有边；</a:t>
            </a:r>
          </a:p>
          <a:p>
            <a:r>
              <a:rPr lang="en-US" b="0" dirty="0"/>
              <a:t>	(2) </a:t>
            </a:r>
            <a:r>
              <a:rPr lang="zh-CN" altLang="en-US" b="0" dirty="0"/>
              <a:t>在所有</a:t>
            </a:r>
            <a:r>
              <a:rPr lang="en-US" b="0" dirty="0"/>
              <a:t>u</a:t>
            </a:r>
            <a:r>
              <a:rPr lang="zh-CN" altLang="en-US" b="0" dirty="0"/>
              <a:t>∈</a:t>
            </a:r>
            <a:r>
              <a:rPr lang="en-US" b="0" dirty="0"/>
              <a:t>U</a:t>
            </a:r>
            <a:r>
              <a:rPr lang="zh-CN" altLang="en-US" b="0" dirty="0"/>
              <a:t>，</a:t>
            </a:r>
            <a:r>
              <a:rPr lang="en-US" b="0" dirty="0"/>
              <a:t>v</a:t>
            </a:r>
            <a:r>
              <a:rPr lang="zh-CN" altLang="en-US" b="0" dirty="0"/>
              <a:t>∈</a:t>
            </a:r>
            <a:r>
              <a:rPr lang="en-US" b="0" dirty="0"/>
              <a:t>V - U</a:t>
            </a:r>
            <a:r>
              <a:rPr lang="zh-CN" altLang="en-US" b="0" dirty="0"/>
              <a:t>的边</a:t>
            </a:r>
            <a:r>
              <a:rPr lang="en-US" b="0" dirty="0"/>
              <a:t>(u, v)</a:t>
            </a:r>
            <a:r>
              <a:rPr lang="zh-CN" altLang="en-US" b="0" dirty="0"/>
              <a:t>∈</a:t>
            </a:r>
            <a:r>
              <a:rPr lang="en-US" b="0" dirty="0"/>
              <a:t>E</a:t>
            </a:r>
            <a:r>
              <a:rPr lang="zh-CN" altLang="en-US" b="0" dirty="0"/>
              <a:t>中选择一条权值最小的边</a:t>
            </a:r>
            <a:r>
              <a:rPr lang="en-US" b="0" dirty="0"/>
              <a:t>(u</a:t>
            </a:r>
            <a:r>
              <a:rPr lang="en-US" b="0" i="1" dirty="0"/>
              <a:t>'</a:t>
            </a:r>
            <a:r>
              <a:rPr lang="en-US" b="0" dirty="0"/>
              <a:t>, v</a:t>
            </a:r>
            <a:r>
              <a:rPr lang="en-US" b="0" i="1" dirty="0"/>
              <a:t>'</a:t>
            </a:r>
            <a:r>
              <a:rPr lang="en-US" b="0" dirty="0"/>
              <a:t>)</a:t>
            </a:r>
            <a:r>
              <a:rPr lang="zh-CN" altLang="en-US" b="0" dirty="0"/>
              <a:t>加入到集合</a:t>
            </a:r>
            <a:r>
              <a:rPr lang="en-US" b="0" dirty="0"/>
              <a:t>TE</a:t>
            </a:r>
            <a:r>
              <a:rPr lang="zh-CN" altLang="en-US" b="0" dirty="0"/>
              <a:t>中，同时将顶点</a:t>
            </a:r>
            <a:r>
              <a:rPr lang="en-US" b="0" dirty="0"/>
              <a:t>v</a:t>
            </a:r>
            <a:r>
              <a:rPr lang="en-US" b="0" i="1" dirty="0"/>
              <a:t>'</a:t>
            </a:r>
            <a:r>
              <a:rPr lang="zh-CN" altLang="en-US" b="0" dirty="0"/>
              <a:t>并入到</a:t>
            </a:r>
            <a:r>
              <a:rPr lang="en-US" b="0" dirty="0"/>
              <a:t>U</a:t>
            </a:r>
            <a:r>
              <a:rPr lang="zh-CN" altLang="en-US" b="0" dirty="0"/>
              <a:t>中。</a:t>
            </a:r>
          </a:p>
          <a:p>
            <a:r>
              <a:rPr lang="en-US" b="0" dirty="0"/>
              <a:t>	</a:t>
            </a:r>
            <a:r>
              <a:rPr lang="zh-CN" altLang="en-US" b="0" dirty="0"/>
              <a:t>重复上述过程直到图中所有的顶点都加入到集合</a:t>
            </a:r>
            <a:r>
              <a:rPr lang="en-US" b="0" dirty="0"/>
              <a:t>U</a:t>
            </a:r>
            <a:r>
              <a:rPr lang="zh-CN" altLang="en-US" b="0" dirty="0"/>
              <a:t>中，即</a:t>
            </a:r>
            <a:r>
              <a:rPr lang="en-US" b="0" dirty="0"/>
              <a:t>U = V</a:t>
            </a:r>
            <a:r>
              <a:rPr lang="zh-CN" altLang="en-US" b="0" dirty="0"/>
              <a:t>为止，此时</a:t>
            </a:r>
            <a:r>
              <a:rPr lang="en-US" b="0" dirty="0"/>
              <a:t>TE</a:t>
            </a:r>
            <a:r>
              <a:rPr lang="zh-CN" altLang="en-US" b="0" dirty="0"/>
              <a:t>中有</a:t>
            </a:r>
            <a:r>
              <a:rPr lang="en-US" b="0" dirty="0"/>
              <a:t>n-1</a:t>
            </a:r>
            <a:r>
              <a:rPr lang="zh-CN" altLang="en-US" b="0" dirty="0"/>
              <a:t>条边，</a:t>
            </a:r>
            <a:r>
              <a:rPr lang="en-US" b="0" dirty="0"/>
              <a:t>T = ( U, TE )</a:t>
            </a:r>
            <a:r>
              <a:rPr lang="zh-CN" altLang="en-US" b="0" dirty="0"/>
              <a:t>就是</a:t>
            </a:r>
            <a:r>
              <a:rPr lang="en-US" b="0" dirty="0"/>
              <a:t>G</a:t>
            </a:r>
            <a:r>
              <a:rPr lang="zh-CN" altLang="en-US" b="0" dirty="0"/>
              <a:t>的最小生成树。</a:t>
            </a:r>
          </a:p>
          <a:p>
            <a:endParaRPr lang="zh-CN" altLang="en-US" dirty="0"/>
          </a:p>
        </p:txBody>
      </p:sp>
    </p:spTree>
    <p:extLst>
      <p:ext uri="{BB962C8B-B14F-4D97-AF65-F5344CB8AC3E}">
        <p14:creationId xmlns:p14="http://schemas.microsoft.com/office/powerpoint/2010/main" val="348213707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755576" y="1052736"/>
            <a:ext cx="7848872" cy="49915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1708132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520940" cy="5256584"/>
          </a:xfrm>
        </p:spPr>
        <p:txBody>
          <a:bodyPr>
            <a:normAutofit fontScale="62500" lnSpcReduction="20000"/>
          </a:bodyPr>
          <a:lstStyle/>
          <a:p>
            <a:r>
              <a:rPr lang="zh-CN" altLang="zh-CN" b="0" dirty="0"/>
              <a:t>假设采用邻接矩阵来存储带权连通图，两个顶点之间不存在边的权值为</a:t>
            </a:r>
            <a:r>
              <a:rPr lang="en-US" altLang="zh-CN" b="0" dirty="0">
                <a:sym typeface="Symbol"/>
              </a:rPr>
              <a:t></a:t>
            </a:r>
            <a:r>
              <a:rPr lang="zh-CN" altLang="zh-CN" b="0" dirty="0"/>
              <a:t>。</a:t>
            </a:r>
            <a:r>
              <a:rPr lang="en-US" altLang="zh-CN" b="0" dirty="0"/>
              <a:t>Prim</a:t>
            </a:r>
            <a:r>
              <a:rPr lang="zh-CN" altLang="zh-CN" b="0" dirty="0"/>
              <a:t>算法的具体实现如下：</a:t>
            </a:r>
          </a:p>
          <a:p>
            <a:r>
              <a:rPr lang="en-US" altLang="zh-CN" dirty="0"/>
              <a:t>	</a:t>
            </a:r>
            <a:r>
              <a:rPr lang="zh-CN" altLang="zh-CN" dirty="0"/>
              <a:t>算法</a:t>
            </a:r>
            <a:r>
              <a:rPr lang="en-US" altLang="zh-CN" dirty="0"/>
              <a:t>6.12</a:t>
            </a:r>
            <a:r>
              <a:rPr lang="zh-CN" altLang="zh-CN" dirty="0"/>
              <a:t>：</a:t>
            </a:r>
            <a:r>
              <a:rPr lang="en-US" altLang="zh-CN" dirty="0"/>
              <a:t>Prim</a:t>
            </a:r>
            <a:r>
              <a:rPr lang="zh-CN" altLang="zh-CN" dirty="0"/>
              <a:t>算法</a:t>
            </a:r>
          </a:p>
          <a:p>
            <a:r>
              <a:rPr lang="en-US" altLang="zh-CN" b="0" dirty="0"/>
              <a:t>//</a:t>
            </a:r>
            <a:r>
              <a:rPr lang="zh-CN" altLang="zh-CN" b="0" dirty="0"/>
              <a:t>利用</a:t>
            </a:r>
            <a:r>
              <a:rPr lang="en-US" altLang="zh-CN" b="0" dirty="0"/>
              <a:t>Prim</a:t>
            </a:r>
            <a:r>
              <a:rPr lang="zh-CN" altLang="zh-CN" b="0" dirty="0"/>
              <a:t>算法求带权连通图的最小生成树，用</a:t>
            </a:r>
            <a:r>
              <a:rPr lang="en-US" altLang="zh-CN" b="0" dirty="0"/>
              <a:t>MST</a:t>
            </a:r>
            <a:r>
              <a:rPr lang="zh-CN" altLang="zh-CN" b="0" dirty="0"/>
              <a:t>来存储最小生成树的边</a:t>
            </a:r>
          </a:p>
          <a:p>
            <a:r>
              <a:rPr lang="en-US" altLang="zh-CN" b="0" dirty="0"/>
              <a:t>void Prim(Graph&amp; G, </a:t>
            </a:r>
            <a:r>
              <a:rPr lang="en-US" altLang="zh-CN" b="0" dirty="0" err="1"/>
              <a:t>int</a:t>
            </a:r>
            <a:r>
              <a:rPr lang="en-US" altLang="zh-CN" b="0" dirty="0"/>
              <a:t> s, Edge* MST){</a:t>
            </a:r>
            <a:endParaRPr lang="zh-CN" altLang="zh-CN" b="0" dirty="0"/>
          </a:p>
          <a:p>
            <a:r>
              <a:rPr lang="en-US" altLang="zh-CN" b="0" dirty="0"/>
              <a:t>    </a:t>
            </a:r>
            <a:r>
              <a:rPr lang="en-US" altLang="zh-CN" b="0" dirty="0" err="1"/>
              <a:t>int</a:t>
            </a:r>
            <a:r>
              <a:rPr lang="en-US" altLang="zh-CN" b="0" dirty="0"/>
              <a:t> </a:t>
            </a:r>
            <a:r>
              <a:rPr lang="en-US" altLang="zh-CN" b="0" dirty="0" err="1"/>
              <a:t>i</a:t>
            </a:r>
            <a:r>
              <a:rPr lang="en-US" altLang="zh-CN" b="0" dirty="0"/>
              <a:t>, j, n = </a:t>
            </a:r>
            <a:r>
              <a:rPr lang="en-US" altLang="zh-CN" b="0" dirty="0" err="1"/>
              <a:t>G.VerticesNum</a:t>
            </a:r>
            <a:r>
              <a:rPr lang="en-US" altLang="zh-CN" b="0" dirty="0"/>
              <a:t>();</a:t>
            </a:r>
            <a:endParaRPr lang="zh-CN" altLang="zh-CN" b="0" dirty="0"/>
          </a:p>
          <a:p>
            <a:r>
              <a:rPr lang="en-US" altLang="zh-CN" b="0" dirty="0"/>
              <a:t>    Edge *</a:t>
            </a:r>
            <a:r>
              <a:rPr lang="en-US" altLang="zh-CN" b="0" dirty="0" err="1"/>
              <a:t>MST_Edge</a:t>
            </a:r>
            <a:r>
              <a:rPr lang="en-US" altLang="zh-CN" b="0" dirty="0"/>
              <a:t> = new Edge[n];      //</a:t>
            </a:r>
            <a:r>
              <a:rPr lang="zh-CN" altLang="zh-CN" b="0" dirty="0"/>
              <a:t>辅助数组</a:t>
            </a:r>
            <a:r>
              <a:rPr lang="en-US" altLang="zh-CN" b="0" dirty="0" err="1"/>
              <a:t>MST_Edge</a:t>
            </a:r>
            <a:endParaRPr lang="zh-CN" altLang="zh-CN" b="0" dirty="0"/>
          </a:p>
          <a:p>
            <a:r>
              <a:rPr lang="en-US" altLang="zh-CN" b="0" dirty="0"/>
              <a:t>    for(</a:t>
            </a:r>
            <a:r>
              <a:rPr lang="en-US" altLang="zh-CN" b="0" dirty="0" err="1"/>
              <a:t>i</a:t>
            </a:r>
            <a:r>
              <a:rPr lang="en-US" altLang="zh-CN" b="0" dirty="0"/>
              <a:t> = 0; </a:t>
            </a:r>
            <a:r>
              <a:rPr lang="en-US" altLang="zh-CN" b="0" dirty="0" err="1"/>
              <a:t>i</a:t>
            </a:r>
            <a:r>
              <a:rPr lang="en-US" altLang="zh-CN" b="0" dirty="0"/>
              <a:t> &lt; n; </a:t>
            </a:r>
            <a:r>
              <a:rPr lang="en-US" altLang="zh-CN" b="0" dirty="0" err="1"/>
              <a:t>i</a:t>
            </a:r>
            <a:r>
              <a:rPr lang="en-US" altLang="zh-CN" b="0" dirty="0"/>
              <a:t>++){  	       //</a:t>
            </a:r>
            <a:r>
              <a:rPr lang="zh-CN" altLang="zh-CN" b="0" dirty="0"/>
              <a:t>初始化</a:t>
            </a:r>
            <a:r>
              <a:rPr lang="en-US" altLang="zh-CN" b="0" dirty="0" err="1"/>
              <a:t>MST_Edge</a:t>
            </a:r>
            <a:r>
              <a:rPr lang="zh-CN" altLang="zh-CN" b="0" dirty="0"/>
              <a:t>数组</a:t>
            </a:r>
          </a:p>
          <a:p>
            <a:r>
              <a:rPr lang="en-US" altLang="zh-CN" b="0" dirty="0"/>
              <a:t>        </a:t>
            </a:r>
            <a:r>
              <a:rPr lang="en-US" altLang="zh-CN" b="0" dirty="0" err="1"/>
              <a:t>MST_Edge</a:t>
            </a:r>
            <a:r>
              <a:rPr lang="en-US" altLang="zh-CN" b="0" dirty="0"/>
              <a:t>[</a:t>
            </a:r>
            <a:r>
              <a:rPr lang="en-US" altLang="zh-CN" b="0" dirty="0" err="1"/>
              <a:t>i</a:t>
            </a:r>
            <a:r>
              <a:rPr lang="en-US" altLang="zh-CN" b="0" dirty="0"/>
              <a:t>].from = </a:t>
            </a:r>
            <a:r>
              <a:rPr lang="en-US" altLang="zh-CN" b="0" dirty="0" err="1"/>
              <a:t>i</a:t>
            </a:r>
            <a:r>
              <a:rPr lang="en-US" altLang="zh-CN" b="0" dirty="0"/>
              <a:t>;</a:t>
            </a:r>
            <a:endParaRPr lang="zh-CN" altLang="zh-CN" b="0" dirty="0"/>
          </a:p>
          <a:p>
            <a:r>
              <a:rPr lang="en-US" altLang="zh-CN" b="0" dirty="0"/>
              <a:t>        </a:t>
            </a:r>
            <a:r>
              <a:rPr lang="en-US" altLang="zh-CN" b="0" dirty="0" err="1"/>
              <a:t>MST_Edge</a:t>
            </a:r>
            <a:r>
              <a:rPr lang="en-US" altLang="zh-CN" b="0" dirty="0"/>
              <a:t>[</a:t>
            </a:r>
            <a:r>
              <a:rPr lang="en-US" altLang="zh-CN" b="0" dirty="0" err="1"/>
              <a:t>i</a:t>
            </a:r>
            <a:r>
              <a:rPr lang="en-US" altLang="zh-CN" b="0" dirty="0"/>
              <a:t>].to = s;</a:t>
            </a:r>
            <a:endParaRPr lang="zh-CN" altLang="zh-CN" b="0" dirty="0"/>
          </a:p>
          <a:p>
            <a:r>
              <a:rPr lang="en-US" altLang="zh-CN" b="0" dirty="0"/>
              <a:t>        if (</a:t>
            </a:r>
            <a:r>
              <a:rPr lang="en-US" altLang="zh-CN" b="0" dirty="0" err="1"/>
              <a:t>i</a:t>
            </a:r>
            <a:r>
              <a:rPr lang="en-US" altLang="zh-CN" b="0" dirty="0"/>
              <a:t> != s &amp;&amp; </a:t>
            </a:r>
            <a:r>
              <a:rPr lang="en-US" altLang="zh-CN" b="0" dirty="0" err="1"/>
              <a:t>G.weight</a:t>
            </a:r>
            <a:r>
              <a:rPr lang="en-US" altLang="zh-CN" b="0" dirty="0"/>
              <a:t>(</a:t>
            </a:r>
            <a:r>
              <a:rPr lang="en-US" altLang="zh-CN" b="0" dirty="0" err="1"/>
              <a:t>i,s</a:t>
            </a:r>
            <a:r>
              <a:rPr lang="en-US" altLang="zh-CN" b="0" dirty="0"/>
              <a:t>) == 0)</a:t>
            </a:r>
            <a:endParaRPr lang="zh-CN" altLang="zh-CN" b="0" dirty="0"/>
          </a:p>
          <a:p>
            <a:r>
              <a:rPr lang="en-US" altLang="zh-CN" b="0" dirty="0"/>
              <a:t>            </a:t>
            </a:r>
            <a:r>
              <a:rPr lang="en-US" altLang="zh-CN" b="0" dirty="0" err="1"/>
              <a:t>MST_Edge</a:t>
            </a:r>
            <a:r>
              <a:rPr lang="en-US" altLang="zh-CN" b="0" dirty="0"/>
              <a:t>[</a:t>
            </a:r>
            <a:r>
              <a:rPr lang="en-US" altLang="zh-CN" b="0" dirty="0" err="1"/>
              <a:t>i</a:t>
            </a:r>
            <a:r>
              <a:rPr lang="en-US" altLang="zh-CN" b="0" dirty="0"/>
              <a:t>].weight = </a:t>
            </a:r>
            <a:r>
              <a:rPr lang="en-US" altLang="zh-CN" b="0" dirty="0" err="1"/>
              <a:t>maxValue</a:t>
            </a:r>
            <a:r>
              <a:rPr lang="en-US" altLang="zh-CN" b="0" dirty="0"/>
              <a:t>;</a:t>
            </a:r>
            <a:endParaRPr lang="zh-CN" altLang="zh-CN" b="0" dirty="0"/>
          </a:p>
          <a:p>
            <a:r>
              <a:rPr lang="en-US" altLang="zh-CN" b="0" dirty="0"/>
              <a:t>        else</a:t>
            </a:r>
            <a:endParaRPr lang="zh-CN" altLang="zh-CN" b="0" dirty="0"/>
          </a:p>
          <a:p>
            <a:r>
              <a:rPr lang="en-US" altLang="zh-CN" b="0" dirty="0"/>
              <a:t>            </a:t>
            </a:r>
            <a:r>
              <a:rPr lang="en-US" altLang="zh-CN" b="0" dirty="0" err="1"/>
              <a:t>MST_Edge</a:t>
            </a:r>
            <a:r>
              <a:rPr lang="en-US" altLang="zh-CN" b="0" dirty="0"/>
              <a:t>[</a:t>
            </a:r>
            <a:r>
              <a:rPr lang="en-US" altLang="zh-CN" b="0" dirty="0" err="1"/>
              <a:t>i</a:t>
            </a:r>
            <a:r>
              <a:rPr lang="en-US" altLang="zh-CN" b="0" dirty="0"/>
              <a:t>].weight = </a:t>
            </a:r>
            <a:r>
              <a:rPr lang="en-US" altLang="zh-CN" b="0" dirty="0" err="1"/>
              <a:t>G.weight</a:t>
            </a:r>
            <a:r>
              <a:rPr lang="en-US" altLang="zh-CN" b="0" dirty="0"/>
              <a:t>(</a:t>
            </a:r>
            <a:r>
              <a:rPr lang="en-US" altLang="zh-CN" b="0" dirty="0" err="1"/>
              <a:t>i,s</a:t>
            </a:r>
            <a:r>
              <a:rPr lang="en-US" altLang="zh-CN" b="0" dirty="0"/>
              <a:t>);</a:t>
            </a:r>
            <a:endParaRPr lang="zh-CN" altLang="zh-CN" b="0" dirty="0"/>
          </a:p>
          <a:p>
            <a:r>
              <a:rPr lang="en-US" altLang="zh-CN" b="0" dirty="0"/>
              <a:t>    }</a:t>
            </a:r>
            <a:endParaRPr lang="zh-CN" altLang="zh-CN" b="0" dirty="0"/>
          </a:p>
          <a:p>
            <a:endParaRPr lang="zh-CN" altLang="en-US" dirty="0"/>
          </a:p>
        </p:txBody>
      </p:sp>
    </p:spTree>
    <p:extLst>
      <p:ext uri="{BB962C8B-B14F-4D97-AF65-F5344CB8AC3E}">
        <p14:creationId xmlns:p14="http://schemas.microsoft.com/office/powerpoint/2010/main" val="376962051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43608" y="980728"/>
            <a:ext cx="7520940" cy="4968552"/>
          </a:xfrm>
        </p:spPr>
        <p:txBody>
          <a:bodyPr>
            <a:noAutofit/>
          </a:bodyPr>
          <a:lstStyle/>
          <a:p>
            <a:r>
              <a:rPr lang="en-US" altLang="zh-CN" sz="1800" b="0" dirty="0"/>
              <a:t>	</a:t>
            </a:r>
            <a:r>
              <a:rPr lang="en-US" altLang="zh-CN" sz="1800" b="0" dirty="0" err="1"/>
              <a:t>int</a:t>
            </a:r>
            <a:r>
              <a:rPr lang="en-US" altLang="zh-CN" sz="1800" b="0" dirty="0"/>
              <a:t> v, Min;</a:t>
            </a:r>
            <a:endParaRPr lang="zh-CN" altLang="zh-CN" sz="1800" b="0" dirty="0"/>
          </a:p>
          <a:p>
            <a:r>
              <a:rPr lang="en-US" altLang="zh-CN" sz="1800" b="0" dirty="0"/>
              <a:t>    for(</a:t>
            </a:r>
            <a:r>
              <a:rPr lang="en-US" altLang="zh-CN" sz="1800" b="0" dirty="0" err="1"/>
              <a:t>i</a:t>
            </a:r>
            <a:r>
              <a:rPr lang="en-US" altLang="zh-CN" sz="1800" b="0" dirty="0"/>
              <a:t> = 0; </a:t>
            </a:r>
            <a:r>
              <a:rPr lang="en-US" altLang="zh-CN" sz="1800" b="0" dirty="0" err="1"/>
              <a:t>i</a:t>
            </a:r>
            <a:r>
              <a:rPr lang="en-US" altLang="zh-CN" sz="1800" b="0" dirty="0"/>
              <a:t> &lt; n-1; </a:t>
            </a:r>
            <a:r>
              <a:rPr lang="en-US" altLang="zh-CN" sz="1800" b="0" dirty="0" err="1"/>
              <a:t>i</a:t>
            </a:r>
            <a:r>
              <a:rPr lang="en-US" altLang="zh-CN" sz="1800" b="0" dirty="0"/>
              <a:t>++){</a:t>
            </a:r>
            <a:endParaRPr lang="zh-CN" altLang="zh-CN" sz="1800" b="0" dirty="0"/>
          </a:p>
          <a:p>
            <a:r>
              <a:rPr lang="en-US" altLang="zh-CN" sz="1800" b="0" dirty="0"/>
              <a:t>        Min = </a:t>
            </a:r>
            <a:r>
              <a:rPr lang="en-US" altLang="zh-CN" sz="1800" b="0" dirty="0" err="1"/>
              <a:t>maxValue</a:t>
            </a:r>
            <a:r>
              <a:rPr lang="en-US" altLang="zh-CN" sz="1800" b="0" dirty="0"/>
              <a:t>;  v = 0;	//</a:t>
            </a:r>
            <a:r>
              <a:rPr lang="zh-CN" altLang="zh-CN" sz="1800" b="0" dirty="0"/>
              <a:t>找到</a:t>
            </a:r>
            <a:r>
              <a:rPr lang="en-US" altLang="zh-CN" sz="1800" b="0" dirty="0"/>
              <a:t>U</a:t>
            </a:r>
            <a:r>
              <a:rPr lang="zh-CN" altLang="zh-CN" sz="1800" b="0" dirty="0"/>
              <a:t>中顶点到</a:t>
            </a:r>
            <a:r>
              <a:rPr lang="en-US" altLang="zh-CN" sz="1800" b="0" dirty="0"/>
              <a:t>V-U</a:t>
            </a:r>
            <a:r>
              <a:rPr lang="zh-CN" altLang="zh-CN" sz="1800" b="0" dirty="0"/>
              <a:t>中顶点权值最小的边，并记录顶点</a:t>
            </a:r>
            <a:r>
              <a:rPr lang="en-US" altLang="zh-CN" sz="1800" b="0" dirty="0"/>
              <a:t>v</a:t>
            </a:r>
            <a:endParaRPr lang="zh-CN" altLang="zh-CN" sz="1800" b="0" dirty="0"/>
          </a:p>
          <a:p>
            <a:r>
              <a:rPr lang="en-US" altLang="zh-CN" sz="1800" b="0" dirty="0"/>
              <a:t>        for(j = 0; j &lt; n; </a:t>
            </a:r>
            <a:r>
              <a:rPr lang="en-US" altLang="zh-CN" sz="1800" b="0" dirty="0" err="1"/>
              <a:t>j++</a:t>
            </a:r>
            <a:r>
              <a:rPr lang="en-US" altLang="zh-CN" sz="1800" b="0" dirty="0"/>
              <a:t>)</a:t>
            </a:r>
            <a:endParaRPr lang="zh-CN" altLang="zh-CN" sz="1800" b="0" dirty="0"/>
          </a:p>
          <a:p>
            <a:r>
              <a:rPr lang="en-US" altLang="zh-CN" sz="1800" b="0" dirty="0"/>
              <a:t>            if (</a:t>
            </a:r>
            <a:r>
              <a:rPr lang="en-US" altLang="zh-CN" sz="1800" b="0" dirty="0" err="1"/>
              <a:t>MST_Edge</a:t>
            </a:r>
            <a:r>
              <a:rPr lang="en-US" altLang="zh-CN" sz="1800" b="0" dirty="0"/>
              <a:t>[j].weight != 0 &amp;&amp; </a:t>
            </a:r>
            <a:r>
              <a:rPr lang="en-US" altLang="zh-CN" sz="1800" b="0" dirty="0" err="1"/>
              <a:t>MST_Edge</a:t>
            </a:r>
            <a:r>
              <a:rPr lang="en-US" altLang="zh-CN" sz="1800" b="0" dirty="0"/>
              <a:t>[j].weight &lt; Min){</a:t>
            </a:r>
            <a:endParaRPr lang="zh-CN" altLang="zh-CN" sz="1800" b="0" dirty="0"/>
          </a:p>
          <a:p>
            <a:r>
              <a:rPr lang="en-US" altLang="zh-CN" sz="1800" b="0" dirty="0"/>
              <a:t>                Min = </a:t>
            </a:r>
            <a:r>
              <a:rPr lang="en-US" altLang="zh-CN" sz="1800" b="0" dirty="0" err="1"/>
              <a:t>MST_Edge</a:t>
            </a:r>
            <a:r>
              <a:rPr lang="en-US" altLang="zh-CN" sz="1800" b="0" dirty="0"/>
              <a:t>[j].weight;</a:t>
            </a:r>
            <a:endParaRPr lang="zh-CN" altLang="zh-CN" sz="1800" b="0" dirty="0"/>
          </a:p>
          <a:p>
            <a:r>
              <a:rPr lang="en-US" altLang="zh-CN" sz="1800" b="0" dirty="0"/>
              <a:t>                v = j;</a:t>
            </a:r>
            <a:endParaRPr lang="zh-CN" altLang="zh-CN" sz="1800" b="0" dirty="0"/>
          </a:p>
          <a:p>
            <a:r>
              <a:rPr lang="en-US" altLang="zh-CN" sz="1800" b="0" dirty="0"/>
              <a:t>            }</a:t>
            </a:r>
            <a:endParaRPr lang="zh-CN" altLang="zh-CN" sz="1800" b="0" dirty="0"/>
          </a:p>
        </p:txBody>
      </p:sp>
    </p:spTree>
    <p:extLst>
      <p:ext uri="{BB962C8B-B14F-4D97-AF65-F5344CB8AC3E}">
        <p14:creationId xmlns:p14="http://schemas.microsoft.com/office/powerpoint/2010/main" val="284844615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7520940" cy="5040560"/>
          </a:xfrm>
        </p:spPr>
        <p:txBody>
          <a:bodyPr>
            <a:normAutofit fontScale="70000" lnSpcReduction="20000"/>
          </a:bodyPr>
          <a:lstStyle/>
          <a:p>
            <a:r>
              <a:rPr lang="en-US" altLang="zh-CN" b="0" dirty="0"/>
              <a:t>         //</a:t>
            </a:r>
            <a:r>
              <a:rPr lang="zh-CN" altLang="zh-CN" b="0" dirty="0"/>
              <a:t>将顶点</a:t>
            </a:r>
            <a:r>
              <a:rPr lang="en-US" altLang="zh-CN" b="0" dirty="0"/>
              <a:t>v</a:t>
            </a:r>
            <a:r>
              <a:rPr lang="zh-CN" altLang="zh-CN" b="0" dirty="0"/>
              <a:t>加入集合</a:t>
            </a:r>
            <a:r>
              <a:rPr lang="en-US" altLang="zh-CN" b="0" dirty="0"/>
              <a:t>U</a:t>
            </a:r>
            <a:r>
              <a:rPr lang="zh-CN" altLang="zh-CN" b="0" dirty="0"/>
              <a:t>中</a:t>
            </a:r>
          </a:p>
          <a:p>
            <a:r>
              <a:rPr lang="en-US" altLang="zh-CN" b="0" dirty="0"/>
              <a:t>        MST[</a:t>
            </a:r>
            <a:r>
              <a:rPr lang="en-US" altLang="zh-CN" b="0" dirty="0" err="1"/>
              <a:t>i</a:t>
            </a:r>
            <a:r>
              <a:rPr lang="en-US" altLang="zh-CN" b="0" dirty="0"/>
              <a:t>].from = v;</a:t>
            </a:r>
            <a:endParaRPr lang="zh-CN" altLang="zh-CN" b="0" dirty="0"/>
          </a:p>
          <a:p>
            <a:r>
              <a:rPr lang="en-US" altLang="zh-CN" b="0" dirty="0"/>
              <a:t>        MST[</a:t>
            </a:r>
            <a:r>
              <a:rPr lang="en-US" altLang="zh-CN" b="0" dirty="0" err="1"/>
              <a:t>i</a:t>
            </a:r>
            <a:r>
              <a:rPr lang="en-US" altLang="zh-CN" b="0" dirty="0"/>
              <a:t>].to = </a:t>
            </a:r>
            <a:r>
              <a:rPr lang="en-US" altLang="zh-CN" b="0" dirty="0" err="1"/>
              <a:t>MST_Edge</a:t>
            </a:r>
            <a:r>
              <a:rPr lang="en-US" altLang="zh-CN" b="0" dirty="0"/>
              <a:t>[v].to;</a:t>
            </a:r>
            <a:endParaRPr lang="zh-CN" altLang="zh-CN" b="0" dirty="0"/>
          </a:p>
          <a:p>
            <a:r>
              <a:rPr lang="en-US" altLang="zh-CN" b="0" dirty="0"/>
              <a:t>        MST[</a:t>
            </a:r>
            <a:r>
              <a:rPr lang="en-US" altLang="zh-CN" b="0" dirty="0" err="1"/>
              <a:t>i</a:t>
            </a:r>
            <a:r>
              <a:rPr lang="en-US" altLang="zh-CN" b="0" dirty="0"/>
              <a:t>].weight = Min;</a:t>
            </a:r>
            <a:endParaRPr lang="zh-CN" altLang="zh-CN" b="0" dirty="0"/>
          </a:p>
          <a:p>
            <a:r>
              <a:rPr lang="en-US" altLang="zh-CN" b="0" dirty="0"/>
              <a:t>        </a:t>
            </a:r>
            <a:r>
              <a:rPr lang="en-US" altLang="zh-CN" b="0" dirty="0" err="1"/>
              <a:t>MST_Edge</a:t>
            </a:r>
            <a:r>
              <a:rPr lang="en-US" altLang="zh-CN" b="0" dirty="0"/>
              <a:t>[v].weight = 0;</a:t>
            </a:r>
            <a:endParaRPr lang="zh-CN" altLang="zh-CN" b="0" dirty="0"/>
          </a:p>
          <a:p>
            <a:r>
              <a:rPr lang="en-US" altLang="zh-CN" b="0" dirty="0"/>
              <a:t>        //</a:t>
            </a:r>
            <a:r>
              <a:rPr lang="zh-CN" altLang="zh-CN" b="0" dirty="0"/>
              <a:t>修改辅助数组中与</a:t>
            </a:r>
            <a:r>
              <a:rPr lang="en-US" altLang="zh-CN" b="0" dirty="0"/>
              <a:t>v</a:t>
            </a:r>
            <a:r>
              <a:rPr lang="zh-CN" altLang="zh-CN" b="0" dirty="0"/>
              <a:t>关联的边的权值</a:t>
            </a:r>
          </a:p>
          <a:p>
            <a:r>
              <a:rPr lang="en-US" altLang="zh-CN" b="0" dirty="0"/>
              <a:t>        for(j = 0;j &lt; n; </a:t>
            </a:r>
            <a:r>
              <a:rPr lang="en-US" altLang="zh-CN" b="0" dirty="0" err="1"/>
              <a:t>j++</a:t>
            </a:r>
            <a:r>
              <a:rPr lang="en-US" altLang="zh-CN" b="0" dirty="0"/>
              <a:t>) </a:t>
            </a:r>
            <a:endParaRPr lang="zh-CN" altLang="zh-CN" b="0" dirty="0"/>
          </a:p>
          <a:p>
            <a:r>
              <a:rPr lang="en-US" altLang="zh-CN" b="0" dirty="0"/>
              <a:t>            if (</a:t>
            </a:r>
            <a:r>
              <a:rPr lang="en-US" altLang="zh-CN" b="0" dirty="0" err="1"/>
              <a:t>G.weight</a:t>
            </a:r>
            <a:r>
              <a:rPr lang="en-US" altLang="zh-CN" b="0" dirty="0"/>
              <a:t>(</a:t>
            </a:r>
            <a:r>
              <a:rPr lang="en-US" altLang="zh-CN" b="0" dirty="0" err="1"/>
              <a:t>v,j</a:t>
            </a:r>
            <a:r>
              <a:rPr lang="en-US" altLang="zh-CN" b="0" dirty="0"/>
              <a:t>) != 0 &amp;&amp; </a:t>
            </a:r>
            <a:r>
              <a:rPr lang="en-US" altLang="zh-CN" b="0" dirty="0" err="1"/>
              <a:t>G.weight</a:t>
            </a:r>
            <a:r>
              <a:rPr lang="en-US" altLang="zh-CN" b="0" dirty="0"/>
              <a:t>(</a:t>
            </a:r>
            <a:r>
              <a:rPr lang="en-US" altLang="zh-CN" b="0" dirty="0" err="1"/>
              <a:t>v,j</a:t>
            </a:r>
            <a:r>
              <a:rPr lang="en-US" altLang="zh-CN" b="0" dirty="0"/>
              <a:t>) &lt; </a:t>
            </a:r>
            <a:r>
              <a:rPr lang="en-US" altLang="zh-CN" b="0" dirty="0" err="1"/>
              <a:t>MST_Edge</a:t>
            </a:r>
            <a:r>
              <a:rPr lang="en-US" altLang="zh-CN" b="0" dirty="0"/>
              <a:t>[j].weight){</a:t>
            </a:r>
            <a:endParaRPr lang="zh-CN" altLang="zh-CN" b="0" dirty="0"/>
          </a:p>
          <a:p>
            <a:r>
              <a:rPr lang="en-US" altLang="zh-CN" b="0" dirty="0"/>
              <a:t>                </a:t>
            </a:r>
            <a:r>
              <a:rPr lang="en-US" altLang="zh-CN" b="0" dirty="0" err="1"/>
              <a:t>MST_Edge</a:t>
            </a:r>
            <a:r>
              <a:rPr lang="en-US" altLang="zh-CN" b="0" dirty="0"/>
              <a:t>[j].to = v;</a:t>
            </a:r>
            <a:endParaRPr lang="zh-CN" altLang="zh-CN" b="0" dirty="0"/>
          </a:p>
          <a:p>
            <a:r>
              <a:rPr lang="en-US" altLang="zh-CN" b="0" dirty="0"/>
              <a:t>                </a:t>
            </a:r>
            <a:r>
              <a:rPr lang="en-US" altLang="zh-CN" b="0" dirty="0" err="1"/>
              <a:t>MST_Edge</a:t>
            </a:r>
            <a:r>
              <a:rPr lang="en-US" altLang="zh-CN" b="0" dirty="0"/>
              <a:t>[j].weight = </a:t>
            </a:r>
            <a:r>
              <a:rPr lang="en-US" altLang="zh-CN" b="0" dirty="0" err="1"/>
              <a:t>G.weight</a:t>
            </a:r>
            <a:r>
              <a:rPr lang="en-US" altLang="zh-CN" b="0" dirty="0"/>
              <a:t>(</a:t>
            </a:r>
            <a:r>
              <a:rPr lang="en-US" altLang="zh-CN" b="0" dirty="0" err="1"/>
              <a:t>v,j</a:t>
            </a:r>
            <a:r>
              <a:rPr lang="en-US" altLang="zh-CN" b="0" dirty="0"/>
              <a:t>);</a:t>
            </a:r>
            <a:endParaRPr lang="zh-CN" altLang="zh-CN" b="0" dirty="0"/>
          </a:p>
          <a:p>
            <a:r>
              <a:rPr lang="en-US" altLang="zh-CN" b="0" dirty="0"/>
              <a:t>            }</a:t>
            </a:r>
            <a:endParaRPr lang="zh-CN" altLang="zh-CN" b="0" dirty="0"/>
          </a:p>
          <a:p>
            <a:r>
              <a:rPr lang="en-US" altLang="zh-CN" b="0" dirty="0"/>
              <a:t>    }</a:t>
            </a:r>
            <a:endParaRPr lang="zh-CN" altLang="zh-CN" b="0" dirty="0"/>
          </a:p>
          <a:p>
            <a:r>
              <a:rPr lang="en-US" altLang="zh-CN" b="0" dirty="0"/>
              <a:t>}</a:t>
            </a:r>
            <a:endParaRPr lang="zh-CN" altLang="en-US" dirty="0"/>
          </a:p>
        </p:txBody>
      </p:sp>
    </p:spTree>
    <p:extLst>
      <p:ext uri="{BB962C8B-B14F-4D97-AF65-F5344CB8AC3E}">
        <p14:creationId xmlns:p14="http://schemas.microsoft.com/office/powerpoint/2010/main" val="75828093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980728"/>
            <a:ext cx="7520940" cy="792088"/>
          </a:xfrm>
        </p:spPr>
        <p:txBody>
          <a:bodyPr>
            <a:normAutofit lnSpcReduction="10000"/>
          </a:bodyPr>
          <a:lstStyle/>
          <a:p>
            <a:r>
              <a:rPr lang="zh-CN" altLang="zh-CN" sz="2000" b="0" dirty="0"/>
              <a:t>用</a:t>
            </a:r>
            <a:r>
              <a:rPr lang="en-US" altLang="zh-CN" sz="2000" b="0" dirty="0"/>
              <a:t>Prim</a:t>
            </a:r>
            <a:r>
              <a:rPr lang="zh-CN" altLang="zh-CN" sz="2000" b="0" dirty="0"/>
              <a:t>算法构造图</a:t>
            </a:r>
            <a:r>
              <a:rPr lang="en-US" altLang="zh-CN" sz="2000" b="0" dirty="0"/>
              <a:t>6-36(a)</a:t>
            </a:r>
            <a:r>
              <a:rPr lang="zh-CN" altLang="zh-CN" sz="2000" b="0" dirty="0"/>
              <a:t>所示带权连通图的最小生成树的过程中，</a:t>
            </a:r>
            <a:r>
              <a:rPr lang="en-US" altLang="zh-CN" sz="2000" b="0" dirty="0" err="1"/>
              <a:t>MST_Edge</a:t>
            </a:r>
            <a:r>
              <a:rPr lang="zh-CN" altLang="zh-CN" sz="2000" b="0" dirty="0"/>
              <a:t>数组中各分量的变化情况如表</a:t>
            </a:r>
            <a:r>
              <a:rPr lang="en-US" altLang="zh-CN" sz="2000" b="0" dirty="0"/>
              <a:t>6-8</a:t>
            </a:r>
            <a:r>
              <a:rPr lang="zh-CN" altLang="zh-CN" sz="2000" b="0" dirty="0"/>
              <a:t>所示。</a:t>
            </a:r>
          </a:p>
          <a:p>
            <a:endParaRPr lang="zh-CN" altLang="en-US" sz="2000" b="0" dirty="0"/>
          </a:p>
        </p:txBody>
      </p:sp>
      <p:pic>
        <p:nvPicPr>
          <p:cNvPr id="4301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504" y="1958809"/>
            <a:ext cx="6984776" cy="42330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7122762" y="3645024"/>
            <a:ext cx="2195736" cy="646331"/>
          </a:xfrm>
          <a:prstGeom prst="rect">
            <a:avLst/>
          </a:prstGeom>
        </p:spPr>
        <p:txBody>
          <a:bodyPr wrap="square">
            <a:spAutoFit/>
          </a:bodyPr>
          <a:lstStyle/>
          <a:p>
            <a:r>
              <a:rPr lang="en-US" altLang="zh-CN" dirty="0"/>
              <a:t>Prim</a:t>
            </a:r>
            <a:r>
              <a:rPr lang="zh-CN" altLang="zh-CN" dirty="0"/>
              <a:t>算法的时间复杂度为</a:t>
            </a:r>
            <a:r>
              <a:rPr lang="en-US" altLang="zh-CN" dirty="0"/>
              <a:t>O(n</a:t>
            </a:r>
            <a:r>
              <a:rPr lang="en-US" altLang="zh-CN" baseline="30000" dirty="0"/>
              <a:t>2</a:t>
            </a:r>
            <a:r>
              <a:rPr lang="en-US" altLang="zh-CN" dirty="0"/>
              <a:t>)</a:t>
            </a:r>
            <a:endParaRPr lang="zh-CN" altLang="en-US" dirty="0"/>
          </a:p>
        </p:txBody>
      </p:sp>
    </p:spTree>
    <p:extLst>
      <p:ext uri="{BB962C8B-B14F-4D97-AF65-F5344CB8AC3E}">
        <p14:creationId xmlns:p14="http://schemas.microsoft.com/office/powerpoint/2010/main" val="243994971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1F5F4D3-D43B-45B0-8E64-1C6351DA571A}"/>
              </a:ext>
            </a:extLst>
          </p:cNvPr>
          <p:cNvSpPr>
            <a:spLocks noGrp="1"/>
          </p:cNvSpPr>
          <p:nvPr>
            <p:ph type="dt" sz="half" idx="10"/>
          </p:nvPr>
        </p:nvSpPr>
        <p:spPr/>
        <p:txBody>
          <a:bodyPr/>
          <a:lstStyle/>
          <a:p>
            <a:fld id="{9A6B2991-BBE5-4E69-A281-1A8B0AE9CDD7}" type="datetime1">
              <a:rPr lang="zh-CN" altLang="en-US" smtClean="0"/>
              <a:pPr/>
              <a:t>2025/5/5</a:t>
            </a:fld>
            <a:endParaRPr lang="zh-CN" altLang="en-US" dirty="0"/>
          </a:p>
        </p:txBody>
      </p:sp>
      <p:pic>
        <p:nvPicPr>
          <p:cNvPr id="4" name="图片 3">
            <a:extLst>
              <a:ext uri="{FF2B5EF4-FFF2-40B4-BE49-F238E27FC236}">
                <a16:creationId xmlns:a16="http://schemas.microsoft.com/office/drawing/2014/main" id="{3DA57E16-84AB-452E-BFE9-B61E2C8842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9246" y="620689"/>
            <a:ext cx="3602656" cy="4824536"/>
          </a:xfrm>
          <a:prstGeom prst="rect">
            <a:avLst/>
          </a:prstGeom>
        </p:spPr>
      </p:pic>
      <p:pic>
        <p:nvPicPr>
          <p:cNvPr id="8" name="图片 7">
            <a:extLst>
              <a:ext uri="{FF2B5EF4-FFF2-40B4-BE49-F238E27FC236}">
                <a16:creationId xmlns:a16="http://schemas.microsoft.com/office/drawing/2014/main" id="{9F5E1A32-677C-411C-8E71-E56DC4F84420}"/>
              </a:ext>
            </a:extLst>
          </p:cNvPr>
          <p:cNvPicPr>
            <a:picLocks noChangeAspect="1"/>
          </p:cNvPicPr>
          <p:nvPr/>
        </p:nvPicPr>
        <p:blipFill>
          <a:blip r:embed="rId3"/>
          <a:stretch>
            <a:fillRect/>
          </a:stretch>
        </p:blipFill>
        <p:spPr>
          <a:xfrm>
            <a:off x="4499992" y="832556"/>
            <a:ext cx="3600400" cy="3745140"/>
          </a:xfrm>
          <a:prstGeom prst="rect">
            <a:avLst/>
          </a:prstGeom>
        </p:spPr>
      </p:pic>
    </p:spTree>
    <p:extLst>
      <p:ext uri="{BB962C8B-B14F-4D97-AF65-F5344CB8AC3E}">
        <p14:creationId xmlns:p14="http://schemas.microsoft.com/office/powerpoint/2010/main" val="226293409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55A1270-2088-41C2-8057-2D56E80B7936}"/>
              </a:ext>
            </a:extLst>
          </p:cNvPr>
          <p:cNvSpPr>
            <a:spLocks noGrp="1"/>
          </p:cNvSpPr>
          <p:nvPr>
            <p:ph type="dt" sz="half" idx="10"/>
          </p:nvPr>
        </p:nvSpPr>
        <p:spPr/>
        <p:txBody>
          <a:bodyPr/>
          <a:lstStyle/>
          <a:p>
            <a:fld id="{9A6B2991-BBE5-4E69-A281-1A8B0AE9CDD7}" type="datetime1">
              <a:rPr lang="zh-CN" altLang="en-US" smtClean="0"/>
              <a:pPr/>
              <a:t>2025/5/6</a:t>
            </a:fld>
            <a:endParaRPr lang="zh-CN" altLang="en-US"/>
          </a:p>
        </p:txBody>
      </p:sp>
      <p:sp>
        <p:nvSpPr>
          <p:cNvPr id="3" name="椭圆 2">
            <a:extLst>
              <a:ext uri="{FF2B5EF4-FFF2-40B4-BE49-F238E27FC236}">
                <a16:creationId xmlns:a16="http://schemas.microsoft.com/office/drawing/2014/main" id="{9431B3CD-4554-492C-A3B3-3BB6466D3AD9}"/>
              </a:ext>
            </a:extLst>
          </p:cNvPr>
          <p:cNvSpPr/>
          <p:nvPr/>
        </p:nvSpPr>
        <p:spPr>
          <a:xfrm>
            <a:off x="1496961" y="404664"/>
            <a:ext cx="842791" cy="721336"/>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kern="1000" dirty="0">
                <a:latin typeface="Arial Black" panose="020B0A04020102020204" pitchFamily="34" charset="0"/>
              </a:rPr>
              <a:t>V1</a:t>
            </a:r>
            <a:endParaRPr lang="zh-CN" altLang="en-US" b="1" kern="1000" dirty="0">
              <a:latin typeface="Arial Black" panose="020B0A04020102020204" pitchFamily="34" charset="0"/>
            </a:endParaRPr>
          </a:p>
        </p:txBody>
      </p:sp>
      <p:sp>
        <p:nvSpPr>
          <p:cNvPr id="4" name="椭圆 3">
            <a:extLst>
              <a:ext uri="{FF2B5EF4-FFF2-40B4-BE49-F238E27FC236}">
                <a16:creationId xmlns:a16="http://schemas.microsoft.com/office/drawing/2014/main" id="{C424AA42-1F36-4C94-83B4-EBF78D36ACD1}"/>
              </a:ext>
            </a:extLst>
          </p:cNvPr>
          <p:cNvSpPr/>
          <p:nvPr/>
        </p:nvSpPr>
        <p:spPr>
          <a:xfrm>
            <a:off x="3801217" y="404664"/>
            <a:ext cx="842791" cy="721336"/>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kern="1000" dirty="0">
                <a:latin typeface="Arial Black" panose="020B0A04020102020204" pitchFamily="34" charset="0"/>
              </a:rPr>
              <a:t>V2</a:t>
            </a:r>
            <a:endParaRPr lang="zh-CN" altLang="en-US" b="1" kern="1000" dirty="0">
              <a:latin typeface="Arial Black" panose="020B0A04020102020204" pitchFamily="34" charset="0"/>
            </a:endParaRPr>
          </a:p>
        </p:txBody>
      </p:sp>
      <p:sp>
        <p:nvSpPr>
          <p:cNvPr id="5" name="椭圆 4">
            <a:extLst>
              <a:ext uri="{FF2B5EF4-FFF2-40B4-BE49-F238E27FC236}">
                <a16:creationId xmlns:a16="http://schemas.microsoft.com/office/drawing/2014/main" id="{C322BBFA-7AFA-4070-9D9D-98DA0C15CD30}"/>
              </a:ext>
            </a:extLst>
          </p:cNvPr>
          <p:cNvSpPr/>
          <p:nvPr/>
        </p:nvSpPr>
        <p:spPr>
          <a:xfrm>
            <a:off x="1496961" y="1987584"/>
            <a:ext cx="842791" cy="721336"/>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kern="1000" dirty="0">
                <a:latin typeface="Arial Black" panose="020B0A04020102020204" pitchFamily="34" charset="0"/>
              </a:rPr>
              <a:t>V4</a:t>
            </a:r>
            <a:endParaRPr lang="zh-CN" altLang="en-US" b="1" kern="1000" dirty="0">
              <a:latin typeface="Arial Black" panose="020B0A04020102020204" pitchFamily="34" charset="0"/>
            </a:endParaRPr>
          </a:p>
        </p:txBody>
      </p:sp>
      <p:sp>
        <p:nvSpPr>
          <p:cNvPr id="6" name="椭圆 5">
            <a:extLst>
              <a:ext uri="{FF2B5EF4-FFF2-40B4-BE49-F238E27FC236}">
                <a16:creationId xmlns:a16="http://schemas.microsoft.com/office/drawing/2014/main" id="{940433D3-D887-490D-80E3-6A7A021328B2}"/>
              </a:ext>
            </a:extLst>
          </p:cNvPr>
          <p:cNvSpPr/>
          <p:nvPr/>
        </p:nvSpPr>
        <p:spPr>
          <a:xfrm>
            <a:off x="3801217" y="1987584"/>
            <a:ext cx="842791" cy="721336"/>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kern="1000" dirty="0">
                <a:latin typeface="Arial Black" panose="020B0A04020102020204" pitchFamily="34" charset="0"/>
              </a:rPr>
              <a:t>V5</a:t>
            </a:r>
            <a:endParaRPr lang="zh-CN" altLang="en-US" b="1" kern="1000" dirty="0">
              <a:latin typeface="Arial Black" panose="020B0A04020102020204" pitchFamily="34" charset="0"/>
            </a:endParaRPr>
          </a:p>
        </p:txBody>
      </p:sp>
      <p:sp>
        <p:nvSpPr>
          <p:cNvPr id="7" name="椭圆 6">
            <a:extLst>
              <a:ext uri="{FF2B5EF4-FFF2-40B4-BE49-F238E27FC236}">
                <a16:creationId xmlns:a16="http://schemas.microsoft.com/office/drawing/2014/main" id="{AAF439D0-F8DB-4A20-A5BF-734F73D2B2B1}"/>
              </a:ext>
            </a:extLst>
          </p:cNvPr>
          <p:cNvSpPr/>
          <p:nvPr/>
        </p:nvSpPr>
        <p:spPr>
          <a:xfrm>
            <a:off x="6249489" y="404664"/>
            <a:ext cx="842791" cy="721336"/>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kern="1000" dirty="0">
                <a:latin typeface="Arial Black" panose="020B0A04020102020204" pitchFamily="34" charset="0"/>
              </a:rPr>
              <a:t>V3</a:t>
            </a:r>
            <a:endParaRPr lang="zh-CN" altLang="en-US" b="1" kern="1000" dirty="0">
              <a:latin typeface="Arial Black" panose="020B0A04020102020204" pitchFamily="34" charset="0"/>
            </a:endParaRPr>
          </a:p>
        </p:txBody>
      </p:sp>
      <p:sp>
        <p:nvSpPr>
          <p:cNvPr id="8" name="椭圆 7">
            <a:extLst>
              <a:ext uri="{FF2B5EF4-FFF2-40B4-BE49-F238E27FC236}">
                <a16:creationId xmlns:a16="http://schemas.microsoft.com/office/drawing/2014/main" id="{BBC3C2F0-F156-4061-905F-D66FAE85015F}"/>
              </a:ext>
            </a:extLst>
          </p:cNvPr>
          <p:cNvSpPr/>
          <p:nvPr/>
        </p:nvSpPr>
        <p:spPr>
          <a:xfrm>
            <a:off x="1475656" y="3645024"/>
            <a:ext cx="842791" cy="721336"/>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kern="1000" dirty="0">
                <a:latin typeface="Arial Black" panose="020B0A04020102020204" pitchFamily="34" charset="0"/>
              </a:rPr>
              <a:t>V1</a:t>
            </a:r>
            <a:endParaRPr lang="zh-CN" altLang="en-US" b="1" kern="1000" dirty="0">
              <a:latin typeface="Arial Black" panose="020B0A04020102020204" pitchFamily="34" charset="0"/>
            </a:endParaRPr>
          </a:p>
        </p:txBody>
      </p:sp>
      <p:sp>
        <p:nvSpPr>
          <p:cNvPr id="9" name="椭圆 8">
            <a:extLst>
              <a:ext uri="{FF2B5EF4-FFF2-40B4-BE49-F238E27FC236}">
                <a16:creationId xmlns:a16="http://schemas.microsoft.com/office/drawing/2014/main" id="{CAA265FF-A6FF-4D85-9C41-FB24C5F38BAF}"/>
              </a:ext>
            </a:extLst>
          </p:cNvPr>
          <p:cNvSpPr/>
          <p:nvPr/>
        </p:nvSpPr>
        <p:spPr>
          <a:xfrm>
            <a:off x="3779912" y="3645024"/>
            <a:ext cx="842791" cy="721336"/>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kern="1000" dirty="0">
                <a:latin typeface="Arial Black" panose="020B0A04020102020204" pitchFamily="34" charset="0"/>
              </a:rPr>
              <a:t>V2</a:t>
            </a:r>
            <a:endParaRPr lang="zh-CN" altLang="en-US" b="1" kern="1000" dirty="0">
              <a:latin typeface="Arial Black" panose="020B0A04020102020204" pitchFamily="34" charset="0"/>
            </a:endParaRPr>
          </a:p>
        </p:txBody>
      </p:sp>
      <p:sp>
        <p:nvSpPr>
          <p:cNvPr id="10" name="椭圆 9">
            <a:extLst>
              <a:ext uri="{FF2B5EF4-FFF2-40B4-BE49-F238E27FC236}">
                <a16:creationId xmlns:a16="http://schemas.microsoft.com/office/drawing/2014/main" id="{1C1A98E4-A415-4212-AB37-A866013281B6}"/>
              </a:ext>
            </a:extLst>
          </p:cNvPr>
          <p:cNvSpPr/>
          <p:nvPr/>
        </p:nvSpPr>
        <p:spPr>
          <a:xfrm>
            <a:off x="1475656" y="5227944"/>
            <a:ext cx="842791" cy="721336"/>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kern="1000" dirty="0">
                <a:latin typeface="Arial Black" panose="020B0A04020102020204" pitchFamily="34" charset="0"/>
              </a:rPr>
              <a:t>V4</a:t>
            </a:r>
            <a:endParaRPr lang="zh-CN" altLang="en-US" b="1" kern="1000" dirty="0">
              <a:latin typeface="Arial Black" panose="020B0A04020102020204" pitchFamily="34" charset="0"/>
            </a:endParaRPr>
          </a:p>
        </p:txBody>
      </p:sp>
      <p:sp>
        <p:nvSpPr>
          <p:cNvPr id="11" name="椭圆 10">
            <a:extLst>
              <a:ext uri="{FF2B5EF4-FFF2-40B4-BE49-F238E27FC236}">
                <a16:creationId xmlns:a16="http://schemas.microsoft.com/office/drawing/2014/main" id="{5544F029-2F5F-47FB-8183-D449A3AE3F11}"/>
              </a:ext>
            </a:extLst>
          </p:cNvPr>
          <p:cNvSpPr/>
          <p:nvPr/>
        </p:nvSpPr>
        <p:spPr>
          <a:xfrm>
            <a:off x="3779912" y="5227944"/>
            <a:ext cx="842791" cy="721336"/>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kern="1000" dirty="0">
                <a:latin typeface="Arial Black" panose="020B0A04020102020204" pitchFamily="34" charset="0"/>
              </a:rPr>
              <a:t>V5</a:t>
            </a:r>
            <a:endParaRPr lang="zh-CN" altLang="en-US" b="1" kern="1000" dirty="0">
              <a:latin typeface="Arial Black" panose="020B0A04020102020204" pitchFamily="34" charset="0"/>
            </a:endParaRPr>
          </a:p>
        </p:txBody>
      </p:sp>
      <p:sp>
        <p:nvSpPr>
          <p:cNvPr id="12" name="椭圆 11">
            <a:extLst>
              <a:ext uri="{FF2B5EF4-FFF2-40B4-BE49-F238E27FC236}">
                <a16:creationId xmlns:a16="http://schemas.microsoft.com/office/drawing/2014/main" id="{7DE7F2C4-9739-4370-AE1A-FC64ACE4053B}"/>
              </a:ext>
            </a:extLst>
          </p:cNvPr>
          <p:cNvSpPr/>
          <p:nvPr/>
        </p:nvSpPr>
        <p:spPr>
          <a:xfrm>
            <a:off x="6228184" y="3645024"/>
            <a:ext cx="842791" cy="721336"/>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kern="1000" dirty="0">
                <a:latin typeface="Arial Black" panose="020B0A04020102020204" pitchFamily="34" charset="0"/>
              </a:rPr>
              <a:t>V3</a:t>
            </a:r>
            <a:endParaRPr lang="zh-CN" altLang="en-US" b="1" kern="1000" dirty="0">
              <a:latin typeface="Arial Black" panose="020B0A04020102020204" pitchFamily="34" charset="0"/>
            </a:endParaRPr>
          </a:p>
        </p:txBody>
      </p:sp>
      <p:cxnSp>
        <p:nvCxnSpPr>
          <p:cNvPr id="14" name="直接连接符 13">
            <a:extLst>
              <a:ext uri="{FF2B5EF4-FFF2-40B4-BE49-F238E27FC236}">
                <a16:creationId xmlns:a16="http://schemas.microsoft.com/office/drawing/2014/main" id="{5D58C86C-344A-4FAF-A091-97E1C93CC6DF}"/>
              </a:ext>
            </a:extLst>
          </p:cNvPr>
          <p:cNvCxnSpPr>
            <a:stCxn id="3" idx="6"/>
            <a:endCxn id="4" idx="2"/>
          </p:cNvCxnSpPr>
          <p:nvPr/>
        </p:nvCxnSpPr>
        <p:spPr>
          <a:xfrm>
            <a:off x="2339752" y="765332"/>
            <a:ext cx="1461465"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6E32298B-7ECA-4238-84BA-3908D355436B}"/>
              </a:ext>
            </a:extLst>
          </p:cNvPr>
          <p:cNvCxnSpPr>
            <a:stCxn id="4" idx="6"/>
            <a:endCxn id="7" idx="2"/>
          </p:cNvCxnSpPr>
          <p:nvPr/>
        </p:nvCxnSpPr>
        <p:spPr>
          <a:xfrm>
            <a:off x="4644008" y="765332"/>
            <a:ext cx="1605481"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7B5D9ADC-A1F4-4E5F-A3C8-15FF215940F3}"/>
              </a:ext>
            </a:extLst>
          </p:cNvPr>
          <p:cNvCxnSpPr>
            <a:stCxn id="3" idx="4"/>
            <a:endCxn id="5" idx="0"/>
          </p:cNvCxnSpPr>
          <p:nvPr/>
        </p:nvCxnSpPr>
        <p:spPr>
          <a:xfrm>
            <a:off x="1918357" y="1126000"/>
            <a:ext cx="0" cy="86158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75034823-79E7-4F15-8FB7-BE6D000DDC54}"/>
              </a:ext>
            </a:extLst>
          </p:cNvPr>
          <p:cNvCxnSpPr>
            <a:stCxn id="5" idx="6"/>
            <a:endCxn id="6" idx="2"/>
          </p:cNvCxnSpPr>
          <p:nvPr/>
        </p:nvCxnSpPr>
        <p:spPr>
          <a:xfrm>
            <a:off x="2339752" y="2348252"/>
            <a:ext cx="1461465"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CB987F8C-2F47-45D1-9914-16FAD56F8C2F}"/>
              </a:ext>
            </a:extLst>
          </p:cNvPr>
          <p:cNvCxnSpPr>
            <a:stCxn id="4" idx="4"/>
            <a:endCxn id="6" idx="0"/>
          </p:cNvCxnSpPr>
          <p:nvPr/>
        </p:nvCxnSpPr>
        <p:spPr>
          <a:xfrm>
            <a:off x="4222613" y="1126000"/>
            <a:ext cx="0" cy="86158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68317AA8-D846-4ABE-BECA-E6928527A145}"/>
              </a:ext>
            </a:extLst>
          </p:cNvPr>
          <p:cNvCxnSpPr>
            <a:stCxn id="6" idx="6"/>
          </p:cNvCxnSpPr>
          <p:nvPr/>
        </p:nvCxnSpPr>
        <p:spPr>
          <a:xfrm flipV="1">
            <a:off x="4644008" y="1126000"/>
            <a:ext cx="1872208" cy="1222252"/>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5F62AC46-49B0-4598-A981-98E042A42534}"/>
              </a:ext>
            </a:extLst>
          </p:cNvPr>
          <p:cNvCxnSpPr>
            <a:cxnSpLocks/>
            <a:stCxn id="5" idx="7"/>
            <a:endCxn id="4" idx="3"/>
          </p:cNvCxnSpPr>
          <p:nvPr/>
        </p:nvCxnSpPr>
        <p:spPr>
          <a:xfrm flipV="1">
            <a:off x="2216328" y="1020363"/>
            <a:ext cx="1708313" cy="1072858"/>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795CADF3-91A3-4FD0-9A98-8E9B2D806246}"/>
              </a:ext>
            </a:extLst>
          </p:cNvPr>
          <p:cNvSpPr txBox="1"/>
          <p:nvPr/>
        </p:nvSpPr>
        <p:spPr>
          <a:xfrm>
            <a:off x="2627784" y="260648"/>
            <a:ext cx="504056" cy="369332"/>
          </a:xfrm>
          <a:prstGeom prst="rect">
            <a:avLst/>
          </a:prstGeom>
          <a:noFill/>
        </p:spPr>
        <p:txBody>
          <a:bodyPr wrap="square" rtlCol="0">
            <a:spAutoFit/>
          </a:bodyPr>
          <a:lstStyle/>
          <a:p>
            <a:r>
              <a:rPr lang="en-US" altLang="zh-CN" b="1" dirty="0">
                <a:latin typeface="Arial Black" panose="020B0A04020102020204" pitchFamily="34" charset="0"/>
              </a:rPr>
              <a:t>2</a:t>
            </a:r>
            <a:endParaRPr lang="zh-CN" altLang="en-US" b="1" dirty="0">
              <a:latin typeface="Arial Black" panose="020B0A04020102020204" pitchFamily="34" charset="0"/>
            </a:endParaRPr>
          </a:p>
        </p:txBody>
      </p:sp>
      <p:sp>
        <p:nvSpPr>
          <p:cNvPr id="29" name="文本框 28">
            <a:extLst>
              <a:ext uri="{FF2B5EF4-FFF2-40B4-BE49-F238E27FC236}">
                <a16:creationId xmlns:a16="http://schemas.microsoft.com/office/drawing/2014/main" id="{FD63DCBB-38A3-4E9F-9014-188CE5D0C2D8}"/>
              </a:ext>
            </a:extLst>
          </p:cNvPr>
          <p:cNvSpPr txBox="1"/>
          <p:nvPr/>
        </p:nvSpPr>
        <p:spPr>
          <a:xfrm>
            <a:off x="5076056" y="332656"/>
            <a:ext cx="504056" cy="369332"/>
          </a:xfrm>
          <a:prstGeom prst="rect">
            <a:avLst/>
          </a:prstGeom>
          <a:noFill/>
        </p:spPr>
        <p:txBody>
          <a:bodyPr wrap="square" rtlCol="0">
            <a:spAutoFit/>
          </a:bodyPr>
          <a:lstStyle/>
          <a:p>
            <a:r>
              <a:rPr lang="en-US" altLang="zh-CN" b="1" dirty="0">
                <a:latin typeface="Arial Black" panose="020B0A04020102020204" pitchFamily="34" charset="0"/>
              </a:rPr>
              <a:t>3</a:t>
            </a:r>
            <a:endParaRPr lang="zh-CN" altLang="en-US" b="1" dirty="0">
              <a:latin typeface="Arial Black" panose="020B0A04020102020204" pitchFamily="34" charset="0"/>
            </a:endParaRPr>
          </a:p>
        </p:txBody>
      </p:sp>
      <p:sp>
        <p:nvSpPr>
          <p:cNvPr id="30" name="文本框 29">
            <a:extLst>
              <a:ext uri="{FF2B5EF4-FFF2-40B4-BE49-F238E27FC236}">
                <a16:creationId xmlns:a16="http://schemas.microsoft.com/office/drawing/2014/main" id="{28385696-7F83-41B3-A887-4730BE8469B2}"/>
              </a:ext>
            </a:extLst>
          </p:cNvPr>
          <p:cNvSpPr txBox="1"/>
          <p:nvPr/>
        </p:nvSpPr>
        <p:spPr>
          <a:xfrm>
            <a:off x="2780184" y="1187460"/>
            <a:ext cx="504056" cy="369332"/>
          </a:xfrm>
          <a:prstGeom prst="rect">
            <a:avLst/>
          </a:prstGeom>
          <a:noFill/>
        </p:spPr>
        <p:txBody>
          <a:bodyPr wrap="square" rtlCol="0">
            <a:spAutoFit/>
          </a:bodyPr>
          <a:lstStyle/>
          <a:p>
            <a:r>
              <a:rPr lang="en-US" altLang="zh-CN" b="1" dirty="0">
                <a:latin typeface="Arial Black" panose="020B0A04020102020204" pitchFamily="34" charset="0"/>
              </a:rPr>
              <a:t>8</a:t>
            </a:r>
            <a:endParaRPr lang="zh-CN" altLang="en-US" b="1" dirty="0">
              <a:latin typeface="Arial Black" panose="020B0A04020102020204" pitchFamily="34" charset="0"/>
            </a:endParaRPr>
          </a:p>
        </p:txBody>
      </p:sp>
      <p:sp>
        <p:nvSpPr>
          <p:cNvPr id="31" name="文本框 30">
            <a:extLst>
              <a:ext uri="{FF2B5EF4-FFF2-40B4-BE49-F238E27FC236}">
                <a16:creationId xmlns:a16="http://schemas.microsoft.com/office/drawing/2014/main" id="{2EA82BEB-F5D7-4D3E-A9BB-4178EAA420EB}"/>
              </a:ext>
            </a:extLst>
          </p:cNvPr>
          <p:cNvSpPr txBox="1"/>
          <p:nvPr/>
        </p:nvSpPr>
        <p:spPr>
          <a:xfrm>
            <a:off x="1547664" y="1259468"/>
            <a:ext cx="504056" cy="369332"/>
          </a:xfrm>
          <a:prstGeom prst="rect">
            <a:avLst/>
          </a:prstGeom>
          <a:noFill/>
        </p:spPr>
        <p:txBody>
          <a:bodyPr wrap="square" rtlCol="0">
            <a:spAutoFit/>
          </a:bodyPr>
          <a:lstStyle/>
          <a:p>
            <a:r>
              <a:rPr lang="en-US" altLang="zh-CN" b="1" dirty="0">
                <a:latin typeface="Arial Black" panose="020B0A04020102020204" pitchFamily="34" charset="0"/>
              </a:rPr>
              <a:t>6</a:t>
            </a:r>
            <a:endParaRPr lang="zh-CN" altLang="en-US" b="1" dirty="0">
              <a:latin typeface="Arial Black" panose="020B0A04020102020204" pitchFamily="34" charset="0"/>
            </a:endParaRPr>
          </a:p>
        </p:txBody>
      </p:sp>
      <p:sp>
        <p:nvSpPr>
          <p:cNvPr id="32" name="文本框 31">
            <a:extLst>
              <a:ext uri="{FF2B5EF4-FFF2-40B4-BE49-F238E27FC236}">
                <a16:creationId xmlns:a16="http://schemas.microsoft.com/office/drawing/2014/main" id="{62D455FA-AD93-4A83-AA96-967EA70B4A6E}"/>
              </a:ext>
            </a:extLst>
          </p:cNvPr>
          <p:cNvSpPr txBox="1"/>
          <p:nvPr/>
        </p:nvSpPr>
        <p:spPr>
          <a:xfrm>
            <a:off x="4283968" y="1331476"/>
            <a:ext cx="504056" cy="369332"/>
          </a:xfrm>
          <a:prstGeom prst="rect">
            <a:avLst/>
          </a:prstGeom>
          <a:noFill/>
        </p:spPr>
        <p:txBody>
          <a:bodyPr wrap="square" rtlCol="0">
            <a:spAutoFit/>
          </a:bodyPr>
          <a:lstStyle/>
          <a:p>
            <a:r>
              <a:rPr lang="en-US" altLang="zh-CN" b="1" dirty="0">
                <a:latin typeface="Arial Black" panose="020B0A04020102020204" pitchFamily="34" charset="0"/>
              </a:rPr>
              <a:t>5</a:t>
            </a:r>
            <a:endParaRPr lang="zh-CN" altLang="en-US" b="1" dirty="0">
              <a:latin typeface="Arial Black" panose="020B0A04020102020204" pitchFamily="34" charset="0"/>
            </a:endParaRPr>
          </a:p>
        </p:txBody>
      </p:sp>
      <p:sp>
        <p:nvSpPr>
          <p:cNvPr id="33" name="文本框 32">
            <a:extLst>
              <a:ext uri="{FF2B5EF4-FFF2-40B4-BE49-F238E27FC236}">
                <a16:creationId xmlns:a16="http://schemas.microsoft.com/office/drawing/2014/main" id="{670691F0-89D7-494B-8755-29FEEAB5B27B}"/>
              </a:ext>
            </a:extLst>
          </p:cNvPr>
          <p:cNvSpPr txBox="1"/>
          <p:nvPr/>
        </p:nvSpPr>
        <p:spPr>
          <a:xfrm>
            <a:off x="2843808" y="2420888"/>
            <a:ext cx="504056" cy="369332"/>
          </a:xfrm>
          <a:prstGeom prst="rect">
            <a:avLst/>
          </a:prstGeom>
          <a:noFill/>
        </p:spPr>
        <p:txBody>
          <a:bodyPr wrap="square" rtlCol="0">
            <a:spAutoFit/>
          </a:bodyPr>
          <a:lstStyle/>
          <a:p>
            <a:r>
              <a:rPr lang="en-US" altLang="zh-CN" b="1" dirty="0">
                <a:latin typeface="Arial Black" panose="020B0A04020102020204" pitchFamily="34" charset="0"/>
              </a:rPr>
              <a:t>9</a:t>
            </a:r>
            <a:endParaRPr lang="zh-CN" altLang="en-US" b="1" dirty="0">
              <a:latin typeface="Arial Black" panose="020B0A04020102020204" pitchFamily="34" charset="0"/>
            </a:endParaRPr>
          </a:p>
        </p:txBody>
      </p:sp>
      <p:sp>
        <p:nvSpPr>
          <p:cNvPr id="34" name="文本框 33">
            <a:extLst>
              <a:ext uri="{FF2B5EF4-FFF2-40B4-BE49-F238E27FC236}">
                <a16:creationId xmlns:a16="http://schemas.microsoft.com/office/drawing/2014/main" id="{74B9B068-CA7C-4FDE-AD38-D684F2611510}"/>
              </a:ext>
            </a:extLst>
          </p:cNvPr>
          <p:cNvSpPr txBox="1"/>
          <p:nvPr/>
        </p:nvSpPr>
        <p:spPr>
          <a:xfrm>
            <a:off x="5724128" y="1691516"/>
            <a:ext cx="504056" cy="369332"/>
          </a:xfrm>
          <a:prstGeom prst="rect">
            <a:avLst/>
          </a:prstGeom>
          <a:noFill/>
        </p:spPr>
        <p:txBody>
          <a:bodyPr wrap="square" rtlCol="0">
            <a:spAutoFit/>
          </a:bodyPr>
          <a:lstStyle/>
          <a:p>
            <a:r>
              <a:rPr lang="en-US" altLang="zh-CN" b="1" dirty="0">
                <a:latin typeface="Arial Black" panose="020B0A04020102020204" pitchFamily="34" charset="0"/>
              </a:rPr>
              <a:t>7</a:t>
            </a:r>
            <a:endParaRPr lang="zh-CN" altLang="en-US" b="1" dirty="0">
              <a:latin typeface="Arial Black" panose="020B0A04020102020204" pitchFamily="34" charset="0"/>
            </a:endParaRPr>
          </a:p>
        </p:txBody>
      </p:sp>
      <p:cxnSp>
        <p:nvCxnSpPr>
          <p:cNvPr id="35" name="直接连接符 34">
            <a:extLst>
              <a:ext uri="{FF2B5EF4-FFF2-40B4-BE49-F238E27FC236}">
                <a16:creationId xmlns:a16="http://schemas.microsoft.com/office/drawing/2014/main" id="{96D2CA90-6F0C-43AE-BD6A-366BF2A083EA}"/>
              </a:ext>
            </a:extLst>
          </p:cNvPr>
          <p:cNvCxnSpPr/>
          <p:nvPr/>
        </p:nvCxnSpPr>
        <p:spPr>
          <a:xfrm>
            <a:off x="2318447" y="4006948"/>
            <a:ext cx="1461465"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E88C3D30-932E-48EE-B3E2-21A986F962F4}"/>
              </a:ext>
            </a:extLst>
          </p:cNvPr>
          <p:cNvCxnSpPr/>
          <p:nvPr/>
        </p:nvCxnSpPr>
        <p:spPr>
          <a:xfrm>
            <a:off x="4622703" y="4006948"/>
            <a:ext cx="1605481"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A681FA97-44EC-4C0D-A9B2-821E9182E92A}"/>
              </a:ext>
            </a:extLst>
          </p:cNvPr>
          <p:cNvCxnSpPr/>
          <p:nvPr/>
        </p:nvCxnSpPr>
        <p:spPr>
          <a:xfrm>
            <a:off x="1897052" y="4367616"/>
            <a:ext cx="0" cy="86158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B0981252-3631-4752-A299-352B105A2054}"/>
              </a:ext>
            </a:extLst>
          </p:cNvPr>
          <p:cNvCxnSpPr/>
          <p:nvPr/>
        </p:nvCxnSpPr>
        <p:spPr>
          <a:xfrm>
            <a:off x="4201308" y="4367616"/>
            <a:ext cx="0" cy="861584"/>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FE05DCA1-4EB9-4B4B-98A4-BE0B4986C63E}"/>
              </a:ext>
            </a:extLst>
          </p:cNvPr>
          <p:cNvSpPr txBox="1"/>
          <p:nvPr/>
        </p:nvSpPr>
        <p:spPr>
          <a:xfrm>
            <a:off x="2606479" y="3502264"/>
            <a:ext cx="504056" cy="369332"/>
          </a:xfrm>
          <a:prstGeom prst="rect">
            <a:avLst/>
          </a:prstGeom>
          <a:noFill/>
        </p:spPr>
        <p:txBody>
          <a:bodyPr wrap="square" rtlCol="0">
            <a:spAutoFit/>
          </a:bodyPr>
          <a:lstStyle/>
          <a:p>
            <a:r>
              <a:rPr lang="en-US" altLang="zh-CN" b="1" dirty="0">
                <a:latin typeface="Arial Black" panose="020B0A04020102020204" pitchFamily="34" charset="0"/>
              </a:rPr>
              <a:t>2</a:t>
            </a:r>
            <a:endParaRPr lang="zh-CN" altLang="en-US" b="1" dirty="0">
              <a:latin typeface="Arial Black" panose="020B0A04020102020204" pitchFamily="34" charset="0"/>
            </a:endParaRPr>
          </a:p>
        </p:txBody>
      </p:sp>
      <p:sp>
        <p:nvSpPr>
          <p:cNvPr id="40" name="文本框 39">
            <a:extLst>
              <a:ext uri="{FF2B5EF4-FFF2-40B4-BE49-F238E27FC236}">
                <a16:creationId xmlns:a16="http://schemas.microsoft.com/office/drawing/2014/main" id="{308F3DAC-FD5F-4064-AC33-16AE6259B1D6}"/>
              </a:ext>
            </a:extLst>
          </p:cNvPr>
          <p:cNvSpPr txBox="1"/>
          <p:nvPr/>
        </p:nvSpPr>
        <p:spPr>
          <a:xfrm>
            <a:off x="5054751" y="3574272"/>
            <a:ext cx="504056" cy="369332"/>
          </a:xfrm>
          <a:prstGeom prst="rect">
            <a:avLst/>
          </a:prstGeom>
          <a:noFill/>
        </p:spPr>
        <p:txBody>
          <a:bodyPr wrap="square" rtlCol="0">
            <a:spAutoFit/>
          </a:bodyPr>
          <a:lstStyle/>
          <a:p>
            <a:r>
              <a:rPr lang="en-US" altLang="zh-CN" b="1" dirty="0">
                <a:latin typeface="Arial Black" panose="020B0A04020102020204" pitchFamily="34" charset="0"/>
              </a:rPr>
              <a:t>3</a:t>
            </a:r>
            <a:endParaRPr lang="zh-CN" altLang="en-US" b="1" dirty="0">
              <a:latin typeface="Arial Black" panose="020B0A04020102020204" pitchFamily="34" charset="0"/>
            </a:endParaRPr>
          </a:p>
        </p:txBody>
      </p:sp>
      <p:sp>
        <p:nvSpPr>
          <p:cNvPr id="41" name="文本框 40">
            <a:extLst>
              <a:ext uri="{FF2B5EF4-FFF2-40B4-BE49-F238E27FC236}">
                <a16:creationId xmlns:a16="http://schemas.microsoft.com/office/drawing/2014/main" id="{B31D928D-5231-4F83-B860-213CE0656328}"/>
              </a:ext>
            </a:extLst>
          </p:cNvPr>
          <p:cNvSpPr txBox="1"/>
          <p:nvPr/>
        </p:nvSpPr>
        <p:spPr>
          <a:xfrm>
            <a:off x="1526359" y="4501084"/>
            <a:ext cx="504056" cy="369332"/>
          </a:xfrm>
          <a:prstGeom prst="rect">
            <a:avLst/>
          </a:prstGeom>
          <a:noFill/>
        </p:spPr>
        <p:txBody>
          <a:bodyPr wrap="square" rtlCol="0">
            <a:spAutoFit/>
          </a:bodyPr>
          <a:lstStyle/>
          <a:p>
            <a:r>
              <a:rPr lang="en-US" altLang="zh-CN" b="1" dirty="0">
                <a:latin typeface="Arial Black" panose="020B0A04020102020204" pitchFamily="34" charset="0"/>
              </a:rPr>
              <a:t>6</a:t>
            </a:r>
            <a:endParaRPr lang="zh-CN" altLang="en-US" b="1" dirty="0">
              <a:latin typeface="Arial Black" panose="020B0A04020102020204" pitchFamily="34" charset="0"/>
            </a:endParaRPr>
          </a:p>
        </p:txBody>
      </p:sp>
      <p:sp>
        <p:nvSpPr>
          <p:cNvPr id="42" name="文本框 41">
            <a:extLst>
              <a:ext uri="{FF2B5EF4-FFF2-40B4-BE49-F238E27FC236}">
                <a16:creationId xmlns:a16="http://schemas.microsoft.com/office/drawing/2014/main" id="{7E9880BB-81FA-424C-A62E-8529BDD6EC3B}"/>
              </a:ext>
            </a:extLst>
          </p:cNvPr>
          <p:cNvSpPr txBox="1"/>
          <p:nvPr/>
        </p:nvSpPr>
        <p:spPr>
          <a:xfrm>
            <a:off x="4262663" y="4573092"/>
            <a:ext cx="504056" cy="369332"/>
          </a:xfrm>
          <a:prstGeom prst="rect">
            <a:avLst/>
          </a:prstGeom>
          <a:noFill/>
        </p:spPr>
        <p:txBody>
          <a:bodyPr wrap="square" rtlCol="0">
            <a:spAutoFit/>
          </a:bodyPr>
          <a:lstStyle/>
          <a:p>
            <a:r>
              <a:rPr lang="en-US" altLang="zh-CN" b="1" dirty="0">
                <a:latin typeface="Arial Black" panose="020B0A04020102020204" pitchFamily="34" charset="0"/>
              </a:rPr>
              <a:t>5</a:t>
            </a:r>
            <a:endParaRPr lang="zh-CN" altLang="en-US" b="1" dirty="0">
              <a:latin typeface="Arial Black" panose="020B0A04020102020204" pitchFamily="34" charset="0"/>
            </a:endParaRPr>
          </a:p>
        </p:txBody>
      </p:sp>
    </p:spTree>
    <p:extLst>
      <p:ext uri="{BB962C8B-B14F-4D97-AF65-F5344CB8AC3E}">
        <p14:creationId xmlns:p14="http://schemas.microsoft.com/office/powerpoint/2010/main" val="182433923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6.6.2  </a:t>
            </a:r>
            <a:r>
              <a:rPr lang="en-US" altLang="zh-CN" b="1" dirty="0" err="1">
                <a:solidFill>
                  <a:srgbClr val="FF0000"/>
                </a:solidFill>
              </a:rPr>
              <a:t>Kruskal</a:t>
            </a:r>
            <a:r>
              <a:rPr lang="zh-CN" altLang="zh-CN" b="1" dirty="0">
                <a:solidFill>
                  <a:srgbClr val="FF0000"/>
                </a:solidFill>
              </a:rPr>
              <a:t>算法</a:t>
            </a:r>
            <a:r>
              <a:rPr lang="en-US" altLang="zh-CN" b="1" dirty="0">
                <a:solidFill>
                  <a:srgbClr val="FF0000"/>
                </a:solidFill>
              </a:rPr>
              <a:t>---</a:t>
            </a:r>
            <a:r>
              <a:rPr lang="zh-CN" altLang="en-US" b="1" dirty="0">
                <a:solidFill>
                  <a:srgbClr val="FF0000"/>
                </a:solidFill>
              </a:rPr>
              <a:t>扩边法</a:t>
            </a:r>
            <a:endParaRPr lang="zh-CN" altLang="en-US" dirty="0">
              <a:solidFill>
                <a:srgbClr val="FF0000"/>
              </a:solidFill>
            </a:endParaRPr>
          </a:p>
        </p:txBody>
      </p:sp>
      <p:sp>
        <p:nvSpPr>
          <p:cNvPr id="3" name="内容占位符 2"/>
          <p:cNvSpPr>
            <a:spLocks noGrp="1"/>
          </p:cNvSpPr>
          <p:nvPr>
            <p:ph idx="1"/>
          </p:nvPr>
        </p:nvSpPr>
        <p:spPr/>
        <p:txBody>
          <a:bodyPr/>
          <a:lstStyle/>
          <a:p>
            <a:r>
              <a:rPr lang="en-US" altLang="zh-CN" b="0" dirty="0"/>
              <a:t>	</a:t>
            </a:r>
            <a:r>
              <a:rPr lang="en-US" altLang="zh-CN" b="0" dirty="0" err="1"/>
              <a:t>Kruskal</a:t>
            </a:r>
            <a:r>
              <a:rPr lang="zh-CN" altLang="zh-CN" b="0" dirty="0"/>
              <a:t>算法是</a:t>
            </a:r>
            <a:r>
              <a:rPr lang="zh-CN" altLang="zh-CN" b="0" dirty="0">
                <a:solidFill>
                  <a:srgbClr val="FF0000"/>
                </a:solidFill>
              </a:rPr>
              <a:t>按照边的权值非递减的顺序来构造最小生成树的</a:t>
            </a:r>
            <a:r>
              <a:rPr lang="zh-CN" altLang="zh-CN" b="0" dirty="0"/>
              <a:t>。设带权连通图为</a:t>
            </a:r>
            <a:r>
              <a:rPr lang="en-US" altLang="zh-CN" b="0" dirty="0"/>
              <a:t>G = ( V, E )</a:t>
            </a:r>
            <a:r>
              <a:rPr lang="zh-CN" altLang="zh-CN" b="0" dirty="0"/>
              <a:t>，令</a:t>
            </a:r>
            <a:r>
              <a:rPr lang="en-US" altLang="zh-CN" b="0" dirty="0"/>
              <a:t>G</a:t>
            </a:r>
            <a:r>
              <a:rPr lang="zh-CN" altLang="zh-CN" b="0" dirty="0"/>
              <a:t>的最小生成树为</a:t>
            </a:r>
            <a:r>
              <a:rPr lang="en-US" altLang="zh-CN" b="0" dirty="0"/>
              <a:t>T = ( V, TE )</a:t>
            </a:r>
            <a:r>
              <a:rPr lang="zh-CN" altLang="zh-CN" b="0" dirty="0"/>
              <a:t>。</a:t>
            </a:r>
            <a:endParaRPr lang="zh-CN" altLang="en-US" b="0" dirty="0"/>
          </a:p>
        </p:txBody>
      </p:sp>
      <p:sp>
        <p:nvSpPr>
          <p:cNvPr id="4" name="矩形 3"/>
          <p:cNvSpPr/>
          <p:nvPr/>
        </p:nvSpPr>
        <p:spPr>
          <a:xfrm>
            <a:off x="1187624" y="3933056"/>
            <a:ext cx="6984776" cy="1569660"/>
          </a:xfrm>
          <a:prstGeom prst="rect">
            <a:avLst/>
          </a:prstGeom>
        </p:spPr>
        <p:txBody>
          <a:bodyPr wrap="square">
            <a:spAutoFit/>
          </a:bodyPr>
          <a:lstStyle/>
          <a:p>
            <a:r>
              <a:rPr lang="en-US" altLang="zh-CN" sz="2400" dirty="0">
                <a:sym typeface="Webdings"/>
              </a:rPr>
              <a:t></a:t>
            </a:r>
            <a:r>
              <a:rPr lang="zh-CN" altLang="zh-CN" sz="2400" dirty="0"/>
              <a:t>结论：</a:t>
            </a:r>
          </a:p>
          <a:p>
            <a:r>
              <a:rPr lang="en-US" altLang="zh-CN" sz="2400" dirty="0"/>
              <a:t>	</a:t>
            </a:r>
            <a:r>
              <a:rPr lang="en-US" altLang="zh-CN" sz="2400" dirty="0" err="1"/>
              <a:t>Kruskal</a:t>
            </a:r>
            <a:r>
              <a:rPr lang="zh-CN" altLang="zh-CN" sz="2400" dirty="0"/>
              <a:t>算法又称</a:t>
            </a:r>
            <a:r>
              <a:rPr lang="zh-CN" altLang="zh-CN" sz="2400" dirty="0">
                <a:solidFill>
                  <a:srgbClr val="FF0000"/>
                </a:solidFill>
              </a:rPr>
              <a:t>扩边法。一次性的把所有顶点都加进去，每次加入一条边，如加入的边没有产生环路则留下，如有回路则舍弃。</a:t>
            </a:r>
          </a:p>
        </p:txBody>
      </p:sp>
      <p:pic>
        <p:nvPicPr>
          <p:cNvPr id="5" name="图片 4"/>
          <p:cNvPicPr/>
          <p:nvPr/>
        </p:nvPicPr>
        <p:blipFill>
          <a:blip r:embed="rId2" cstate="print">
            <a:extLst>
              <a:ext uri="{28A0092B-C50C-407E-A947-70E740481C1C}">
                <a14:useLocalDpi xmlns:a14="http://schemas.microsoft.com/office/drawing/2010/main" val="0"/>
              </a:ext>
            </a:extLst>
          </a:blip>
          <a:stretch>
            <a:fillRect/>
          </a:stretch>
        </p:blipFill>
        <p:spPr>
          <a:xfrm>
            <a:off x="8358214" y="285728"/>
            <a:ext cx="391886" cy="391886"/>
          </a:xfrm>
          <a:prstGeom prst="rect">
            <a:avLst/>
          </a:prstGeom>
        </p:spPr>
      </p:pic>
    </p:spTree>
    <p:extLst>
      <p:ext uri="{BB962C8B-B14F-4D97-AF65-F5344CB8AC3E}">
        <p14:creationId xmlns:p14="http://schemas.microsoft.com/office/powerpoint/2010/main" val="379844679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857224" y="1000108"/>
            <a:ext cx="7887820" cy="5000660"/>
          </a:xfrm>
        </p:spPr>
        <p:txBody>
          <a:bodyPr>
            <a:normAutofit fontScale="92500" lnSpcReduction="20000"/>
          </a:bodyPr>
          <a:lstStyle/>
          <a:p>
            <a:pPr>
              <a:lnSpc>
                <a:spcPct val="140000"/>
              </a:lnSpc>
            </a:pPr>
            <a:r>
              <a:rPr lang="en-US" b="0" dirty="0"/>
              <a:t>	(1) </a:t>
            </a:r>
            <a:r>
              <a:rPr lang="zh-CN" altLang="en-US" b="0" dirty="0"/>
              <a:t>初始状态为，即开始时，最小生成树</a:t>
            </a:r>
            <a:r>
              <a:rPr lang="en-US" b="0" dirty="0"/>
              <a:t>T</a:t>
            </a:r>
            <a:r>
              <a:rPr lang="zh-CN" altLang="en-US" b="0" dirty="0"/>
              <a:t>中只包含了图中所有的顶点，而没有边，此时</a:t>
            </a:r>
            <a:r>
              <a:rPr lang="en-US" b="0" dirty="0"/>
              <a:t>T</a:t>
            </a:r>
            <a:r>
              <a:rPr lang="zh-CN" altLang="en-US" b="0" dirty="0"/>
              <a:t>为具有</a:t>
            </a:r>
            <a:r>
              <a:rPr lang="en-US" b="0" dirty="0"/>
              <a:t>n</a:t>
            </a:r>
            <a:r>
              <a:rPr lang="zh-CN" altLang="en-US" b="0" dirty="0"/>
              <a:t>个顶点的无边图，即</a:t>
            </a:r>
            <a:r>
              <a:rPr lang="en-US" b="0" dirty="0"/>
              <a:t>T</a:t>
            </a:r>
            <a:r>
              <a:rPr lang="zh-CN" altLang="en-US" b="0" dirty="0"/>
              <a:t>中的每个顶点各自构成一个连通分量。</a:t>
            </a:r>
          </a:p>
          <a:p>
            <a:pPr>
              <a:lnSpc>
                <a:spcPct val="140000"/>
              </a:lnSpc>
            </a:pPr>
            <a:r>
              <a:rPr lang="en-US" b="0" dirty="0"/>
              <a:t>	(2) </a:t>
            </a:r>
            <a:r>
              <a:rPr lang="zh-CN" altLang="en-US" b="0" dirty="0"/>
              <a:t>将</a:t>
            </a:r>
            <a:r>
              <a:rPr lang="en-US" b="0" dirty="0"/>
              <a:t>E</a:t>
            </a:r>
            <a:r>
              <a:rPr lang="zh-CN" altLang="en-US" b="0" dirty="0"/>
              <a:t>中的边按权值非递减的顺序排列，并按照这一顺序依次考察边集</a:t>
            </a:r>
            <a:r>
              <a:rPr lang="en-US" b="0" dirty="0"/>
              <a:t>E</a:t>
            </a:r>
            <a:r>
              <a:rPr lang="zh-CN" altLang="en-US" b="0" dirty="0"/>
              <a:t>中的各条边：若被考察的边关联的两个顶点分别位于</a:t>
            </a:r>
            <a:r>
              <a:rPr lang="en-US" b="0" dirty="0"/>
              <a:t>T</a:t>
            </a:r>
            <a:r>
              <a:rPr lang="zh-CN" altLang="en-US" b="0" dirty="0"/>
              <a:t>中不同的连通分量中，则将该边加入到</a:t>
            </a:r>
            <a:r>
              <a:rPr lang="en-US" b="0" dirty="0"/>
              <a:t>T</a:t>
            </a:r>
            <a:r>
              <a:rPr lang="zh-CN" altLang="en-US" b="0" dirty="0"/>
              <a:t>的边集</a:t>
            </a:r>
            <a:r>
              <a:rPr lang="en-US" b="0" dirty="0"/>
              <a:t>TE</a:t>
            </a:r>
            <a:r>
              <a:rPr lang="zh-CN" altLang="en-US" b="0" dirty="0"/>
              <a:t>中；若被考察的边所关联的两个顶点位于同一个连通分量中则舍弃该边（若将此边加入将使</a:t>
            </a:r>
            <a:r>
              <a:rPr lang="en-US" b="0" dirty="0"/>
              <a:t>T</a:t>
            </a:r>
            <a:r>
              <a:rPr lang="zh-CN" altLang="en-US" b="0" dirty="0"/>
              <a:t>中产生回路）。</a:t>
            </a:r>
          </a:p>
          <a:p>
            <a:pPr>
              <a:lnSpc>
                <a:spcPct val="140000"/>
              </a:lnSpc>
            </a:pPr>
            <a:r>
              <a:rPr lang="en-US" altLang="zh-CN" b="0" dirty="0"/>
              <a:t>	</a:t>
            </a:r>
            <a:r>
              <a:rPr lang="zh-CN" altLang="en-US" b="0" dirty="0"/>
              <a:t>依次类推，直至</a:t>
            </a:r>
            <a:r>
              <a:rPr lang="en-US" b="0" dirty="0"/>
              <a:t>T</a:t>
            </a:r>
            <a:r>
              <a:rPr lang="zh-CN" altLang="en-US" b="0" dirty="0"/>
              <a:t>中含有</a:t>
            </a:r>
            <a:r>
              <a:rPr lang="en-US" b="0" dirty="0"/>
              <a:t>n-1</a:t>
            </a:r>
            <a:r>
              <a:rPr lang="zh-CN" altLang="en-US" b="0" dirty="0"/>
              <a:t>条边为止，此时</a:t>
            </a:r>
            <a:r>
              <a:rPr lang="en-US" b="0" dirty="0"/>
              <a:t>T</a:t>
            </a:r>
            <a:r>
              <a:rPr lang="zh-CN" altLang="en-US" b="0" dirty="0"/>
              <a:t>中所有的顶点都在同一连通分量上，</a:t>
            </a:r>
            <a:r>
              <a:rPr lang="en-US" b="0" dirty="0"/>
              <a:t>T</a:t>
            </a:r>
            <a:r>
              <a:rPr lang="zh-CN" altLang="en-US" b="0" dirty="0"/>
              <a:t>便是</a:t>
            </a:r>
            <a:r>
              <a:rPr lang="en-US" b="0" dirty="0"/>
              <a:t>G</a:t>
            </a:r>
            <a:r>
              <a:rPr lang="zh-CN" altLang="en-US" b="0" dirty="0"/>
              <a:t>的一棵最小生成树。若算法结束，</a:t>
            </a:r>
            <a:r>
              <a:rPr lang="en-US" b="0" dirty="0"/>
              <a:t>T</a:t>
            </a:r>
            <a:r>
              <a:rPr lang="zh-CN" altLang="en-US" b="0" dirty="0"/>
              <a:t>少于</a:t>
            </a:r>
            <a:r>
              <a:rPr lang="en-US" b="0" dirty="0"/>
              <a:t>n-1</a:t>
            </a:r>
            <a:r>
              <a:rPr lang="zh-CN" altLang="en-US" b="0" dirty="0"/>
              <a:t>条边，则无生成树。</a:t>
            </a:r>
          </a:p>
          <a:p>
            <a:endParaRPr lang="zh-CN" altLang="en-US" b="0" dirty="0"/>
          </a:p>
        </p:txBody>
      </p:sp>
    </p:spTree>
    <p:extLst>
      <p:ext uri="{BB962C8B-B14F-4D97-AF65-F5344CB8AC3E}">
        <p14:creationId xmlns:p14="http://schemas.microsoft.com/office/powerpoint/2010/main" val="314038008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908720"/>
            <a:ext cx="8640960" cy="3579849"/>
          </a:xfrm>
        </p:spPr>
        <p:txBody>
          <a:bodyPr/>
          <a:lstStyle/>
          <a:p>
            <a:r>
              <a:rPr lang="zh-CN" altLang="zh-CN" b="0" dirty="0"/>
              <a:t>利用</a:t>
            </a:r>
            <a:r>
              <a:rPr lang="en-US" altLang="zh-CN" b="0" dirty="0" err="1"/>
              <a:t>Kruskal</a:t>
            </a:r>
            <a:r>
              <a:rPr lang="zh-CN" altLang="zh-CN" b="0" dirty="0"/>
              <a:t>算法构造一个图的最小生成树的过程如图</a:t>
            </a:r>
            <a:r>
              <a:rPr lang="en-US" altLang="zh-CN" b="0" dirty="0"/>
              <a:t>6-37</a:t>
            </a:r>
            <a:r>
              <a:rPr lang="zh-CN" altLang="zh-CN" b="0" dirty="0"/>
              <a:t>所示。</a:t>
            </a:r>
            <a:endParaRPr lang="zh-CN" altLang="en-US" b="0" dirty="0"/>
          </a:p>
        </p:txBody>
      </p:sp>
      <p:pic>
        <p:nvPicPr>
          <p:cNvPr id="4403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3608" y="1700808"/>
            <a:ext cx="6699250" cy="4565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4935981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3568" y="1124744"/>
            <a:ext cx="8064896" cy="3579849"/>
          </a:xfrm>
        </p:spPr>
        <p:txBody>
          <a:bodyPr/>
          <a:lstStyle/>
          <a:p>
            <a:r>
              <a:rPr lang="zh-CN" altLang="zh-CN" b="0" dirty="0"/>
              <a:t>根据上述分析可知，实现</a:t>
            </a:r>
            <a:r>
              <a:rPr lang="en-US" altLang="zh-CN" b="0" dirty="0" err="1"/>
              <a:t>Kruskal</a:t>
            </a:r>
            <a:r>
              <a:rPr lang="zh-CN" altLang="zh-CN" b="0" dirty="0"/>
              <a:t>算法主要有</a:t>
            </a:r>
            <a:r>
              <a:rPr lang="zh-CN" altLang="zh-CN" b="0" dirty="0">
                <a:solidFill>
                  <a:srgbClr val="FF0000"/>
                </a:solidFill>
              </a:rPr>
              <a:t>两个关键问题</a:t>
            </a:r>
            <a:r>
              <a:rPr lang="zh-CN" altLang="zh-CN" b="0" dirty="0"/>
              <a:t>：</a:t>
            </a:r>
          </a:p>
          <a:p>
            <a:r>
              <a:rPr lang="en-US" altLang="zh-CN" b="0" dirty="0"/>
              <a:t>(1) </a:t>
            </a:r>
            <a:r>
              <a:rPr lang="zh-CN" altLang="zh-CN" b="0" dirty="0"/>
              <a:t>对</a:t>
            </a:r>
            <a:r>
              <a:rPr lang="en-US" altLang="zh-CN" b="0" dirty="0"/>
              <a:t>G</a:t>
            </a:r>
            <a:r>
              <a:rPr lang="zh-CN" altLang="zh-CN" b="0" dirty="0"/>
              <a:t>中的</a:t>
            </a:r>
            <a:r>
              <a:rPr lang="en-US" altLang="zh-CN" b="0" dirty="0">
                <a:solidFill>
                  <a:srgbClr val="FF0000"/>
                </a:solidFill>
              </a:rPr>
              <a:t>e</a:t>
            </a:r>
            <a:r>
              <a:rPr lang="zh-CN" altLang="zh-CN" b="0" dirty="0">
                <a:solidFill>
                  <a:srgbClr val="FF0000"/>
                </a:solidFill>
              </a:rPr>
              <a:t>条边按照权值进行排序</a:t>
            </a:r>
            <a:r>
              <a:rPr lang="zh-CN" altLang="zh-CN" b="0" dirty="0"/>
              <a:t>；</a:t>
            </a:r>
          </a:p>
          <a:p>
            <a:r>
              <a:rPr lang="en-US" altLang="zh-CN" b="0" dirty="0"/>
              <a:t>(2) </a:t>
            </a:r>
            <a:r>
              <a:rPr lang="zh-CN" altLang="zh-CN" b="0" dirty="0"/>
              <a:t>判断被考察的</a:t>
            </a:r>
            <a:r>
              <a:rPr lang="zh-CN" altLang="zh-CN" b="0" dirty="0">
                <a:solidFill>
                  <a:srgbClr val="FF0000"/>
                </a:solidFill>
              </a:rPr>
              <a:t>边的两个顶点是否属于同一个连通分量</a:t>
            </a:r>
            <a:r>
              <a:rPr lang="zh-CN" altLang="zh-CN" b="0" dirty="0"/>
              <a:t>，即加入该边是否构成回路。</a:t>
            </a:r>
          </a:p>
          <a:p>
            <a:endParaRPr lang="zh-CN" altLang="en-US" b="0" dirty="0"/>
          </a:p>
        </p:txBody>
      </p:sp>
      <p:sp>
        <p:nvSpPr>
          <p:cNvPr id="4" name="矩形 3"/>
          <p:cNvSpPr/>
          <p:nvPr/>
        </p:nvSpPr>
        <p:spPr>
          <a:xfrm>
            <a:off x="670775" y="3501008"/>
            <a:ext cx="6552728" cy="2645404"/>
          </a:xfrm>
          <a:prstGeom prst="rect">
            <a:avLst/>
          </a:prstGeom>
        </p:spPr>
        <p:txBody>
          <a:bodyPr wrap="square">
            <a:spAutoFit/>
          </a:bodyPr>
          <a:lstStyle/>
          <a:p>
            <a:pPr>
              <a:lnSpc>
                <a:spcPct val="120000"/>
              </a:lnSpc>
            </a:pPr>
            <a:r>
              <a:rPr lang="zh-CN" altLang="zh-CN" sz="2000" b="1" dirty="0">
                <a:latin typeface="Times New Roman" panose="02020603050405020304" pitchFamily="18" charset="0"/>
                <a:ea typeface="楷体" panose="02010609060101010101" pitchFamily="49" charset="-122"/>
                <a:cs typeface="Times New Roman" panose="02020603050405020304" pitchFamily="18" charset="0"/>
              </a:rPr>
              <a:t>算法</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6.13</a:t>
            </a:r>
            <a:r>
              <a:rPr lang="zh-CN" altLang="zh-CN" sz="20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err="1">
                <a:latin typeface="Times New Roman" panose="02020603050405020304" pitchFamily="18" charset="0"/>
                <a:ea typeface="楷体" panose="02010609060101010101" pitchFamily="49" charset="-122"/>
                <a:cs typeface="Times New Roman" panose="02020603050405020304" pitchFamily="18" charset="0"/>
              </a:rPr>
              <a:t>Kruskal</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算法</a:t>
            </a:r>
          </a:p>
          <a:p>
            <a:pPr>
              <a:lnSpc>
                <a:spcPct val="120000"/>
              </a:lnSpc>
            </a:pPr>
            <a:r>
              <a:rPr lang="en-US" altLang="zh-CN" sz="2000" b="1" dirty="0" err="1">
                <a:latin typeface="Times New Roman" panose="02020603050405020304" pitchFamily="18" charset="0"/>
                <a:ea typeface="楷体" panose="02010609060101010101" pitchFamily="49" charset="-122"/>
                <a:cs typeface="Times New Roman" panose="02020603050405020304" pitchFamily="18" charset="0"/>
              </a:rPr>
              <a:t>int</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b="1" dirty="0" err="1">
                <a:latin typeface="Times New Roman" panose="02020603050405020304" pitchFamily="18" charset="0"/>
                <a:ea typeface="楷体" panose="02010609060101010101" pitchFamily="49" charset="-122"/>
                <a:cs typeface="Times New Roman" panose="02020603050405020304" pitchFamily="18" charset="0"/>
              </a:rPr>
              <a:t>cmp</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1" dirty="0" err="1">
                <a:latin typeface="Times New Roman" panose="02020603050405020304" pitchFamily="18" charset="0"/>
                <a:ea typeface="楷体" panose="02010609060101010101" pitchFamily="49" charset="-122"/>
                <a:cs typeface="Times New Roman" panose="02020603050405020304" pitchFamily="18" charset="0"/>
              </a:rPr>
              <a:t>const</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 void *a, </a:t>
            </a:r>
            <a:r>
              <a:rPr lang="en-US" altLang="zh-CN" sz="2000" b="1" dirty="0" err="1">
                <a:latin typeface="Times New Roman" panose="02020603050405020304" pitchFamily="18" charset="0"/>
                <a:ea typeface="楷体" panose="02010609060101010101" pitchFamily="49" charset="-122"/>
                <a:cs typeface="Times New Roman" panose="02020603050405020304" pitchFamily="18" charset="0"/>
              </a:rPr>
              <a:t>const</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 void *b){</a:t>
            </a:r>
            <a:endParaRPr lang="zh-CN"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Edge *c = (Edge *)a;</a:t>
            </a:r>
            <a:endParaRPr lang="zh-CN"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Edge *d = (Edge *)b;</a:t>
            </a:r>
            <a:endParaRPr lang="zh-CN"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if(c-&gt;weight != d-&gt;weight) return c-&gt;weight - d-&gt;weight;</a:t>
            </a:r>
            <a:endParaRPr lang="zh-CN"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else return d-&gt;from - c-&gt;from;</a:t>
            </a:r>
            <a:endParaRPr lang="zh-CN"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t>
            </a:r>
            <a:endParaRPr lang="zh-CN" altLang="zh-CN" sz="20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27805680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7520940" cy="5328592"/>
          </a:xfrm>
        </p:spPr>
        <p:txBody>
          <a:bodyPr>
            <a:normAutofit fontScale="62500" lnSpcReduction="20000"/>
          </a:bodyPr>
          <a:lstStyle/>
          <a:p>
            <a:r>
              <a:rPr lang="en-US" altLang="zh-CN" b="0" dirty="0"/>
              <a:t>//</a:t>
            </a:r>
            <a:r>
              <a:rPr lang="zh-CN" altLang="zh-CN" b="0" dirty="0"/>
              <a:t>用</a:t>
            </a:r>
            <a:r>
              <a:rPr lang="en-US" altLang="zh-CN" b="0" dirty="0" err="1"/>
              <a:t>kruskal</a:t>
            </a:r>
            <a:r>
              <a:rPr lang="zh-CN" altLang="zh-CN" b="0" dirty="0"/>
              <a:t>算法求带权连通图的最小生成树，用</a:t>
            </a:r>
            <a:r>
              <a:rPr lang="en-US" altLang="zh-CN" b="0" dirty="0"/>
              <a:t>MST</a:t>
            </a:r>
            <a:r>
              <a:rPr lang="zh-CN" altLang="zh-CN" b="0" dirty="0"/>
              <a:t>来存储最小生成树的边</a:t>
            </a:r>
          </a:p>
          <a:p>
            <a:r>
              <a:rPr lang="en-US" altLang="zh-CN" b="0" dirty="0"/>
              <a:t>void </a:t>
            </a:r>
            <a:r>
              <a:rPr lang="en-US" altLang="zh-CN" b="0" dirty="0" err="1"/>
              <a:t>Kruskal</a:t>
            </a:r>
            <a:r>
              <a:rPr lang="en-US" altLang="zh-CN" b="0" dirty="0"/>
              <a:t>(Graph&amp; G, Edge* MST){</a:t>
            </a:r>
            <a:endParaRPr lang="zh-CN" altLang="zh-CN" b="0" dirty="0"/>
          </a:p>
          <a:p>
            <a:r>
              <a:rPr lang="en-US" altLang="zh-CN" b="0" dirty="0"/>
              <a:t>    </a:t>
            </a:r>
            <a:r>
              <a:rPr lang="en-US" altLang="zh-CN" b="0" dirty="0" err="1"/>
              <a:t>int</a:t>
            </a:r>
            <a:r>
              <a:rPr lang="en-US" altLang="zh-CN" b="0" dirty="0"/>
              <a:t> n = </a:t>
            </a:r>
            <a:r>
              <a:rPr lang="en-US" altLang="zh-CN" b="0" dirty="0" err="1"/>
              <a:t>G.VerticesNum</a:t>
            </a:r>
            <a:r>
              <a:rPr lang="en-US" altLang="zh-CN" b="0" dirty="0"/>
              <a:t>();</a:t>
            </a:r>
            <a:endParaRPr lang="zh-CN" altLang="zh-CN" b="0" dirty="0"/>
          </a:p>
          <a:p>
            <a:r>
              <a:rPr lang="en-US" altLang="zh-CN" b="0" dirty="0"/>
              <a:t>    </a:t>
            </a:r>
            <a:r>
              <a:rPr lang="en-US" altLang="zh-CN" b="0" dirty="0" err="1"/>
              <a:t>int</a:t>
            </a:r>
            <a:r>
              <a:rPr lang="en-US" altLang="zh-CN" b="0" dirty="0"/>
              <a:t> *</a:t>
            </a:r>
            <a:r>
              <a:rPr lang="en-US" altLang="zh-CN" b="0" dirty="0" err="1"/>
              <a:t>Vset</a:t>
            </a:r>
            <a:r>
              <a:rPr lang="en-US" altLang="zh-CN" b="0" dirty="0"/>
              <a:t> = new </a:t>
            </a:r>
            <a:r>
              <a:rPr lang="en-US" altLang="zh-CN" b="0" dirty="0" err="1"/>
              <a:t>int</a:t>
            </a:r>
            <a:r>
              <a:rPr lang="en-US" altLang="zh-CN" b="0" dirty="0"/>
              <a:t>[n];</a:t>
            </a:r>
            <a:endParaRPr lang="zh-CN" altLang="zh-CN" b="0" dirty="0"/>
          </a:p>
          <a:p>
            <a:r>
              <a:rPr lang="en-US" altLang="zh-CN" b="0" dirty="0"/>
              <a:t>    Edge *E = new Edge[</a:t>
            </a:r>
            <a:r>
              <a:rPr lang="en-US" altLang="zh-CN" b="0" dirty="0" err="1"/>
              <a:t>G.EdgesNum</a:t>
            </a:r>
            <a:r>
              <a:rPr lang="en-US" altLang="zh-CN" b="0" dirty="0"/>
              <a:t>()];        //</a:t>
            </a:r>
            <a:r>
              <a:rPr lang="zh-CN" altLang="zh-CN" b="0" dirty="0"/>
              <a:t>记录图的所有边</a:t>
            </a:r>
          </a:p>
          <a:p>
            <a:r>
              <a:rPr lang="en-US" altLang="zh-CN" b="0" dirty="0"/>
              <a:t>    </a:t>
            </a:r>
            <a:r>
              <a:rPr lang="en-US" altLang="zh-CN" b="0" dirty="0" err="1"/>
              <a:t>int</a:t>
            </a:r>
            <a:r>
              <a:rPr lang="en-US" altLang="zh-CN" b="0" dirty="0"/>
              <a:t> </a:t>
            </a:r>
            <a:r>
              <a:rPr lang="en-US" altLang="zh-CN" b="0" dirty="0" err="1"/>
              <a:t>i,j</a:t>
            </a:r>
            <a:r>
              <a:rPr lang="en-US" altLang="zh-CN" b="0" dirty="0"/>
              <a:t>;</a:t>
            </a:r>
            <a:endParaRPr lang="zh-CN" altLang="zh-CN" b="0" dirty="0"/>
          </a:p>
          <a:p>
            <a:r>
              <a:rPr lang="en-US" altLang="zh-CN" b="0" dirty="0"/>
              <a:t>    </a:t>
            </a:r>
            <a:r>
              <a:rPr lang="en-US" altLang="zh-CN" b="0" dirty="0" err="1"/>
              <a:t>int</a:t>
            </a:r>
            <a:r>
              <a:rPr lang="en-US" altLang="zh-CN" b="0" dirty="0"/>
              <a:t> </a:t>
            </a:r>
            <a:r>
              <a:rPr lang="en-US" altLang="zh-CN" b="0" dirty="0" err="1"/>
              <a:t>EdgeCnt</a:t>
            </a:r>
            <a:r>
              <a:rPr lang="en-US" altLang="zh-CN" b="0" dirty="0"/>
              <a:t> = 0;</a:t>
            </a:r>
            <a:endParaRPr lang="zh-CN" altLang="zh-CN" b="0" dirty="0"/>
          </a:p>
          <a:p>
            <a:r>
              <a:rPr lang="en-US" altLang="zh-CN" b="0" dirty="0"/>
              <a:t>    for (</a:t>
            </a:r>
            <a:r>
              <a:rPr lang="en-US" altLang="zh-CN" b="0" dirty="0" err="1"/>
              <a:t>i</a:t>
            </a:r>
            <a:r>
              <a:rPr lang="en-US" altLang="zh-CN" b="0" dirty="0"/>
              <a:t> = 0; </a:t>
            </a:r>
            <a:r>
              <a:rPr lang="en-US" altLang="zh-CN" b="0" dirty="0" err="1"/>
              <a:t>i</a:t>
            </a:r>
            <a:r>
              <a:rPr lang="en-US" altLang="zh-CN" b="0" dirty="0"/>
              <a:t> &lt; n; </a:t>
            </a:r>
            <a:r>
              <a:rPr lang="en-US" altLang="zh-CN" b="0" dirty="0" err="1"/>
              <a:t>i</a:t>
            </a:r>
            <a:r>
              <a:rPr lang="en-US" altLang="zh-CN" b="0" dirty="0"/>
              <a:t>++){   //</a:t>
            </a:r>
            <a:r>
              <a:rPr lang="zh-CN" altLang="zh-CN" b="0" dirty="0"/>
              <a:t>将图中所有的边存储在数组</a:t>
            </a:r>
            <a:r>
              <a:rPr lang="en-US" altLang="zh-CN" b="0" dirty="0"/>
              <a:t>E</a:t>
            </a:r>
            <a:r>
              <a:rPr lang="zh-CN" altLang="zh-CN" b="0" dirty="0"/>
              <a:t>中</a:t>
            </a:r>
          </a:p>
          <a:p>
            <a:r>
              <a:rPr lang="en-US" altLang="zh-CN" b="0" dirty="0"/>
              <a:t>        for (j = </a:t>
            </a:r>
            <a:r>
              <a:rPr lang="en-US" altLang="zh-CN" b="0" dirty="0" err="1"/>
              <a:t>G.FirstAdj</a:t>
            </a:r>
            <a:r>
              <a:rPr lang="en-US" altLang="zh-CN" b="0" dirty="0"/>
              <a:t>(</a:t>
            </a:r>
            <a:r>
              <a:rPr lang="en-US" altLang="zh-CN" b="0" dirty="0" err="1"/>
              <a:t>i</a:t>
            </a:r>
            <a:r>
              <a:rPr lang="en-US" altLang="zh-CN" b="0" dirty="0"/>
              <a:t>); j != -1; j = </a:t>
            </a:r>
            <a:r>
              <a:rPr lang="en-US" altLang="zh-CN" b="0" dirty="0" err="1"/>
              <a:t>G.NextAdj</a:t>
            </a:r>
            <a:r>
              <a:rPr lang="en-US" altLang="zh-CN" b="0" dirty="0"/>
              <a:t>(</a:t>
            </a:r>
            <a:r>
              <a:rPr lang="en-US" altLang="zh-CN" b="0" dirty="0" err="1"/>
              <a:t>i,j</a:t>
            </a:r>
            <a:r>
              <a:rPr lang="en-US" altLang="zh-CN" b="0" dirty="0"/>
              <a:t>))</a:t>
            </a:r>
            <a:endParaRPr lang="zh-CN" altLang="zh-CN" b="0" dirty="0"/>
          </a:p>
          <a:p>
            <a:r>
              <a:rPr lang="en-US" altLang="zh-CN" b="0" dirty="0"/>
              <a:t>            if (</a:t>
            </a:r>
            <a:r>
              <a:rPr lang="en-US" altLang="zh-CN" b="0" dirty="0" err="1"/>
              <a:t>i</a:t>
            </a:r>
            <a:r>
              <a:rPr lang="en-US" altLang="zh-CN" b="0" dirty="0"/>
              <a:t> &lt; j){</a:t>
            </a:r>
            <a:endParaRPr lang="zh-CN" altLang="zh-CN" b="0" dirty="0"/>
          </a:p>
          <a:p>
            <a:r>
              <a:rPr lang="en-US" altLang="zh-CN" b="0" dirty="0"/>
              <a:t>                E[</a:t>
            </a:r>
            <a:r>
              <a:rPr lang="en-US" altLang="zh-CN" b="0" dirty="0" err="1"/>
              <a:t>EdgeCnt</a:t>
            </a:r>
            <a:r>
              <a:rPr lang="en-US" altLang="zh-CN" b="0" dirty="0"/>
              <a:t>].from = </a:t>
            </a:r>
            <a:r>
              <a:rPr lang="en-US" altLang="zh-CN" b="0" dirty="0" err="1"/>
              <a:t>i</a:t>
            </a:r>
            <a:r>
              <a:rPr lang="en-US" altLang="zh-CN" b="0" dirty="0"/>
              <a:t>;</a:t>
            </a:r>
            <a:endParaRPr lang="zh-CN" altLang="zh-CN" b="0" dirty="0"/>
          </a:p>
          <a:p>
            <a:r>
              <a:rPr lang="en-US" altLang="zh-CN" b="0" dirty="0"/>
              <a:t>                E[</a:t>
            </a:r>
            <a:r>
              <a:rPr lang="en-US" altLang="zh-CN" b="0" dirty="0" err="1"/>
              <a:t>EdgeCnt</a:t>
            </a:r>
            <a:r>
              <a:rPr lang="en-US" altLang="zh-CN" b="0" dirty="0"/>
              <a:t>].to = j;</a:t>
            </a:r>
            <a:endParaRPr lang="zh-CN" altLang="zh-CN" b="0" dirty="0"/>
          </a:p>
          <a:p>
            <a:r>
              <a:rPr lang="en-US" altLang="zh-CN" b="0" dirty="0"/>
              <a:t>                E[</a:t>
            </a:r>
            <a:r>
              <a:rPr lang="en-US" altLang="zh-CN" b="0" dirty="0" err="1"/>
              <a:t>EdgeCnt</a:t>
            </a:r>
            <a:r>
              <a:rPr lang="en-US" altLang="zh-CN" b="0" dirty="0"/>
              <a:t>++].weight = </a:t>
            </a:r>
            <a:r>
              <a:rPr lang="en-US" altLang="zh-CN" b="0" dirty="0" err="1"/>
              <a:t>G.weight</a:t>
            </a:r>
            <a:r>
              <a:rPr lang="en-US" altLang="zh-CN" b="0" dirty="0"/>
              <a:t>(</a:t>
            </a:r>
            <a:r>
              <a:rPr lang="en-US" altLang="zh-CN" b="0" dirty="0" err="1"/>
              <a:t>i,j</a:t>
            </a:r>
            <a:r>
              <a:rPr lang="en-US" altLang="zh-CN" b="0" dirty="0"/>
              <a:t>);</a:t>
            </a:r>
            <a:endParaRPr lang="zh-CN" altLang="zh-CN" b="0" dirty="0"/>
          </a:p>
          <a:p>
            <a:r>
              <a:rPr lang="en-US" altLang="zh-CN" b="0" dirty="0"/>
              <a:t>            }</a:t>
            </a:r>
            <a:endParaRPr lang="zh-CN" altLang="zh-CN" b="0" dirty="0"/>
          </a:p>
          <a:p>
            <a:r>
              <a:rPr lang="en-US" altLang="zh-CN" b="0" dirty="0"/>
              <a:t>        </a:t>
            </a:r>
            <a:r>
              <a:rPr lang="en-US" altLang="zh-CN" b="0" dirty="0" err="1"/>
              <a:t>Vset</a:t>
            </a:r>
            <a:r>
              <a:rPr lang="en-US" altLang="zh-CN" b="0" dirty="0"/>
              <a:t>[</a:t>
            </a:r>
            <a:r>
              <a:rPr lang="en-US" altLang="zh-CN" b="0" dirty="0" err="1"/>
              <a:t>i</a:t>
            </a:r>
            <a:r>
              <a:rPr lang="en-US" altLang="zh-CN" b="0" dirty="0"/>
              <a:t>] = </a:t>
            </a:r>
            <a:r>
              <a:rPr lang="en-US" altLang="zh-CN" b="0" dirty="0" err="1"/>
              <a:t>i</a:t>
            </a:r>
            <a:r>
              <a:rPr lang="en-US" altLang="zh-CN" b="0" dirty="0"/>
              <a:t>;</a:t>
            </a:r>
            <a:endParaRPr lang="zh-CN" altLang="zh-CN" b="0" dirty="0"/>
          </a:p>
          <a:p>
            <a:r>
              <a:rPr lang="en-US" altLang="zh-CN" b="0" dirty="0"/>
              <a:t>    }</a:t>
            </a:r>
            <a:endParaRPr lang="zh-CN" altLang="zh-CN" b="0" dirty="0"/>
          </a:p>
          <a:p>
            <a:endParaRPr lang="zh-CN" altLang="en-US" dirty="0"/>
          </a:p>
        </p:txBody>
      </p:sp>
    </p:spTree>
    <p:extLst>
      <p:ext uri="{BB962C8B-B14F-4D97-AF65-F5344CB8AC3E}">
        <p14:creationId xmlns:p14="http://schemas.microsoft.com/office/powerpoint/2010/main" val="369121839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7520940" cy="5688632"/>
          </a:xfrm>
        </p:spPr>
        <p:txBody>
          <a:bodyPr>
            <a:normAutofit fontScale="62500" lnSpcReduction="20000"/>
          </a:bodyPr>
          <a:lstStyle/>
          <a:p>
            <a:r>
              <a:rPr lang="en-US" altLang="zh-CN" b="0" dirty="0"/>
              <a:t>    </a:t>
            </a:r>
            <a:r>
              <a:rPr lang="en-US" altLang="zh-CN" b="0" dirty="0" err="1"/>
              <a:t>qsort</a:t>
            </a:r>
            <a:r>
              <a:rPr lang="en-US" altLang="zh-CN" b="0" dirty="0"/>
              <a:t>(E, </a:t>
            </a:r>
            <a:r>
              <a:rPr lang="en-US" altLang="zh-CN" b="0" dirty="0" err="1"/>
              <a:t>EdgeCnt</a:t>
            </a:r>
            <a:r>
              <a:rPr lang="en-US" altLang="zh-CN" b="0" dirty="0"/>
              <a:t>, </a:t>
            </a:r>
            <a:r>
              <a:rPr lang="en-US" altLang="zh-CN" b="0" dirty="0" err="1"/>
              <a:t>sizeof</a:t>
            </a:r>
            <a:r>
              <a:rPr lang="en-US" altLang="zh-CN" b="0" dirty="0"/>
              <a:t>(E[0]), </a:t>
            </a:r>
            <a:r>
              <a:rPr lang="en-US" altLang="zh-CN" b="0" dirty="0" err="1"/>
              <a:t>cmp</a:t>
            </a:r>
            <a:r>
              <a:rPr lang="en-US" altLang="zh-CN" b="0" dirty="0"/>
              <a:t>);   //</a:t>
            </a:r>
            <a:r>
              <a:rPr lang="zh-CN" altLang="zh-CN" b="0" dirty="0"/>
              <a:t>使用快速排序按照权值从小到大排序</a:t>
            </a:r>
          </a:p>
          <a:p>
            <a:r>
              <a:rPr lang="en-US" altLang="zh-CN" b="0" dirty="0"/>
              <a:t>    </a:t>
            </a:r>
            <a:r>
              <a:rPr lang="en-US" altLang="zh-CN" b="0" dirty="0" err="1"/>
              <a:t>int</a:t>
            </a:r>
            <a:r>
              <a:rPr lang="en-US" altLang="zh-CN" b="0" dirty="0"/>
              <a:t> </a:t>
            </a:r>
            <a:r>
              <a:rPr lang="en-US" altLang="zh-CN" b="0" dirty="0" err="1"/>
              <a:t>cnt</a:t>
            </a:r>
            <a:r>
              <a:rPr lang="en-US" altLang="zh-CN" b="0" dirty="0"/>
              <a:t> = 0;      //</a:t>
            </a:r>
            <a:r>
              <a:rPr lang="zh-CN" altLang="zh-CN" b="0" dirty="0"/>
              <a:t>生成的边数</a:t>
            </a:r>
          </a:p>
          <a:p>
            <a:r>
              <a:rPr lang="en-US" altLang="zh-CN" b="0" dirty="0"/>
              <a:t>    </a:t>
            </a:r>
            <a:r>
              <a:rPr lang="en-US" altLang="zh-CN" b="0" dirty="0" err="1"/>
              <a:t>i</a:t>
            </a:r>
            <a:r>
              <a:rPr lang="en-US" altLang="zh-CN" b="0" dirty="0"/>
              <a:t> = 0;          //E</a:t>
            </a:r>
            <a:r>
              <a:rPr lang="zh-CN" altLang="zh-CN" b="0" dirty="0"/>
              <a:t>的下标</a:t>
            </a:r>
          </a:p>
          <a:p>
            <a:r>
              <a:rPr lang="en-US" altLang="zh-CN" b="0" dirty="0"/>
              <a:t>    </a:t>
            </a:r>
            <a:r>
              <a:rPr lang="en-US" altLang="zh-CN" b="0" dirty="0" err="1"/>
              <a:t>int</a:t>
            </a:r>
            <a:r>
              <a:rPr lang="en-US" altLang="zh-CN" b="0" dirty="0"/>
              <a:t> x, y;</a:t>
            </a:r>
            <a:endParaRPr lang="zh-CN" altLang="zh-CN" b="0" dirty="0"/>
          </a:p>
          <a:p>
            <a:r>
              <a:rPr lang="en-US" altLang="zh-CN" b="0" dirty="0"/>
              <a:t>    while (</a:t>
            </a:r>
            <a:r>
              <a:rPr lang="en-US" altLang="zh-CN" b="0" dirty="0" err="1"/>
              <a:t>cnt</a:t>
            </a:r>
            <a:r>
              <a:rPr lang="en-US" altLang="zh-CN" b="0" dirty="0"/>
              <a:t> &lt; n - 1){</a:t>
            </a:r>
            <a:endParaRPr lang="zh-CN" altLang="zh-CN" b="0" dirty="0"/>
          </a:p>
          <a:p>
            <a:r>
              <a:rPr lang="en-US" altLang="zh-CN" b="0" dirty="0"/>
              <a:t>        x = </a:t>
            </a:r>
            <a:r>
              <a:rPr lang="en-US" altLang="zh-CN" b="0" dirty="0" err="1"/>
              <a:t>Vset</a:t>
            </a:r>
            <a:r>
              <a:rPr lang="en-US" altLang="zh-CN" b="0" dirty="0"/>
              <a:t>[E[</a:t>
            </a:r>
            <a:r>
              <a:rPr lang="en-US" altLang="zh-CN" b="0" dirty="0" err="1"/>
              <a:t>i</a:t>
            </a:r>
            <a:r>
              <a:rPr lang="en-US" altLang="zh-CN" b="0" dirty="0"/>
              <a:t>].from];</a:t>
            </a:r>
            <a:endParaRPr lang="zh-CN" altLang="zh-CN" b="0" dirty="0"/>
          </a:p>
          <a:p>
            <a:r>
              <a:rPr lang="en-US" altLang="zh-CN" b="0" dirty="0"/>
              <a:t>        y = </a:t>
            </a:r>
            <a:r>
              <a:rPr lang="en-US" altLang="zh-CN" b="0" dirty="0" err="1"/>
              <a:t>Vset</a:t>
            </a:r>
            <a:r>
              <a:rPr lang="en-US" altLang="zh-CN" b="0" dirty="0"/>
              <a:t>[E[</a:t>
            </a:r>
            <a:r>
              <a:rPr lang="en-US" altLang="zh-CN" b="0" dirty="0" err="1"/>
              <a:t>i</a:t>
            </a:r>
            <a:r>
              <a:rPr lang="en-US" altLang="zh-CN" b="0" dirty="0"/>
              <a:t>].to];</a:t>
            </a:r>
            <a:endParaRPr lang="zh-CN" altLang="zh-CN" b="0" dirty="0"/>
          </a:p>
          <a:p>
            <a:r>
              <a:rPr lang="en-US" altLang="zh-CN" b="0" dirty="0"/>
              <a:t>        if (x != y)   //</a:t>
            </a:r>
            <a:r>
              <a:rPr lang="zh-CN" altLang="zh-CN" b="0" dirty="0"/>
              <a:t>不在同一个连通分量中</a:t>
            </a:r>
          </a:p>
          <a:p>
            <a:r>
              <a:rPr lang="en-US" altLang="zh-CN" b="0" dirty="0"/>
              <a:t>        {</a:t>
            </a:r>
            <a:endParaRPr lang="zh-CN" altLang="zh-CN" b="0" dirty="0"/>
          </a:p>
          <a:p>
            <a:r>
              <a:rPr lang="en-US" altLang="zh-CN" b="0" dirty="0"/>
              <a:t>            MST[</a:t>
            </a:r>
            <a:r>
              <a:rPr lang="en-US" altLang="zh-CN" b="0" dirty="0" err="1"/>
              <a:t>cnt</a:t>
            </a:r>
            <a:r>
              <a:rPr lang="en-US" altLang="zh-CN" b="0" dirty="0"/>
              <a:t>++] = E[</a:t>
            </a:r>
            <a:r>
              <a:rPr lang="en-US" altLang="zh-CN" b="0" dirty="0" err="1"/>
              <a:t>i</a:t>
            </a:r>
            <a:r>
              <a:rPr lang="en-US" altLang="zh-CN" b="0" dirty="0"/>
              <a:t>];</a:t>
            </a:r>
            <a:endParaRPr lang="zh-CN" altLang="zh-CN" b="0" dirty="0"/>
          </a:p>
          <a:p>
            <a:r>
              <a:rPr lang="en-US" altLang="zh-CN" b="0" dirty="0"/>
              <a:t>            for (j = 0; j &lt; n; </a:t>
            </a:r>
            <a:r>
              <a:rPr lang="en-US" altLang="zh-CN" b="0" dirty="0" err="1"/>
              <a:t>j++</a:t>
            </a:r>
            <a:r>
              <a:rPr lang="en-US" altLang="zh-CN" b="0" dirty="0"/>
              <a:t>)</a:t>
            </a:r>
            <a:endParaRPr lang="zh-CN" altLang="zh-CN" b="0" dirty="0"/>
          </a:p>
          <a:p>
            <a:r>
              <a:rPr lang="en-US" altLang="zh-CN" b="0" dirty="0"/>
              <a:t>                if (</a:t>
            </a:r>
            <a:r>
              <a:rPr lang="en-US" altLang="zh-CN" b="0" dirty="0" err="1"/>
              <a:t>Vset</a:t>
            </a:r>
            <a:r>
              <a:rPr lang="en-US" altLang="zh-CN" b="0" dirty="0"/>
              <a:t>[j] == y)   //</a:t>
            </a:r>
            <a:r>
              <a:rPr lang="zh-CN" altLang="zh-CN" b="0" dirty="0"/>
              <a:t>合并</a:t>
            </a:r>
          </a:p>
          <a:p>
            <a:r>
              <a:rPr lang="en-US" altLang="zh-CN" b="0" dirty="0"/>
              <a:t>                    </a:t>
            </a:r>
            <a:r>
              <a:rPr lang="en-US" altLang="zh-CN" b="0" dirty="0" err="1"/>
              <a:t>Vset</a:t>
            </a:r>
            <a:r>
              <a:rPr lang="en-US" altLang="zh-CN" b="0" dirty="0"/>
              <a:t>[j] = x;</a:t>
            </a:r>
            <a:endParaRPr lang="zh-CN" altLang="zh-CN" b="0" dirty="0"/>
          </a:p>
          <a:p>
            <a:r>
              <a:rPr lang="en-US" altLang="zh-CN" b="0" dirty="0"/>
              <a:t>        }</a:t>
            </a:r>
            <a:endParaRPr lang="zh-CN" altLang="zh-CN" b="0" dirty="0"/>
          </a:p>
          <a:p>
            <a:r>
              <a:rPr lang="en-US" altLang="zh-CN" b="0" dirty="0"/>
              <a:t>        </a:t>
            </a:r>
            <a:r>
              <a:rPr lang="en-US" altLang="zh-CN" b="0" dirty="0" err="1"/>
              <a:t>i</a:t>
            </a:r>
            <a:r>
              <a:rPr lang="en-US" altLang="zh-CN" b="0" dirty="0"/>
              <a:t>++;</a:t>
            </a:r>
            <a:endParaRPr lang="zh-CN" altLang="zh-CN" b="0" dirty="0"/>
          </a:p>
          <a:p>
            <a:r>
              <a:rPr lang="en-US" altLang="zh-CN" b="0" dirty="0"/>
              <a:t>    }</a:t>
            </a:r>
            <a:endParaRPr lang="zh-CN" altLang="zh-CN" b="0" dirty="0"/>
          </a:p>
          <a:p>
            <a:r>
              <a:rPr lang="en-US" altLang="zh-CN" b="0" dirty="0"/>
              <a:t>}</a:t>
            </a:r>
            <a:endParaRPr lang="zh-CN" altLang="en-US" b="0" dirty="0"/>
          </a:p>
        </p:txBody>
      </p:sp>
    </p:spTree>
    <p:extLst>
      <p:ext uri="{BB962C8B-B14F-4D97-AF65-F5344CB8AC3E}">
        <p14:creationId xmlns:p14="http://schemas.microsoft.com/office/powerpoint/2010/main" val="260802409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1268760"/>
            <a:ext cx="8640959" cy="3579849"/>
          </a:xfrm>
        </p:spPr>
        <p:txBody>
          <a:bodyPr/>
          <a:lstStyle/>
          <a:p>
            <a:r>
              <a:rPr lang="zh-CN" altLang="zh-CN" b="0" dirty="0"/>
              <a:t>表</a:t>
            </a:r>
            <a:r>
              <a:rPr lang="en-US" altLang="zh-CN" b="0" dirty="0"/>
              <a:t>6-9</a:t>
            </a:r>
            <a:r>
              <a:rPr lang="zh-CN" altLang="zh-CN" b="0" dirty="0"/>
              <a:t>示意了在图</a:t>
            </a:r>
            <a:r>
              <a:rPr lang="en-US" altLang="zh-CN" b="0" dirty="0"/>
              <a:t>6-37</a:t>
            </a:r>
            <a:r>
              <a:rPr lang="zh-CN" altLang="zh-CN" b="0" dirty="0"/>
              <a:t>中，每加入一条边后数组</a:t>
            </a:r>
            <a:r>
              <a:rPr lang="en-US" altLang="zh-CN" b="0" dirty="0" err="1"/>
              <a:t>Vset</a:t>
            </a:r>
            <a:r>
              <a:rPr lang="zh-CN" altLang="zh-CN" b="0" dirty="0"/>
              <a:t>的变化情况。</a:t>
            </a:r>
          </a:p>
          <a:p>
            <a:endParaRPr lang="zh-CN" altLang="en-US" b="0" dirty="0"/>
          </a:p>
        </p:txBody>
      </p:sp>
      <p:pic>
        <p:nvPicPr>
          <p:cNvPr id="4505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3648" y="2060848"/>
            <a:ext cx="6451600" cy="2578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1079612" y="4797152"/>
            <a:ext cx="7099672" cy="1286250"/>
          </a:xfrm>
          <a:prstGeom prst="rect">
            <a:avLst/>
          </a:prstGeom>
        </p:spPr>
        <p:txBody>
          <a:bodyPr wrap="square">
            <a:spAutoFit/>
          </a:bodyPr>
          <a:lstStyle/>
          <a:p>
            <a:pPr>
              <a:lnSpc>
                <a:spcPct val="150000"/>
              </a:lnSpc>
            </a:pP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Kruskal</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算法的时间复杂度主要由排序算法决定，当采用时间复杂度为</a:t>
            </a:r>
            <a:r>
              <a:rPr lang="en-US" altLang="zh-CN" dirty="0">
                <a:latin typeface="Times New Roman" panose="02020603050405020304" pitchFamily="18" charset="0"/>
                <a:ea typeface="楷体" panose="02010609060101010101" pitchFamily="49" charset="-122"/>
                <a:cs typeface="Times New Roman" panose="02020603050405020304" pitchFamily="18" charset="0"/>
              </a:rPr>
              <a:t>O(</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eloge</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的快速排序时，</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Kruskal</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算法的时间复杂度为</a:t>
            </a:r>
            <a:r>
              <a:rPr lang="en-US" altLang="zh-CN" dirty="0">
                <a:latin typeface="Times New Roman" panose="02020603050405020304" pitchFamily="18" charset="0"/>
                <a:ea typeface="楷体" panose="02010609060101010101" pitchFamily="49" charset="-122"/>
                <a:cs typeface="Times New Roman" panose="02020603050405020304" pitchFamily="18" charset="0"/>
              </a:rPr>
              <a:t>O(</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eloge</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，可见，</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Kruskal</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算法更适合于边稀疏的连通网络。</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20376929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角度">
  <a:themeElements>
    <a:clrScheme name="角度">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角度">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角度">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4861</TotalTime>
  <Words>12839</Words>
  <Application>Microsoft Office PowerPoint</Application>
  <PresentationFormat>全屏显示(4:3)</PresentationFormat>
  <Paragraphs>899</Paragraphs>
  <Slides>111</Slides>
  <Notes>12</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111</vt:i4>
      </vt:variant>
    </vt:vector>
  </HeadingPairs>
  <TitlesOfParts>
    <vt:vector size="126" baseType="lpstr">
      <vt:lpstr>pingfang SC</vt:lpstr>
      <vt:lpstr>方正舒体</vt:lpstr>
      <vt:lpstr>黑体</vt:lpstr>
      <vt:lpstr>华文行楷</vt:lpstr>
      <vt:lpstr>楷体</vt:lpstr>
      <vt:lpstr>宋体</vt:lpstr>
      <vt:lpstr>Arial</vt:lpstr>
      <vt:lpstr>Arial Black</vt:lpstr>
      <vt:lpstr>Calibri</vt:lpstr>
      <vt:lpstr>Franklin Gothic Book</vt:lpstr>
      <vt:lpstr>Franklin Gothic Medium</vt:lpstr>
      <vt:lpstr>Times New Roman</vt:lpstr>
      <vt:lpstr>Wingdings</vt:lpstr>
      <vt:lpstr>角度</vt:lpstr>
      <vt:lpstr>Visio.Drawing.6</vt:lpstr>
      <vt:lpstr>第6章 图</vt:lpstr>
      <vt:lpstr>6.1  图的定义和术语</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6.2  图的存储结构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6.2.2  邻接表存储方法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6.3  图的遍历</vt:lpstr>
      <vt:lpstr>PowerPoint 演示文稿</vt:lpstr>
      <vt:lpstr>PowerPoint 演示文稿</vt:lpstr>
      <vt:lpstr>PowerPoint 演示文稿</vt:lpstr>
      <vt:lpstr>6.3.1  深度优先搜索</vt:lpstr>
      <vt:lpstr>PowerPoint 演示文稿</vt:lpstr>
      <vt:lpstr>例子：无向图G7为例说明深度优先搜索过程。</vt:lpstr>
      <vt:lpstr>PowerPoint 演示文稿</vt:lpstr>
      <vt:lpstr>PowerPoint 演示文稿</vt:lpstr>
      <vt:lpstr>性能分析：</vt:lpstr>
      <vt:lpstr>6.3.2  广度优先搜索</vt:lpstr>
      <vt:lpstr>PowerPoint 演示文稿</vt:lpstr>
      <vt:lpstr>PowerPoint 演示文稿</vt:lpstr>
      <vt:lpstr>PowerPoint 演示文稿</vt:lpstr>
      <vt:lpstr>PowerPoint 演示文稿</vt:lpstr>
      <vt:lpstr>PowerPoint 演示文稿</vt:lpstr>
      <vt:lpstr>6.4  图的应用1：拓扑排序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6.6  图的应用3：最短路径</vt:lpstr>
      <vt:lpstr>PowerPoint 演示文稿</vt:lpstr>
      <vt:lpstr>6.6.1  单源点最短路径问题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6.6.2  任意对顶点之间的最短路径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6.7  图的应用4：图的最小生成树</vt:lpstr>
      <vt:lpstr>PowerPoint 演示文稿</vt:lpstr>
      <vt:lpstr>PowerPoint 演示文稿</vt:lpstr>
      <vt:lpstr>6.6.1  Prim算法---扩点法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6.6.2  Kruskal算法---扩边法</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第2章 　算法分析</dc:title>
  <dc:creator>Admin</dc:creator>
  <cp:lastModifiedBy>Lenovo</cp:lastModifiedBy>
  <cp:revision>354</cp:revision>
  <dcterms:created xsi:type="dcterms:W3CDTF">2016-02-05T07:36:15Z</dcterms:created>
  <dcterms:modified xsi:type="dcterms:W3CDTF">2025-05-06T07:17:48Z</dcterms:modified>
</cp:coreProperties>
</file>