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tiff" ContentType="image/tiff"/>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Lst>
  <p:notesMasterIdLst>
    <p:notesMasterId r:id="rId148"/>
  </p:notesMasterIdLst>
  <p:sldIdLst>
    <p:sldId id="256" r:id="rId2"/>
    <p:sldId id="257" r:id="rId3"/>
    <p:sldId id="258" r:id="rId4"/>
    <p:sldId id="259" r:id="rId5"/>
    <p:sldId id="260" r:id="rId6"/>
    <p:sldId id="261" r:id="rId7"/>
    <p:sldId id="262" r:id="rId8"/>
    <p:sldId id="263" r:id="rId9"/>
    <p:sldId id="264" r:id="rId10"/>
    <p:sldId id="349" r:id="rId11"/>
    <p:sldId id="350" r:id="rId12"/>
    <p:sldId id="351" r:id="rId13"/>
    <p:sldId id="352" r:id="rId14"/>
    <p:sldId id="386" r:id="rId15"/>
    <p:sldId id="270" r:id="rId16"/>
    <p:sldId id="269" r:id="rId17"/>
    <p:sldId id="346" r:id="rId18"/>
    <p:sldId id="347" r:id="rId19"/>
    <p:sldId id="348" r:id="rId20"/>
    <p:sldId id="274" r:id="rId21"/>
    <p:sldId id="275" r:id="rId22"/>
    <p:sldId id="276" r:id="rId23"/>
    <p:sldId id="277" r:id="rId24"/>
    <p:sldId id="387" r:id="rId25"/>
    <p:sldId id="278" r:id="rId26"/>
    <p:sldId id="388" r:id="rId27"/>
    <p:sldId id="404" r:id="rId28"/>
    <p:sldId id="405" r:id="rId29"/>
    <p:sldId id="279" r:id="rId30"/>
    <p:sldId id="280" r:id="rId31"/>
    <p:sldId id="390" r:id="rId32"/>
    <p:sldId id="389" r:id="rId33"/>
    <p:sldId id="281" r:id="rId34"/>
    <p:sldId id="282" r:id="rId35"/>
    <p:sldId id="283" r:id="rId36"/>
    <p:sldId id="361" r:id="rId37"/>
    <p:sldId id="362" r:id="rId38"/>
    <p:sldId id="363" r:id="rId39"/>
    <p:sldId id="364" r:id="rId40"/>
    <p:sldId id="365" r:id="rId41"/>
    <p:sldId id="402" r:id="rId42"/>
    <p:sldId id="403" r:id="rId43"/>
    <p:sldId id="360" r:id="rId44"/>
    <p:sldId id="357" r:id="rId45"/>
    <p:sldId id="358" r:id="rId46"/>
    <p:sldId id="359" r:id="rId47"/>
    <p:sldId id="299" r:id="rId48"/>
    <p:sldId id="300" r:id="rId49"/>
    <p:sldId id="406" r:id="rId50"/>
    <p:sldId id="301" r:id="rId51"/>
    <p:sldId id="302" r:id="rId52"/>
    <p:sldId id="303" r:id="rId53"/>
    <p:sldId id="407" r:id="rId54"/>
    <p:sldId id="429" r:id="rId55"/>
    <p:sldId id="430" r:id="rId56"/>
    <p:sldId id="431" r:id="rId57"/>
    <p:sldId id="356" r:id="rId58"/>
    <p:sldId id="355" r:id="rId59"/>
    <p:sldId id="354" r:id="rId60"/>
    <p:sldId id="396" r:id="rId61"/>
    <p:sldId id="397" r:id="rId62"/>
    <p:sldId id="398" r:id="rId63"/>
    <p:sldId id="399" r:id="rId64"/>
    <p:sldId id="400" r:id="rId65"/>
    <p:sldId id="401" r:id="rId66"/>
    <p:sldId id="353" r:id="rId67"/>
    <p:sldId id="298" r:id="rId68"/>
    <p:sldId id="383" r:id="rId69"/>
    <p:sldId id="304" r:id="rId70"/>
    <p:sldId id="305" r:id="rId71"/>
    <p:sldId id="306" r:id="rId72"/>
    <p:sldId id="307" r:id="rId73"/>
    <p:sldId id="408" r:id="rId74"/>
    <p:sldId id="308" r:id="rId75"/>
    <p:sldId id="309" r:id="rId76"/>
    <p:sldId id="410" r:id="rId77"/>
    <p:sldId id="310" r:id="rId78"/>
    <p:sldId id="409" r:id="rId79"/>
    <p:sldId id="422" r:id="rId80"/>
    <p:sldId id="411" r:id="rId81"/>
    <p:sldId id="311" r:id="rId82"/>
    <p:sldId id="366" r:id="rId83"/>
    <p:sldId id="367" r:id="rId84"/>
    <p:sldId id="424" r:id="rId85"/>
    <p:sldId id="425" r:id="rId86"/>
    <p:sldId id="385" r:id="rId87"/>
    <p:sldId id="368" r:id="rId88"/>
    <p:sldId id="369" r:id="rId89"/>
    <p:sldId id="370" r:id="rId90"/>
    <p:sldId id="423" r:id="rId91"/>
    <p:sldId id="317" r:id="rId92"/>
    <p:sldId id="318" r:id="rId93"/>
    <p:sldId id="319" r:id="rId94"/>
    <p:sldId id="320" r:id="rId95"/>
    <p:sldId id="321" r:id="rId96"/>
    <p:sldId id="322" r:id="rId97"/>
    <p:sldId id="426" r:id="rId98"/>
    <p:sldId id="323" r:id="rId99"/>
    <p:sldId id="324" r:id="rId100"/>
    <p:sldId id="376" r:id="rId101"/>
    <p:sldId id="377" r:id="rId102"/>
    <p:sldId id="330" r:id="rId103"/>
    <p:sldId id="331" r:id="rId104"/>
    <p:sldId id="371" r:id="rId105"/>
    <p:sldId id="372" r:id="rId106"/>
    <p:sldId id="373" r:id="rId107"/>
    <p:sldId id="374" r:id="rId108"/>
    <p:sldId id="375" r:id="rId109"/>
    <p:sldId id="332" r:id="rId110"/>
    <p:sldId id="333" r:id="rId111"/>
    <p:sldId id="334" r:id="rId112"/>
    <p:sldId id="335" r:id="rId113"/>
    <p:sldId id="336" r:id="rId114"/>
    <p:sldId id="337" r:id="rId115"/>
    <p:sldId id="378" r:id="rId116"/>
    <p:sldId id="379" r:id="rId117"/>
    <p:sldId id="380" r:id="rId118"/>
    <p:sldId id="381" r:id="rId119"/>
    <p:sldId id="382" r:id="rId120"/>
    <p:sldId id="343" r:id="rId121"/>
    <p:sldId id="428" r:id="rId122"/>
    <p:sldId id="427" r:id="rId123"/>
    <p:sldId id="344" r:id="rId124"/>
    <p:sldId id="345" r:id="rId125"/>
    <p:sldId id="384" r:id="rId126"/>
    <p:sldId id="419" r:id="rId127"/>
    <p:sldId id="415" r:id="rId128"/>
    <p:sldId id="414" r:id="rId129"/>
    <p:sldId id="416" r:id="rId130"/>
    <p:sldId id="420" r:id="rId131"/>
    <p:sldId id="421" r:id="rId132"/>
    <p:sldId id="412" r:id="rId133"/>
    <p:sldId id="413" r:id="rId134"/>
    <p:sldId id="417" r:id="rId135"/>
    <p:sldId id="418" r:id="rId136"/>
    <p:sldId id="391" r:id="rId137"/>
    <p:sldId id="392" r:id="rId138"/>
    <p:sldId id="393" r:id="rId139"/>
    <p:sldId id="394" r:id="rId140"/>
    <p:sldId id="395" r:id="rId141"/>
    <p:sldId id="432" r:id="rId142"/>
    <p:sldId id="433" r:id="rId143"/>
    <p:sldId id="434" r:id="rId144"/>
    <p:sldId id="435" r:id="rId145"/>
    <p:sldId id="436" r:id="rId146"/>
    <p:sldId id="437" r:id="rId147"/>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9092" autoAdjust="0"/>
  </p:normalViewPr>
  <p:slideViewPr>
    <p:cSldViewPr>
      <p:cViewPr varScale="1">
        <p:scale>
          <a:sx n="50" d="100"/>
          <a:sy n="50" d="100"/>
        </p:scale>
        <p:origin x="1579" y="2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presProps" Target="presProps.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viewProps" Target="viewProp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785A02B-D9D6-4BC7-BD1A-0C439226DE41}" type="datetimeFigureOut">
              <a:rPr lang="zh-CN" altLang="en-US" smtClean="0"/>
              <a:pPr/>
              <a:t>2025/6/3</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58D460B-FCBF-4F68-A559-8E415D1DDEDB}" type="slidenum">
              <a:rPr lang="zh-CN" altLang="en-US" smtClean="0"/>
              <a:pPr/>
              <a:t>‹#›</a:t>
            </a:fld>
            <a:endParaRPr lang="zh-CN" altLang="en-US"/>
          </a:p>
        </p:txBody>
      </p:sp>
    </p:spTree>
    <p:extLst>
      <p:ext uri="{BB962C8B-B14F-4D97-AF65-F5344CB8AC3E}">
        <p14:creationId xmlns:p14="http://schemas.microsoft.com/office/powerpoint/2010/main" val="13890210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zhida.zhihu.com/search?content_id=241217577&amp;content_type=Article&amp;match_order=1&amp;q=%E5%B1%80%E9%83%A8%E6%80%A7%E5%8E%9F%E7%90%86&amp;zd_token=eyJhbGciOiJIUzI1NiIsInR5cCI6IkpXVCJ9.eyJpc3MiOiJ6aGlkYV9zZXJ2ZXIiLCJleHAiOjE3NDg5MTc4ODUsInEiOiLlsYDpg6jmgKfljp_nkIYiLCJ6aGlkYV9zb3VyY2UiOiJlbnRpdHkiLCJjb250ZW50X2lkIjoyNDEyMTc1NzcsImNvbnRlbnRfdHlwZSI6IkFydGljbGUiLCJtYXRjaF9vcmRlciI6MSwiemRfdG9rZW4iOm51bGx9.9MIqSXCMfE1XsOKGH0JqTHC5zv9_KcfCMBm23ghPUwo&amp;zhida_source=entity" TargetMode="External"/><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zhida.zhihu.com/search?content_id=241217577&amp;content_type=Article&amp;match_order=1&amp;q=%E5%86%85%E9%83%A8%E8%8A%82%E7%82%B9&amp;zd_token=eyJhbGciOiJIUzI1NiIsInR5cCI6IkpXVCJ9.eyJpc3MiOiJ6aGlkYV9zZXJ2ZXIiLCJleHAiOjE3NDg5MTc4ODUsInEiOiLlhoXpg6joioLngrkiLCJ6aGlkYV9zb3VyY2UiOiJlbnRpdHkiLCJjb250ZW50X2lkIjoyNDEyMTc1NzcsImNvbnRlbnRfdHlwZSI6IkFydGljbGUiLCJtYXRjaF9vcmRlciI6MSwiemRfdG9rZW4iOm51bGx9.9ZfYljmbXXUXmTehCnaCLjOiO9Ht5GbHus2L28VPKVo&amp;zhida_source=entity" TargetMode="External"/><Relationship Id="rId2" Type="http://schemas.openxmlformats.org/officeDocument/2006/relationships/slide" Target="../slides/slide130.xml"/><Relationship Id="rId1" Type="http://schemas.openxmlformats.org/officeDocument/2006/relationships/notesMaster" Target="../notesMasters/notesMaster1.xml"/><Relationship Id="rId4" Type="http://schemas.openxmlformats.org/officeDocument/2006/relationships/hyperlink" Target="https://zhida.zhihu.com/search?content_id=241217577&amp;content_type=Article&amp;match_order=1&amp;q=%E5%8F%B6%E5%AD%90%E8%8A%82%E7%82%B9&amp;zd_token=eyJhbGciOiJIUzI1NiIsInR5cCI6IkpXVCJ9.eyJpc3MiOiJ6aGlkYV9zZXJ2ZXIiLCJleHAiOjE3NDg5MTc4ODUsInEiOiLlj7blrZDoioLngrkiLCJ6aGlkYV9zb3VyY2UiOiJlbnRpdHkiLCJjb250ZW50X2lkIjoyNDEyMTc1NzcsImNvbnRlbnRfdHlwZSI6IkFydGljbGUiLCJtYXRjaF9vcmRlciI6MSwiemRfdG9rZW4iOm51bGx9.RoMNbphYo3Z2poO7rnR8ioxOSFJlh2sYeB3hzvpJ6tA&amp;zhida_source=entity" TargetMode="Externa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t>
            </a:r>
            <a:r>
              <a:rPr lang="zh-CN" altLang="en-US" dirty="0"/>
              <a:t>顺序查找表定义</a:t>
            </a:r>
          </a:p>
          <a:p>
            <a:r>
              <a:rPr lang="en-US" altLang="zh-CN" dirty="0"/>
              <a:t>template &lt;class </a:t>
            </a:r>
            <a:r>
              <a:rPr lang="en-US" altLang="zh-CN" dirty="0" err="1"/>
              <a:t>keytype,class</a:t>
            </a:r>
            <a:r>
              <a:rPr lang="en-US" altLang="zh-CN" dirty="0"/>
              <a:t> </a:t>
            </a:r>
            <a:r>
              <a:rPr lang="en-US" altLang="zh-CN" dirty="0" err="1"/>
              <a:t>Itemtype</a:t>
            </a:r>
            <a:r>
              <a:rPr lang="en-US" altLang="zh-CN" dirty="0"/>
              <a:t>&gt; </a:t>
            </a:r>
          </a:p>
          <a:p>
            <a:r>
              <a:rPr lang="en-US" altLang="zh-CN" dirty="0"/>
              <a:t>class </a:t>
            </a:r>
            <a:r>
              <a:rPr lang="en-US" altLang="zh-CN" dirty="0" err="1"/>
              <a:t>recordList:public</a:t>
            </a:r>
            <a:r>
              <a:rPr lang="en-US" altLang="zh-CN" dirty="0"/>
              <a:t> List&lt;</a:t>
            </a:r>
            <a:r>
              <a:rPr lang="en-US" altLang="zh-CN" dirty="0" err="1"/>
              <a:t>keytype</a:t>
            </a:r>
            <a:r>
              <a:rPr lang="en-US" altLang="zh-CN" dirty="0"/>
              <a:t>, </a:t>
            </a:r>
            <a:r>
              <a:rPr lang="en-US" altLang="zh-CN" dirty="0" err="1"/>
              <a:t>Itemtype</a:t>
            </a:r>
            <a:r>
              <a:rPr lang="en-US" altLang="zh-CN" dirty="0"/>
              <a:t>&gt;      </a:t>
            </a:r>
          </a:p>
          <a:p>
            <a:r>
              <a:rPr lang="en-US" altLang="zh-CN" dirty="0"/>
              <a:t>{</a:t>
            </a:r>
          </a:p>
          <a:p>
            <a:r>
              <a:rPr lang="en-US" altLang="zh-CN" dirty="0"/>
              <a:t>private:</a:t>
            </a:r>
          </a:p>
          <a:p>
            <a:r>
              <a:rPr lang="en-US" altLang="zh-CN" dirty="0"/>
              <a:t>	Element&lt;</a:t>
            </a:r>
            <a:r>
              <a:rPr lang="en-US" altLang="zh-CN" dirty="0" err="1"/>
              <a:t>keytype</a:t>
            </a:r>
            <a:r>
              <a:rPr lang="en-US" altLang="zh-CN" dirty="0"/>
              <a:t>, </a:t>
            </a:r>
            <a:r>
              <a:rPr lang="en-US" altLang="zh-CN" dirty="0" err="1"/>
              <a:t>Itemtype</a:t>
            </a:r>
            <a:r>
              <a:rPr lang="en-US" altLang="zh-CN" dirty="0"/>
              <a:t>&gt; *R;</a:t>
            </a:r>
          </a:p>
          <a:p>
            <a:r>
              <a:rPr lang="en-US" altLang="zh-CN" dirty="0"/>
              <a:t>	int </a:t>
            </a:r>
            <a:r>
              <a:rPr lang="en-US" altLang="zh-CN" dirty="0" err="1"/>
              <a:t>MaxSize</a:t>
            </a:r>
            <a:r>
              <a:rPr lang="en-US" altLang="zh-CN" dirty="0"/>
              <a:t>;</a:t>
            </a:r>
          </a:p>
          <a:p>
            <a:r>
              <a:rPr lang="en-US" altLang="zh-CN" dirty="0"/>
              <a:t>	int </a:t>
            </a:r>
            <a:r>
              <a:rPr lang="en-US" altLang="zh-CN" dirty="0" err="1"/>
              <a:t>CurrentSize</a:t>
            </a:r>
            <a:r>
              <a:rPr lang="en-US" altLang="zh-CN" dirty="0"/>
              <a:t>;</a:t>
            </a:r>
          </a:p>
          <a:p>
            <a:r>
              <a:rPr lang="en-US" altLang="zh-CN" dirty="0"/>
              <a:t>public:</a:t>
            </a:r>
          </a:p>
          <a:p>
            <a:r>
              <a:rPr lang="en-US" altLang="zh-CN" dirty="0"/>
              <a:t>	</a:t>
            </a:r>
            <a:r>
              <a:rPr lang="en-US" altLang="zh-CN" dirty="0" err="1"/>
              <a:t>recordList</a:t>
            </a:r>
            <a:r>
              <a:rPr lang="en-US" altLang="zh-CN" dirty="0"/>
              <a:t>(int </a:t>
            </a:r>
            <a:r>
              <a:rPr lang="en-US" altLang="zh-CN" dirty="0" err="1"/>
              <a:t>MaxSz</a:t>
            </a:r>
            <a:r>
              <a:rPr lang="en-US" altLang="zh-CN" dirty="0"/>
              <a:t>=</a:t>
            </a:r>
            <a:r>
              <a:rPr lang="en-US" altLang="zh-CN" dirty="0" err="1"/>
              <a:t>DefaultSize</a:t>
            </a:r>
            <a:r>
              <a:rPr lang="en-US" altLang="zh-CN" dirty="0"/>
              <a:t>)</a:t>
            </a:r>
          </a:p>
          <a:p>
            <a:r>
              <a:rPr lang="en-US" altLang="zh-CN" dirty="0"/>
              <a:t>	{</a:t>
            </a:r>
          </a:p>
          <a:p>
            <a:r>
              <a:rPr lang="en-US" altLang="zh-CN" dirty="0"/>
              <a:t>		R=new Element&lt;</a:t>
            </a:r>
            <a:r>
              <a:rPr lang="en-US" altLang="zh-CN" dirty="0" err="1"/>
              <a:t>keytype</a:t>
            </a:r>
            <a:r>
              <a:rPr lang="en-US" altLang="zh-CN" dirty="0"/>
              <a:t>, </a:t>
            </a:r>
            <a:r>
              <a:rPr lang="en-US" altLang="zh-CN" dirty="0" err="1"/>
              <a:t>Itemtype</a:t>
            </a:r>
            <a:r>
              <a:rPr lang="en-US" altLang="zh-CN" dirty="0"/>
              <a:t>&gt;[</a:t>
            </a:r>
            <a:r>
              <a:rPr lang="en-US" altLang="zh-CN" dirty="0" err="1"/>
              <a:t>MaxSz</a:t>
            </a:r>
            <a:r>
              <a:rPr lang="en-US" altLang="zh-CN" dirty="0"/>
              <a:t>];</a:t>
            </a:r>
          </a:p>
          <a:p>
            <a:r>
              <a:rPr lang="en-US" altLang="zh-CN" dirty="0"/>
              <a:t>		if (R==NULL)	return ; </a:t>
            </a:r>
          </a:p>
          <a:p>
            <a:r>
              <a:rPr lang="en-US" altLang="zh-CN" dirty="0"/>
              <a:t>		</a:t>
            </a:r>
            <a:r>
              <a:rPr lang="en-US" altLang="zh-CN" dirty="0" err="1"/>
              <a:t>MaxSize</a:t>
            </a:r>
            <a:r>
              <a:rPr lang="en-US" altLang="zh-CN" dirty="0"/>
              <a:t>=</a:t>
            </a:r>
            <a:r>
              <a:rPr lang="en-US" altLang="zh-CN" dirty="0" err="1"/>
              <a:t>MaxSz</a:t>
            </a:r>
            <a:r>
              <a:rPr lang="en-US" altLang="zh-CN" dirty="0"/>
              <a:t>;</a:t>
            </a:r>
          </a:p>
          <a:p>
            <a:r>
              <a:rPr lang="en-US" altLang="zh-CN" dirty="0"/>
              <a:t>		</a:t>
            </a:r>
            <a:r>
              <a:rPr lang="en-US" altLang="zh-CN" dirty="0" err="1"/>
              <a:t>CurrentSize</a:t>
            </a:r>
            <a:r>
              <a:rPr lang="en-US" altLang="zh-CN" dirty="0"/>
              <a:t>=0;</a:t>
            </a:r>
          </a:p>
          <a:p>
            <a:r>
              <a:rPr lang="en-US" altLang="zh-CN" dirty="0"/>
              <a:t>	}</a:t>
            </a:r>
          </a:p>
          <a:p>
            <a:r>
              <a:rPr lang="en-US" altLang="zh-CN" dirty="0"/>
              <a:t>    bool </a:t>
            </a:r>
            <a:r>
              <a:rPr lang="en-US" altLang="zh-CN" dirty="0" err="1"/>
              <a:t>IsEmpty</a:t>
            </a:r>
            <a:r>
              <a:rPr lang="en-US" altLang="zh-CN" dirty="0"/>
              <a:t>(){return </a:t>
            </a:r>
            <a:r>
              <a:rPr lang="en-US" altLang="zh-CN" dirty="0" err="1"/>
              <a:t>CurrentSize</a:t>
            </a:r>
            <a:r>
              <a:rPr lang="en-US" altLang="zh-CN" dirty="0"/>
              <a:t>==0; };       		//</a:t>
            </a:r>
            <a:r>
              <a:rPr lang="zh-CN" altLang="en-US" dirty="0"/>
              <a:t>判断线性表是否为空 </a:t>
            </a:r>
          </a:p>
          <a:p>
            <a:r>
              <a:rPr lang="zh-CN" altLang="en-US" dirty="0"/>
              <a:t>    </a:t>
            </a:r>
            <a:r>
              <a:rPr lang="en-US" altLang="zh-CN" dirty="0"/>
              <a:t>virtual bool </a:t>
            </a:r>
            <a:r>
              <a:rPr lang="en-US" altLang="zh-CN" dirty="0" err="1"/>
              <a:t>IsFull</a:t>
            </a:r>
            <a:r>
              <a:rPr lang="en-US" altLang="zh-CN" dirty="0"/>
              <a:t>(){ return </a:t>
            </a:r>
            <a:r>
              <a:rPr lang="en-US" altLang="zh-CN" dirty="0" err="1"/>
              <a:t>CurrentSize</a:t>
            </a:r>
            <a:r>
              <a:rPr lang="en-US" altLang="zh-CN" dirty="0"/>
              <a:t>==</a:t>
            </a:r>
            <a:r>
              <a:rPr lang="en-US" altLang="zh-CN" dirty="0" err="1"/>
              <a:t>MaxSize</a:t>
            </a:r>
            <a:r>
              <a:rPr lang="en-US" altLang="zh-CN" dirty="0"/>
              <a:t>;};      //</a:t>
            </a:r>
            <a:r>
              <a:rPr lang="zh-CN" altLang="en-US" dirty="0"/>
              <a:t>判断线性表是否为满</a:t>
            </a:r>
          </a:p>
          <a:p>
            <a:r>
              <a:rPr lang="zh-CN" altLang="en-US" dirty="0"/>
              <a:t>	</a:t>
            </a:r>
            <a:r>
              <a:rPr lang="en-US" altLang="zh-CN" dirty="0"/>
              <a:t>int </a:t>
            </a:r>
            <a:r>
              <a:rPr lang="en-US" altLang="zh-CN" dirty="0" err="1"/>
              <a:t>getlength</a:t>
            </a:r>
            <a:r>
              <a:rPr lang="en-US" altLang="zh-CN" dirty="0"/>
              <a:t>(){ return </a:t>
            </a:r>
            <a:r>
              <a:rPr lang="en-US" altLang="zh-CN" dirty="0" err="1"/>
              <a:t>CurrentSize</a:t>
            </a:r>
            <a:r>
              <a:rPr lang="en-US" altLang="zh-CN" dirty="0"/>
              <a:t>;}		//</a:t>
            </a:r>
            <a:r>
              <a:rPr lang="zh-CN" altLang="en-US" dirty="0"/>
              <a:t>返回表长</a:t>
            </a:r>
          </a:p>
          <a:p>
            <a:r>
              <a:rPr lang="zh-CN" altLang="en-US" dirty="0"/>
              <a:t>    </a:t>
            </a:r>
            <a:r>
              <a:rPr lang="en-US" altLang="zh-CN" dirty="0"/>
              <a:t>void clear(){};         		// </a:t>
            </a:r>
            <a:r>
              <a:rPr lang="zh-CN" altLang="en-US" dirty="0"/>
              <a:t>删除所有的数据元素</a:t>
            </a:r>
          </a:p>
          <a:p>
            <a:r>
              <a:rPr lang="zh-CN" altLang="en-US" dirty="0"/>
              <a:t>    </a:t>
            </a:r>
            <a:r>
              <a:rPr lang="en-US" altLang="zh-CN" dirty="0"/>
              <a:t>bool insert(const Element&lt;</a:t>
            </a:r>
            <a:r>
              <a:rPr lang="en-US" altLang="zh-CN" dirty="0" err="1"/>
              <a:t>keytype</a:t>
            </a:r>
            <a:r>
              <a:rPr lang="en-US" altLang="zh-CN" dirty="0"/>
              <a:t>, </a:t>
            </a:r>
            <a:r>
              <a:rPr lang="en-US" altLang="zh-CN" dirty="0" err="1"/>
              <a:t>Itemtype</a:t>
            </a:r>
            <a:r>
              <a:rPr lang="en-US" altLang="zh-CN" dirty="0"/>
              <a:t>&gt;&amp;){};  	// </a:t>
            </a:r>
            <a:r>
              <a:rPr lang="zh-CN" altLang="en-US" dirty="0"/>
              <a:t>在当前的位置之后插入数据元素</a:t>
            </a:r>
          </a:p>
          <a:p>
            <a:r>
              <a:rPr lang="zh-CN" altLang="en-US" dirty="0"/>
              <a:t>	</a:t>
            </a:r>
            <a:r>
              <a:rPr lang="en-US" altLang="zh-CN" dirty="0"/>
              <a:t>void </a:t>
            </a:r>
            <a:r>
              <a:rPr lang="en-US" altLang="zh-CN" dirty="0" err="1"/>
              <a:t>setdata</a:t>
            </a:r>
            <a:r>
              <a:rPr lang="en-US" altLang="zh-CN" dirty="0"/>
              <a:t>(Element&lt;</a:t>
            </a:r>
            <a:r>
              <a:rPr lang="en-US" altLang="zh-CN" dirty="0" err="1"/>
              <a:t>keytype</a:t>
            </a:r>
            <a:r>
              <a:rPr lang="en-US" altLang="zh-CN" dirty="0"/>
              <a:t>, </a:t>
            </a:r>
            <a:r>
              <a:rPr lang="en-US" altLang="zh-CN" dirty="0" err="1"/>
              <a:t>Itemtype</a:t>
            </a:r>
            <a:r>
              <a:rPr lang="en-US" altLang="zh-CN" dirty="0"/>
              <a:t>&gt;</a:t>
            </a:r>
            <a:r>
              <a:rPr lang="en-US" altLang="zh-CN" dirty="0" err="1"/>
              <a:t>x,int</a:t>
            </a:r>
            <a:r>
              <a:rPr lang="en-US" altLang="zh-CN" dirty="0"/>
              <a:t> </a:t>
            </a:r>
            <a:r>
              <a:rPr lang="en-US" altLang="zh-CN" dirty="0" err="1"/>
              <a:t>i</a:t>
            </a:r>
            <a:r>
              <a:rPr lang="en-US" altLang="zh-CN" dirty="0"/>
              <a:t>){R[</a:t>
            </a:r>
            <a:r>
              <a:rPr lang="en-US" altLang="zh-CN" dirty="0" err="1"/>
              <a:t>i</a:t>
            </a:r>
            <a:r>
              <a:rPr lang="en-US" altLang="zh-CN" dirty="0"/>
              <a:t>]=x;	}</a:t>
            </a:r>
          </a:p>
          <a:p>
            <a:r>
              <a:rPr lang="en-US" altLang="zh-CN" dirty="0"/>
              <a:t>	Element&lt;</a:t>
            </a:r>
            <a:r>
              <a:rPr lang="en-US" altLang="zh-CN" dirty="0" err="1"/>
              <a:t>keytype</a:t>
            </a:r>
            <a:r>
              <a:rPr lang="en-US" altLang="zh-CN" dirty="0"/>
              <a:t>, </a:t>
            </a:r>
            <a:r>
              <a:rPr lang="en-US" altLang="zh-CN" dirty="0" err="1"/>
              <a:t>Itemtype</a:t>
            </a:r>
            <a:r>
              <a:rPr lang="en-US" altLang="zh-CN" dirty="0"/>
              <a:t>&gt; </a:t>
            </a:r>
            <a:r>
              <a:rPr lang="en-US" altLang="zh-CN" dirty="0" err="1"/>
              <a:t>getdata</a:t>
            </a:r>
            <a:r>
              <a:rPr lang="en-US" altLang="zh-CN" dirty="0"/>
              <a:t>(int </a:t>
            </a:r>
            <a:r>
              <a:rPr lang="en-US" altLang="zh-CN" dirty="0" err="1"/>
              <a:t>i</a:t>
            </a:r>
            <a:r>
              <a:rPr lang="en-US" altLang="zh-CN" dirty="0"/>
              <a:t>){return R[</a:t>
            </a:r>
            <a:r>
              <a:rPr lang="en-US" altLang="zh-CN" dirty="0" err="1"/>
              <a:t>i</a:t>
            </a:r>
            <a:r>
              <a:rPr lang="en-US" altLang="zh-CN" dirty="0"/>
              <a:t>];	}</a:t>
            </a:r>
          </a:p>
          <a:p>
            <a:r>
              <a:rPr lang="en-US" altLang="zh-CN" dirty="0"/>
              <a:t>	bool append(const Element&lt;</a:t>
            </a:r>
            <a:r>
              <a:rPr lang="en-US" altLang="zh-CN" dirty="0" err="1"/>
              <a:t>keytype</a:t>
            </a:r>
            <a:r>
              <a:rPr lang="en-US" altLang="zh-CN" dirty="0"/>
              <a:t>, </a:t>
            </a:r>
            <a:r>
              <a:rPr lang="en-US" altLang="zh-CN" dirty="0" err="1"/>
              <a:t>Itemtype</a:t>
            </a:r>
            <a:r>
              <a:rPr lang="en-US" altLang="zh-CN" dirty="0"/>
              <a:t>&gt; &amp;it);	//</a:t>
            </a:r>
            <a:r>
              <a:rPr lang="zh-CN" altLang="en-US" dirty="0"/>
              <a:t>在表尾插入元素</a:t>
            </a:r>
          </a:p>
          <a:p>
            <a:r>
              <a:rPr lang="zh-CN" altLang="en-US" dirty="0"/>
              <a:t>    </a:t>
            </a:r>
            <a:r>
              <a:rPr lang="en-US" altLang="zh-CN" dirty="0"/>
              <a:t>bool remove(Element&lt;</a:t>
            </a:r>
            <a:r>
              <a:rPr lang="en-US" altLang="zh-CN" dirty="0" err="1"/>
              <a:t>keytype</a:t>
            </a:r>
            <a:r>
              <a:rPr lang="en-US" altLang="zh-CN" dirty="0"/>
              <a:t>, </a:t>
            </a:r>
            <a:r>
              <a:rPr lang="en-US" altLang="zh-CN" dirty="0" err="1"/>
              <a:t>Itemtype</a:t>
            </a:r>
            <a:r>
              <a:rPr lang="en-US" altLang="zh-CN" dirty="0"/>
              <a:t>&gt;&amp;){};   		// </a:t>
            </a:r>
            <a:r>
              <a:rPr lang="zh-CN" altLang="en-US" dirty="0"/>
              <a:t>在当前的位置之后删除数据元素</a:t>
            </a:r>
          </a:p>
          <a:p>
            <a:r>
              <a:rPr lang="zh-CN" altLang="en-US" dirty="0"/>
              <a:t>    </a:t>
            </a:r>
            <a:r>
              <a:rPr lang="en-US" altLang="zh-CN" dirty="0"/>
              <a:t>void </a:t>
            </a:r>
            <a:r>
              <a:rPr lang="en-US" altLang="zh-CN" dirty="0" err="1"/>
              <a:t>setStart</a:t>
            </a:r>
            <a:r>
              <a:rPr lang="en-US" altLang="zh-CN" dirty="0"/>
              <a:t>(){};      		//</a:t>
            </a:r>
            <a:r>
              <a:rPr lang="zh-CN" altLang="en-US" dirty="0"/>
              <a:t>设置当前位置到表头</a:t>
            </a:r>
          </a:p>
          <a:p>
            <a:r>
              <a:rPr lang="zh-CN" altLang="en-US" dirty="0"/>
              <a:t>    </a:t>
            </a:r>
            <a:r>
              <a:rPr lang="en-US" altLang="zh-CN" dirty="0"/>
              <a:t>void </a:t>
            </a:r>
            <a:r>
              <a:rPr lang="en-US" altLang="zh-CN" dirty="0" err="1"/>
              <a:t>setEnd</a:t>
            </a:r>
            <a:r>
              <a:rPr lang="en-US" altLang="zh-CN" dirty="0"/>
              <a:t>(){};        		//</a:t>
            </a:r>
            <a:r>
              <a:rPr lang="zh-CN" altLang="en-US" dirty="0"/>
              <a:t>设置当前位置到表尾</a:t>
            </a:r>
          </a:p>
          <a:p>
            <a:r>
              <a:rPr lang="zh-CN" altLang="en-US" dirty="0"/>
              <a:t>    </a:t>
            </a:r>
            <a:r>
              <a:rPr lang="en-US" altLang="zh-CN" dirty="0"/>
              <a:t>void next (){};         		//</a:t>
            </a:r>
            <a:r>
              <a:rPr lang="zh-CN" altLang="en-US" dirty="0"/>
              <a:t>移动当前位置到其后继 </a:t>
            </a:r>
          </a:p>
          <a:p>
            <a:r>
              <a:rPr lang="zh-CN" altLang="en-US" dirty="0"/>
              <a:t>    </a:t>
            </a:r>
            <a:r>
              <a:rPr lang="en-US" altLang="zh-CN" dirty="0"/>
              <a:t>void </a:t>
            </a:r>
            <a:r>
              <a:rPr lang="en-US" altLang="zh-CN" dirty="0" err="1"/>
              <a:t>prev</a:t>
            </a:r>
            <a:r>
              <a:rPr lang="en-US" altLang="zh-CN" dirty="0"/>
              <a:t> (){};     			//</a:t>
            </a:r>
            <a:r>
              <a:rPr lang="zh-CN" altLang="en-US" dirty="0"/>
              <a:t>移动当前位置到其前驱</a:t>
            </a:r>
          </a:p>
          <a:p>
            <a:r>
              <a:rPr lang="zh-CN" altLang="en-US" dirty="0"/>
              <a:t>    </a:t>
            </a:r>
            <a:r>
              <a:rPr lang="en-US" altLang="zh-CN" dirty="0"/>
              <a:t>bool </a:t>
            </a:r>
            <a:r>
              <a:rPr lang="en-US" altLang="zh-CN" dirty="0" err="1"/>
              <a:t>setPos</a:t>
            </a:r>
            <a:r>
              <a:rPr lang="en-US" altLang="zh-CN" dirty="0"/>
              <a:t>(int pos){}; 		//</a:t>
            </a:r>
            <a:r>
              <a:rPr lang="zh-CN" altLang="en-US" dirty="0"/>
              <a:t>指定当前数据元素的位置</a:t>
            </a:r>
          </a:p>
          <a:p>
            <a:r>
              <a:rPr lang="zh-CN" altLang="en-US" dirty="0"/>
              <a:t>	</a:t>
            </a:r>
            <a:r>
              <a:rPr lang="en-US" altLang="zh-CN" dirty="0"/>
              <a:t>void insertSort2(int start, int </a:t>
            </a:r>
            <a:r>
              <a:rPr lang="en-US" altLang="zh-CN" dirty="0" err="1"/>
              <a:t>incr</a:t>
            </a:r>
            <a:r>
              <a:rPr lang="en-US" altLang="zh-CN" dirty="0"/>
              <a:t> );  //</a:t>
            </a:r>
            <a:r>
              <a:rPr lang="zh-CN" altLang="en-US" dirty="0"/>
              <a:t>间隔直接插入</a:t>
            </a:r>
          </a:p>
          <a:p>
            <a:r>
              <a:rPr lang="zh-CN" altLang="en-US" dirty="0"/>
              <a:t>	</a:t>
            </a:r>
            <a:r>
              <a:rPr lang="en-US" altLang="zh-CN" dirty="0"/>
              <a:t>void </a:t>
            </a:r>
            <a:r>
              <a:rPr lang="en-US" altLang="zh-CN" dirty="0" err="1"/>
              <a:t>shellsort</a:t>
            </a:r>
            <a:r>
              <a:rPr lang="en-US" altLang="zh-CN" dirty="0"/>
              <a:t>();   	//Shell</a:t>
            </a:r>
            <a:r>
              <a:rPr lang="zh-CN" altLang="en-US" dirty="0"/>
              <a:t>排序的主程序</a:t>
            </a:r>
          </a:p>
          <a:p>
            <a:r>
              <a:rPr lang="zh-CN" altLang="en-US" dirty="0"/>
              <a:t>	</a:t>
            </a:r>
            <a:r>
              <a:rPr lang="en-US" altLang="zh-CN" dirty="0"/>
              <a:t>int Partition(int low, int high);	 //</a:t>
            </a:r>
            <a:r>
              <a:rPr lang="zh-CN" altLang="en-US" dirty="0"/>
              <a:t>一次划分</a:t>
            </a:r>
          </a:p>
          <a:p>
            <a:r>
              <a:rPr lang="zh-CN" altLang="en-US" dirty="0"/>
              <a:t>	</a:t>
            </a:r>
            <a:r>
              <a:rPr lang="en-US" altLang="zh-CN" dirty="0"/>
              <a:t>void quicksort(int </a:t>
            </a:r>
            <a:r>
              <a:rPr lang="en-US" altLang="zh-CN" dirty="0" err="1"/>
              <a:t>low,int</a:t>
            </a:r>
            <a:r>
              <a:rPr lang="en-US" altLang="zh-CN" dirty="0"/>
              <a:t> </a:t>
            </a:r>
            <a:r>
              <a:rPr lang="en-US" altLang="zh-CN" dirty="0" err="1"/>
              <a:t>hig</a:t>
            </a:r>
            <a:r>
              <a:rPr lang="en-US" altLang="zh-CN" dirty="0"/>
              <a:t>);	//</a:t>
            </a:r>
            <a:r>
              <a:rPr lang="zh-CN" altLang="en-US" dirty="0"/>
              <a:t>快速排序 </a:t>
            </a:r>
          </a:p>
          <a:p>
            <a:r>
              <a:rPr lang="zh-CN" altLang="en-US" dirty="0"/>
              <a:t>	</a:t>
            </a:r>
            <a:r>
              <a:rPr lang="en-US" altLang="zh-CN" dirty="0"/>
              <a:t>void print();         			//</a:t>
            </a:r>
            <a:r>
              <a:rPr lang="zh-CN" altLang="en-US" dirty="0"/>
              <a:t>打印输出线性表中所有元素</a:t>
            </a:r>
          </a:p>
          <a:p>
            <a:r>
              <a:rPr lang="zh-CN" altLang="en-US" dirty="0"/>
              <a:t>	</a:t>
            </a:r>
            <a:r>
              <a:rPr lang="en-US" altLang="zh-CN" dirty="0"/>
              <a:t>~</a:t>
            </a:r>
            <a:r>
              <a:rPr lang="en-US" altLang="zh-CN" dirty="0" err="1"/>
              <a:t>recordList</a:t>
            </a:r>
            <a:r>
              <a:rPr lang="en-US" altLang="zh-CN" dirty="0"/>
              <a:t>(){ if (R!=NULL) delete []R;}</a:t>
            </a:r>
          </a:p>
          <a:p>
            <a:r>
              <a:rPr lang="en-US" altLang="zh-CN" dirty="0"/>
              <a:t>};</a:t>
            </a:r>
          </a:p>
          <a:p>
            <a:endParaRPr lang="zh-CN" altLang="en-US" dirty="0"/>
          </a:p>
        </p:txBody>
      </p:sp>
      <p:sp>
        <p:nvSpPr>
          <p:cNvPr id="4" name="灯片编号占位符 3"/>
          <p:cNvSpPr>
            <a:spLocks noGrp="1"/>
          </p:cNvSpPr>
          <p:nvPr>
            <p:ph type="sldNum" sz="quarter" idx="5"/>
          </p:nvPr>
        </p:nvSpPr>
        <p:spPr/>
        <p:txBody>
          <a:bodyPr/>
          <a:lstStyle/>
          <a:p>
            <a:fld id="{358D460B-FCBF-4F68-A559-8E415D1DDEDB}" type="slidenum">
              <a:rPr lang="zh-CN" altLang="en-US" smtClean="0"/>
              <a:pPr/>
              <a:t>5</a:t>
            </a:fld>
            <a:endParaRPr lang="zh-CN" altLang="en-US"/>
          </a:p>
        </p:txBody>
      </p:sp>
    </p:spTree>
    <p:extLst>
      <p:ext uri="{BB962C8B-B14F-4D97-AF65-F5344CB8AC3E}">
        <p14:creationId xmlns:p14="http://schemas.microsoft.com/office/powerpoint/2010/main" val="8689489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t>
            </a:r>
            <a:r>
              <a:rPr lang="zh-CN" altLang="en-US" dirty="0"/>
              <a:t>顺序查找函数 </a:t>
            </a:r>
          </a:p>
          <a:p>
            <a:r>
              <a:rPr lang="en-US" altLang="zh-CN" dirty="0"/>
              <a:t>template &lt;class </a:t>
            </a:r>
            <a:r>
              <a:rPr lang="en-US" altLang="zh-CN" dirty="0" err="1"/>
              <a:t>keytype,class</a:t>
            </a:r>
            <a:r>
              <a:rPr lang="en-US" altLang="zh-CN" dirty="0"/>
              <a:t> </a:t>
            </a:r>
            <a:r>
              <a:rPr lang="en-US" altLang="zh-CN" dirty="0" err="1"/>
              <a:t>Itemtype</a:t>
            </a:r>
            <a:r>
              <a:rPr lang="en-US" altLang="zh-CN" dirty="0"/>
              <a:t>&gt;</a:t>
            </a:r>
          </a:p>
          <a:p>
            <a:r>
              <a:rPr lang="en-US" altLang="zh-CN" dirty="0"/>
              <a:t>int </a:t>
            </a:r>
            <a:r>
              <a:rPr lang="en-US" altLang="zh-CN" dirty="0" err="1"/>
              <a:t>recordList</a:t>
            </a:r>
            <a:r>
              <a:rPr lang="en-US" altLang="zh-CN" dirty="0"/>
              <a:t>&lt;</a:t>
            </a:r>
            <a:r>
              <a:rPr lang="en-US" altLang="zh-CN" dirty="0" err="1"/>
              <a:t>keytype,Itemtype</a:t>
            </a:r>
            <a:r>
              <a:rPr lang="en-US" altLang="zh-CN" dirty="0"/>
              <a:t>&gt;::</a:t>
            </a:r>
            <a:r>
              <a:rPr lang="en-US" altLang="zh-CN" dirty="0" err="1"/>
              <a:t>sq_search</a:t>
            </a:r>
            <a:r>
              <a:rPr lang="en-US" altLang="zh-CN" dirty="0"/>
              <a:t>(</a:t>
            </a:r>
            <a:r>
              <a:rPr lang="en-US" altLang="zh-CN" dirty="0" err="1"/>
              <a:t>keytype</a:t>
            </a:r>
            <a:r>
              <a:rPr lang="en-US" altLang="zh-CN" dirty="0"/>
              <a:t> K)</a:t>
            </a:r>
          </a:p>
          <a:p>
            <a:r>
              <a:rPr lang="en-US" altLang="zh-CN" dirty="0"/>
              <a:t>{</a:t>
            </a:r>
          </a:p>
          <a:p>
            <a:r>
              <a:rPr lang="en-US" altLang="zh-CN" dirty="0"/>
              <a:t>	Element&lt;</a:t>
            </a:r>
            <a:r>
              <a:rPr lang="en-US" altLang="zh-CN" dirty="0" err="1"/>
              <a:t>keytype,Itemtype</a:t>
            </a:r>
            <a:r>
              <a:rPr lang="en-US" altLang="zh-CN" dirty="0"/>
              <a:t>&gt; temp;</a:t>
            </a:r>
          </a:p>
          <a:p>
            <a:r>
              <a:rPr lang="en-US" altLang="zh-CN" dirty="0"/>
              <a:t>	</a:t>
            </a:r>
            <a:r>
              <a:rPr lang="en-US" altLang="zh-CN" dirty="0" err="1"/>
              <a:t>temp.key</a:t>
            </a:r>
            <a:r>
              <a:rPr lang="en-US" altLang="zh-CN" dirty="0"/>
              <a:t>=K;</a:t>
            </a:r>
          </a:p>
          <a:p>
            <a:r>
              <a:rPr lang="en-US" altLang="zh-CN" dirty="0"/>
              <a:t>	</a:t>
            </a:r>
            <a:r>
              <a:rPr lang="en-US" altLang="zh-CN" dirty="0" err="1"/>
              <a:t>temp.otherinfo</a:t>
            </a:r>
            <a:r>
              <a:rPr lang="en-US" altLang="zh-CN" dirty="0"/>
              <a:t>=CurrentSize+1;</a:t>
            </a:r>
          </a:p>
          <a:p>
            <a:r>
              <a:rPr lang="en-US" altLang="zh-CN" dirty="0"/>
              <a:t>	append(temp);        //</a:t>
            </a:r>
            <a:r>
              <a:rPr lang="zh-CN" altLang="en-US" dirty="0"/>
              <a:t>设置监视哨</a:t>
            </a:r>
          </a:p>
          <a:p>
            <a:r>
              <a:rPr lang="zh-CN" altLang="en-US" dirty="0"/>
              <a:t>	</a:t>
            </a:r>
            <a:r>
              <a:rPr lang="en-US" altLang="zh-CN" dirty="0"/>
              <a:t>int </a:t>
            </a:r>
            <a:r>
              <a:rPr lang="en-US" altLang="zh-CN" dirty="0" err="1"/>
              <a:t>i</a:t>
            </a:r>
            <a:r>
              <a:rPr lang="en-US" altLang="zh-CN" dirty="0"/>
              <a:t>=0;</a:t>
            </a:r>
          </a:p>
          <a:p>
            <a:r>
              <a:rPr lang="en-US" altLang="zh-CN" dirty="0"/>
              <a:t>	while(R[</a:t>
            </a:r>
            <a:r>
              <a:rPr lang="en-US" altLang="zh-CN" dirty="0" err="1"/>
              <a:t>i</a:t>
            </a:r>
            <a:r>
              <a:rPr lang="en-US" altLang="zh-CN" dirty="0"/>
              <a:t>].key!=K)  </a:t>
            </a:r>
            <a:r>
              <a:rPr lang="en-US" altLang="zh-CN" dirty="0" err="1"/>
              <a:t>i</a:t>
            </a:r>
            <a:r>
              <a:rPr lang="en-US" altLang="zh-CN" dirty="0"/>
              <a:t>++;</a:t>
            </a:r>
          </a:p>
          <a:p>
            <a:r>
              <a:rPr lang="en-US" altLang="zh-CN" dirty="0"/>
              <a:t>	if(</a:t>
            </a:r>
            <a:r>
              <a:rPr lang="en-US" altLang="zh-CN" dirty="0" err="1"/>
              <a:t>i</a:t>
            </a:r>
            <a:r>
              <a:rPr lang="en-US" altLang="zh-CN" dirty="0"/>
              <a:t>&lt;</a:t>
            </a:r>
            <a:r>
              <a:rPr lang="en-US" altLang="zh-CN" dirty="0" err="1"/>
              <a:t>CurrentSize</a:t>
            </a:r>
            <a:r>
              <a:rPr lang="en-US" altLang="zh-CN" dirty="0"/>
              <a:t>)   //</a:t>
            </a:r>
            <a:r>
              <a:rPr lang="zh-CN" altLang="en-US" dirty="0"/>
              <a:t>查找成功，该记录下标为</a:t>
            </a:r>
            <a:r>
              <a:rPr lang="en-US" altLang="zh-CN" dirty="0" err="1"/>
              <a:t>i</a:t>
            </a:r>
            <a:endParaRPr lang="en-US" altLang="zh-CN" dirty="0"/>
          </a:p>
          <a:p>
            <a:r>
              <a:rPr lang="en-US" altLang="zh-CN" dirty="0"/>
              <a:t>	{</a:t>
            </a:r>
          </a:p>
          <a:p>
            <a:r>
              <a:rPr lang="en-US" altLang="zh-CN" dirty="0"/>
              <a:t>		</a:t>
            </a:r>
            <a:r>
              <a:rPr lang="en-US" altLang="zh-CN" dirty="0" err="1"/>
              <a:t>CurrentSize</a:t>
            </a:r>
            <a:r>
              <a:rPr lang="en-US" altLang="zh-CN" dirty="0"/>
              <a:t>--;</a:t>
            </a:r>
          </a:p>
          <a:p>
            <a:r>
              <a:rPr lang="en-US" altLang="zh-CN" dirty="0"/>
              <a:t>		return </a:t>
            </a:r>
            <a:r>
              <a:rPr lang="en-US" altLang="zh-CN" dirty="0" err="1"/>
              <a:t>i</a:t>
            </a:r>
            <a:r>
              <a:rPr lang="en-US" altLang="zh-CN" dirty="0"/>
              <a:t>;		</a:t>
            </a:r>
          </a:p>
          <a:p>
            <a:r>
              <a:rPr lang="en-US" altLang="zh-CN" dirty="0"/>
              <a:t>	}</a:t>
            </a:r>
          </a:p>
          <a:p>
            <a:r>
              <a:rPr lang="en-US" altLang="zh-CN" dirty="0"/>
              <a:t>	else     	//</a:t>
            </a:r>
            <a:r>
              <a:rPr lang="zh-CN" altLang="en-US" dirty="0"/>
              <a:t>查找失败</a:t>
            </a:r>
          </a:p>
          <a:p>
            <a:r>
              <a:rPr lang="zh-CN" altLang="en-US" dirty="0"/>
              <a:t>	</a:t>
            </a:r>
            <a:r>
              <a:rPr lang="en-US" altLang="zh-CN" dirty="0"/>
              <a:t>{</a:t>
            </a:r>
          </a:p>
          <a:p>
            <a:r>
              <a:rPr lang="en-US" altLang="zh-CN" dirty="0"/>
              <a:t>		</a:t>
            </a:r>
            <a:r>
              <a:rPr lang="en-US" altLang="zh-CN" dirty="0" err="1"/>
              <a:t>CurrentSize</a:t>
            </a:r>
            <a:r>
              <a:rPr lang="en-US" altLang="zh-CN" dirty="0"/>
              <a:t>--;</a:t>
            </a:r>
          </a:p>
          <a:p>
            <a:r>
              <a:rPr lang="en-US" altLang="zh-CN" dirty="0"/>
              <a:t>		return -1;</a:t>
            </a:r>
          </a:p>
          <a:p>
            <a:r>
              <a:rPr lang="en-US" altLang="zh-CN" dirty="0"/>
              <a:t>	}</a:t>
            </a:r>
          </a:p>
          <a:p>
            <a:r>
              <a:rPr lang="en-US" altLang="zh-CN" dirty="0"/>
              <a:t>}</a:t>
            </a:r>
          </a:p>
          <a:p>
            <a:endParaRPr lang="zh-CN" altLang="en-US" dirty="0"/>
          </a:p>
        </p:txBody>
      </p:sp>
      <p:sp>
        <p:nvSpPr>
          <p:cNvPr id="4" name="灯片编号占位符 3"/>
          <p:cNvSpPr>
            <a:spLocks noGrp="1"/>
          </p:cNvSpPr>
          <p:nvPr>
            <p:ph type="sldNum" sz="quarter" idx="5"/>
          </p:nvPr>
        </p:nvSpPr>
        <p:spPr/>
        <p:txBody>
          <a:bodyPr/>
          <a:lstStyle/>
          <a:p>
            <a:fld id="{358D460B-FCBF-4F68-A559-8E415D1DDEDB}" type="slidenum">
              <a:rPr lang="zh-CN" altLang="en-US" smtClean="0"/>
              <a:pPr/>
              <a:t>7</a:t>
            </a:fld>
            <a:endParaRPr lang="zh-CN" altLang="en-US"/>
          </a:p>
        </p:txBody>
      </p:sp>
    </p:spTree>
    <p:extLst>
      <p:ext uri="{BB962C8B-B14F-4D97-AF65-F5344CB8AC3E}">
        <p14:creationId xmlns:p14="http://schemas.microsoft.com/office/powerpoint/2010/main" val="29530783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t>
            </a:r>
            <a:r>
              <a:rPr lang="zh-CN" altLang="en-US" dirty="0"/>
              <a:t>折半递归查找函数 </a:t>
            </a:r>
          </a:p>
          <a:p>
            <a:r>
              <a:rPr lang="en-US" altLang="zh-CN" dirty="0"/>
              <a:t>template &lt;class </a:t>
            </a:r>
            <a:r>
              <a:rPr lang="en-US" altLang="zh-CN" dirty="0" err="1"/>
              <a:t>keytype,class</a:t>
            </a:r>
            <a:r>
              <a:rPr lang="en-US" altLang="zh-CN" dirty="0"/>
              <a:t> </a:t>
            </a:r>
            <a:r>
              <a:rPr lang="en-US" altLang="zh-CN" dirty="0" err="1"/>
              <a:t>Itemtype</a:t>
            </a:r>
            <a:r>
              <a:rPr lang="en-US" altLang="zh-CN" dirty="0"/>
              <a:t>&gt;</a:t>
            </a:r>
          </a:p>
          <a:p>
            <a:r>
              <a:rPr lang="en-US" altLang="zh-CN" dirty="0"/>
              <a:t>int </a:t>
            </a:r>
            <a:r>
              <a:rPr lang="en-US" altLang="zh-CN" dirty="0" err="1"/>
              <a:t>recordList</a:t>
            </a:r>
            <a:r>
              <a:rPr lang="en-US" altLang="zh-CN" dirty="0"/>
              <a:t>&lt;</a:t>
            </a:r>
            <a:r>
              <a:rPr lang="en-US" altLang="zh-CN" dirty="0" err="1"/>
              <a:t>keytype,Itemtype</a:t>
            </a:r>
            <a:r>
              <a:rPr lang="en-US" altLang="zh-CN" dirty="0"/>
              <a:t>&gt;::</a:t>
            </a:r>
            <a:r>
              <a:rPr lang="en-US" altLang="zh-CN" dirty="0" err="1"/>
              <a:t>binary_search</a:t>
            </a:r>
            <a:r>
              <a:rPr lang="en-US" altLang="zh-CN" dirty="0"/>
              <a:t>(</a:t>
            </a:r>
            <a:r>
              <a:rPr lang="en-US" altLang="zh-CN" dirty="0" err="1"/>
              <a:t>keytype</a:t>
            </a:r>
            <a:r>
              <a:rPr lang="en-US" altLang="zh-CN" dirty="0"/>
              <a:t> k, int low, int high)</a:t>
            </a:r>
          </a:p>
          <a:p>
            <a:r>
              <a:rPr lang="en-US" altLang="zh-CN" dirty="0"/>
              <a:t>{</a:t>
            </a:r>
          </a:p>
          <a:p>
            <a:r>
              <a:rPr lang="en-US" altLang="zh-CN" dirty="0"/>
              <a:t>	if  ( low &gt; high ) return -1;</a:t>
            </a:r>
          </a:p>
          <a:p>
            <a:r>
              <a:rPr lang="en-US" altLang="zh-CN" dirty="0"/>
              <a:t>	int mid = (low + high) / 2;</a:t>
            </a:r>
          </a:p>
          <a:p>
            <a:r>
              <a:rPr lang="en-US" altLang="zh-CN" dirty="0"/>
              <a:t>	if  ( k == R[mid].key ) return mid;</a:t>
            </a:r>
          </a:p>
          <a:p>
            <a:r>
              <a:rPr lang="en-US" altLang="zh-CN" dirty="0"/>
              <a:t>	else if  ( k &lt; R[mid].key ) </a:t>
            </a:r>
          </a:p>
          <a:p>
            <a:r>
              <a:rPr lang="en-US" altLang="zh-CN" dirty="0"/>
              <a:t>			return </a:t>
            </a:r>
            <a:r>
              <a:rPr lang="en-US" altLang="zh-CN" dirty="0" err="1"/>
              <a:t>binary_search</a:t>
            </a:r>
            <a:r>
              <a:rPr lang="en-US" altLang="zh-CN" dirty="0"/>
              <a:t>(k, low, mid-1);</a:t>
            </a:r>
          </a:p>
          <a:p>
            <a:r>
              <a:rPr lang="en-US" altLang="zh-CN" dirty="0"/>
              <a:t>		 else </a:t>
            </a:r>
          </a:p>
          <a:p>
            <a:r>
              <a:rPr lang="en-US" altLang="zh-CN" dirty="0"/>
              <a:t>		 	return </a:t>
            </a:r>
            <a:r>
              <a:rPr lang="en-US" altLang="zh-CN" dirty="0" err="1"/>
              <a:t>binary_search</a:t>
            </a:r>
            <a:r>
              <a:rPr lang="en-US" altLang="zh-CN" dirty="0"/>
              <a:t>(k, mid+1, high);</a:t>
            </a:r>
          </a:p>
          <a:p>
            <a:r>
              <a:rPr lang="en-US" altLang="zh-CN" dirty="0"/>
              <a:t>}</a:t>
            </a:r>
          </a:p>
          <a:p>
            <a:endParaRPr lang="en-US" altLang="zh-CN" dirty="0"/>
          </a:p>
          <a:p>
            <a:r>
              <a:rPr lang="en-US" altLang="zh-CN" dirty="0"/>
              <a:t>//</a:t>
            </a:r>
            <a:r>
              <a:rPr lang="zh-CN" altLang="en-US" dirty="0"/>
              <a:t>折半非递归查找函数</a:t>
            </a:r>
            <a:r>
              <a:rPr lang="en-US" altLang="zh-CN" dirty="0"/>
              <a:t>0.6 </a:t>
            </a:r>
          </a:p>
          <a:p>
            <a:r>
              <a:rPr lang="en-US" altLang="zh-CN" dirty="0"/>
              <a:t>template &lt;class </a:t>
            </a:r>
            <a:r>
              <a:rPr lang="en-US" altLang="zh-CN" dirty="0" err="1"/>
              <a:t>keytype,class</a:t>
            </a:r>
            <a:r>
              <a:rPr lang="en-US" altLang="zh-CN" dirty="0"/>
              <a:t> </a:t>
            </a:r>
            <a:r>
              <a:rPr lang="en-US" altLang="zh-CN" dirty="0" err="1"/>
              <a:t>Itemtype</a:t>
            </a:r>
            <a:r>
              <a:rPr lang="en-US" altLang="zh-CN" dirty="0"/>
              <a:t>&gt;</a:t>
            </a:r>
          </a:p>
          <a:p>
            <a:r>
              <a:rPr lang="en-US" altLang="zh-CN" dirty="0"/>
              <a:t>int </a:t>
            </a:r>
            <a:r>
              <a:rPr lang="en-US" altLang="zh-CN" dirty="0" err="1"/>
              <a:t>recordList</a:t>
            </a:r>
            <a:r>
              <a:rPr lang="en-US" altLang="zh-CN" dirty="0"/>
              <a:t>&lt;</a:t>
            </a:r>
            <a:r>
              <a:rPr lang="en-US" altLang="zh-CN" dirty="0" err="1"/>
              <a:t>keytype,Itemtype</a:t>
            </a:r>
            <a:r>
              <a:rPr lang="en-US" altLang="zh-CN" dirty="0"/>
              <a:t>&gt;::non_binary_search1(</a:t>
            </a:r>
            <a:r>
              <a:rPr lang="en-US" altLang="zh-CN" dirty="0" err="1"/>
              <a:t>keytype</a:t>
            </a:r>
            <a:r>
              <a:rPr lang="en-US" altLang="zh-CN" dirty="0"/>
              <a:t> K)</a:t>
            </a:r>
          </a:p>
          <a:p>
            <a:r>
              <a:rPr lang="en-US" altLang="zh-CN" dirty="0"/>
              <a:t>{</a:t>
            </a:r>
          </a:p>
          <a:p>
            <a:r>
              <a:rPr lang="en-US" altLang="zh-CN" dirty="0"/>
              <a:t>	int </a:t>
            </a:r>
            <a:r>
              <a:rPr lang="en-US" altLang="zh-CN" dirty="0" err="1"/>
              <a:t>mid,low,high</a:t>
            </a:r>
            <a:r>
              <a:rPr lang="en-US" altLang="zh-CN" dirty="0"/>
              <a:t>;</a:t>
            </a:r>
          </a:p>
          <a:p>
            <a:r>
              <a:rPr lang="en-US" altLang="zh-CN" dirty="0"/>
              <a:t>	low=0;high=CurrentSize-1;</a:t>
            </a:r>
          </a:p>
          <a:p>
            <a:r>
              <a:rPr lang="en-US" altLang="zh-CN" dirty="0"/>
              <a:t>	while(low&lt;=high)</a:t>
            </a:r>
          </a:p>
          <a:p>
            <a:r>
              <a:rPr lang="en-US" altLang="zh-CN" dirty="0"/>
              <a:t>	{</a:t>
            </a:r>
          </a:p>
          <a:p>
            <a:r>
              <a:rPr lang="en-US" altLang="zh-CN" dirty="0"/>
              <a:t>		mid=(int)((</a:t>
            </a:r>
            <a:r>
              <a:rPr lang="en-US" altLang="zh-CN" dirty="0" err="1"/>
              <a:t>low+high</a:t>
            </a:r>
            <a:r>
              <a:rPr lang="en-US" altLang="zh-CN" dirty="0"/>
              <a:t>)*0.6-0.5);</a:t>
            </a:r>
          </a:p>
          <a:p>
            <a:r>
              <a:rPr lang="en-US" altLang="zh-CN" dirty="0"/>
              <a:t>		if(K==R[mid].key)</a:t>
            </a:r>
          </a:p>
          <a:p>
            <a:r>
              <a:rPr lang="en-US" altLang="zh-CN" dirty="0"/>
              <a:t>		{</a:t>
            </a:r>
          </a:p>
          <a:p>
            <a:r>
              <a:rPr lang="en-US" altLang="zh-CN" dirty="0"/>
              <a:t>		 	return mid;    //</a:t>
            </a:r>
            <a:r>
              <a:rPr lang="zh-CN" altLang="en-US" dirty="0"/>
              <a:t>查找成功，该记录下标为</a:t>
            </a:r>
            <a:r>
              <a:rPr lang="en-US" altLang="zh-CN" dirty="0"/>
              <a:t>mid</a:t>
            </a:r>
          </a:p>
          <a:p>
            <a:r>
              <a:rPr lang="en-US" altLang="zh-CN" dirty="0"/>
              <a:t>		} else if(K&lt;R[mid].key) high=mid-1;</a:t>
            </a:r>
          </a:p>
          <a:p>
            <a:r>
              <a:rPr lang="en-US" altLang="zh-CN" dirty="0"/>
              <a:t>					else low=mid+1;</a:t>
            </a:r>
          </a:p>
          <a:p>
            <a:r>
              <a:rPr lang="en-US" altLang="zh-CN" dirty="0"/>
              <a:t>	}</a:t>
            </a:r>
          </a:p>
          <a:p>
            <a:r>
              <a:rPr lang="en-US" altLang="zh-CN" dirty="0"/>
              <a:t>    return -1; 	//</a:t>
            </a:r>
            <a:r>
              <a:rPr lang="zh-CN" altLang="en-US" dirty="0"/>
              <a:t>查找失败</a:t>
            </a:r>
            <a:r>
              <a:rPr lang="en-US" altLang="zh-CN" dirty="0"/>
              <a:t>!</a:t>
            </a:r>
          </a:p>
          <a:p>
            <a:r>
              <a:rPr lang="en-US" altLang="zh-CN" dirty="0"/>
              <a:t>}</a:t>
            </a:r>
          </a:p>
          <a:p>
            <a:endParaRPr lang="zh-CN" altLang="en-US" dirty="0"/>
          </a:p>
        </p:txBody>
      </p:sp>
      <p:sp>
        <p:nvSpPr>
          <p:cNvPr id="4" name="灯片编号占位符 3"/>
          <p:cNvSpPr>
            <a:spLocks noGrp="1"/>
          </p:cNvSpPr>
          <p:nvPr>
            <p:ph type="sldNum" sz="quarter" idx="5"/>
          </p:nvPr>
        </p:nvSpPr>
        <p:spPr/>
        <p:txBody>
          <a:bodyPr/>
          <a:lstStyle/>
          <a:p>
            <a:fld id="{358D460B-FCBF-4F68-A559-8E415D1DDEDB}" type="slidenum">
              <a:rPr lang="zh-CN" altLang="en-US" smtClean="0"/>
              <a:pPr/>
              <a:t>15</a:t>
            </a:fld>
            <a:endParaRPr lang="zh-CN" altLang="en-US"/>
          </a:p>
        </p:txBody>
      </p:sp>
    </p:spTree>
    <p:extLst>
      <p:ext uri="{BB962C8B-B14F-4D97-AF65-F5344CB8AC3E}">
        <p14:creationId xmlns:p14="http://schemas.microsoft.com/office/powerpoint/2010/main" val="13735243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t>
            </a:r>
            <a:r>
              <a:rPr lang="zh-CN" altLang="en-US" dirty="0"/>
              <a:t>折半非递归查找函数 </a:t>
            </a:r>
          </a:p>
          <a:p>
            <a:r>
              <a:rPr lang="en-US" altLang="zh-CN" dirty="0"/>
              <a:t>template &lt;class </a:t>
            </a:r>
            <a:r>
              <a:rPr lang="en-US" altLang="zh-CN" dirty="0" err="1"/>
              <a:t>keytype,class</a:t>
            </a:r>
            <a:r>
              <a:rPr lang="en-US" altLang="zh-CN" dirty="0"/>
              <a:t> </a:t>
            </a:r>
            <a:r>
              <a:rPr lang="en-US" altLang="zh-CN" dirty="0" err="1"/>
              <a:t>Itemtype</a:t>
            </a:r>
            <a:r>
              <a:rPr lang="en-US" altLang="zh-CN" dirty="0"/>
              <a:t>&gt;</a:t>
            </a:r>
          </a:p>
          <a:p>
            <a:r>
              <a:rPr lang="en-US" altLang="zh-CN" dirty="0"/>
              <a:t>int </a:t>
            </a:r>
            <a:r>
              <a:rPr lang="en-US" altLang="zh-CN" dirty="0" err="1"/>
              <a:t>recordList</a:t>
            </a:r>
            <a:r>
              <a:rPr lang="en-US" altLang="zh-CN" dirty="0"/>
              <a:t>&lt;</a:t>
            </a:r>
            <a:r>
              <a:rPr lang="en-US" altLang="zh-CN" dirty="0" err="1"/>
              <a:t>keytype,Itemtype</a:t>
            </a:r>
            <a:r>
              <a:rPr lang="en-US" altLang="zh-CN" dirty="0"/>
              <a:t>&gt;::</a:t>
            </a:r>
            <a:r>
              <a:rPr lang="en-US" altLang="zh-CN" dirty="0" err="1"/>
              <a:t>non_binary_search</a:t>
            </a:r>
            <a:r>
              <a:rPr lang="en-US" altLang="zh-CN" dirty="0"/>
              <a:t>(</a:t>
            </a:r>
            <a:r>
              <a:rPr lang="en-US" altLang="zh-CN" dirty="0" err="1"/>
              <a:t>keytype</a:t>
            </a:r>
            <a:r>
              <a:rPr lang="en-US" altLang="zh-CN" dirty="0"/>
              <a:t> K)</a:t>
            </a:r>
          </a:p>
          <a:p>
            <a:r>
              <a:rPr lang="en-US" altLang="zh-CN" dirty="0"/>
              <a:t>{</a:t>
            </a:r>
          </a:p>
          <a:p>
            <a:r>
              <a:rPr lang="en-US" altLang="zh-CN" dirty="0"/>
              <a:t>	int </a:t>
            </a:r>
            <a:r>
              <a:rPr lang="en-US" altLang="zh-CN" dirty="0" err="1"/>
              <a:t>mid,low,high</a:t>
            </a:r>
            <a:r>
              <a:rPr lang="en-US" altLang="zh-CN" dirty="0"/>
              <a:t>;</a:t>
            </a:r>
          </a:p>
          <a:p>
            <a:r>
              <a:rPr lang="en-US" altLang="zh-CN" dirty="0"/>
              <a:t>	low=0;high=CurrentSize-1;</a:t>
            </a:r>
          </a:p>
          <a:p>
            <a:r>
              <a:rPr lang="en-US" altLang="zh-CN" dirty="0"/>
              <a:t>	while(low&lt;=high)</a:t>
            </a:r>
          </a:p>
          <a:p>
            <a:r>
              <a:rPr lang="en-US" altLang="zh-CN" dirty="0"/>
              <a:t>	{</a:t>
            </a:r>
          </a:p>
          <a:p>
            <a:r>
              <a:rPr lang="en-US" altLang="zh-CN" dirty="0"/>
              <a:t>		mid=(</a:t>
            </a:r>
            <a:r>
              <a:rPr lang="en-US" altLang="zh-CN" dirty="0" err="1"/>
              <a:t>low+high</a:t>
            </a:r>
            <a:r>
              <a:rPr lang="en-US" altLang="zh-CN" dirty="0"/>
              <a:t>)/2;</a:t>
            </a:r>
          </a:p>
          <a:p>
            <a:r>
              <a:rPr lang="en-US" altLang="zh-CN" dirty="0"/>
              <a:t>		if(K==R[mid].key)</a:t>
            </a:r>
          </a:p>
          <a:p>
            <a:r>
              <a:rPr lang="en-US" altLang="zh-CN" dirty="0"/>
              <a:t>		{</a:t>
            </a:r>
          </a:p>
          <a:p>
            <a:r>
              <a:rPr lang="en-US" altLang="zh-CN" dirty="0"/>
              <a:t>		 	return mid;    //</a:t>
            </a:r>
            <a:r>
              <a:rPr lang="zh-CN" altLang="en-US" dirty="0"/>
              <a:t>查找成功，该记录下标为</a:t>
            </a:r>
            <a:r>
              <a:rPr lang="en-US" altLang="zh-CN" dirty="0"/>
              <a:t>mid</a:t>
            </a:r>
          </a:p>
          <a:p>
            <a:r>
              <a:rPr lang="en-US" altLang="zh-CN" dirty="0"/>
              <a:t>		} else if(K&lt;R[mid].key) high=mid-1;</a:t>
            </a:r>
          </a:p>
          <a:p>
            <a:r>
              <a:rPr lang="en-US" altLang="zh-CN" dirty="0"/>
              <a:t>					else low=mid+1;</a:t>
            </a:r>
          </a:p>
          <a:p>
            <a:r>
              <a:rPr lang="en-US" altLang="zh-CN" dirty="0"/>
              <a:t>	}</a:t>
            </a:r>
          </a:p>
          <a:p>
            <a:r>
              <a:rPr lang="en-US" altLang="zh-CN" dirty="0"/>
              <a:t>    return -1; 	//</a:t>
            </a:r>
            <a:r>
              <a:rPr lang="zh-CN" altLang="en-US" dirty="0"/>
              <a:t>查找失败</a:t>
            </a:r>
            <a:r>
              <a:rPr lang="en-US" altLang="zh-CN" dirty="0"/>
              <a:t>!</a:t>
            </a:r>
          </a:p>
          <a:p>
            <a:r>
              <a:rPr lang="en-US" altLang="zh-CN" dirty="0"/>
              <a:t>}</a:t>
            </a:r>
            <a:endParaRPr lang="zh-CN" altLang="en-US" dirty="0"/>
          </a:p>
        </p:txBody>
      </p:sp>
      <p:sp>
        <p:nvSpPr>
          <p:cNvPr id="4" name="灯片编号占位符 3"/>
          <p:cNvSpPr>
            <a:spLocks noGrp="1"/>
          </p:cNvSpPr>
          <p:nvPr>
            <p:ph type="sldNum" sz="quarter" idx="5"/>
          </p:nvPr>
        </p:nvSpPr>
        <p:spPr/>
        <p:txBody>
          <a:bodyPr/>
          <a:lstStyle/>
          <a:p>
            <a:fld id="{358D460B-FCBF-4F68-A559-8E415D1DDEDB}" type="slidenum">
              <a:rPr lang="zh-CN" altLang="en-US" smtClean="0"/>
              <a:pPr/>
              <a:t>16</a:t>
            </a:fld>
            <a:endParaRPr lang="zh-CN" altLang="en-US"/>
          </a:p>
        </p:txBody>
      </p:sp>
    </p:spTree>
    <p:extLst>
      <p:ext uri="{BB962C8B-B14F-4D97-AF65-F5344CB8AC3E}">
        <p14:creationId xmlns:p14="http://schemas.microsoft.com/office/powerpoint/2010/main" val="42057532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#include &lt;iostream&gt;</a:t>
            </a:r>
          </a:p>
          <a:p>
            <a:r>
              <a:rPr lang="en-US" altLang="zh-CN" dirty="0"/>
              <a:t>#include &lt;random&gt;</a:t>
            </a:r>
          </a:p>
          <a:p>
            <a:r>
              <a:rPr lang="en-US" altLang="zh-CN" dirty="0"/>
              <a:t>#include &lt;functional&gt;</a:t>
            </a:r>
          </a:p>
          <a:p>
            <a:r>
              <a:rPr lang="en-US" altLang="zh-CN" dirty="0"/>
              <a:t>using namespace std;</a:t>
            </a:r>
          </a:p>
          <a:p>
            <a:r>
              <a:rPr lang="en-US" altLang="zh-CN" dirty="0"/>
              <a:t> </a:t>
            </a:r>
          </a:p>
          <a:p>
            <a:r>
              <a:rPr lang="en-US" altLang="zh-CN" dirty="0"/>
              <a:t>int Random(int key, int m) {</a:t>
            </a:r>
          </a:p>
          <a:p>
            <a:r>
              <a:rPr lang="en-US" altLang="zh-CN" dirty="0"/>
              <a:t>    // </a:t>
            </a:r>
            <a:r>
              <a:rPr lang="zh-CN" altLang="en-US" dirty="0"/>
              <a:t>使用</a:t>
            </a:r>
            <a:r>
              <a:rPr lang="en-US" altLang="zh-CN" dirty="0"/>
              <a:t>std::hash&lt;int&gt;</a:t>
            </a:r>
            <a:r>
              <a:rPr lang="zh-CN" altLang="en-US" dirty="0"/>
              <a:t>将</a:t>
            </a:r>
            <a:r>
              <a:rPr lang="en-US" altLang="zh-CN" dirty="0"/>
              <a:t>key</a:t>
            </a:r>
            <a:r>
              <a:rPr lang="zh-CN" altLang="en-US" dirty="0"/>
              <a:t>转换为</a:t>
            </a:r>
            <a:r>
              <a:rPr lang="en-US" altLang="zh-CN" dirty="0" err="1"/>
              <a:t>size_t</a:t>
            </a:r>
            <a:r>
              <a:rPr lang="zh-CN" altLang="en-US" dirty="0"/>
              <a:t>类型的种子</a:t>
            </a:r>
          </a:p>
          <a:p>
            <a:r>
              <a:rPr lang="zh-CN" altLang="en-US" dirty="0"/>
              <a:t>    </a:t>
            </a:r>
            <a:r>
              <a:rPr lang="en-US" altLang="zh-CN" dirty="0" err="1"/>
              <a:t>size_t</a:t>
            </a:r>
            <a:r>
              <a:rPr lang="en-US" altLang="zh-CN" dirty="0"/>
              <a:t> seed = hash&lt;int&gt;{}(key);</a:t>
            </a:r>
          </a:p>
          <a:p>
            <a:r>
              <a:rPr lang="en-US" altLang="zh-CN" dirty="0"/>
              <a:t>    </a:t>
            </a:r>
          </a:p>
          <a:p>
            <a:r>
              <a:rPr lang="en-US" altLang="zh-CN" dirty="0"/>
              <a:t>    // </a:t>
            </a:r>
            <a:r>
              <a:rPr lang="zh-CN" altLang="en-US" dirty="0"/>
              <a:t>创建一个基于</a:t>
            </a:r>
            <a:r>
              <a:rPr lang="en-US" altLang="zh-CN" dirty="0"/>
              <a:t>Mersenne Twister</a:t>
            </a:r>
            <a:r>
              <a:rPr lang="zh-CN" altLang="en-US" dirty="0"/>
              <a:t>算法的随机数生成器</a:t>
            </a:r>
          </a:p>
          <a:p>
            <a:r>
              <a:rPr lang="zh-CN" altLang="en-US" dirty="0"/>
              <a:t>    </a:t>
            </a:r>
            <a:r>
              <a:rPr lang="en-US" altLang="zh-CN" dirty="0"/>
              <a:t>mt19937 gen(seed);</a:t>
            </a:r>
          </a:p>
          <a:p>
            <a:r>
              <a:rPr lang="en-US" altLang="zh-CN" dirty="0"/>
              <a:t>    </a:t>
            </a:r>
          </a:p>
          <a:p>
            <a:r>
              <a:rPr lang="en-US" altLang="zh-CN" dirty="0"/>
              <a:t>    // </a:t>
            </a:r>
            <a:r>
              <a:rPr lang="zh-CN" altLang="en-US" dirty="0"/>
              <a:t>创建一个在</a:t>
            </a:r>
            <a:r>
              <a:rPr lang="en-US" altLang="zh-CN" dirty="0"/>
              <a:t>0</a:t>
            </a:r>
            <a:r>
              <a:rPr lang="zh-CN" altLang="en-US" dirty="0"/>
              <a:t>到</a:t>
            </a:r>
            <a:r>
              <a:rPr lang="en-US" altLang="zh-CN" dirty="0"/>
              <a:t>m-1</a:t>
            </a:r>
            <a:r>
              <a:rPr lang="zh-CN" altLang="en-US" dirty="0"/>
              <a:t>之间的均匀分布的随机数生成器</a:t>
            </a:r>
          </a:p>
          <a:p>
            <a:r>
              <a:rPr lang="zh-CN" altLang="en-US" dirty="0"/>
              <a:t>    </a:t>
            </a:r>
            <a:r>
              <a:rPr lang="en-US" altLang="zh-CN" dirty="0" err="1"/>
              <a:t>uniform_int_distribution</a:t>
            </a:r>
            <a:r>
              <a:rPr lang="en-US" altLang="zh-CN" dirty="0"/>
              <a:t>&lt;int&gt; dis(0, m - 1);</a:t>
            </a:r>
          </a:p>
          <a:p>
            <a:r>
              <a:rPr lang="en-US" altLang="zh-CN" dirty="0"/>
              <a:t>    </a:t>
            </a:r>
          </a:p>
          <a:p>
            <a:r>
              <a:rPr lang="en-US" altLang="zh-CN" dirty="0"/>
              <a:t>    // </a:t>
            </a:r>
            <a:r>
              <a:rPr lang="zh-CN" altLang="en-US" dirty="0"/>
              <a:t>生成并返回随机数</a:t>
            </a:r>
          </a:p>
          <a:p>
            <a:r>
              <a:rPr lang="zh-CN" altLang="en-US" dirty="0"/>
              <a:t>    </a:t>
            </a:r>
            <a:r>
              <a:rPr lang="en-US" altLang="zh-CN" dirty="0"/>
              <a:t>return dis(gen);</a:t>
            </a:r>
          </a:p>
          <a:p>
            <a:r>
              <a:rPr lang="en-US" altLang="zh-CN" dirty="0"/>
              <a:t>}</a:t>
            </a:r>
          </a:p>
          <a:p>
            <a:r>
              <a:rPr lang="en-US" altLang="zh-CN" dirty="0"/>
              <a:t> </a:t>
            </a:r>
          </a:p>
          <a:p>
            <a:r>
              <a:rPr lang="en-US" altLang="zh-CN" dirty="0"/>
              <a:t>int main() </a:t>
            </a:r>
          </a:p>
          <a:p>
            <a:r>
              <a:rPr lang="en-US" altLang="zh-CN" dirty="0"/>
              <a:t>{</a:t>
            </a:r>
          </a:p>
          <a:p>
            <a:r>
              <a:rPr lang="en-US" altLang="zh-CN" dirty="0"/>
              <a:t>	int key3[9]={32,18,68,42,55,74,22,38,21};</a:t>
            </a:r>
          </a:p>
          <a:p>
            <a:r>
              <a:rPr lang="en-US" altLang="zh-CN" dirty="0"/>
              <a:t>	int m=10;</a:t>
            </a:r>
          </a:p>
          <a:p>
            <a:r>
              <a:rPr lang="en-US" altLang="zh-CN" dirty="0"/>
              <a:t>	for(int </a:t>
            </a:r>
            <a:r>
              <a:rPr lang="en-US" altLang="zh-CN" dirty="0" err="1"/>
              <a:t>i</a:t>
            </a:r>
            <a:r>
              <a:rPr lang="en-US" altLang="zh-CN" dirty="0"/>
              <a:t>=0;i&lt;9;i++)</a:t>
            </a:r>
          </a:p>
          <a:p>
            <a:r>
              <a:rPr lang="en-US" altLang="zh-CN" dirty="0"/>
              <a:t>    	</a:t>
            </a:r>
            <a:r>
              <a:rPr lang="en-US" altLang="zh-CN" dirty="0" err="1"/>
              <a:t>cout</a:t>
            </a:r>
            <a:r>
              <a:rPr lang="en-US" altLang="zh-CN" dirty="0"/>
              <a:t>&lt;&lt;Random(key3[</a:t>
            </a:r>
            <a:r>
              <a:rPr lang="en-US" altLang="zh-CN" dirty="0" err="1"/>
              <a:t>i</a:t>
            </a:r>
            <a:r>
              <a:rPr lang="en-US" altLang="zh-CN" dirty="0"/>
              <a:t>], m) &lt;&lt; '\t';</a:t>
            </a:r>
          </a:p>
          <a:p>
            <a:r>
              <a:rPr lang="en-US" altLang="zh-CN" dirty="0"/>
              <a:t>	</a:t>
            </a:r>
            <a:r>
              <a:rPr lang="en-US" altLang="zh-CN" dirty="0" err="1"/>
              <a:t>cout</a:t>
            </a:r>
            <a:r>
              <a:rPr lang="en-US" altLang="zh-CN" dirty="0"/>
              <a:t>&lt;&lt;</a:t>
            </a:r>
            <a:r>
              <a:rPr lang="en-US" altLang="zh-CN" dirty="0" err="1"/>
              <a:t>endl</a:t>
            </a:r>
            <a:r>
              <a:rPr lang="en-US" altLang="zh-CN" dirty="0"/>
              <a:t>;	</a:t>
            </a:r>
          </a:p>
          <a:p>
            <a:r>
              <a:rPr lang="en-US" altLang="zh-CN" dirty="0"/>
              <a:t>/*</a:t>
            </a:r>
          </a:p>
          <a:p>
            <a:r>
              <a:rPr lang="en-US" altLang="zh-CN" dirty="0"/>
              <a:t>    int key = 123;</a:t>
            </a:r>
          </a:p>
          <a:p>
            <a:r>
              <a:rPr lang="en-US" altLang="zh-CN" dirty="0"/>
              <a:t>    int m = 10; // </a:t>
            </a:r>
            <a:r>
              <a:rPr lang="zh-CN" altLang="en-US" dirty="0"/>
              <a:t>例如，我们想要生成的随机数在</a:t>
            </a:r>
            <a:r>
              <a:rPr lang="en-US" altLang="zh-CN" dirty="0"/>
              <a:t>0</a:t>
            </a:r>
            <a:r>
              <a:rPr lang="zh-CN" altLang="en-US" dirty="0"/>
              <a:t>到</a:t>
            </a:r>
            <a:r>
              <a:rPr lang="en-US" altLang="zh-CN" dirty="0"/>
              <a:t>9</a:t>
            </a:r>
            <a:r>
              <a:rPr lang="zh-CN" altLang="en-US" dirty="0"/>
              <a:t>之间</a:t>
            </a:r>
          </a:p>
          <a:p>
            <a:r>
              <a:rPr lang="zh-CN" altLang="en-US" dirty="0"/>
              <a:t>    </a:t>
            </a:r>
            <a:r>
              <a:rPr lang="en-US" altLang="zh-CN" dirty="0" err="1"/>
              <a:t>cout</a:t>
            </a:r>
            <a:r>
              <a:rPr lang="en-US" altLang="zh-CN" dirty="0"/>
              <a:t> &lt;&lt; "Random number: " &lt;&lt; Random(key, m) &lt;&lt; </a:t>
            </a:r>
            <a:r>
              <a:rPr lang="en-US" altLang="zh-CN" dirty="0" err="1"/>
              <a:t>endl</a:t>
            </a:r>
            <a:r>
              <a:rPr lang="en-US" altLang="zh-CN" dirty="0"/>
              <a:t>;</a:t>
            </a:r>
          </a:p>
          <a:p>
            <a:r>
              <a:rPr lang="en-US" altLang="zh-CN" dirty="0"/>
              <a:t>    </a:t>
            </a:r>
            <a:r>
              <a:rPr lang="en-US" altLang="zh-CN" dirty="0" err="1"/>
              <a:t>cout</a:t>
            </a:r>
            <a:r>
              <a:rPr lang="en-US" altLang="zh-CN" dirty="0"/>
              <a:t>&lt;&lt;Random(key, m) &lt;&lt; </a:t>
            </a:r>
            <a:r>
              <a:rPr lang="en-US" altLang="zh-CN" dirty="0" err="1"/>
              <a:t>endl</a:t>
            </a:r>
            <a:r>
              <a:rPr lang="en-US" altLang="zh-CN" dirty="0"/>
              <a:t>;</a:t>
            </a:r>
          </a:p>
          <a:p>
            <a:r>
              <a:rPr lang="en-US" altLang="zh-CN" dirty="0"/>
              <a:t>*/</a:t>
            </a:r>
          </a:p>
          <a:p>
            <a:r>
              <a:rPr lang="en-US" altLang="zh-CN" dirty="0"/>
              <a:t>    return 0;</a:t>
            </a:r>
          </a:p>
          <a:p>
            <a:r>
              <a:rPr lang="en-US" altLang="zh-CN" dirty="0"/>
              <a:t>}</a:t>
            </a:r>
            <a:endParaRPr lang="zh-CN" altLang="en-US" dirty="0"/>
          </a:p>
        </p:txBody>
      </p:sp>
      <p:sp>
        <p:nvSpPr>
          <p:cNvPr id="4" name="灯片编号占位符 3"/>
          <p:cNvSpPr>
            <a:spLocks noGrp="1"/>
          </p:cNvSpPr>
          <p:nvPr>
            <p:ph type="sldNum" sz="quarter" idx="5"/>
          </p:nvPr>
        </p:nvSpPr>
        <p:spPr/>
        <p:txBody>
          <a:bodyPr/>
          <a:lstStyle/>
          <a:p>
            <a:fld id="{358D460B-FCBF-4F68-A559-8E415D1DDEDB}" type="slidenum">
              <a:rPr lang="zh-CN" altLang="en-US" smtClean="0"/>
              <a:pPr/>
              <a:t>31</a:t>
            </a:fld>
            <a:endParaRPr lang="zh-CN" altLang="en-US"/>
          </a:p>
        </p:txBody>
      </p:sp>
    </p:spTree>
    <p:extLst>
      <p:ext uri="{BB962C8B-B14F-4D97-AF65-F5344CB8AC3E}">
        <p14:creationId xmlns:p14="http://schemas.microsoft.com/office/powerpoint/2010/main" val="30799643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58D460B-FCBF-4F68-A559-8E415D1DDEDB}" type="slidenum">
              <a:rPr lang="zh-CN" altLang="en-US" smtClean="0"/>
              <a:pPr/>
              <a:t>43</a:t>
            </a:fld>
            <a:endParaRPr lang="zh-CN" altLang="en-US"/>
          </a:p>
        </p:txBody>
      </p:sp>
    </p:spTree>
    <p:extLst>
      <p:ext uri="{BB962C8B-B14F-4D97-AF65-F5344CB8AC3E}">
        <p14:creationId xmlns:p14="http://schemas.microsoft.com/office/powerpoint/2010/main" val="21221928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#include&lt;iostream&gt;</a:t>
            </a:r>
          </a:p>
          <a:p>
            <a:r>
              <a:rPr lang="en-US" altLang="zh-CN" dirty="0"/>
              <a:t>using namespace std;</a:t>
            </a:r>
          </a:p>
          <a:p>
            <a:r>
              <a:rPr lang="en-US" altLang="zh-CN" dirty="0"/>
              <a:t>#define </a:t>
            </a:r>
            <a:r>
              <a:rPr lang="en-US" altLang="zh-CN" dirty="0" err="1"/>
              <a:t>NullTag</a:t>
            </a:r>
            <a:r>
              <a:rPr lang="en-US" altLang="zh-CN" dirty="0"/>
              <a:t> -1</a:t>
            </a:r>
          </a:p>
          <a:p>
            <a:r>
              <a:rPr lang="en-US" altLang="zh-CN" dirty="0"/>
              <a:t>#define </a:t>
            </a:r>
            <a:r>
              <a:rPr lang="en-US" altLang="zh-CN" dirty="0" err="1"/>
              <a:t>DeleteTag</a:t>
            </a:r>
            <a:r>
              <a:rPr lang="en-US" altLang="zh-CN" dirty="0"/>
              <a:t> -10</a:t>
            </a:r>
          </a:p>
          <a:p>
            <a:r>
              <a:rPr lang="en-US" altLang="zh-CN" dirty="0"/>
              <a:t>const int </a:t>
            </a:r>
            <a:r>
              <a:rPr lang="en-US" altLang="zh-CN" dirty="0" err="1"/>
              <a:t>DefaultSize</a:t>
            </a:r>
            <a:r>
              <a:rPr lang="en-US" altLang="zh-CN" dirty="0"/>
              <a:t>=100;</a:t>
            </a:r>
          </a:p>
          <a:p>
            <a:endParaRPr lang="en-US" altLang="zh-CN" dirty="0"/>
          </a:p>
          <a:p>
            <a:r>
              <a:rPr lang="en-US" altLang="zh-CN" dirty="0"/>
              <a:t>template &lt;class </a:t>
            </a:r>
            <a:r>
              <a:rPr lang="en-US" altLang="zh-CN" dirty="0" err="1"/>
              <a:t>keytype,class</a:t>
            </a:r>
            <a:r>
              <a:rPr lang="en-US" altLang="zh-CN" dirty="0"/>
              <a:t> field&gt;</a:t>
            </a:r>
          </a:p>
          <a:p>
            <a:r>
              <a:rPr lang="en-US" altLang="zh-CN" dirty="0"/>
              <a:t>struct Element                 //</a:t>
            </a:r>
            <a:r>
              <a:rPr lang="zh-CN" altLang="en-US" dirty="0"/>
              <a:t>记录的定义</a:t>
            </a:r>
          </a:p>
          <a:p>
            <a:r>
              <a:rPr lang="en-US" altLang="zh-CN" dirty="0"/>
              <a:t>{</a:t>
            </a:r>
          </a:p>
          <a:p>
            <a:r>
              <a:rPr lang="en-US" altLang="zh-CN" dirty="0"/>
              <a:t>	</a:t>
            </a:r>
            <a:r>
              <a:rPr lang="en-US" altLang="zh-CN" dirty="0" err="1"/>
              <a:t>keytype</a:t>
            </a:r>
            <a:r>
              <a:rPr lang="en-US" altLang="zh-CN" dirty="0"/>
              <a:t> key;             //</a:t>
            </a:r>
            <a:r>
              <a:rPr lang="zh-CN" altLang="en-US" dirty="0"/>
              <a:t>关键字</a:t>
            </a:r>
          </a:p>
          <a:p>
            <a:r>
              <a:rPr lang="zh-CN" altLang="en-US" dirty="0"/>
              <a:t>	</a:t>
            </a:r>
            <a:r>
              <a:rPr lang="en-US" altLang="zh-CN" dirty="0"/>
              <a:t>field </a:t>
            </a:r>
            <a:r>
              <a:rPr lang="en-US" altLang="zh-CN" dirty="0" err="1"/>
              <a:t>otherdata</a:t>
            </a:r>
            <a:r>
              <a:rPr lang="en-US" altLang="zh-CN" dirty="0"/>
              <a:t>;         //</a:t>
            </a:r>
            <a:r>
              <a:rPr lang="zh-CN" altLang="en-US" dirty="0"/>
              <a:t>其他域</a:t>
            </a:r>
          </a:p>
          <a:p>
            <a:r>
              <a:rPr lang="en-US" altLang="zh-CN" dirty="0"/>
              <a:t>};</a:t>
            </a:r>
          </a:p>
          <a:p>
            <a:endParaRPr lang="en-US" altLang="zh-CN" dirty="0"/>
          </a:p>
          <a:p>
            <a:r>
              <a:rPr lang="en-US" altLang="zh-CN" dirty="0"/>
              <a:t>template &lt;class </a:t>
            </a:r>
            <a:r>
              <a:rPr lang="en-US" altLang="zh-CN" dirty="0" err="1"/>
              <a:t>keytype,class</a:t>
            </a:r>
            <a:r>
              <a:rPr lang="en-US" altLang="zh-CN" dirty="0"/>
              <a:t> field&gt;</a:t>
            </a:r>
          </a:p>
          <a:p>
            <a:r>
              <a:rPr lang="en-US" altLang="zh-CN" dirty="0"/>
              <a:t>class </a:t>
            </a:r>
            <a:r>
              <a:rPr lang="en-US" altLang="zh-CN" dirty="0" err="1"/>
              <a:t>HashList</a:t>
            </a:r>
            <a:r>
              <a:rPr lang="en-US" altLang="zh-CN" dirty="0"/>
              <a:t>                 //</a:t>
            </a:r>
            <a:r>
              <a:rPr lang="zh-CN" altLang="en-US" dirty="0"/>
              <a:t>用线性探查法处理冲突时哈希表类型的定义</a:t>
            </a:r>
          </a:p>
          <a:p>
            <a:r>
              <a:rPr lang="en-US" altLang="zh-CN" dirty="0"/>
              <a:t>{</a:t>
            </a:r>
          </a:p>
          <a:p>
            <a:r>
              <a:rPr lang="en-US" altLang="zh-CN" dirty="0"/>
              <a:t>private:</a:t>
            </a:r>
          </a:p>
          <a:p>
            <a:r>
              <a:rPr lang="en-US" altLang="zh-CN" dirty="0"/>
              <a:t>	Element&lt;</a:t>
            </a:r>
            <a:r>
              <a:rPr lang="en-US" altLang="zh-CN" dirty="0" err="1"/>
              <a:t>keytype,field</a:t>
            </a:r>
            <a:r>
              <a:rPr lang="en-US" altLang="zh-CN" dirty="0"/>
              <a:t>&gt; *HT;             //</a:t>
            </a:r>
            <a:r>
              <a:rPr lang="zh-CN" altLang="en-US" dirty="0"/>
              <a:t>哈希表存储数组</a:t>
            </a:r>
          </a:p>
          <a:p>
            <a:r>
              <a:rPr lang="zh-CN" altLang="en-US" dirty="0"/>
              <a:t>    </a:t>
            </a:r>
            <a:r>
              <a:rPr lang="en-US" altLang="zh-CN" dirty="0"/>
              <a:t>int  </a:t>
            </a:r>
            <a:r>
              <a:rPr lang="en-US" altLang="zh-CN" dirty="0" err="1"/>
              <a:t>CurrentSize</a:t>
            </a:r>
            <a:r>
              <a:rPr lang="en-US" altLang="zh-CN" dirty="0"/>
              <a:t>, </a:t>
            </a:r>
            <a:r>
              <a:rPr lang="en-US" altLang="zh-CN" dirty="0" err="1"/>
              <a:t>MaxSize</a:t>
            </a:r>
            <a:r>
              <a:rPr lang="en-US" altLang="zh-CN" dirty="0"/>
              <a:t>;        //</a:t>
            </a:r>
            <a:r>
              <a:rPr lang="zh-CN" altLang="en-US" dirty="0"/>
              <a:t>当前哈希地址数及最大地址数</a:t>
            </a:r>
          </a:p>
          <a:p>
            <a:r>
              <a:rPr lang="en-US" altLang="zh-CN" dirty="0"/>
              <a:t>public:</a:t>
            </a:r>
          </a:p>
          <a:p>
            <a:r>
              <a:rPr lang="en-US" altLang="zh-CN" dirty="0"/>
              <a:t>	</a:t>
            </a:r>
            <a:r>
              <a:rPr lang="en-US" altLang="zh-CN" dirty="0" err="1"/>
              <a:t>HashList</a:t>
            </a:r>
            <a:r>
              <a:rPr lang="en-US" altLang="zh-CN" dirty="0"/>
              <a:t>(int </a:t>
            </a:r>
            <a:r>
              <a:rPr lang="en-US" altLang="zh-CN" dirty="0" err="1"/>
              <a:t>MaxSz</a:t>
            </a:r>
            <a:r>
              <a:rPr lang="en-US" altLang="zh-CN" dirty="0"/>
              <a:t>=</a:t>
            </a:r>
            <a:r>
              <a:rPr lang="en-US" altLang="zh-CN" dirty="0" err="1"/>
              <a:t>DefaultSize</a:t>
            </a:r>
            <a:r>
              <a:rPr lang="en-US" altLang="zh-CN" dirty="0"/>
              <a:t>); //</a:t>
            </a:r>
            <a:r>
              <a:rPr lang="zh-CN" altLang="en-US" dirty="0"/>
              <a:t>构造函数</a:t>
            </a:r>
          </a:p>
          <a:p>
            <a:r>
              <a:rPr lang="zh-CN" altLang="en-US" dirty="0"/>
              <a:t>    </a:t>
            </a:r>
            <a:r>
              <a:rPr lang="en-US" altLang="zh-CN" dirty="0"/>
              <a:t>~</a:t>
            </a:r>
            <a:r>
              <a:rPr lang="en-US" altLang="zh-CN" dirty="0" err="1"/>
              <a:t>HashList</a:t>
            </a:r>
            <a:r>
              <a:rPr lang="en-US" altLang="zh-CN" dirty="0"/>
              <a:t>(){ delete [] HT; }	 //</a:t>
            </a:r>
            <a:r>
              <a:rPr lang="zh-CN" altLang="en-US" dirty="0"/>
              <a:t>析构函数</a:t>
            </a:r>
          </a:p>
          <a:p>
            <a:r>
              <a:rPr lang="zh-CN" altLang="en-US" dirty="0"/>
              <a:t>    </a:t>
            </a:r>
            <a:r>
              <a:rPr lang="en-US" altLang="zh-CN" dirty="0"/>
              <a:t>void </a:t>
            </a:r>
            <a:r>
              <a:rPr lang="en-US" altLang="zh-CN" dirty="0" err="1"/>
              <a:t>ClearHashList</a:t>
            </a:r>
            <a:r>
              <a:rPr lang="en-US" altLang="zh-CN" dirty="0"/>
              <a:t>();            	//</a:t>
            </a:r>
            <a:r>
              <a:rPr lang="zh-CN" altLang="en-US" dirty="0"/>
              <a:t>清空哈希表的函数</a:t>
            </a:r>
          </a:p>
          <a:p>
            <a:r>
              <a:rPr lang="zh-CN" altLang="en-US" dirty="0"/>
              <a:t>    </a:t>
            </a:r>
            <a:r>
              <a:rPr lang="en-US" altLang="zh-CN" dirty="0"/>
              <a:t>bool Insert(Element&lt;</a:t>
            </a:r>
            <a:r>
              <a:rPr lang="en-US" altLang="zh-CN" dirty="0" err="1"/>
              <a:t>keytype,field</a:t>
            </a:r>
            <a:r>
              <a:rPr lang="en-US" altLang="zh-CN" dirty="0"/>
              <a:t>&gt; item);     //</a:t>
            </a:r>
            <a:r>
              <a:rPr lang="zh-CN" altLang="en-US" dirty="0"/>
              <a:t>哈希表</a:t>
            </a:r>
            <a:r>
              <a:rPr lang="en-US" altLang="zh-CN" dirty="0"/>
              <a:t>HT</a:t>
            </a:r>
            <a:r>
              <a:rPr lang="zh-CN" altLang="en-US" dirty="0"/>
              <a:t>中插入一个元素</a:t>
            </a:r>
            <a:r>
              <a:rPr lang="en-US" altLang="zh-CN" dirty="0"/>
              <a:t>item</a:t>
            </a:r>
          </a:p>
          <a:p>
            <a:r>
              <a:rPr lang="en-US" altLang="zh-CN" dirty="0"/>
              <a:t>    int Search(</a:t>
            </a:r>
            <a:r>
              <a:rPr lang="en-US" altLang="zh-CN" dirty="0" err="1"/>
              <a:t>keytype</a:t>
            </a:r>
            <a:r>
              <a:rPr lang="en-US" altLang="zh-CN" dirty="0"/>
              <a:t> x);      //</a:t>
            </a:r>
            <a:r>
              <a:rPr lang="zh-CN" altLang="en-US" dirty="0"/>
              <a:t>从哈希表</a:t>
            </a:r>
            <a:r>
              <a:rPr lang="en-US" altLang="zh-CN" dirty="0"/>
              <a:t>HT</a:t>
            </a:r>
            <a:r>
              <a:rPr lang="zh-CN" altLang="en-US" dirty="0"/>
              <a:t>中查找元素，返回该元素的下标位置</a:t>
            </a:r>
          </a:p>
          <a:p>
            <a:r>
              <a:rPr lang="zh-CN" altLang="en-US" dirty="0"/>
              <a:t>    </a:t>
            </a:r>
            <a:r>
              <a:rPr lang="en-US" altLang="zh-CN" dirty="0"/>
              <a:t>bool Delete(</a:t>
            </a:r>
            <a:r>
              <a:rPr lang="en-US" altLang="zh-CN" dirty="0" err="1"/>
              <a:t>keytype</a:t>
            </a:r>
            <a:r>
              <a:rPr lang="en-US" altLang="zh-CN" dirty="0"/>
              <a:t> x);      //</a:t>
            </a:r>
            <a:r>
              <a:rPr lang="zh-CN" altLang="en-US" dirty="0"/>
              <a:t>从哈希表</a:t>
            </a:r>
            <a:r>
              <a:rPr lang="en-US" altLang="zh-CN" dirty="0"/>
              <a:t>HT</a:t>
            </a:r>
            <a:r>
              <a:rPr lang="zh-CN" altLang="en-US" dirty="0"/>
              <a:t>中删除元素</a:t>
            </a:r>
          </a:p>
          <a:p>
            <a:r>
              <a:rPr lang="zh-CN" altLang="en-US" dirty="0"/>
              <a:t>    </a:t>
            </a:r>
            <a:r>
              <a:rPr lang="en-US" altLang="zh-CN" dirty="0"/>
              <a:t>void Create(int num);            //</a:t>
            </a:r>
            <a:r>
              <a:rPr lang="zh-CN" altLang="en-US" dirty="0"/>
              <a:t>建立哈希表</a:t>
            </a:r>
            <a:r>
              <a:rPr lang="en-US" altLang="zh-CN" dirty="0"/>
              <a:t>HT</a:t>
            </a:r>
          </a:p>
          <a:p>
            <a:r>
              <a:rPr lang="en-US" altLang="zh-CN" dirty="0"/>
              <a:t>    void print();         			//</a:t>
            </a:r>
            <a:r>
              <a:rPr lang="zh-CN" altLang="en-US" dirty="0"/>
              <a:t>打印输出线性表中所有元素</a:t>
            </a:r>
          </a:p>
          <a:p>
            <a:r>
              <a:rPr lang="en-US" altLang="zh-CN" dirty="0"/>
              <a:t>};</a:t>
            </a:r>
            <a:endParaRPr lang="zh-CN" altLang="en-US" dirty="0"/>
          </a:p>
        </p:txBody>
      </p:sp>
      <p:sp>
        <p:nvSpPr>
          <p:cNvPr id="4" name="灯片编号占位符 3"/>
          <p:cNvSpPr>
            <a:spLocks noGrp="1"/>
          </p:cNvSpPr>
          <p:nvPr>
            <p:ph type="sldNum" sz="quarter" idx="5"/>
          </p:nvPr>
        </p:nvSpPr>
        <p:spPr/>
        <p:txBody>
          <a:bodyPr/>
          <a:lstStyle/>
          <a:p>
            <a:fld id="{358D460B-FCBF-4F68-A559-8E415D1DDEDB}" type="slidenum">
              <a:rPr lang="zh-CN" altLang="en-US" smtClean="0"/>
              <a:pPr/>
              <a:t>47</a:t>
            </a:fld>
            <a:endParaRPr lang="zh-CN" altLang="en-US"/>
          </a:p>
        </p:txBody>
      </p:sp>
    </p:spTree>
    <p:extLst>
      <p:ext uri="{BB962C8B-B14F-4D97-AF65-F5344CB8AC3E}">
        <p14:creationId xmlns:p14="http://schemas.microsoft.com/office/powerpoint/2010/main" val="37077877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template &lt;class </a:t>
            </a:r>
            <a:r>
              <a:rPr lang="en-US" altLang="zh-CN" dirty="0" err="1"/>
              <a:t>keytype,class</a:t>
            </a:r>
            <a:r>
              <a:rPr lang="en-US" altLang="zh-CN" dirty="0"/>
              <a:t> field&gt;</a:t>
            </a:r>
          </a:p>
          <a:p>
            <a:r>
              <a:rPr lang="en-US" altLang="zh-CN" dirty="0" err="1"/>
              <a:t>HashList</a:t>
            </a:r>
            <a:r>
              <a:rPr lang="en-US" altLang="zh-CN" dirty="0"/>
              <a:t>&lt;</a:t>
            </a:r>
            <a:r>
              <a:rPr lang="en-US" altLang="zh-CN" dirty="0" err="1"/>
              <a:t>keytype,field</a:t>
            </a:r>
            <a:r>
              <a:rPr lang="en-US" altLang="zh-CN" dirty="0"/>
              <a:t>&gt; :: </a:t>
            </a:r>
            <a:r>
              <a:rPr lang="en-US" altLang="zh-CN" dirty="0" err="1"/>
              <a:t>HashList</a:t>
            </a:r>
            <a:r>
              <a:rPr lang="en-US" altLang="zh-CN" dirty="0"/>
              <a:t>(int </a:t>
            </a:r>
            <a:r>
              <a:rPr lang="en-US" altLang="zh-CN" dirty="0" err="1"/>
              <a:t>MaxSz</a:t>
            </a:r>
            <a:r>
              <a:rPr lang="en-US" altLang="zh-CN" dirty="0"/>
              <a:t>)    //</a:t>
            </a:r>
            <a:r>
              <a:rPr lang="zh-CN" altLang="en-US" dirty="0"/>
              <a:t>构造函数</a:t>
            </a:r>
          </a:p>
          <a:p>
            <a:r>
              <a:rPr lang="en-US" altLang="zh-CN" dirty="0"/>
              <a:t>{</a:t>
            </a:r>
          </a:p>
          <a:p>
            <a:r>
              <a:rPr lang="en-US" altLang="zh-CN" dirty="0"/>
              <a:t>	HT=new Element&lt;</a:t>
            </a:r>
            <a:r>
              <a:rPr lang="en-US" altLang="zh-CN" dirty="0" err="1"/>
              <a:t>keytype,field</a:t>
            </a:r>
            <a:r>
              <a:rPr lang="en-US" altLang="zh-CN" dirty="0"/>
              <a:t>&gt;[</a:t>
            </a:r>
            <a:r>
              <a:rPr lang="en-US" altLang="zh-CN" dirty="0" err="1"/>
              <a:t>MaxSz</a:t>
            </a:r>
            <a:r>
              <a:rPr lang="en-US" altLang="zh-CN" dirty="0"/>
              <a:t>];</a:t>
            </a:r>
          </a:p>
          <a:p>
            <a:r>
              <a:rPr lang="en-US" altLang="zh-CN" dirty="0"/>
              <a:t>	if (HT==NULL) return;</a:t>
            </a:r>
          </a:p>
          <a:p>
            <a:r>
              <a:rPr lang="en-US" altLang="zh-CN" dirty="0"/>
              <a:t>    </a:t>
            </a:r>
            <a:r>
              <a:rPr lang="en-US" altLang="zh-CN" dirty="0" err="1"/>
              <a:t>MaxSize</a:t>
            </a:r>
            <a:r>
              <a:rPr lang="en-US" altLang="zh-CN" dirty="0"/>
              <a:t>=</a:t>
            </a:r>
            <a:r>
              <a:rPr lang="en-US" altLang="zh-CN" dirty="0" err="1"/>
              <a:t>MaxSz</a:t>
            </a:r>
            <a:r>
              <a:rPr lang="en-US" altLang="zh-CN" dirty="0"/>
              <a:t>;</a:t>
            </a:r>
          </a:p>
          <a:p>
            <a:r>
              <a:rPr lang="en-US" altLang="zh-CN" dirty="0"/>
              <a:t>    </a:t>
            </a:r>
            <a:r>
              <a:rPr lang="en-US" altLang="zh-CN" dirty="0" err="1"/>
              <a:t>CurrentSize</a:t>
            </a:r>
            <a:r>
              <a:rPr lang="en-US" altLang="zh-CN" dirty="0"/>
              <a:t>=0;</a:t>
            </a:r>
          </a:p>
          <a:p>
            <a:r>
              <a:rPr lang="en-US" altLang="zh-CN" dirty="0"/>
              <a:t>	//</a:t>
            </a:r>
            <a:r>
              <a:rPr lang="zh-CN" altLang="en-US" dirty="0"/>
              <a:t>将哈希表</a:t>
            </a:r>
            <a:r>
              <a:rPr lang="en-US" altLang="zh-CN" dirty="0"/>
              <a:t>HT</a:t>
            </a:r>
            <a:r>
              <a:rPr lang="zh-CN" altLang="en-US" dirty="0"/>
              <a:t>中每一单元的关键字</a:t>
            </a:r>
            <a:r>
              <a:rPr lang="en-US" altLang="zh-CN" dirty="0"/>
              <a:t>Key</a:t>
            </a:r>
            <a:r>
              <a:rPr lang="zh-CN" altLang="en-US" dirty="0"/>
              <a:t>域都设为空标志</a:t>
            </a:r>
          </a:p>
          <a:p>
            <a:r>
              <a:rPr lang="zh-CN" altLang="en-US" dirty="0"/>
              <a:t>    </a:t>
            </a:r>
            <a:r>
              <a:rPr lang="en-US" altLang="zh-CN" dirty="0"/>
              <a:t>for(int </a:t>
            </a:r>
            <a:r>
              <a:rPr lang="en-US" altLang="zh-CN" dirty="0" err="1"/>
              <a:t>i</a:t>
            </a:r>
            <a:r>
              <a:rPr lang="en-US" altLang="zh-CN" dirty="0"/>
              <a:t>=0; </a:t>
            </a:r>
            <a:r>
              <a:rPr lang="en-US" altLang="zh-CN" dirty="0" err="1"/>
              <a:t>i</a:t>
            </a:r>
            <a:r>
              <a:rPr lang="en-US" altLang="zh-CN" dirty="0"/>
              <a:t>&lt;</a:t>
            </a:r>
            <a:r>
              <a:rPr lang="en-US" altLang="zh-CN" dirty="0" err="1"/>
              <a:t>MaxSize</a:t>
            </a:r>
            <a:r>
              <a:rPr lang="en-US" altLang="zh-CN" dirty="0"/>
              <a:t>; </a:t>
            </a:r>
            <a:r>
              <a:rPr lang="en-US" altLang="zh-CN" dirty="0" err="1"/>
              <a:t>i</a:t>
            </a:r>
            <a:r>
              <a:rPr lang="en-US" altLang="zh-CN" dirty="0"/>
              <a:t>++)</a:t>
            </a:r>
          </a:p>
          <a:p>
            <a:r>
              <a:rPr lang="en-US" altLang="zh-CN" dirty="0"/>
              <a:t>    	HT[</a:t>
            </a:r>
            <a:r>
              <a:rPr lang="en-US" altLang="zh-CN" dirty="0" err="1"/>
              <a:t>i</a:t>
            </a:r>
            <a:r>
              <a:rPr lang="en-US" altLang="zh-CN" dirty="0"/>
              <a:t>].key=</a:t>
            </a:r>
            <a:r>
              <a:rPr lang="en-US" altLang="zh-CN" dirty="0" err="1"/>
              <a:t>NullTag</a:t>
            </a:r>
            <a:r>
              <a:rPr lang="en-US" altLang="zh-CN" dirty="0"/>
              <a:t>;</a:t>
            </a:r>
          </a:p>
          <a:p>
            <a:r>
              <a:rPr lang="en-US" altLang="zh-CN" dirty="0"/>
              <a:t>}</a:t>
            </a:r>
          </a:p>
          <a:p>
            <a:endParaRPr lang="en-US" altLang="zh-CN" dirty="0"/>
          </a:p>
          <a:p>
            <a:r>
              <a:rPr lang="en-US" altLang="zh-CN" dirty="0"/>
              <a:t>template &lt;class </a:t>
            </a:r>
            <a:r>
              <a:rPr lang="en-US" altLang="zh-CN" dirty="0" err="1"/>
              <a:t>keytype,class</a:t>
            </a:r>
            <a:r>
              <a:rPr lang="en-US" altLang="zh-CN" dirty="0"/>
              <a:t> field&gt;</a:t>
            </a:r>
          </a:p>
          <a:p>
            <a:r>
              <a:rPr lang="en-US" altLang="zh-CN" dirty="0"/>
              <a:t>void </a:t>
            </a:r>
            <a:r>
              <a:rPr lang="en-US" altLang="zh-CN" dirty="0" err="1"/>
              <a:t>HashList</a:t>
            </a:r>
            <a:r>
              <a:rPr lang="en-US" altLang="zh-CN" dirty="0"/>
              <a:t>&lt;</a:t>
            </a:r>
            <a:r>
              <a:rPr lang="en-US" altLang="zh-CN" dirty="0" err="1"/>
              <a:t>keytype,field</a:t>
            </a:r>
            <a:r>
              <a:rPr lang="en-US" altLang="zh-CN" dirty="0"/>
              <a:t>&gt;::</a:t>
            </a:r>
            <a:r>
              <a:rPr lang="en-US" altLang="zh-CN" dirty="0" err="1"/>
              <a:t>ClearHashList</a:t>
            </a:r>
            <a:r>
              <a:rPr lang="en-US" altLang="zh-CN" dirty="0"/>
              <a:t>()    //</a:t>
            </a:r>
            <a:r>
              <a:rPr lang="zh-CN" altLang="en-US" dirty="0"/>
              <a:t>清空哈希表的函数</a:t>
            </a:r>
          </a:p>
          <a:p>
            <a:r>
              <a:rPr lang="en-US" altLang="zh-CN" dirty="0"/>
              <a:t>{  	//</a:t>
            </a:r>
            <a:r>
              <a:rPr lang="zh-CN" altLang="en-US" dirty="0"/>
              <a:t>将哈希表</a:t>
            </a:r>
            <a:r>
              <a:rPr lang="en-US" altLang="zh-CN" dirty="0"/>
              <a:t>HT</a:t>
            </a:r>
            <a:r>
              <a:rPr lang="zh-CN" altLang="en-US" dirty="0"/>
              <a:t>中每一单元的关键字</a:t>
            </a:r>
            <a:r>
              <a:rPr lang="en-US" altLang="zh-CN" dirty="0"/>
              <a:t>key</a:t>
            </a:r>
            <a:r>
              <a:rPr lang="zh-CN" altLang="en-US" dirty="0"/>
              <a:t>域都设置为空标志</a:t>
            </a:r>
          </a:p>
          <a:p>
            <a:r>
              <a:rPr lang="zh-CN" altLang="en-US" dirty="0"/>
              <a:t>	</a:t>
            </a:r>
            <a:r>
              <a:rPr lang="en-US" altLang="zh-CN" dirty="0"/>
              <a:t>for(int </a:t>
            </a:r>
            <a:r>
              <a:rPr lang="en-US" altLang="zh-CN" dirty="0" err="1"/>
              <a:t>i</a:t>
            </a:r>
            <a:r>
              <a:rPr lang="en-US" altLang="zh-CN" dirty="0"/>
              <a:t>=0; </a:t>
            </a:r>
            <a:r>
              <a:rPr lang="en-US" altLang="zh-CN" dirty="0" err="1"/>
              <a:t>i</a:t>
            </a:r>
            <a:r>
              <a:rPr lang="en-US" altLang="zh-CN" dirty="0"/>
              <a:t>&lt;</a:t>
            </a:r>
            <a:r>
              <a:rPr lang="en-US" altLang="zh-CN" dirty="0" err="1"/>
              <a:t>MaxSize</a:t>
            </a:r>
            <a:r>
              <a:rPr lang="en-US" altLang="zh-CN" dirty="0"/>
              <a:t>; </a:t>
            </a:r>
            <a:r>
              <a:rPr lang="en-US" altLang="zh-CN" dirty="0" err="1"/>
              <a:t>i</a:t>
            </a:r>
            <a:r>
              <a:rPr lang="en-US" altLang="zh-CN" dirty="0"/>
              <a:t>++)</a:t>
            </a:r>
          </a:p>
          <a:p>
            <a:r>
              <a:rPr lang="en-US" altLang="zh-CN" dirty="0"/>
              <a:t>		HT[</a:t>
            </a:r>
            <a:r>
              <a:rPr lang="en-US" altLang="zh-CN" dirty="0" err="1"/>
              <a:t>i</a:t>
            </a:r>
            <a:r>
              <a:rPr lang="en-US" altLang="zh-CN" dirty="0"/>
              <a:t>].key=</a:t>
            </a:r>
            <a:r>
              <a:rPr lang="en-US" altLang="zh-CN" dirty="0" err="1"/>
              <a:t>NullTag</a:t>
            </a:r>
            <a:r>
              <a:rPr lang="en-US" altLang="zh-CN" dirty="0"/>
              <a:t>;</a:t>
            </a:r>
          </a:p>
          <a:p>
            <a:r>
              <a:rPr lang="en-US" altLang="zh-CN" dirty="0"/>
              <a:t>}</a:t>
            </a:r>
          </a:p>
          <a:p>
            <a:endParaRPr lang="zh-CN" altLang="en-US" dirty="0"/>
          </a:p>
        </p:txBody>
      </p:sp>
      <p:sp>
        <p:nvSpPr>
          <p:cNvPr id="4" name="灯片编号占位符 3"/>
          <p:cNvSpPr>
            <a:spLocks noGrp="1"/>
          </p:cNvSpPr>
          <p:nvPr>
            <p:ph type="sldNum" sz="quarter" idx="5"/>
          </p:nvPr>
        </p:nvSpPr>
        <p:spPr/>
        <p:txBody>
          <a:bodyPr/>
          <a:lstStyle/>
          <a:p>
            <a:fld id="{358D460B-FCBF-4F68-A559-8E415D1DDEDB}" type="slidenum">
              <a:rPr lang="zh-CN" altLang="en-US" smtClean="0"/>
              <a:pPr/>
              <a:t>48</a:t>
            </a:fld>
            <a:endParaRPr lang="zh-CN" altLang="en-US"/>
          </a:p>
        </p:txBody>
      </p:sp>
    </p:spTree>
    <p:extLst>
      <p:ext uri="{BB962C8B-B14F-4D97-AF65-F5344CB8AC3E}">
        <p14:creationId xmlns:p14="http://schemas.microsoft.com/office/powerpoint/2010/main" val="20508823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template &lt;class </a:t>
            </a:r>
            <a:r>
              <a:rPr lang="en-US" altLang="zh-CN" dirty="0" err="1"/>
              <a:t>keytype,class</a:t>
            </a:r>
            <a:r>
              <a:rPr lang="en-US" altLang="zh-CN" dirty="0"/>
              <a:t> field&gt;</a:t>
            </a:r>
          </a:p>
          <a:p>
            <a:r>
              <a:rPr lang="en-US" altLang="zh-CN" dirty="0"/>
              <a:t>bool </a:t>
            </a:r>
            <a:r>
              <a:rPr lang="en-US" altLang="zh-CN" dirty="0" err="1"/>
              <a:t>HashList</a:t>
            </a:r>
            <a:r>
              <a:rPr lang="en-US" altLang="zh-CN" dirty="0"/>
              <a:t>&lt;</a:t>
            </a:r>
            <a:r>
              <a:rPr lang="en-US" altLang="zh-CN" dirty="0" err="1"/>
              <a:t>keytype,field</a:t>
            </a:r>
            <a:r>
              <a:rPr lang="en-US" altLang="zh-CN" dirty="0"/>
              <a:t>&gt;::Insert(Element&lt;</a:t>
            </a:r>
            <a:r>
              <a:rPr lang="en-US" altLang="zh-CN" dirty="0" err="1"/>
              <a:t>keytype,field</a:t>
            </a:r>
            <a:r>
              <a:rPr lang="en-US" altLang="zh-CN" dirty="0"/>
              <a:t>&gt; item)		//</a:t>
            </a:r>
            <a:r>
              <a:rPr lang="zh-CN" altLang="en-US" dirty="0"/>
              <a:t>向哈希表</a:t>
            </a:r>
            <a:r>
              <a:rPr lang="en-US" altLang="zh-CN" dirty="0"/>
              <a:t>HT</a:t>
            </a:r>
            <a:r>
              <a:rPr lang="zh-CN" altLang="en-US" dirty="0"/>
              <a:t>中插入元素</a:t>
            </a:r>
            <a:r>
              <a:rPr lang="en-US" altLang="zh-CN" dirty="0"/>
              <a:t>item</a:t>
            </a:r>
          </a:p>
          <a:p>
            <a:r>
              <a:rPr lang="en-US" altLang="zh-CN" dirty="0"/>
              <a:t>{</a:t>
            </a:r>
          </a:p>
          <a:p>
            <a:r>
              <a:rPr lang="en-US" altLang="zh-CN" dirty="0"/>
              <a:t>//	int d=H(</a:t>
            </a:r>
            <a:r>
              <a:rPr lang="en-US" altLang="zh-CN" dirty="0" err="1"/>
              <a:t>item.key</a:t>
            </a:r>
            <a:r>
              <a:rPr lang="en-US" altLang="zh-CN" dirty="0"/>
              <a:t>);      //</a:t>
            </a:r>
            <a:r>
              <a:rPr lang="zh-CN" altLang="en-US" dirty="0"/>
              <a:t>用哈希函数计算哈希地址</a:t>
            </a:r>
          </a:p>
          <a:p>
            <a:r>
              <a:rPr lang="zh-CN" altLang="en-US" dirty="0"/>
              <a:t>	</a:t>
            </a:r>
            <a:r>
              <a:rPr lang="en-US" altLang="zh-CN" dirty="0"/>
              <a:t>int d=</a:t>
            </a:r>
            <a:r>
              <a:rPr lang="en-US" altLang="zh-CN" dirty="0" err="1"/>
              <a:t>item.key%MaxSize</a:t>
            </a:r>
            <a:r>
              <a:rPr lang="en-US" altLang="zh-CN" dirty="0"/>
              <a:t>;</a:t>
            </a:r>
          </a:p>
          <a:p>
            <a:r>
              <a:rPr lang="en-US" altLang="zh-CN" dirty="0"/>
              <a:t>    int temp=d;                 //</a:t>
            </a:r>
            <a:r>
              <a:rPr lang="zh-CN" altLang="en-US" dirty="0"/>
              <a:t>用</a:t>
            </a:r>
            <a:r>
              <a:rPr lang="en-US" altLang="zh-CN" dirty="0"/>
              <a:t>temp</a:t>
            </a:r>
            <a:r>
              <a:rPr lang="zh-CN" altLang="en-US" dirty="0"/>
              <a:t>变量暂存哈希地址</a:t>
            </a:r>
            <a:r>
              <a:rPr lang="en-US" altLang="zh-CN" dirty="0"/>
              <a:t>d</a:t>
            </a:r>
          </a:p>
          <a:p>
            <a:r>
              <a:rPr lang="en-US" altLang="zh-CN" dirty="0"/>
              <a:t>	while(HT[d].key != </a:t>
            </a:r>
            <a:r>
              <a:rPr lang="en-US" altLang="zh-CN" dirty="0" err="1"/>
              <a:t>NullTag</a:t>
            </a:r>
            <a:r>
              <a:rPr lang="en-US" altLang="zh-CN" dirty="0"/>
              <a:t> &amp;&amp; HT[d].key != </a:t>
            </a:r>
            <a:r>
              <a:rPr lang="en-US" altLang="zh-CN" dirty="0" err="1"/>
              <a:t>DeleteTag</a:t>
            </a:r>
            <a:r>
              <a:rPr lang="en-US" altLang="zh-CN" dirty="0"/>
              <a:t>)</a:t>
            </a:r>
          </a:p>
          <a:p>
            <a:r>
              <a:rPr lang="en-US" altLang="zh-CN" dirty="0"/>
              <a:t>	{	//</a:t>
            </a:r>
            <a:r>
              <a:rPr lang="zh-CN" altLang="en-US" dirty="0"/>
              <a:t>继续向后查找空元素位置或者被删除元素的位置</a:t>
            </a:r>
          </a:p>
          <a:p>
            <a:r>
              <a:rPr lang="zh-CN" altLang="en-US" dirty="0"/>
              <a:t>		</a:t>
            </a:r>
            <a:r>
              <a:rPr lang="en-US" altLang="zh-CN" dirty="0"/>
              <a:t>d = (d+1) % </a:t>
            </a:r>
            <a:r>
              <a:rPr lang="en-US" altLang="zh-CN" dirty="0" err="1"/>
              <a:t>MaxSize</a:t>
            </a:r>
            <a:r>
              <a:rPr lang="en-US" altLang="zh-CN" dirty="0"/>
              <a:t>;      		//</a:t>
            </a:r>
            <a:r>
              <a:rPr lang="zh-CN" altLang="en-US" dirty="0"/>
              <a:t>假定采用线性探查法处理冲突</a:t>
            </a:r>
          </a:p>
          <a:p>
            <a:r>
              <a:rPr lang="zh-CN" altLang="en-US" dirty="0"/>
              <a:t>        </a:t>
            </a:r>
            <a:r>
              <a:rPr lang="en-US" altLang="zh-CN" dirty="0"/>
              <a:t>if (d == temp) return false;  	//</a:t>
            </a:r>
            <a:r>
              <a:rPr lang="zh-CN" altLang="en-US" dirty="0"/>
              <a:t>查找完所有位置后表示无法插入</a:t>
            </a:r>
          </a:p>
          <a:p>
            <a:r>
              <a:rPr lang="zh-CN" altLang="en-US" dirty="0"/>
              <a:t>    </a:t>
            </a:r>
            <a:r>
              <a:rPr lang="en-US" altLang="zh-CN" dirty="0"/>
              <a:t>}</a:t>
            </a:r>
          </a:p>
          <a:p>
            <a:r>
              <a:rPr lang="en-US" altLang="zh-CN" dirty="0"/>
              <a:t>    </a:t>
            </a:r>
            <a:r>
              <a:rPr lang="en-US" altLang="zh-CN" dirty="0" err="1"/>
              <a:t>item.otherdata</a:t>
            </a:r>
            <a:r>
              <a:rPr lang="en-US" altLang="zh-CN" dirty="0"/>
              <a:t>=d;</a:t>
            </a:r>
          </a:p>
          <a:p>
            <a:r>
              <a:rPr lang="en-US" altLang="zh-CN" dirty="0"/>
              <a:t>    HT[d] = item;     //</a:t>
            </a:r>
            <a:r>
              <a:rPr lang="zh-CN" altLang="en-US" dirty="0"/>
              <a:t>将新元素插入到下标为</a:t>
            </a:r>
            <a:r>
              <a:rPr lang="en-US" altLang="zh-CN" dirty="0"/>
              <a:t>d</a:t>
            </a:r>
            <a:r>
              <a:rPr lang="zh-CN" altLang="en-US" dirty="0"/>
              <a:t>的位置</a:t>
            </a:r>
          </a:p>
          <a:p>
            <a:r>
              <a:rPr lang="zh-CN" altLang="en-US" dirty="0"/>
              <a:t>    </a:t>
            </a:r>
            <a:r>
              <a:rPr lang="en-US" altLang="zh-CN" dirty="0" err="1"/>
              <a:t>CurrentSize</a:t>
            </a:r>
            <a:r>
              <a:rPr lang="en-US" altLang="zh-CN" dirty="0"/>
              <a:t>++;</a:t>
            </a:r>
          </a:p>
          <a:p>
            <a:r>
              <a:rPr lang="en-US" altLang="zh-CN" dirty="0"/>
              <a:t>    return true;         //</a:t>
            </a:r>
            <a:r>
              <a:rPr lang="zh-CN" altLang="en-US" dirty="0"/>
              <a:t>插入成功，返回真</a:t>
            </a:r>
          </a:p>
          <a:p>
            <a:r>
              <a:rPr lang="en-US" altLang="zh-CN" dirty="0"/>
              <a:t>}</a:t>
            </a:r>
            <a:endParaRPr lang="zh-CN" altLang="en-US" dirty="0"/>
          </a:p>
        </p:txBody>
      </p:sp>
      <p:sp>
        <p:nvSpPr>
          <p:cNvPr id="4" name="灯片编号占位符 3"/>
          <p:cNvSpPr>
            <a:spLocks noGrp="1"/>
          </p:cNvSpPr>
          <p:nvPr>
            <p:ph type="sldNum" sz="quarter" idx="5"/>
          </p:nvPr>
        </p:nvSpPr>
        <p:spPr/>
        <p:txBody>
          <a:bodyPr/>
          <a:lstStyle/>
          <a:p>
            <a:fld id="{358D460B-FCBF-4F68-A559-8E415D1DDEDB}" type="slidenum">
              <a:rPr lang="zh-CN" altLang="en-US" smtClean="0"/>
              <a:pPr/>
              <a:t>50</a:t>
            </a:fld>
            <a:endParaRPr lang="zh-CN" altLang="en-US"/>
          </a:p>
        </p:txBody>
      </p:sp>
    </p:spTree>
    <p:extLst>
      <p:ext uri="{BB962C8B-B14F-4D97-AF65-F5344CB8AC3E}">
        <p14:creationId xmlns:p14="http://schemas.microsoft.com/office/powerpoint/2010/main" val="15026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template &lt;class </a:t>
            </a:r>
            <a:r>
              <a:rPr lang="en-US" altLang="zh-CN" dirty="0" err="1"/>
              <a:t>keytype,class</a:t>
            </a:r>
            <a:r>
              <a:rPr lang="en-US" altLang="zh-CN" dirty="0"/>
              <a:t> field&gt;</a:t>
            </a:r>
          </a:p>
          <a:p>
            <a:r>
              <a:rPr lang="en-US" altLang="zh-CN" dirty="0"/>
              <a:t>int </a:t>
            </a:r>
            <a:r>
              <a:rPr lang="en-US" altLang="zh-CN" dirty="0" err="1"/>
              <a:t>HashList</a:t>
            </a:r>
            <a:r>
              <a:rPr lang="en-US" altLang="zh-CN" dirty="0"/>
              <a:t>&lt;</a:t>
            </a:r>
            <a:r>
              <a:rPr lang="en-US" altLang="zh-CN" dirty="0" err="1"/>
              <a:t>keytype,field</a:t>
            </a:r>
            <a:r>
              <a:rPr lang="en-US" altLang="zh-CN" dirty="0"/>
              <a:t>&gt; :: Search(</a:t>
            </a:r>
            <a:r>
              <a:rPr lang="en-US" altLang="zh-CN" dirty="0" err="1"/>
              <a:t>keytype</a:t>
            </a:r>
            <a:r>
              <a:rPr lang="en-US" altLang="zh-CN" dirty="0"/>
              <a:t> x)</a:t>
            </a:r>
          </a:p>
          <a:p>
            <a:r>
              <a:rPr lang="en-US" altLang="zh-CN" dirty="0"/>
              <a:t>{</a:t>
            </a:r>
          </a:p>
          <a:p>
            <a:r>
              <a:rPr lang="en-US" altLang="zh-CN" dirty="0"/>
              <a:t>	//int d=H(x);       //</a:t>
            </a:r>
            <a:r>
              <a:rPr lang="zh-CN" altLang="en-US" dirty="0"/>
              <a:t>计算哈希地址</a:t>
            </a:r>
          </a:p>
          <a:p>
            <a:r>
              <a:rPr lang="zh-CN" altLang="en-US" dirty="0"/>
              <a:t>	</a:t>
            </a:r>
            <a:r>
              <a:rPr lang="en-US" altLang="zh-CN" dirty="0"/>
              <a:t>int d=</a:t>
            </a:r>
            <a:r>
              <a:rPr lang="en-US" altLang="zh-CN" dirty="0" err="1"/>
              <a:t>x%MaxSize</a:t>
            </a:r>
            <a:r>
              <a:rPr lang="en-US" altLang="zh-CN" dirty="0"/>
              <a:t>;</a:t>
            </a:r>
          </a:p>
          <a:p>
            <a:r>
              <a:rPr lang="en-US" altLang="zh-CN" dirty="0"/>
              <a:t>    int temp=d;      //</a:t>
            </a:r>
            <a:r>
              <a:rPr lang="zh-CN" altLang="en-US" dirty="0"/>
              <a:t>保存初始哈希地址到</a:t>
            </a:r>
            <a:r>
              <a:rPr lang="en-US" altLang="zh-CN" dirty="0"/>
              <a:t>temp</a:t>
            </a:r>
          </a:p>
          <a:p>
            <a:r>
              <a:rPr lang="en-US" altLang="zh-CN" dirty="0"/>
              <a:t>	while(HT[d].key != </a:t>
            </a:r>
            <a:r>
              <a:rPr lang="en-US" altLang="zh-CN" dirty="0" err="1"/>
              <a:t>NullTag</a:t>
            </a:r>
            <a:r>
              <a:rPr lang="en-US" altLang="zh-CN" dirty="0"/>
              <a:t>) </a:t>
            </a:r>
          </a:p>
          <a:p>
            <a:r>
              <a:rPr lang="en-US" altLang="zh-CN" dirty="0"/>
              <a:t>	{ </a:t>
            </a:r>
          </a:p>
          <a:p>
            <a:r>
              <a:rPr lang="en-US" altLang="zh-CN" dirty="0"/>
              <a:t>		//</a:t>
            </a:r>
            <a:r>
              <a:rPr lang="zh-CN" altLang="en-US" dirty="0"/>
              <a:t>当哈希地址中的关键字域不为空则循环</a:t>
            </a:r>
          </a:p>
          <a:p>
            <a:r>
              <a:rPr lang="zh-CN" altLang="en-US" dirty="0"/>
              <a:t>        </a:t>
            </a:r>
            <a:r>
              <a:rPr lang="en-US" altLang="zh-CN" dirty="0"/>
              <a:t>if(HT[d].key == x) </a:t>
            </a:r>
          </a:p>
          <a:p>
            <a:r>
              <a:rPr lang="en-US" altLang="zh-CN" dirty="0"/>
              <a:t>			return d; //</a:t>
            </a:r>
            <a:r>
              <a:rPr lang="zh-CN" altLang="en-US" dirty="0"/>
              <a:t>查找成功返回下标</a:t>
            </a:r>
            <a:r>
              <a:rPr lang="en-US" altLang="zh-CN" dirty="0"/>
              <a:t>d</a:t>
            </a:r>
          </a:p>
          <a:p>
            <a:r>
              <a:rPr lang="en-US" altLang="zh-CN" dirty="0"/>
              <a:t>		else </a:t>
            </a:r>
          </a:p>
          <a:p>
            <a:r>
              <a:rPr lang="en-US" altLang="zh-CN" dirty="0"/>
              <a:t>			d = (d+1) % </a:t>
            </a:r>
            <a:r>
              <a:rPr lang="en-US" altLang="zh-CN" dirty="0" err="1"/>
              <a:t>MaxSize</a:t>
            </a:r>
            <a:r>
              <a:rPr lang="en-US" altLang="zh-CN" dirty="0"/>
              <a:t>;</a:t>
            </a:r>
          </a:p>
          <a:p>
            <a:r>
              <a:rPr lang="en-US" altLang="zh-CN" dirty="0"/>
              <a:t>        if(d==temp) return -1;    //</a:t>
            </a:r>
            <a:r>
              <a:rPr lang="zh-CN" altLang="en-US" dirty="0"/>
              <a:t>查找失败返回“</a:t>
            </a:r>
            <a:r>
              <a:rPr lang="en-US" altLang="zh-CN" dirty="0"/>
              <a:t>-1”</a:t>
            </a:r>
          </a:p>
          <a:p>
            <a:r>
              <a:rPr lang="en-US" altLang="zh-CN" dirty="0"/>
              <a:t>    }</a:t>
            </a:r>
          </a:p>
          <a:p>
            <a:r>
              <a:rPr lang="en-US" altLang="zh-CN" dirty="0"/>
              <a:t>    return -1;   //</a:t>
            </a:r>
            <a:r>
              <a:rPr lang="zh-CN" altLang="en-US" dirty="0"/>
              <a:t>遇到关键字为空，查找失败返回“</a:t>
            </a:r>
            <a:r>
              <a:rPr lang="en-US" altLang="zh-CN" dirty="0"/>
              <a:t>-1”</a:t>
            </a:r>
          </a:p>
          <a:p>
            <a:r>
              <a:rPr lang="en-US" altLang="zh-CN" dirty="0"/>
              <a:t>}</a:t>
            </a:r>
            <a:endParaRPr lang="zh-CN" altLang="en-US" dirty="0"/>
          </a:p>
        </p:txBody>
      </p:sp>
      <p:sp>
        <p:nvSpPr>
          <p:cNvPr id="4" name="灯片编号占位符 3"/>
          <p:cNvSpPr>
            <a:spLocks noGrp="1"/>
          </p:cNvSpPr>
          <p:nvPr>
            <p:ph type="sldNum" sz="quarter" idx="5"/>
          </p:nvPr>
        </p:nvSpPr>
        <p:spPr/>
        <p:txBody>
          <a:bodyPr/>
          <a:lstStyle/>
          <a:p>
            <a:fld id="{358D460B-FCBF-4F68-A559-8E415D1DDEDB}" type="slidenum">
              <a:rPr lang="zh-CN" altLang="en-US" smtClean="0"/>
              <a:pPr/>
              <a:t>51</a:t>
            </a:fld>
            <a:endParaRPr lang="zh-CN" altLang="en-US"/>
          </a:p>
        </p:txBody>
      </p:sp>
    </p:spTree>
    <p:extLst>
      <p:ext uri="{BB962C8B-B14F-4D97-AF65-F5344CB8AC3E}">
        <p14:creationId xmlns:p14="http://schemas.microsoft.com/office/powerpoint/2010/main" val="16295287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template &lt;class </a:t>
            </a:r>
            <a:r>
              <a:rPr lang="en-US" altLang="zh-CN" dirty="0" err="1"/>
              <a:t>keytype,class</a:t>
            </a:r>
            <a:r>
              <a:rPr lang="en-US" altLang="zh-CN" dirty="0"/>
              <a:t> field&gt;</a:t>
            </a:r>
          </a:p>
          <a:p>
            <a:r>
              <a:rPr lang="en-US" altLang="zh-CN" dirty="0"/>
              <a:t>bool </a:t>
            </a:r>
            <a:r>
              <a:rPr lang="en-US" altLang="zh-CN" dirty="0" err="1"/>
              <a:t>HashList</a:t>
            </a:r>
            <a:r>
              <a:rPr lang="en-US" altLang="zh-CN" dirty="0"/>
              <a:t>&lt;</a:t>
            </a:r>
            <a:r>
              <a:rPr lang="en-US" altLang="zh-CN" dirty="0" err="1"/>
              <a:t>keytype,field</a:t>
            </a:r>
            <a:r>
              <a:rPr lang="en-US" altLang="zh-CN" dirty="0"/>
              <a:t>&gt; :: Delete(</a:t>
            </a:r>
            <a:r>
              <a:rPr lang="en-US" altLang="zh-CN" dirty="0" err="1"/>
              <a:t>keytype</a:t>
            </a:r>
            <a:r>
              <a:rPr lang="en-US" altLang="zh-CN" dirty="0"/>
              <a:t> x)</a:t>
            </a:r>
          </a:p>
          <a:p>
            <a:r>
              <a:rPr lang="en-US" altLang="zh-CN" dirty="0"/>
              <a:t>{</a:t>
            </a:r>
          </a:p>
          <a:p>
            <a:r>
              <a:rPr lang="en-US" altLang="zh-CN" dirty="0"/>
              <a:t>//	int d = H(x);     //</a:t>
            </a:r>
            <a:r>
              <a:rPr lang="zh-CN" altLang="en-US" dirty="0"/>
              <a:t>计算哈希地址</a:t>
            </a:r>
          </a:p>
          <a:p>
            <a:r>
              <a:rPr lang="zh-CN" altLang="en-US" dirty="0"/>
              <a:t>	</a:t>
            </a:r>
            <a:r>
              <a:rPr lang="en-US" altLang="zh-CN" dirty="0"/>
              <a:t>int d=</a:t>
            </a:r>
            <a:r>
              <a:rPr lang="en-US" altLang="zh-CN" dirty="0" err="1"/>
              <a:t>x%MaxSize</a:t>
            </a:r>
            <a:r>
              <a:rPr lang="en-US" altLang="zh-CN" dirty="0"/>
              <a:t>;</a:t>
            </a:r>
          </a:p>
          <a:p>
            <a:r>
              <a:rPr lang="en-US" altLang="zh-CN" dirty="0"/>
              <a:t>    int temp = d;    //</a:t>
            </a:r>
            <a:r>
              <a:rPr lang="zh-CN" altLang="en-US" dirty="0"/>
              <a:t>保存哈希地址的初始值</a:t>
            </a:r>
          </a:p>
          <a:p>
            <a:r>
              <a:rPr lang="zh-CN" altLang="en-US" dirty="0"/>
              <a:t>	</a:t>
            </a:r>
            <a:r>
              <a:rPr lang="en-US" altLang="zh-CN" dirty="0"/>
              <a:t>while(HT[d].key != </a:t>
            </a:r>
            <a:r>
              <a:rPr lang="en-US" altLang="zh-CN" dirty="0" err="1"/>
              <a:t>NullTag</a:t>
            </a:r>
            <a:r>
              <a:rPr lang="en-US" altLang="zh-CN" dirty="0"/>
              <a:t>) 	 //</a:t>
            </a:r>
            <a:r>
              <a:rPr lang="zh-CN" altLang="en-US" dirty="0"/>
              <a:t>不为空记录则循环</a:t>
            </a:r>
          </a:p>
          <a:p>
            <a:r>
              <a:rPr lang="zh-CN" altLang="en-US" dirty="0"/>
              <a:t>	</a:t>
            </a:r>
            <a:r>
              <a:rPr lang="en-US" altLang="zh-CN" dirty="0"/>
              <a:t>{</a:t>
            </a:r>
          </a:p>
          <a:p>
            <a:r>
              <a:rPr lang="en-US" altLang="zh-CN" dirty="0"/>
              <a:t>		if(HT[d].key == x) </a:t>
            </a:r>
          </a:p>
          <a:p>
            <a:r>
              <a:rPr lang="en-US" altLang="zh-CN" dirty="0"/>
              <a:t>		{</a:t>
            </a:r>
          </a:p>
          <a:p>
            <a:r>
              <a:rPr lang="en-US" altLang="zh-CN" dirty="0"/>
              <a:t>			HT[d].key = </a:t>
            </a:r>
            <a:r>
              <a:rPr lang="en-US" altLang="zh-CN" dirty="0" err="1"/>
              <a:t>DeleteTag</a:t>
            </a:r>
            <a:r>
              <a:rPr lang="en-US" altLang="zh-CN" dirty="0"/>
              <a:t>;   //</a:t>
            </a:r>
            <a:r>
              <a:rPr lang="zh-CN" altLang="en-US" dirty="0"/>
              <a:t>设置删除标记</a:t>
            </a:r>
          </a:p>
          <a:p>
            <a:r>
              <a:rPr lang="zh-CN" altLang="en-US" dirty="0"/>
              <a:t>		  	</a:t>
            </a:r>
            <a:r>
              <a:rPr lang="en-US" altLang="zh-CN" dirty="0"/>
              <a:t>return true;</a:t>
            </a:r>
          </a:p>
          <a:p>
            <a:r>
              <a:rPr lang="en-US" altLang="zh-CN" dirty="0"/>
              <a:t>        }</a:t>
            </a:r>
          </a:p>
          <a:p>
            <a:r>
              <a:rPr lang="en-US" altLang="zh-CN" dirty="0"/>
              <a:t>		else </a:t>
            </a:r>
          </a:p>
          <a:p>
            <a:r>
              <a:rPr lang="en-US" altLang="zh-CN" dirty="0"/>
              <a:t>			d = (d+1)%</a:t>
            </a:r>
            <a:r>
              <a:rPr lang="en-US" altLang="zh-CN" dirty="0" err="1"/>
              <a:t>MaxSize</a:t>
            </a:r>
            <a:r>
              <a:rPr lang="en-US" altLang="zh-CN" dirty="0"/>
              <a:t>;  //</a:t>
            </a:r>
            <a:r>
              <a:rPr lang="zh-CN" altLang="en-US" dirty="0"/>
              <a:t>继续向后查找被删除的元素</a:t>
            </a:r>
          </a:p>
          <a:p>
            <a:r>
              <a:rPr lang="zh-CN" altLang="en-US" dirty="0"/>
              <a:t>        </a:t>
            </a:r>
            <a:r>
              <a:rPr lang="en-US" altLang="zh-CN" dirty="0"/>
              <a:t>if(d==temp) return false;   //</a:t>
            </a:r>
            <a:r>
              <a:rPr lang="zh-CN" altLang="en-US" dirty="0"/>
              <a:t>循环一圈后返回假，删除失败</a:t>
            </a:r>
          </a:p>
          <a:p>
            <a:r>
              <a:rPr lang="zh-CN" altLang="en-US" dirty="0"/>
              <a:t>    </a:t>
            </a:r>
            <a:r>
              <a:rPr lang="en-US" altLang="zh-CN" dirty="0"/>
              <a:t>}</a:t>
            </a:r>
          </a:p>
          <a:p>
            <a:r>
              <a:rPr lang="en-US" altLang="zh-CN" dirty="0"/>
              <a:t>    return false;    //</a:t>
            </a:r>
            <a:r>
              <a:rPr lang="zh-CN" altLang="en-US" dirty="0"/>
              <a:t>遇到空关键字，没有找到被删除元素，删除失败</a:t>
            </a:r>
          </a:p>
          <a:p>
            <a:r>
              <a:rPr lang="en-US" altLang="zh-CN" dirty="0"/>
              <a:t>}</a:t>
            </a:r>
            <a:endParaRPr lang="zh-CN" altLang="en-US" dirty="0"/>
          </a:p>
        </p:txBody>
      </p:sp>
      <p:sp>
        <p:nvSpPr>
          <p:cNvPr id="4" name="灯片编号占位符 3"/>
          <p:cNvSpPr>
            <a:spLocks noGrp="1"/>
          </p:cNvSpPr>
          <p:nvPr>
            <p:ph type="sldNum" sz="quarter" idx="5"/>
          </p:nvPr>
        </p:nvSpPr>
        <p:spPr/>
        <p:txBody>
          <a:bodyPr/>
          <a:lstStyle/>
          <a:p>
            <a:fld id="{358D460B-FCBF-4F68-A559-8E415D1DDEDB}" type="slidenum">
              <a:rPr lang="zh-CN" altLang="en-US" smtClean="0"/>
              <a:pPr/>
              <a:t>52</a:t>
            </a:fld>
            <a:endParaRPr lang="zh-CN" altLang="en-US"/>
          </a:p>
        </p:txBody>
      </p:sp>
    </p:spTree>
    <p:extLst>
      <p:ext uri="{BB962C8B-B14F-4D97-AF65-F5344CB8AC3E}">
        <p14:creationId xmlns:p14="http://schemas.microsoft.com/office/powerpoint/2010/main" val="15020117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int main()</a:t>
            </a:r>
          </a:p>
          <a:p>
            <a:r>
              <a:rPr lang="en-US" altLang="zh-CN" dirty="0"/>
              <a:t>{</a:t>
            </a:r>
          </a:p>
          <a:p>
            <a:r>
              <a:rPr lang="en-US" altLang="zh-CN" dirty="0"/>
              <a:t>	</a:t>
            </a:r>
            <a:r>
              <a:rPr lang="en-US" altLang="zh-CN" dirty="0" err="1"/>
              <a:t>HashList</a:t>
            </a:r>
            <a:r>
              <a:rPr lang="en-US" altLang="zh-CN" dirty="0"/>
              <a:t>&lt;</a:t>
            </a:r>
            <a:r>
              <a:rPr lang="en-US" altLang="zh-CN" dirty="0" err="1"/>
              <a:t>int,int</a:t>
            </a:r>
            <a:r>
              <a:rPr lang="en-US" altLang="zh-CN" dirty="0"/>
              <a:t>&gt; </a:t>
            </a:r>
            <a:r>
              <a:rPr lang="en-US" altLang="zh-CN" dirty="0" err="1"/>
              <a:t>fh</a:t>
            </a:r>
            <a:r>
              <a:rPr lang="en-US" altLang="zh-CN" dirty="0"/>
              <a:t>(5);</a:t>
            </a:r>
          </a:p>
          <a:p>
            <a:r>
              <a:rPr lang="en-US" altLang="zh-CN" dirty="0"/>
              <a:t>	int key1[5]={28,18,23,8,38};</a:t>
            </a:r>
          </a:p>
          <a:p>
            <a:r>
              <a:rPr lang="en-US" altLang="zh-CN" dirty="0"/>
              <a:t>	for(int </a:t>
            </a:r>
            <a:r>
              <a:rPr lang="en-US" altLang="zh-CN" dirty="0" err="1"/>
              <a:t>i</a:t>
            </a:r>
            <a:r>
              <a:rPr lang="en-US" altLang="zh-CN" dirty="0"/>
              <a:t>=0;i&lt;5;i++)	//</a:t>
            </a:r>
            <a:r>
              <a:rPr lang="zh-CN" altLang="en-US" dirty="0"/>
              <a:t>创建哈希表 </a:t>
            </a:r>
          </a:p>
          <a:p>
            <a:r>
              <a:rPr lang="zh-CN" altLang="en-US" dirty="0"/>
              <a:t>	</a:t>
            </a:r>
            <a:r>
              <a:rPr lang="en-US" altLang="zh-CN" dirty="0"/>
              <a:t>{</a:t>
            </a:r>
          </a:p>
          <a:p>
            <a:r>
              <a:rPr lang="en-US" altLang="zh-CN" dirty="0"/>
              <a:t>		Element&lt;</a:t>
            </a:r>
            <a:r>
              <a:rPr lang="en-US" altLang="zh-CN" dirty="0" err="1"/>
              <a:t>int,int</a:t>
            </a:r>
            <a:r>
              <a:rPr lang="en-US" altLang="zh-CN" dirty="0"/>
              <a:t>&gt; </a:t>
            </a:r>
            <a:r>
              <a:rPr lang="en-US" altLang="zh-CN" dirty="0" err="1"/>
              <a:t>tt</a:t>
            </a:r>
            <a:r>
              <a:rPr lang="en-US" altLang="zh-CN" dirty="0"/>
              <a:t>;</a:t>
            </a:r>
          </a:p>
          <a:p>
            <a:r>
              <a:rPr lang="en-US" altLang="zh-CN" dirty="0"/>
              <a:t>		</a:t>
            </a:r>
            <a:r>
              <a:rPr lang="en-US" altLang="zh-CN" dirty="0" err="1"/>
              <a:t>tt.key</a:t>
            </a:r>
            <a:r>
              <a:rPr lang="en-US" altLang="zh-CN" dirty="0"/>
              <a:t>=key1[</a:t>
            </a:r>
            <a:r>
              <a:rPr lang="en-US" altLang="zh-CN" dirty="0" err="1"/>
              <a:t>i</a:t>
            </a:r>
            <a:r>
              <a:rPr lang="en-US" altLang="zh-CN" dirty="0"/>
              <a:t>];</a:t>
            </a:r>
          </a:p>
          <a:p>
            <a:r>
              <a:rPr lang="en-US" altLang="zh-CN" dirty="0"/>
              <a:t>		</a:t>
            </a:r>
            <a:r>
              <a:rPr lang="en-US" altLang="zh-CN" dirty="0" err="1"/>
              <a:t>tt.otherdata</a:t>
            </a:r>
            <a:r>
              <a:rPr lang="en-US" altLang="zh-CN" dirty="0"/>
              <a:t>=-1;</a:t>
            </a:r>
          </a:p>
          <a:p>
            <a:r>
              <a:rPr lang="en-US" altLang="zh-CN" dirty="0"/>
              <a:t>		</a:t>
            </a:r>
            <a:r>
              <a:rPr lang="en-US" altLang="zh-CN" dirty="0" err="1"/>
              <a:t>cout</a:t>
            </a:r>
            <a:r>
              <a:rPr lang="en-US" altLang="zh-CN" dirty="0"/>
              <a:t>&lt;&lt;</a:t>
            </a:r>
            <a:r>
              <a:rPr lang="en-US" altLang="zh-CN" dirty="0" err="1"/>
              <a:t>fh.Insert</a:t>
            </a:r>
            <a:r>
              <a:rPr lang="en-US" altLang="zh-CN" dirty="0"/>
              <a:t>(</a:t>
            </a:r>
            <a:r>
              <a:rPr lang="en-US" altLang="zh-CN" dirty="0" err="1"/>
              <a:t>tt</a:t>
            </a:r>
            <a:r>
              <a:rPr lang="en-US" altLang="zh-CN" dirty="0"/>
              <a:t>);</a:t>
            </a:r>
          </a:p>
          <a:p>
            <a:r>
              <a:rPr lang="en-US" altLang="zh-CN" dirty="0"/>
              <a:t>	}</a:t>
            </a:r>
          </a:p>
          <a:p>
            <a:r>
              <a:rPr lang="en-US" altLang="zh-CN" dirty="0"/>
              <a:t>	</a:t>
            </a:r>
            <a:r>
              <a:rPr lang="en-US" altLang="zh-CN" dirty="0" err="1"/>
              <a:t>fh.print</a:t>
            </a:r>
            <a:r>
              <a:rPr lang="en-US" altLang="zh-CN" dirty="0"/>
              <a:t>();	//</a:t>
            </a:r>
            <a:r>
              <a:rPr lang="zh-CN" altLang="en-US" dirty="0"/>
              <a:t>输出整个哈希表</a:t>
            </a:r>
          </a:p>
          <a:p>
            <a:endParaRPr lang="zh-CN" altLang="en-US" dirty="0"/>
          </a:p>
          <a:p>
            <a:r>
              <a:rPr lang="zh-CN" altLang="en-US" dirty="0"/>
              <a:t>	</a:t>
            </a:r>
            <a:r>
              <a:rPr lang="en-US" altLang="zh-CN" dirty="0"/>
              <a:t>//</a:t>
            </a:r>
            <a:r>
              <a:rPr lang="zh-CN" altLang="en-US" dirty="0"/>
              <a:t>测试插入元素失败	 </a:t>
            </a:r>
          </a:p>
          <a:p>
            <a:r>
              <a:rPr lang="zh-CN" altLang="en-US" dirty="0"/>
              <a:t>	</a:t>
            </a:r>
            <a:r>
              <a:rPr lang="en-US" altLang="zh-CN" dirty="0"/>
              <a:t>Element&lt;</a:t>
            </a:r>
            <a:r>
              <a:rPr lang="en-US" altLang="zh-CN" dirty="0" err="1"/>
              <a:t>int,int</a:t>
            </a:r>
            <a:r>
              <a:rPr lang="en-US" altLang="zh-CN" dirty="0"/>
              <a:t>&gt; </a:t>
            </a:r>
            <a:r>
              <a:rPr lang="en-US" altLang="zh-CN" dirty="0" err="1"/>
              <a:t>ttt</a:t>
            </a:r>
            <a:r>
              <a:rPr lang="en-US" altLang="zh-CN" dirty="0"/>
              <a:t>;</a:t>
            </a:r>
          </a:p>
          <a:p>
            <a:r>
              <a:rPr lang="en-US" altLang="zh-CN" dirty="0"/>
              <a:t>	</a:t>
            </a:r>
            <a:r>
              <a:rPr lang="en-US" altLang="zh-CN" dirty="0" err="1"/>
              <a:t>ttt.key</a:t>
            </a:r>
            <a:r>
              <a:rPr lang="en-US" altLang="zh-CN" dirty="0"/>
              <a:t>=46;</a:t>
            </a:r>
          </a:p>
          <a:p>
            <a:r>
              <a:rPr lang="en-US" altLang="zh-CN" dirty="0"/>
              <a:t>	</a:t>
            </a:r>
            <a:r>
              <a:rPr lang="en-US" altLang="zh-CN" dirty="0" err="1"/>
              <a:t>ttt.otherdata</a:t>
            </a:r>
            <a:r>
              <a:rPr lang="en-US" altLang="zh-CN" dirty="0"/>
              <a:t>=-1;</a:t>
            </a:r>
          </a:p>
          <a:p>
            <a:r>
              <a:rPr lang="en-US" altLang="zh-CN" dirty="0"/>
              <a:t>	</a:t>
            </a:r>
            <a:r>
              <a:rPr lang="en-US" altLang="zh-CN" dirty="0" err="1"/>
              <a:t>cout</a:t>
            </a:r>
            <a:r>
              <a:rPr lang="en-US" altLang="zh-CN" dirty="0"/>
              <a:t>&lt;&lt;</a:t>
            </a:r>
            <a:r>
              <a:rPr lang="en-US" altLang="zh-CN" dirty="0" err="1"/>
              <a:t>fh.Insert</a:t>
            </a:r>
            <a:r>
              <a:rPr lang="en-US" altLang="zh-CN" dirty="0"/>
              <a:t>(</a:t>
            </a:r>
            <a:r>
              <a:rPr lang="en-US" altLang="zh-CN" dirty="0" err="1"/>
              <a:t>ttt</a:t>
            </a:r>
            <a:r>
              <a:rPr lang="en-US" altLang="zh-CN" dirty="0"/>
              <a:t>);</a:t>
            </a:r>
          </a:p>
          <a:p>
            <a:r>
              <a:rPr lang="en-US" altLang="zh-CN" dirty="0"/>
              <a:t>	</a:t>
            </a:r>
          </a:p>
          <a:p>
            <a:r>
              <a:rPr lang="en-US" altLang="zh-CN" dirty="0"/>
              <a:t>	//</a:t>
            </a:r>
            <a:r>
              <a:rPr lang="zh-CN" altLang="en-US" dirty="0"/>
              <a:t>测试查找元素</a:t>
            </a:r>
            <a:r>
              <a:rPr lang="en-US" altLang="zh-CN" dirty="0"/>
              <a:t>x</a:t>
            </a:r>
          </a:p>
          <a:p>
            <a:r>
              <a:rPr lang="en-US" altLang="zh-CN" dirty="0"/>
              <a:t>	int </a:t>
            </a:r>
            <a:r>
              <a:rPr lang="en-US" altLang="zh-CN" dirty="0" err="1"/>
              <a:t>kd</a:t>
            </a:r>
            <a:r>
              <a:rPr lang="en-US" altLang="zh-CN" dirty="0"/>
              <a:t>=</a:t>
            </a:r>
            <a:r>
              <a:rPr lang="en-US" altLang="zh-CN" dirty="0" err="1"/>
              <a:t>fh.Search</a:t>
            </a:r>
            <a:r>
              <a:rPr lang="en-US" altLang="zh-CN" dirty="0"/>
              <a:t>(48);</a:t>
            </a:r>
          </a:p>
          <a:p>
            <a:r>
              <a:rPr lang="en-US" altLang="zh-CN" dirty="0"/>
              <a:t>	if (</a:t>
            </a:r>
            <a:r>
              <a:rPr lang="en-US" altLang="zh-CN" dirty="0" err="1"/>
              <a:t>kd</a:t>
            </a:r>
            <a:r>
              <a:rPr lang="en-US" altLang="zh-CN" dirty="0"/>
              <a:t>!=-1)</a:t>
            </a:r>
          </a:p>
          <a:p>
            <a:r>
              <a:rPr lang="en-US" altLang="zh-CN" dirty="0"/>
              <a:t>		</a:t>
            </a:r>
            <a:r>
              <a:rPr lang="en-US" altLang="zh-CN" dirty="0" err="1"/>
              <a:t>cout</a:t>
            </a:r>
            <a:r>
              <a:rPr lang="en-US" altLang="zh-CN" dirty="0"/>
              <a:t>&lt;&lt;48&lt;&lt;"</a:t>
            </a:r>
            <a:r>
              <a:rPr lang="zh-CN" altLang="en-US" dirty="0"/>
              <a:t>查找成功</a:t>
            </a:r>
            <a:r>
              <a:rPr lang="en-US" altLang="zh-CN" dirty="0"/>
              <a:t>"&lt;&lt;</a:t>
            </a:r>
            <a:r>
              <a:rPr lang="en-US" altLang="zh-CN" dirty="0" err="1"/>
              <a:t>endl</a:t>
            </a:r>
            <a:r>
              <a:rPr lang="en-US" altLang="zh-CN" dirty="0"/>
              <a:t>;</a:t>
            </a:r>
          </a:p>
          <a:p>
            <a:r>
              <a:rPr lang="en-US" altLang="zh-CN" dirty="0"/>
              <a:t>	else</a:t>
            </a:r>
          </a:p>
          <a:p>
            <a:r>
              <a:rPr lang="en-US" altLang="zh-CN" dirty="0"/>
              <a:t>		</a:t>
            </a:r>
            <a:r>
              <a:rPr lang="en-US" altLang="zh-CN" dirty="0" err="1"/>
              <a:t>cout</a:t>
            </a:r>
            <a:r>
              <a:rPr lang="en-US" altLang="zh-CN" dirty="0"/>
              <a:t>&lt;&lt;48&lt;&lt;"</a:t>
            </a:r>
            <a:r>
              <a:rPr lang="zh-CN" altLang="en-US" dirty="0"/>
              <a:t>查找不成功</a:t>
            </a:r>
            <a:r>
              <a:rPr lang="en-US" altLang="zh-CN" dirty="0"/>
              <a:t>"&lt;&lt;</a:t>
            </a:r>
            <a:r>
              <a:rPr lang="en-US" altLang="zh-CN" dirty="0" err="1"/>
              <a:t>endl</a:t>
            </a:r>
            <a:r>
              <a:rPr lang="en-US" altLang="zh-CN" dirty="0"/>
              <a:t>;</a:t>
            </a:r>
          </a:p>
          <a:p>
            <a:r>
              <a:rPr lang="en-US" altLang="zh-CN" dirty="0"/>
              <a:t>	</a:t>
            </a:r>
          </a:p>
          <a:p>
            <a:r>
              <a:rPr lang="en-US" altLang="zh-CN" dirty="0"/>
              <a:t>	//</a:t>
            </a:r>
            <a:r>
              <a:rPr lang="zh-CN" altLang="en-US" dirty="0"/>
              <a:t>测试删除元素</a:t>
            </a:r>
            <a:r>
              <a:rPr lang="en-US" altLang="zh-CN" dirty="0"/>
              <a:t>x</a:t>
            </a:r>
          </a:p>
          <a:p>
            <a:r>
              <a:rPr lang="en-US" altLang="zh-CN" dirty="0"/>
              <a:t>	</a:t>
            </a:r>
            <a:r>
              <a:rPr lang="en-US" altLang="zh-CN" dirty="0" err="1"/>
              <a:t>cout</a:t>
            </a:r>
            <a:r>
              <a:rPr lang="en-US" altLang="zh-CN" dirty="0"/>
              <a:t>&lt;&lt;</a:t>
            </a:r>
            <a:r>
              <a:rPr lang="en-US" altLang="zh-CN" dirty="0" err="1"/>
              <a:t>fh.Delete</a:t>
            </a:r>
            <a:r>
              <a:rPr lang="en-US" altLang="zh-CN" dirty="0"/>
              <a:t>(48)&lt;&lt;</a:t>
            </a:r>
            <a:r>
              <a:rPr lang="en-US" altLang="zh-CN" dirty="0" err="1"/>
              <a:t>endl</a:t>
            </a:r>
            <a:r>
              <a:rPr lang="en-US" altLang="zh-CN" dirty="0"/>
              <a:t>;</a:t>
            </a:r>
          </a:p>
          <a:p>
            <a:r>
              <a:rPr lang="en-US" altLang="zh-CN" dirty="0"/>
              <a:t>	</a:t>
            </a:r>
            <a:r>
              <a:rPr lang="en-US" altLang="zh-CN" dirty="0" err="1"/>
              <a:t>cout</a:t>
            </a:r>
            <a:r>
              <a:rPr lang="en-US" altLang="zh-CN" dirty="0"/>
              <a:t>&lt;&lt;</a:t>
            </a:r>
            <a:r>
              <a:rPr lang="en-US" altLang="zh-CN" dirty="0" err="1"/>
              <a:t>fh.Delete</a:t>
            </a:r>
            <a:r>
              <a:rPr lang="en-US" altLang="zh-CN" dirty="0"/>
              <a:t>(key1[2])&lt;&lt;</a:t>
            </a:r>
            <a:r>
              <a:rPr lang="en-US" altLang="zh-CN" dirty="0" err="1"/>
              <a:t>endl</a:t>
            </a:r>
            <a:r>
              <a:rPr lang="en-US" altLang="zh-CN" dirty="0"/>
              <a:t>;</a:t>
            </a:r>
          </a:p>
          <a:p>
            <a:r>
              <a:rPr lang="en-US" altLang="zh-CN" dirty="0"/>
              <a:t>	</a:t>
            </a:r>
            <a:r>
              <a:rPr lang="en-US" altLang="zh-CN" dirty="0" err="1"/>
              <a:t>fh.print</a:t>
            </a:r>
            <a:r>
              <a:rPr lang="en-US" altLang="zh-CN" dirty="0"/>
              <a:t>();</a:t>
            </a:r>
          </a:p>
          <a:p>
            <a:r>
              <a:rPr lang="en-US" altLang="zh-CN" dirty="0"/>
              <a:t>	</a:t>
            </a:r>
            <a:r>
              <a:rPr lang="en-US" altLang="zh-CN" dirty="0" err="1"/>
              <a:t>cout</a:t>
            </a:r>
            <a:r>
              <a:rPr lang="en-US" altLang="zh-CN" dirty="0"/>
              <a:t>&lt;&lt;</a:t>
            </a:r>
            <a:r>
              <a:rPr lang="en-US" altLang="zh-CN" dirty="0" err="1"/>
              <a:t>fh.Insert</a:t>
            </a:r>
            <a:r>
              <a:rPr lang="en-US" altLang="zh-CN" dirty="0"/>
              <a:t>(</a:t>
            </a:r>
            <a:r>
              <a:rPr lang="en-US" altLang="zh-CN" dirty="0" err="1"/>
              <a:t>ttt</a:t>
            </a:r>
            <a:r>
              <a:rPr lang="en-US" altLang="zh-CN" dirty="0"/>
              <a:t>)&lt;&lt;</a:t>
            </a:r>
            <a:r>
              <a:rPr lang="en-US" altLang="zh-CN" dirty="0" err="1"/>
              <a:t>endl</a:t>
            </a:r>
            <a:r>
              <a:rPr lang="en-US" altLang="zh-CN" dirty="0"/>
              <a:t>;</a:t>
            </a:r>
          </a:p>
          <a:p>
            <a:r>
              <a:rPr lang="en-US" altLang="zh-CN" dirty="0"/>
              <a:t>	</a:t>
            </a:r>
            <a:r>
              <a:rPr lang="en-US" altLang="zh-CN" dirty="0" err="1"/>
              <a:t>fh.print</a:t>
            </a:r>
            <a:r>
              <a:rPr lang="en-US" altLang="zh-CN" dirty="0"/>
              <a:t>(); </a:t>
            </a:r>
          </a:p>
          <a:p>
            <a:r>
              <a:rPr lang="en-US" altLang="zh-CN" dirty="0"/>
              <a:t>	</a:t>
            </a:r>
          </a:p>
          <a:p>
            <a:r>
              <a:rPr lang="en-US" altLang="zh-CN" dirty="0"/>
              <a:t>	return 0;</a:t>
            </a:r>
          </a:p>
          <a:p>
            <a:r>
              <a:rPr lang="en-US" altLang="zh-CN" dirty="0"/>
              <a:t>}</a:t>
            </a:r>
            <a:endParaRPr lang="zh-CN" altLang="en-US" dirty="0"/>
          </a:p>
        </p:txBody>
      </p:sp>
      <p:sp>
        <p:nvSpPr>
          <p:cNvPr id="4" name="灯片编号占位符 3"/>
          <p:cNvSpPr>
            <a:spLocks noGrp="1"/>
          </p:cNvSpPr>
          <p:nvPr>
            <p:ph type="sldNum" sz="quarter" idx="5"/>
          </p:nvPr>
        </p:nvSpPr>
        <p:spPr/>
        <p:txBody>
          <a:bodyPr/>
          <a:lstStyle/>
          <a:p>
            <a:fld id="{358D460B-FCBF-4F68-A559-8E415D1DDEDB}" type="slidenum">
              <a:rPr lang="zh-CN" altLang="en-US" smtClean="0"/>
              <a:pPr/>
              <a:t>53</a:t>
            </a:fld>
            <a:endParaRPr lang="zh-CN" altLang="en-US"/>
          </a:p>
        </p:txBody>
      </p:sp>
    </p:spTree>
    <p:extLst>
      <p:ext uri="{BB962C8B-B14F-4D97-AF65-F5344CB8AC3E}">
        <p14:creationId xmlns:p14="http://schemas.microsoft.com/office/powerpoint/2010/main" val="41854647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t>
            </a:r>
            <a:r>
              <a:rPr lang="zh-CN" altLang="en-US" dirty="0"/>
              <a:t>双向线性探测再散列</a:t>
            </a:r>
            <a:r>
              <a:rPr lang="en-US" altLang="zh-CN" dirty="0"/>
              <a:t>1,-1,2,-2,......</a:t>
            </a:r>
            <a:r>
              <a:rPr lang="zh-CN" altLang="en-US" dirty="0"/>
              <a:t>，建立哈希表</a:t>
            </a:r>
          </a:p>
          <a:p>
            <a:r>
              <a:rPr lang="en-US" altLang="zh-CN" dirty="0"/>
              <a:t>template &lt;class </a:t>
            </a:r>
            <a:r>
              <a:rPr lang="en-US" altLang="zh-CN" dirty="0" err="1"/>
              <a:t>keytype,class</a:t>
            </a:r>
            <a:r>
              <a:rPr lang="en-US" altLang="zh-CN" dirty="0"/>
              <a:t> </a:t>
            </a:r>
            <a:r>
              <a:rPr lang="en-US" altLang="zh-CN" dirty="0" err="1"/>
              <a:t>Itemtype</a:t>
            </a:r>
            <a:r>
              <a:rPr lang="en-US" altLang="zh-CN" dirty="0"/>
              <a:t>&gt;</a:t>
            </a:r>
          </a:p>
          <a:p>
            <a:r>
              <a:rPr lang="en-US" altLang="zh-CN" dirty="0"/>
              <a:t>bool </a:t>
            </a:r>
            <a:r>
              <a:rPr lang="en-US" altLang="zh-CN" dirty="0" err="1"/>
              <a:t>recordList</a:t>
            </a:r>
            <a:r>
              <a:rPr lang="en-US" altLang="zh-CN" dirty="0"/>
              <a:t>&lt;</a:t>
            </a:r>
            <a:r>
              <a:rPr lang="en-US" altLang="zh-CN" dirty="0" err="1"/>
              <a:t>keytype,Itemtype</a:t>
            </a:r>
            <a:r>
              <a:rPr lang="en-US" altLang="zh-CN" dirty="0"/>
              <a:t>&gt;::set_hash3(</a:t>
            </a:r>
            <a:r>
              <a:rPr lang="en-US" altLang="zh-CN" dirty="0" err="1"/>
              <a:t>keytype</a:t>
            </a:r>
            <a:r>
              <a:rPr lang="en-US" altLang="zh-CN" dirty="0"/>
              <a:t> *</a:t>
            </a:r>
            <a:r>
              <a:rPr lang="en-US" altLang="zh-CN" dirty="0" err="1"/>
              <a:t>pa,int</a:t>
            </a:r>
            <a:r>
              <a:rPr lang="en-US" altLang="zh-CN" dirty="0"/>
              <a:t> n)</a:t>
            </a:r>
          </a:p>
          <a:p>
            <a:r>
              <a:rPr lang="en-US" altLang="zh-CN" dirty="0"/>
              <a:t>//n</a:t>
            </a:r>
            <a:r>
              <a:rPr lang="zh-CN" altLang="en-US" dirty="0"/>
              <a:t>个数据元素存放在一维数组中，</a:t>
            </a:r>
            <a:r>
              <a:rPr lang="en-US" altLang="zh-CN" dirty="0"/>
              <a:t>pa</a:t>
            </a:r>
            <a:r>
              <a:rPr lang="zh-CN" altLang="en-US" dirty="0"/>
              <a:t>指向数组的首地址</a:t>
            </a:r>
          </a:p>
          <a:p>
            <a:r>
              <a:rPr lang="en-US" altLang="zh-CN" dirty="0"/>
              <a:t>{	</a:t>
            </a:r>
          </a:p>
          <a:p>
            <a:r>
              <a:rPr lang="en-US" altLang="zh-CN" dirty="0"/>
              <a:t>	int </a:t>
            </a:r>
            <a:r>
              <a:rPr lang="en-US" altLang="zh-CN" dirty="0" err="1"/>
              <a:t>addr,new_addr,di,j,temp</a:t>
            </a:r>
            <a:r>
              <a:rPr lang="en-US" altLang="zh-CN" dirty="0"/>
              <a:t>;</a:t>
            </a:r>
          </a:p>
          <a:p>
            <a:r>
              <a:rPr lang="en-US" altLang="zh-CN" dirty="0"/>
              <a:t>	bool flag;</a:t>
            </a:r>
          </a:p>
          <a:p>
            <a:endParaRPr lang="en-US" altLang="zh-CN" dirty="0"/>
          </a:p>
          <a:p>
            <a:r>
              <a:rPr lang="en-US" altLang="zh-CN" dirty="0"/>
              <a:t>	for(int </a:t>
            </a:r>
            <a:r>
              <a:rPr lang="en-US" altLang="zh-CN" dirty="0" err="1"/>
              <a:t>i</a:t>
            </a:r>
            <a:r>
              <a:rPr lang="en-US" altLang="zh-CN" dirty="0"/>
              <a:t>=0;i&lt;</a:t>
            </a:r>
            <a:r>
              <a:rPr lang="en-US" altLang="zh-CN" dirty="0" err="1"/>
              <a:t>MaxSize;i</a:t>
            </a:r>
            <a:r>
              <a:rPr lang="en-US" altLang="zh-CN" dirty="0"/>
              <a:t>++)    		//</a:t>
            </a:r>
            <a:r>
              <a:rPr lang="zh-CN" altLang="en-US" dirty="0"/>
              <a:t>先将哈希表中元素置</a:t>
            </a:r>
            <a:r>
              <a:rPr lang="en-US" altLang="zh-CN" dirty="0"/>
              <a:t>-1</a:t>
            </a:r>
            <a:r>
              <a:rPr lang="zh-CN" altLang="en-US" dirty="0"/>
              <a:t>和索引下标 </a:t>
            </a:r>
          </a:p>
          <a:p>
            <a:r>
              <a:rPr lang="zh-CN" altLang="en-US" dirty="0"/>
              <a:t>	</a:t>
            </a:r>
            <a:r>
              <a:rPr lang="en-US" altLang="zh-CN" dirty="0"/>
              <a:t>{</a:t>
            </a:r>
          </a:p>
          <a:p>
            <a:r>
              <a:rPr lang="en-US" altLang="zh-CN" dirty="0"/>
              <a:t>		R[</a:t>
            </a:r>
            <a:r>
              <a:rPr lang="en-US" altLang="zh-CN" dirty="0" err="1"/>
              <a:t>i</a:t>
            </a:r>
            <a:r>
              <a:rPr lang="en-US" altLang="zh-CN" dirty="0"/>
              <a:t>].key=-1;</a:t>
            </a:r>
          </a:p>
          <a:p>
            <a:r>
              <a:rPr lang="en-US" altLang="zh-CN" dirty="0"/>
              <a:t>		R[</a:t>
            </a:r>
            <a:r>
              <a:rPr lang="en-US" altLang="zh-CN" dirty="0" err="1"/>
              <a:t>i</a:t>
            </a:r>
            <a:r>
              <a:rPr lang="en-US" altLang="zh-CN" dirty="0"/>
              <a:t>].</a:t>
            </a:r>
            <a:r>
              <a:rPr lang="en-US" altLang="zh-CN" dirty="0" err="1"/>
              <a:t>otherinfo</a:t>
            </a:r>
            <a:r>
              <a:rPr lang="en-US" altLang="zh-CN" dirty="0"/>
              <a:t>=</a:t>
            </a:r>
            <a:r>
              <a:rPr lang="en-US" altLang="zh-CN" dirty="0" err="1"/>
              <a:t>i</a:t>
            </a:r>
            <a:r>
              <a:rPr lang="en-US" altLang="zh-CN" dirty="0"/>
              <a:t>;</a:t>
            </a:r>
          </a:p>
          <a:p>
            <a:r>
              <a:rPr lang="en-US" altLang="zh-CN" dirty="0"/>
              <a:t>	}	</a:t>
            </a:r>
          </a:p>
          <a:p>
            <a:r>
              <a:rPr lang="en-US" altLang="zh-CN" dirty="0"/>
              <a:t>	for(int </a:t>
            </a:r>
            <a:r>
              <a:rPr lang="en-US" altLang="zh-CN" dirty="0" err="1"/>
              <a:t>i</a:t>
            </a:r>
            <a:r>
              <a:rPr lang="en-US" altLang="zh-CN" dirty="0"/>
              <a:t>=0;i&lt;</a:t>
            </a:r>
            <a:r>
              <a:rPr lang="en-US" altLang="zh-CN" dirty="0" err="1"/>
              <a:t>n;i</a:t>
            </a:r>
            <a:r>
              <a:rPr lang="en-US" altLang="zh-CN" dirty="0"/>
              <a:t>++)</a:t>
            </a:r>
          </a:p>
          <a:p>
            <a:r>
              <a:rPr lang="en-US" altLang="zh-CN" dirty="0"/>
              <a:t>	{</a:t>
            </a:r>
          </a:p>
          <a:p>
            <a:r>
              <a:rPr lang="en-US" altLang="zh-CN" dirty="0"/>
              <a:t>		</a:t>
            </a:r>
            <a:r>
              <a:rPr lang="en-US" altLang="zh-CN" dirty="0" err="1"/>
              <a:t>addr</a:t>
            </a:r>
            <a:r>
              <a:rPr lang="en-US" altLang="zh-CN" dirty="0"/>
              <a:t> = pa[</a:t>
            </a:r>
            <a:r>
              <a:rPr lang="en-US" altLang="zh-CN" dirty="0" err="1"/>
              <a:t>i</a:t>
            </a:r>
            <a:r>
              <a:rPr lang="en-US" altLang="zh-CN" dirty="0"/>
              <a:t>] % </a:t>
            </a:r>
            <a:r>
              <a:rPr lang="en-US" altLang="zh-CN" dirty="0" err="1"/>
              <a:t>MaxSize</a:t>
            </a:r>
            <a:r>
              <a:rPr lang="en-US" altLang="zh-CN" dirty="0"/>
              <a:t>;      //</a:t>
            </a:r>
            <a:r>
              <a:rPr lang="zh-CN" altLang="en-US" dirty="0"/>
              <a:t>计算哈希地址</a:t>
            </a:r>
          </a:p>
          <a:p>
            <a:r>
              <a:rPr lang="zh-CN" altLang="en-US" dirty="0"/>
              <a:t>		</a:t>
            </a:r>
            <a:r>
              <a:rPr lang="en-US" altLang="zh-CN" dirty="0" err="1"/>
              <a:t>new_addr</a:t>
            </a:r>
            <a:r>
              <a:rPr lang="en-US" altLang="zh-CN" dirty="0"/>
              <a:t> = </a:t>
            </a:r>
            <a:r>
              <a:rPr lang="en-US" altLang="zh-CN" dirty="0" err="1"/>
              <a:t>addr</a:t>
            </a:r>
            <a:r>
              <a:rPr lang="en-US" altLang="zh-CN" dirty="0"/>
              <a:t>;                 //</a:t>
            </a:r>
            <a:r>
              <a:rPr lang="zh-CN" altLang="en-US" dirty="0"/>
              <a:t>又假设为新地址</a:t>
            </a:r>
          </a:p>
          <a:p>
            <a:r>
              <a:rPr lang="zh-CN" altLang="en-US" dirty="0"/>
              <a:t>		</a:t>
            </a:r>
            <a:r>
              <a:rPr lang="en-US" altLang="zh-CN" dirty="0"/>
              <a:t>flag=true;                       //flag</a:t>
            </a:r>
            <a:r>
              <a:rPr lang="zh-CN" altLang="en-US" dirty="0"/>
              <a:t>为标志位</a:t>
            </a:r>
          </a:p>
          <a:p>
            <a:r>
              <a:rPr lang="zh-CN" altLang="en-US" dirty="0"/>
              <a:t>		</a:t>
            </a:r>
            <a:r>
              <a:rPr lang="en-US" altLang="zh-CN" dirty="0"/>
              <a:t>j = 1;</a:t>
            </a:r>
          </a:p>
          <a:p>
            <a:r>
              <a:rPr lang="en-US" altLang="zh-CN" dirty="0"/>
              <a:t>		temp=</a:t>
            </a:r>
            <a:r>
              <a:rPr lang="en-US" altLang="zh-CN" dirty="0" err="1"/>
              <a:t>new_addr</a:t>
            </a:r>
            <a:r>
              <a:rPr lang="en-US" altLang="zh-CN" dirty="0"/>
              <a:t>;</a:t>
            </a:r>
          </a:p>
          <a:p>
            <a:r>
              <a:rPr lang="en-US" altLang="zh-CN" dirty="0"/>
              <a:t>		while(R[</a:t>
            </a:r>
            <a:r>
              <a:rPr lang="en-US" altLang="zh-CN" dirty="0" err="1"/>
              <a:t>new_addr</a:t>
            </a:r>
            <a:r>
              <a:rPr lang="en-US" altLang="zh-CN" dirty="0"/>
              <a:t>].key!=-1)       //</a:t>
            </a:r>
            <a:r>
              <a:rPr lang="zh-CN" altLang="en-US" dirty="0"/>
              <a:t>循环搜索表中空闲单元</a:t>
            </a:r>
          </a:p>
          <a:p>
            <a:r>
              <a:rPr lang="zh-CN" altLang="en-US" dirty="0"/>
              <a:t>        </a:t>
            </a:r>
            <a:r>
              <a:rPr lang="en-US" altLang="zh-CN" dirty="0"/>
              <a:t>{</a:t>
            </a:r>
          </a:p>
          <a:p>
            <a:r>
              <a:rPr lang="en-US" altLang="zh-CN" dirty="0"/>
              <a:t>			if (flag)</a:t>
            </a:r>
          </a:p>
          <a:p>
            <a:r>
              <a:rPr lang="en-US" altLang="zh-CN" dirty="0"/>
              <a:t>				di=j;</a:t>
            </a:r>
          </a:p>
          <a:p>
            <a:r>
              <a:rPr lang="en-US" altLang="zh-CN" dirty="0"/>
              <a:t>			else</a:t>
            </a:r>
          </a:p>
          <a:p>
            <a:r>
              <a:rPr lang="en-US" altLang="zh-CN" dirty="0"/>
              <a:t>			{</a:t>
            </a:r>
          </a:p>
          <a:p>
            <a:r>
              <a:rPr lang="en-US" altLang="zh-CN" dirty="0"/>
              <a:t>				di=</a:t>
            </a:r>
            <a:r>
              <a:rPr lang="en-US" altLang="zh-CN" dirty="0" err="1"/>
              <a:t>MaxSize</a:t>
            </a:r>
            <a:r>
              <a:rPr lang="en-US" altLang="zh-CN" dirty="0"/>
              <a:t>-(</a:t>
            </a:r>
            <a:r>
              <a:rPr lang="en-US" altLang="zh-CN" dirty="0" err="1"/>
              <a:t>j%MaxSize</a:t>
            </a:r>
            <a:r>
              <a:rPr lang="en-US" altLang="zh-CN" dirty="0"/>
              <a:t>);</a:t>
            </a:r>
          </a:p>
          <a:p>
            <a:r>
              <a:rPr lang="en-US" altLang="zh-CN" dirty="0"/>
              <a:t>				</a:t>
            </a:r>
            <a:r>
              <a:rPr lang="en-US" altLang="zh-CN" dirty="0" err="1"/>
              <a:t>j++</a:t>
            </a:r>
            <a:r>
              <a:rPr lang="en-US" altLang="zh-CN" dirty="0"/>
              <a:t>;</a:t>
            </a:r>
          </a:p>
          <a:p>
            <a:r>
              <a:rPr lang="en-US" altLang="zh-CN" dirty="0"/>
              <a:t>			}</a:t>
            </a:r>
          </a:p>
          <a:p>
            <a:r>
              <a:rPr lang="en-US" altLang="zh-CN" dirty="0"/>
              <a:t>			</a:t>
            </a:r>
            <a:r>
              <a:rPr lang="en-US" altLang="zh-CN" dirty="0" err="1"/>
              <a:t>new_addr</a:t>
            </a:r>
            <a:r>
              <a:rPr lang="en-US" altLang="zh-CN" dirty="0"/>
              <a:t> = (</a:t>
            </a:r>
            <a:r>
              <a:rPr lang="en-US" altLang="zh-CN" dirty="0" err="1"/>
              <a:t>addr+di</a:t>
            </a:r>
            <a:r>
              <a:rPr lang="en-US" altLang="zh-CN" dirty="0"/>
              <a:t>) % </a:t>
            </a:r>
            <a:r>
              <a:rPr lang="en-US" altLang="zh-CN" dirty="0" err="1"/>
              <a:t>MaxSize</a:t>
            </a:r>
            <a:r>
              <a:rPr lang="en-US" altLang="zh-CN" dirty="0"/>
              <a:t>;  //</a:t>
            </a:r>
            <a:r>
              <a:rPr lang="zh-CN" altLang="en-US" dirty="0"/>
              <a:t>地址冲突，计算新地址</a:t>
            </a:r>
          </a:p>
          <a:p>
            <a:r>
              <a:rPr lang="zh-CN" altLang="en-US" dirty="0"/>
              <a:t>			</a:t>
            </a:r>
            <a:r>
              <a:rPr lang="en-US" altLang="zh-CN" dirty="0"/>
              <a:t>if (</a:t>
            </a:r>
            <a:r>
              <a:rPr lang="en-US" altLang="zh-CN" dirty="0" err="1"/>
              <a:t>new_addr</a:t>
            </a:r>
            <a:r>
              <a:rPr lang="en-US" altLang="zh-CN" dirty="0"/>
              <a:t> == temp) return false;  	//</a:t>
            </a:r>
            <a:r>
              <a:rPr lang="zh-CN" altLang="en-US" dirty="0"/>
              <a:t>查找完所有位置后表示无法插入</a:t>
            </a:r>
          </a:p>
          <a:p>
            <a:r>
              <a:rPr lang="zh-CN" altLang="en-US" dirty="0"/>
              <a:t>			</a:t>
            </a:r>
            <a:r>
              <a:rPr lang="en-US" altLang="zh-CN" dirty="0"/>
              <a:t>flag=!flag;</a:t>
            </a:r>
          </a:p>
          <a:p>
            <a:r>
              <a:rPr lang="en-US" altLang="zh-CN" dirty="0"/>
              <a:t>		}</a:t>
            </a:r>
          </a:p>
          <a:p>
            <a:r>
              <a:rPr lang="en-US" altLang="zh-CN" dirty="0"/>
              <a:t>		R[</a:t>
            </a:r>
            <a:r>
              <a:rPr lang="en-US" altLang="zh-CN" dirty="0" err="1"/>
              <a:t>new_addr</a:t>
            </a:r>
            <a:r>
              <a:rPr lang="en-US" altLang="zh-CN" dirty="0"/>
              <a:t>].</a:t>
            </a:r>
            <a:r>
              <a:rPr lang="en-US" altLang="zh-CN" dirty="0" err="1"/>
              <a:t>otherinfo</a:t>
            </a:r>
            <a:r>
              <a:rPr lang="en-US" altLang="zh-CN" dirty="0"/>
              <a:t> = </a:t>
            </a:r>
            <a:r>
              <a:rPr lang="en-US" altLang="zh-CN" dirty="0" err="1"/>
              <a:t>new_addr</a:t>
            </a:r>
            <a:r>
              <a:rPr lang="en-US" altLang="zh-CN" dirty="0"/>
              <a:t>;</a:t>
            </a:r>
          </a:p>
          <a:p>
            <a:r>
              <a:rPr lang="en-US" altLang="zh-CN" dirty="0"/>
              <a:t>		R[</a:t>
            </a:r>
            <a:r>
              <a:rPr lang="en-US" altLang="zh-CN" dirty="0" err="1"/>
              <a:t>new_addr</a:t>
            </a:r>
            <a:r>
              <a:rPr lang="en-US" altLang="zh-CN" dirty="0"/>
              <a:t>].key = pa[</a:t>
            </a:r>
            <a:r>
              <a:rPr lang="en-US" altLang="zh-CN" dirty="0" err="1"/>
              <a:t>i</a:t>
            </a:r>
            <a:r>
              <a:rPr lang="en-US" altLang="zh-CN" dirty="0"/>
              <a:t>];</a:t>
            </a:r>
          </a:p>
          <a:p>
            <a:r>
              <a:rPr lang="en-US" altLang="zh-CN" dirty="0"/>
              <a:t>		</a:t>
            </a:r>
            <a:r>
              <a:rPr lang="en-US" altLang="zh-CN" dirty="0" err="1"/>
              <a:t>CurrentSize</a:t>
            </a:r>
            <a:r>
              <a:rPr lang="en-US" altLang="zh-CN" dirty="0"/>
              <a:t>++;</a:t>
            </a:r>
          </a:p>
          <a:p>
            <a:r>
              <a:rPr lang="en-US" altLang="zh-CN" dirty="0"/>
              <a:t>	}</a:t>
            </a:r>
          </a:p>
          <a:p>
            <a:r>
              <a:rPr lang="en-US" altLang="zh-CN" dirty="0"/>
              <a:t>	return true;</a:t>
            </a:r>
          </a:p>
          <a:p>
            <a:r>
              <a:rPr lang="en-US" altLang="zh-CN" dirty="0"/>
              <a:t>}</a:t>
            </a:r>
            <a:endParaRPr lang="zh-CN" altLang="en-US" dirty="0"/>
          </a:p>
        </p:txBody>
      </p:sp>
      <p:sp>
        <p:nvSpPr>
          <p:cNvPr id="4" name="灯片编号占位符 3"/>
          <p:cNvSpPr>
            <a:spLocks noGrp="1"/>
          </p:cNvSpPr>
          <p:nvPr>
            <p:ph type="sldNum" sz="quarter" idx="5"/>
          </p:nvPr>
        </p:nvSpPr>
        <p:spPr/>
        <p:txBody>
          <a:bodyPr/>
          <a:lstStyle/>
          <a:p>
            <a:fld id="{358D460B-FCBF-4F68-A559-8E415D1DDEDB}" type="slidenum">
              <a:rPr lang="zh-CN" altLang="en-US" smtClean="0"/>
              <a:pPr/>
              <a:t>55</a:t>
            </a:fld>
            <a:endParaRPr lang="zh-CN" altLang="en-US"/>
          </a:p>
        </p:txBody>
      </p:sp>
    </p:spTree>
    <p:extLst>
      <p:ext uri="{BB962C8B-B14F-4D97-AF65-F5344CB8AC3E}">
        <p14:creationId xmlns:p14="http://schemas.microsoft.com/office/powerpoint/2010/main" val="37438843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t>
            </a:r>
            <a:r>
              <a:rPr lang="zh-CN" altLang="en-US" dirty="0"/>
              <a:t>哈希查找函数，双向线性探测再散列</a:t>
            </a:r>
          </a:p>
          <a:p>
            <a:r>
              <a:rPr lang="en-US" altLang="zh-CN" dirty="0"/>
              <a:t>template &lt;class </a:t>
            </a:r>
            <a:r>
              <a:rPr lang="en-US" altLang="zh-CN" dirty="0" err="1"/>
              <a:t>keytype,class</a:t>
            </a:r>
            <a:r>
              <a:rPr lang="en-US" altLang="zh-CN" dirty="0"/>
              <a:t> </a:t>
            </a:r>
            <a:r>
              <a:rPr lang="en-US" altLang="zh-CN" dirty="0" err="1"/>
              <a:t>Itemtype</a:t>
            </a:r>
            <a:r>
              <a:rPr lang="en-US" altLang="zh-CN" dirty="0"/>
              <a:t>&gt;</a:t>
            </a:r>
          </a:p>
          <a:p>
            <a:r>
              <a:rPr lang="en-US" altLang="zh-CN" dirty="0"/>
              <a:t>int </a:t>
            </a:r>
            <a:r>
              <a:rPr lang="en-US" altLang="zh-CN" dirty="0" err="1"/>
              <a:t>recordList</a:t>
            </a:r>
            <a:r>
              <a:rPr lang="en-US" altLang="zh-CN" dirty="0"/>
              <a:t>&lt;</a:t>
            </a:r>
            <a:r>
              <a:rPr lang="en-US" altLang="zh-CN" dirty="0" err="1"/>
              <a:t>keytype,Itemtype</a:t>
            </a:r>
            <a:r>
              <a:rPr lang="en-US" altLang="zh-CN" dirty="0"/>
              <a:t>&gt;::hash_find3(</a:t>
            </a:r>
            <a:r>
              <a:rPr lang="en-US" altLang="zh-CN" dirty="0" err="1"/>
              <a:t>keytype</a:t>
            </a:r>
            <a:r>
              <a:rPr lang="en-US" altLang="zh-CN" dirty="0"/>
              <a:t> x)</a:t>
            </a:r>
          </a:p>
          <a:p>
            <a:r>
              <a:rPr lang="en-US" altLang="zh-CN" dirty="0"/>
              <a:t>{	</a:t>
            </a:r>
          </a:p>
          <a:p>
            <a:r>
              <a:rPr lang="en-US" altLang="zh-CN" dirty="0"/>
              <a:t>	int </a:t>
            </a:r>
            <a:r>
              <a:rPr lang="en-US" altLang="zh-CN" dirty="0" err="1"/>
              <a:t>addr,new_addr,di,j,temp</a:t>
            </a:r>
            <a:r>
              <a:rPr lang="en-US" altLang="zh-CN" dirty="0"/>
              <a:t>;</a:t>
            </a:r>
          </a:p>
          <a:p>
            <a:r>
              <a:rPr lang="en-US" altLang="zh-CN" dirty="0"/>
              <a:t>	bool flag;</a:t>
            </a:r>
          </a:p>
          <a:p>
            <a:r>
              <a:rPr lang="en-US" altLang="zh-CN" dirty="0"/>
              <a:t>	</a:t>
            </a:r>
            <a:r>
              <a:rPr lang="en-US" altLang="zh-CN" dirty="0" err="1"/>
              <a:t>addr</a:t>
            </a:r>
            <a:r>
              <a:rPr lang="en-US" altLang="zh-CN" dirty="0"/>
              <a:t>=</a:t>
            </a:r>
            <a:r>
              <a:rPr lang="en-US" altLang="zh-CN" dirty="0" err="1"/>
              <a:t>x%MaxSize</a:t>
            </a:r>
            <a:r>
              <a:rPr lang="en-US" altLang="zh-CN" dirty="0"/>
              <a:t>;               //</a:t>
            </a:r>
            <a:r>
              <a:rPr lang="zh-CN" altLang="en-US" dirty="0"/>
              <a:t>计算哈希地址</a:t>
            </a:r>
          </a:p>
          <a:p>
            <a:r>
              <a:rPr lang="zh-CN" altLang="en-US" dirty="0"/>
              <a:t>	</a:t>
            </a:r>
            <a:r>
              <a:rPr lang="en-US" altLang="zh-CN" dirty="0" err="1"/>
              <a:t>new_addr</a:t>
            </a:r>
            <a:r>
              <a:rPr lang="en-US" altLang="zh-CN" dirty="0"/>
              <a:t>=</a:t>
            </a:r>
            <a:r>
              <a:rPr lang="en-US" altLang="zh-CN" dirty="0" err="1"/>
              <a:t>addr</a:t>
            </a:r>
            <a:r>
              <a:rPr lang="en-US" altLang="zh-CN" dirty="0"/>
              <a:t>;</a:t>
            </a:r>
          </a:p>
          <a:p>
            <a:r>
              <a:rPr lang="en-US" altLang="zh-CN" dirty="0"/>
              <a:t>	flag=true;           </a:t>
            </a:r>
          </a:p>
          <a:p>
            <a:r>
              <a:rPr lang="en-US" altLang="zh-CN" dirty="0"/>
              <a:t>	j=1;</a:t>
            </a:r>
          </a:p>
          <a:p>
            <a:r>
              <a:rPr lang="en-US" altLang="zh-CN" dirty="0"/>
              <a:t>	temp=</a:t>
            </a:r>
            <a:r>
              <a:rPr lang="en-US" altLang="zh-CN" dirty="0" err="1"/>
              <a:t>new_addr</a:t>
            </a:r>
            <a:r>
              <a:rPr lang="en-US" altLang="zh-CN" dirty="0"/>
              <a:t>;                                 //</a:t>
            </a:r>
            <a:r>
              <a:rPr lang="zh-CN" altLang="en-US" dirty="0"/>
              <a:t>分量从</a:t>
            </a:r>
            <a:r>
              <a:rPr lang="en-US" altLang="zh-CN" dirty="0"/>
              <a:t>1</a:t>
            </a:r>
            <a:r>
              <a:rPr lang="zh-CN" altLang="en-US" dirty="0"/>
              <a:t>开始</a:t>
            </a:r>
          </a:p>
          <a:p>
            <a:r>
              <a:rPr lang="zh-CN" altLang="en-US" dirty="0"/>
              <a:t>	</a:t>
            </a:r>
            <a:r>
              <a:rPr lang="en-US" altLang="zh-CN" dirty="0"/>
              <a:t>while ((R[</a:t>
            </a:r>
            <a:r>
              <a:rPr lang="en-US" altLang="zh-CN" dirty="0" err="1"/>
              <a:t>new_addr</a:t>
            </a:r>
            <a:r>
              <a:rPr lang="en-US" altLang="zh-CN" dirty="0"/>
              <a:t>].key!=x)&amp;&amp;(R[</a:t>
            </a:r>
            <a:r>
              <a:rPr lang="en-US" altLang="zh-CN" dirty="0" err="1"/>
              <a:t>new_addr</a:t>
            </a:r>
            <a:r>
              <a:rPr lang="en-US" altLang="zh-CN" dirty="0"/>
              <a:t>].key!=-1))</a:t>
            </a:r>
          </a:p>
          <a:p>
            <a:r>
              <a:rPr lang="en-US" altLang="zh-CN" dirty="0"/>
              <a:t>    //</a:t>
            </a:r>
            <a:r>
              <a:rPr lang="zh-CN" altLang="en-US" dirty="0"/>
              <a:t>当表中元素不等于</a:t>
            </a:r>
            <a:r>
              <a:rPr lang="en-US" altLang="zh-CN" dirty="0"/>
              <a:t>x</a:t>
            </a:r>
            <a:r>
              <a:rPr lang="zh-CN" altLang="en-US" dirty="0"/>
              <a:t>，并且不等于</a:t>
            </a:r>
            <a:r>
              <a:rPr lang="en-US" altLang="zh-CN" dirty="0"/>
              <a:t>-1</a:t>
            </a:r>
            <a:r>
              <a:rPr lang="zh-CN" altLang="en-US" dirty="0"/>
              <a:t>，则计算出新地址再比较</a:t>
            </a:r>
          </a:p>
          <a:p>
            <a:r>
              <a:rPr lang="zh-CN" altLang="en-US" dirty="0"/>
              <a:t>    </a:t>
            </a:r>
            <a:r>
              <a:rPr lang="en-US" altLang="zh-CN" dirty="0"/>
              <a:t>{</a:t>
            </a:r>
          </a:p>
          <a:p>
            <a:r>
              <a:rPr lang="en-US" altLang="zh-CN" dirty="0"/>
              <a:t>		if (flag)</a:t>
            </a:r>
          </a:p>
          <a:p>
            <a:r>
              <a:rPr lang="en-US" altLang="zh-CN" dirty="0"/>
              <a:t>			di=j;</a:t>
            </a:r>
          </a:p>
          <a:p>
            <a:r>
              <a:rPr lang="en-US" altLang="zh-CN" dirty="0"/>
              <a:t>		else</a:t>
            </a:r>
          </a:p>
          <a:p>
            <a:r>
              <a:rPr lang="en-US" altLang="zh-CN" dirty="0"/>
              <a:t>		{</a:t>
            </a:r>
          </a:p>
          <a:p>
            <a:r>
              <a:rPr lang="en-US" altLang="zh-CN" dirty="0"/>
              <a:t>			di=</a:t>
            </a:r>
            <a:r>
              <a:rPr lang="en-US" altLang="zh-CN" dirty="0" err="1"/>
              <a:t>MaxSize</a:t>
            </a:r>
            <a:r>
              <a:rPr lang="en-US" altLang="zh-CN" dirty="0"/>
              <a:t>-(</a:t>
            </a:r>
            <a:r>
              <a:rPr lang="en-US" altLang="zh-CN" dirty="0" err="1"/>
              <a:t>j%MaxSize</a:t>
            </a:r>
            <a:r>
              <a:rPr lang="en-US" altLang="zh-CN" dirty="0"/>
              <a:t>);</a:t>
            </a:r>
          </a:p>
          <a:p>
            <a:r>
              <a:rPr lang="en-US" altLang="zh-CN" dirty="0"/>
              <a:t>			</a:t>
            </a:r>
            <a:r>
              <a:rPr lang="en-US" altLang="zh-CN" dirty="0" err="1"/>
              <a:t>j++</a:t>
            </a:r>
            <a:r>
              <a:rPr lang="en-US" altLang="zh-CN" dirty="0"/>
              <a:t>;</a:t>
            </a:r>
          </a:p>
          <a:p>
            <a:r>
              <a:rPr lang="en-US" altLang="zh-CN" dirty="0"/>
              <a:t>		}</a:t>
            </a:r>
          </a:p>
          <a:p>
            <a:r>
              <a:rPr lang="en-US" altLang="zh-CN" dirty="0"/>
              <a:t>		</a:t>
            </a:r>
            <a:r>
              <a:rPr lang="en-US" altLang="zh-CN" dirty="0" err="1"/>
              <a:t>new_addr</a:t>
            </a:r>
            <a:r>
              <a:rPr lang="en-US" altLang="zh-CN" dirty="0"/>
              <a:t>=(</a:t>
            </a:r>
            <a:r>
              <a:rPr lang="en-US" altLang="zh-CN" dirty="0" err="1"/>
              <a:t>addr+di</a:t>
            </a:r>
            <a:r>
              <a:rPr lang="en-US" altLang="zh-CN" dirty="0"/>
              <a:t>)%</a:t>
            </a:r>
            <a:r>
              <a:rPr lang="en-US" altLang="zh-CN" dirty="0" err="1"/>
              <a:t>MaxSize</a:t>
            </a:r>
            <a:r>
              <a:rPr lang="en-US" altLang="zh-CN" dirty="0"/>
              <a:t>;</a:t>
            </a:r>
          </a:p>
          <a:p>
            <a:r>
              <a:rPr lang="en-US" altLang="zh-CN" dirty="0"/>
              <a:t>		if (</a:t>
            </a:r>
            <a:r>
              <a:rPr lang="en-US" altLang="zh-CN" dirty="0" err="1"/>
              <a:t>new_addr</a:t>
            </a:r>
            <a:r>
              <a:rPr lang="en-US" altLang="zh-CN" dirty="0"/>
              <a:t> == temp) return -1;	//</a:t>
            </a:r>
            <a:r>
              <a:rPr lang="zh-CN" altLang="en-US" dirty="0"/>
              <a:t>查找不成功，返回</a:t>
            </a:r>
            <a:r>
              <a:rPr lang="en-US" altLang="zh-CN" dirty="0"/>
              <a:t>-1</a:t>
            </a:r>
            <a:r>
              <a:rPr lang="zh-CN" altLang="en-US" dirty="0"/>
              <a:t>值</a:t>
            </a:r>
          </a:p>
          <a:p>
            <a:r>
              <a:rPr lang="zh-CN" altLang="en-US" dirty="0"/>
              <a:t>		</a:t>
            </a:r>
            <a:r>
              <a:rPr lang="en-US" altLang="zh-CN" dirty="0"/>
              <a:t>flag=!flag;</a:t>
            </a:r>
          </a:p>
          <a:p>
            <a:r>
              <a:rPr lang="en-US" altLang="zh-CN" dirty="0"/>
              <a:t>	}</a:t>
            </a:r>
          </a:p>
          <a:p>
            <a:r>
              <a:rPr lang="en-US" altLang="zh-CN" dirty="0"/>
              <a:t>	if(R[</a:t>
            </a:r>
            <a:r>
              <a:rPr lang="en-US" altLang="zh-CN" dirty="0" err="1"/>
              <a:t>new_addr</a:t>
            </a:r>
            <a:r>
              <a:rPr lang="en-US" altLang="zh-CN" dirty="0"/>
              <a:t>].key==x)</a:t>
            </a:r>
          </a:p>
          <a:p>
            <a:r>
              <a:rPr lang="en-US" altLang="zh-CN" dirty="0"/>
              <a:t>		return </a:t>
            </a:r>
            <a:r>
              <a:rPr lang="en-US" altLang="zh-CN" dirty="0" err="1"/>
              <a:t>new_addr</a:t>
            </a:r>
            <a:r>
              <a:rPr lang="en-US" altLang="zh-CN" dirty="0"/>
              <a:t>;                    //</a:t>
            </a:r>
            <a:r>
              <a:rPr lang="zh-CN" altLang="en-US" dirty="0"/>
              <a:t>查找成功，返回表中位置</a:t>
            </a:r>
          </a:p>
          <a:p>
            <a:r>
              <a:rPr lang="zh-CN" altLang="en-US" dirty="0"/>
              <a:t>	</a:t>
            </a:r>
            <a:r>
              <a:rPr lang="en-US" altLang="zh-CN" dirty="0"/>
              <a:t>else</a:t>
            </a:r>
          </a:p>
          <a:p>
            <a:r>
              <a:rPr lang="en-US" altLang="zh-CN" dirty="0"/>
              <a:t>		return -1;                            //</a:t>
            </a:r>
            <a:r>
              <a:rPr lang="zh-CN" altLang="en-US" dirty="0"/>
              <a:t>查找不成功，返回</a:t>
            </a:r>
            <a:r>
              <a:rPr lang="en-US" altLang="zh-CN" dirty="0"/>
              <a:t>-1</a:t>
            </a:r>
            <a:r>
              <a:rPr lang="zh-CN" altLang="en-US" dirty="0"/>
              <a:t>值</a:t>
            </a:r>
          </a:p>
          <a:p>
            <a:r>
              <a:rPr lang="en-US" altLang="zh-CN" dirty="0"/>
              <a:t>}</a:t>
            </a:r>
          </a:p>
          <a:p>
            <a:endParaRPr lang="zh-CN" altLang="en-US" dirty="0"/>
          </a:p>
        </p:txBody>
      </p:sp>
      <p:sp>
        <p:nvSpPr>
          <p:cNvPr id="4" name="灯片编号占位符 3"/>
          <p:cNvSpPr>
            <a:spLocks noGrp="1"/>
          </p:cNvSpPr>
          <p:nvPr>
            <p:ph type="sldNum" sz="quarter" idx="5"/>
          </p:nvPr>
        </p:nvSpPr>
        <p:spPr/>
        <p:txBody>
          <a:bodyPr/>
          <a:lstStyle/>
          <a:p>
            <a:fld id="{358D460B-FCBF-4F68-A559-8E415D1DDEDB}" type="slidenum">
              <a:rPr lang="zh-CN" altLang="en-US" smtClean="0"/>
              <a:pPr/>
              <a:t>56</a:t>
            </a:fld>
            <a:endParaRPr lang="zh-CN" altLang="en-US"/>
          </a:p>
        </p:txBody>
      </p:sp>
    </p:spTree>
    <p:extLst>
      <p:ext uri="{BB962C8B-B14F-4D97-AF65-F5344CB8AC3E}">
        <p14:creationId xmlns:p14="http://schemas.microsoft.com/office/powerpoint/2010/main" val="6610560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template &lt;class </a:t>
            </a:r>
            <a:r>
              <a:rPr lang="en-US" altLang="zh-CN" dirty="0" err="1"/>
              <a:t>keytype,class</a:t>
            </a:r>
            <a:r>
              <a:rPr lang="en-US" altLang="zh-CN" dirty="0"/>
              <a:t> </a:t>
            </a:r>
            <a:r>
              <a:rPr lang="en-US" altLang="zh-CN" dirty="0" err="1"/>
              <a:t>Itemtype</a:t>
            </a:r>
            <a:r>
              <a:rPr lang="en-US" altLang="zh-CN" dirty="0"/>
              <a:t>&gt;</a:t>
            </a:r>
          </a:p>
          <a:p>
            <a:r>
              <a:rPr lang="en-US" altLang="zh-CN" dirty="0"/>
              <a:t>bool </a:t>
            </a:r>
            <a:r>
              <a:rPr lang="en-US" altLang="zh-CN" dirty="0" err="1"/>
              <a:t>recordList</a:t>
            </a:r>
            <a:r>
              <a:rPr lang="en-US" altLang="zh-CN" dirty="0"/>
              <a:t>&lt;</a:t>
            </a:r>
            <a:r>
              <a:rPr lang="en-US" altLang="zh-CN" dirty="0" err="1"/>
              <a:t>keytype,Itemtype</a:t>
            </a:r>
            <a:r>
              <a:rPr lang="en-US" altLang="zh-CN" dirty="0"/>
              <a:t>&gt;::set_hash4(</a:t>
            </a:r>
            <a:r>
              <a:rPr lang="en-US" altLang="zh-CN" dirty="0" err="1"/>
              <a:t>keytype</a:t>
            </a:r>
            <a:r>
              <a:rPr lang="en-US" altLang="zh-CN" dirty="0"/>
              <a:t> *</a:t>
            </a:r>
            <a:r>
              <a:rPr lang="en-US" altLang="zh-CN" dirty="0" err="1"/>
              <a:t>pa,int</a:t>
            </a:r>
            <a:r>
              <a:rPr lang="en-US" altLang="zh-CN" dirty="0"/>
              <a:t> n)</a:t>
            </a:r>
          </a:p>
          <a:p>
            <a:r>
              <a:rPr lang="en-US" altLang="zh-CN" dirty="0"/>
              <a:t>//n</a:t>
            </a:r>
            <a:r>
              <a:rPr lang="zh-CN" altLang="en-US" dirty="0"/>
              <a:t>个数据元素存放在一维数组中，</a:t>
            </a:r>
            <a:r>
              <a:rPr lang="en-US" altLang="zh-CN" dirty="0"/>
              <a:t>pa</a:t>
            </a:r>
            <a:r>
              <a:rPr lang="zh-CN" altLang="en-US" dirty="0"/>
              <a:t>指向数组的首地址</a:t>
            </a:r>
          </a:p>
          <a:p>
            <a:r>
              <a:rPr lang="en-US" altLang="zh-CN" dirty="0"/>
              <a:t>{	</a:t>
            </a:r>
          </a:p>
          <a:p>
            <a:r>
              <a:rPr lang="en-US" altLang="zh-CN" dirty="0"/>
              <a:t>	int </a:t>
            </a:r>
            <a:r>
              <a:rPr lang="en-US" altLang="zh-CN" dirty="0" err="1"/>
              <a:t>addr,new_addr,di,j,temp</a:t>
            </a:r>
            <a:r>
              <a:rPr lang="en-US" altLang="zh-CN" dirty="0"/>
              <a:t>;</a:t>
            </a:r>
          </a:p>
          <a:p>
            <a:endParaRPr lang="en-US" altLang="zh-CN" dirty="0"/>
          </a:p>
          <a:p>
            <a:r>
              <a:rPr lang="en-US" altLang="zh-CN" dirty="0"/>
              <a:t>	for(int </a:t>
            </a:r>
            <a:r>
              <a:rPr lang="en-US" altLang="zh-CN" dirty="0" err="1"/>
              <a:t>i</a:t>
            </a:r>
            <a:r>
              <a:rPr lang="en-US" altLang="zh-CN" dirty="0"/>
              <a:t>=0;i&lt;</a:t>
            </a:r>
            <a:r>
              <a:rPr lang="en-US" altLang="zh-CN" dirty="0" err="1"/>
              <a:t>MaxSize;i</a:t>
            </a:r>
            <a:r>
              <a:rPr lang="en-US" altLang="zh-CN" dirty="0"/>
              <a:t>++)    //</a:t>
            </a:r>
            <a:r>
              <a:rPr lang="zh-CN" altLang="en-US" dirty="0"/>
              <a:t>先将哈希表中元素置</a:t>
            </a:r>
            <a:r>
              <a:rPr lang="en-US" altLang="zh-CN" dirty="0"/>
              <a:t>-1</a:t>
            </a:r>
          </a:p>
          <a:p>
            <a:r>
              <a:rPr lang="en-US" altLang="zh-CN" dirty="0"/>
              <a:t>	{</a:t>
            </a:r>
          </a:p>
          <a:p>
            <a:r>
              <a:rPr lang="en-US" altLang="zh-CN" dirty="0"/>
              <a:t>		R[</a:t>
            </a:r>
            <a:r>
              <a:rPr lang="en-US" altLang="zh-CN" dirty="0" err="1"/>
              <a:t>i</a:t>
            </a:r>
            <a:r>
              <a:rPr lang="en-US" altLang="zh-CN" dirty="0"/>
              <a:t>].key=-1;</a:t>
            </a:r>
          </a:p>
          <a:p>
            <a:r>
              <a:rPr lang="en-US" altLang="zh-CN" dirty="0"/>
              <a:t>		R[</a:t>
            </a:r>
            <a:r>
              <a:rPr lang="en-US" altLang="zh-CN" dirty="0" err="1"/>
              <a:t>i</a:t>
            </a:r>
            <a:r>
              <a:rPr lang="en-US" altLang="zh-CN" dirty="0"/>
              <a:t>].</a:t>
            </a:r>
            <a:r>
              <a:rPr lang="en-US" altLang="zh-CN" dirty="0" err="1"/>
              <a:t>otherinfo</a:t>
            </a:r>
            <a:r>
              <a:rPr lang="en-US" altLang="zh-CN" dirty="0"/>
              <a:t>=</a:t>
            </a:r>
            <a:r>
              <a:rPr lang="en-US" altLang="zh-CN" dirty="0" err="1"/>
              <a:t>i</a:t>
            </a:r>
            <a:r>
              <a:rPr lang="en-US" altLang="zh-CN" dirty="0"/>
              <a:t>;</a:t>
            </a:r>
          </a:p>
          <a:p>
            <a:r>
              <a:rPr lang="en-US" altLang="zh-CN" dirty="0"/>
              <a:t>	}	</a:t>
            </a:r>
          </a:p>
          <a:p>
            <a:r>
              <a:rPr lang="en-US" altLang="zh-CN" dirty="0"/>
              <a:t>	for(int </a:t>
            </a:r>
            <a:r>
              <a:rPr lang="en-US" altLang="zh-CN" dirty="0" err="1"/>
              <a:t>i</a:t>
            </a:r>
            <a:r>
              <a:rPr lang="en-US" altLang="zh-CN" dirty="0"/>
              <a:t>=0;i&lt;</a:t>
            </a:r>
            <a:r>
              <a:rPr lang="en-US" altLang="zh-CN" dirty="0" err="1"/>
              <a:t>n;i</a:t>
            </a:r>
            <a:r>
              <a:rPr lang="en-US" altLang="zh-CN" dirty="0"/>
              <a:t>++)</a:t>
            </a:r>
          </a:p>
          <a:p>
            <a:r>
              <a:rPr lang="en-US" altLang="zh-CN" dirty="0"/>
              <a:t>	{</a:t>
            </a:r>
          </a:p>
          <a:p>
            <a:r>
              <a:rPr lang="en-US" altLang="zh-CN" dirty="0"/>
              <a:t>		</a:t>
            </a:r>
            <a:r>
              <a:rPr lang="en-US" altLang="zh-CN" dirty="0" err="1"/>
              <a:t>addr</a:t>
            </a:r>
            <a:r>
              <a:rPr lang="en-US" altLang="zh-CN" dirty="0"/>
              <a:t> = pa[</a:t>
            </a:r>
            <a:r>
              <a:rPr lang="en-US" altLang="zh-CN" dirty="0" err="1"/>
              <a:t>i</a:t>
            </a:r>
            <a:r>
              <a:rPr lang="en-US" altLang="zh-CN" dirty="0"/>
              <a:t>] % </a:t>
            </a:r>
            <a:r>
              <a:rPr lang="en-US" altLang="zh-CN" dirty="0" err="1"/>
              <a:t>MaxSize</a:t>
            </a:r>
            <a:r>
              <a:rPr lang="en-US" altLang="zh-CN" dirty="0"/>
              <a:t>;             //</a:t>
            </a:r>
            <a:r>
              <a:rPr lang="zh-CN" altLang="en-US" dirty="0"/>
              <a:t>计算哈希地址</a:t>
            </a:r>
          </a:p>
          <a:p>
            <a:r>
              <a:rPr lang="zh-CN" altLang="en-US" dirty="0"/>
              <a:t>		</a:t>
            </a:r>
            <a:r>
              <a:rPr lang="en-US" altLang="zh-CN" dirty="0" err="1"/>
              <a:t>new_addr</a:t>
            </a:r>
            <a:r>
              <a:rPr lang="en-US" altLang="zh-CN" dirty="0"/>
              <a:t> = </a:t>
            </a:r>
            <a:r>
              <a:rPr lang="en-US" altLang="zh-CN" dirty="0" err="1"/>
              <a:t>addr</a:t>
            </a:r>
            <a:r>
              <a:rPr lang="en-US" altLang="zh-CN" dirty="0"/>
              <a:t>;                        //</a:t>
            </a:r>
            <a:r>
              <a:rPr lang="zh-CN" altLang="en-US" dirty="0"/>
              <a:t>又假设为新地址</a:t>
            </a:r>
          </a:p>
          <a:p>
            <a:r>
              <a:rPr lang="zh-CN" altLang="en-US" dirty="0"/>
              <a:t>		</a:t>
            </a:r>
            <a:r>
              <a:rPr lang="en-US" altLang="zh-CN" dirty="0"/>
              <a:t>j=1;</a:t>
            </a:r>
          </a:p>
          <a:p>
            <a:r>
              <a:rPr lang="en-US" altLang="zh-CN" dirty="0"/>
              <a:t>		temp=</a:t>
            </a:r>
            <a:r>
              <a:rPr lang="en-US" altLang="zh-CN" dirty="0" err="1"/>
              <a:t>new_addr</a:t>
            </a:r>
            <a:r>
              <a:rPr lang="en-US" altLang="zh-CN" dirty="0"/>
              <a:t>;</a:t>
            </a:r>
          </a:p>
          <a:p>
            <a:r>
              <a:rPr lang="en-US" altLang="zh-CN" dirty="0"/>
              <a:t>		while(R[</a:t>
            </a:r>
            <a:r>
              <a:rPr lang="en-US" altLang="zh-CN" dirty="0" err="1"/>
              <a:t>new_addr</a:t>
            </a:r>
            <a:r>
              <a:rPr lang="en-US" altLang="zh-CN" dirty="0"/>
              <a:t>].key!=-1)                       //</a:t>
            </a:r>
            <a:r>
              <a:rPr lang="zh-CN" altLang="en-US" dirty="0"/>
              <a:t>循环搜索表中空闲单元</a:t>
            </a:r>
          </a:p>
          <a:p>
            <a:r>
              <a:rPr lang="zh-CN" altLang="en-US" dirty="0"/>
              <a:t>        </a:t>
            </a:r>
            <a:r>
              <a:rPr lang="en-US" altLang="zh-CN" dirty="0"/>
              <a:t>{</a:t>
            </a:r>
          </a:p>
          <a:p>
            <a:r>
              <a:rPr lang="en-US" altLang="zh-CN" dirty="0"/>
              <a:t>        	di=j*j;</a:t>
            </a:r>
          </a:p>
          <a:p>
            <a:r>
              <a:rPr lang="en-US" altLang="zh-CN" dirty="0"/>
              <a:t>			</a:t>
            </a:r>
            <a:r>
              <a:rPr lang="en-US" altLang="zh-CN" dirty="0" err="1"/>
              <a:t>new_addr</a:t>
            </a:r>
            <a:r>
              <a:rPr lang="en-US" altLang="zh-CN" dirty="0"/>
              <a:t> = (</a:t>
            </a:r>
            <a:r>
              <a:rPr lang="en-US" altLang="zh-CN" dirty="0" err="1"/>
              <a:t>addr+di</a:t>
            </a:r>
            <a:r>
              <a:rPr lang="en-US" altLang="zh-CN" dirty="0"/>
              <a:t>) % </a:t>
            </a:r>
            <a:r>
              <a:rPr lang="en-US" altLang="zh-CN" dirty="0" err="1"/>
              <a:t>MaxSize</a:t>
            </a:r>
            <a:r>
              <a:rPr lang="en-US" altLang="zh-CN" dirty="0"/>
              <a:t>;  //</a:t>
            </a:r>
            <a:r>
              <a:rPr lang="zh-CN" altLang="en-US" dirty="0"/>
              <a:t>地址冲突，计算新地址</a:t>
            </a:r>
          </a:p>
          <a:p>
            <a:r>
              <a:rPr lang="zh-CN" altLang="en-US" dirty="0"/>
              <a:t>			</a:t>
            </a:r>
            <a:r>
              <a:rPr lang="en-US" altLang="zh-CN" dirty="0"/>
              <a:t>if (</a:t>
            </a:r>
            <a:r>
              <a:rPr lang="en-US" altLang="zh-CN" dirty="0" err="1"/>
              <a:t>new_addr</a:t>
            </a:r>
            <a:r>
              <a:rPr lang="en-US" altLang="zh-CN" dirty="0"/>
              <a:t> == temp) return false;  	//</a:t>
            </a:r>
            <a:r>
              <a:rPr lang="zh-CN" altLang="en-US" dirty="0"/>
              <a:t>查找完所有位置后表示无法插入			</a:t>
            </a:r>
          </a:p>
          <a:p>
            <a:r>
              <a:rPr lang="zh-CN" altLang="en-US" dirty="0"/>
              <a:t>			</a:t>
            </a:r>
            <a:r>
              <a:rPr lang="en-US" altLang="zh-CN" dirty="0" err="1"/>
              <a:t>j++</a:t>
            </a:r>
            <a:r>
              <a:rPr lang="en-US" altLang="zh-CN" dirty="0"/>
              <a:t>;</a:t>
            </a:r>
          </a:p>
          <a:p>
            <a:r>
              <a:rPr lang="en-US" altLang="zh-CN" dirty="0"/>
              <a:t>		}</a:t>
            </a:r>
          </a:p>
          <a:p>
            <a:r>
              <a:rPr lang="en-US" altLang="zh-CN" dirty="0"/>
              <a:t>		R[</a:t>
            </a:r>
            <a:r>
              <a:rPr lang="en-US" altLang="zh-CN" dirty="0" err="1"/>
              <a:t>new_addr</a:t>
            </a:r>
            <a:r>
              <a:rPr lang="en-US" altLang="zh-CN" dirty="0"/>
              <a:t>].</a:t>
            </a:r>
            <a:r>
              <a:rPr lang="en-US" altLang="zh-CN" dirty="0" err="1"/>
              <a:t>otherinfo</a:t>
            </a:r>
            <a:r>
              <a:rPr lang="en-US" altLang="zh-CN" dirty="0"/>
              <a:t> = </a:t>
            </a:r>
            <a:r>
              <a:rPr lang="en-US" altLang="zh-CN" dirty="0" err="1"/>
              <a:t>new_addr</a:t>
            </a:r>
            <a:r>
              <a:rPr lang="en-US" altLang="zh-CN" dirty="0"/>
              <a:t>;</a:t>
            </a:r>
          </a:p>
          <a:p>
            <a:r>
              <a:rPr lang="en-US" altLang="zh-CN" dirty="0"/>
              <a:t>		R[</a:t>
            </a:r>
            <a:r>
              <a:rPr lang="en-US" altLang="zh-CN" dirty="0" err="1"/>
              <a:t>new_addr</a:t>
            </a:r>
            <a:r>
              <a:rPr lang="en-US" altLang="zh-CN" dirty="0"/>
              <a:t>].key = pa[</a:t>
            </a:r>
            <a:r>
              <a:rPr lang="en-US" altLang="zh-CN" dirty="0" err="1"/>
              <a:t>i</a:t>
            </a:r>
            <a:r>
              <a:rPr lang="en-US" altLang="zh-CN" dirty="0"/>
              <a:t>];</a:t>
            </a:r>
          </a:p>
          <a:p>
            <a:r>
              <a:rPr lang="en-US" altLang="zh-CN" dirty="0"/>
              <a:t>		</a:t>
            </a:r>
            <a:r>
              <a:rPr lang="en-US" altLang="zh-CN" dirty="0" err="1"/>
              <a:t>CurrentSize</a:t>
            </a:r>
            <a:r>
              <a:rPr lang="en-US" altLang="zh-CN" dirty="0"/>
              <a:t>++;</a:t>
            </a:r>
          </a:p>
          <a:p>
            <a:r>
              <a:rPr lang="en-US" altLang="zh-CN" dirty="0"/>
              <a:t>	}</a:t>
            </a:r>
          </a:p>
          <a:p>
            <a:r>
              <a:rPr lang="en-US" altLang="zh-CN" dirty="0"/>
              <a:t>	return true;</a:t>
            </a:r>
          </a:p>
          <a:p>
            <a:r>
              <a:rPr lang="en-US" altLang="zh-CN" dirty="0"/>
              <a:t>}</a:t>
            </a:r>
            <a:endParaRPr lang="zh-CN" altLang="en-US" dirty="0"/>
          </a:p>
        </p:txBody>
      </p:sp>
      <p:sp>
        <p:nvSpPr>
          <p:cNvPr id="4" name="灯片编号占位符 3"/>
          <p:cNvSpPr>
            <a:spLocks noGrp="1"/>
          </p:cNvSpPr>
          <p:nvPr>
            <p:ph type="sldNum" sz="quarter" idx="5"/>
          </p:nvPr>
        </p:nvSpPr>
        <p:spPr/>
        <p:txBody>
          <a:bodyPr/>
          <a:lstStyle/>
          <a:p>
            <a:fld id="{358D460B-FCBF-4F68-A559-8E415D1DDEDB}" type="slidenum">
              <a:rPr lang="zh-CN" altLang="en-US" smtClean="0"/>
              <a:pPr/>
              <a:t>61</a:t>
            </a:fld>
            <a:endParaRPr lang="zh-CN" altLang="en-US"/>
          </a:p>
        </p:txBody>
      </p:sp>
    </p:spTree>
    <p:extLst>
      <p:ext uri="{BB962C8B-B14F-4D97-AF65-F5344CB8AC3E}">
        <p14:creationId xmlns:p14="http://schemas.microsoft.com/office/powerpoint/2010/main" val="38336919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template &lt;class </a:t>
            </a:r>
            <a:r>
              <a:rPr lang="en-US" altLang="zh-CN" dirty="0" err="1"/>
              <a:t>keytype,class</a:t>
            </a:r>
            <a:r>
              <a:rPr lang="en-US" altLang="zh-CN" dirty="0"/>
              <a:t> </a:t>
            </a:r>
            <a:r>
              <a:rPr lang="en-US" altLang="zh-CN" dirty="0" err="1"/>
              <a:t>Itemtype</a:t>
            </a:r>
            <a:r>
              <a:rPr lang="en-US" altLang="zh-CN" dirty="0"/>
              <a:t>&gt;</a:t>
            </a:r>
          </a:p>
          <a:p>
            <a:r>
              <a:rPr lang="en-US" altLang="zh-CN" dirty="0"/>
              <a:t>int </a:t>
            </a:r>
            <a:r>
              <a:rPr lang="en-US" altLang="zh-CN" dirty="0" err="1"/>
              <a:t>recordList</a:t>
            </a:r>
            <a:r>
              <a:rPr lang="en-US" altLang="zh-CN" dirty="0"/>
              <a:t>&lt;</a:t>
            </a:r>
            <a:r>
              <a:rPr lang="en-US" altLang="zh-CN" dirty="0" err="1"/>
              <a:t>keytype,Itemtype</a:t>
            </a:r>
            <a:r>
              <a:rPr lang="en-US" altLang="zh-CN" dirty="0"/>
              <a:t>&gt;::hash_find4(</a:t>
            </a:r>
            <a:r>
              <a:rPr lang="en-US" altLang="zh-CN" dirty="0" err="1"/>
              <a:t>keytype</a:t>
            </a:r>
            <a:r>
              <a:rPr lang="en-US" altLang="zh-CN" dirty="0"/>
              <a:t> x)</a:t>
            </a:r>
          </a:p>
          <a:p>
            <a:r>
              <a:rPr lang="en-US" altLang="zh-CN" dirty="0"/>
              <a:t>{	</a:t>
            </a:r>
          </a:p>
          <a:p>
            <a:r>
              <a:rPr lang="en-US" altLang="zh-CN" dirty="0"/>
              <a:t>	int </a:t>
            </a:r>
            <a:r>
              <a:rPr lang="en-US" altLang="zh-CN" dirty="0" err="1"/>
              <a:t>addr,new_addr,di,j,temp</a:t>
            </a:r>
            <a:r>
              <a:rPr lang="en-US" altLang="zh-CN" dirty="0"/>
              <a:t>;</a:t>
            </a:r>
          </a:p>
          <a:p>
            <a:r>
              <a:rPr lang="en-US" altLang="zh-CN" dirty="0"/>
              <a:t>	</a:t>
            </a:r>
            <a:r>
              <a:rPr lang="en-US" altLang="zh-CN" dirty="0" err="1"/>
              <a:t>keytype</a:t>
            </a:r>
            <a:r>
              <a:rPr lang="en-US" altLang="zh-CN" dirty="0"/>
              <a:t> </a:t>
            </a:r>
            <a:r>
              <a:rPr lang="en-US" altLang="zh-CN" dirty="0" err="1"/>
              <a:t>data_key</a:t>
            </a:r>
            <a:r>
              <a:rPr lang="en-US" altLang="zh-CN" dirty="0"/>
              <a:t>=x;</a:t>
            </a:r>
          </a:p>
          <a:p>
            <a:r>
              <a:rPr lang="en-US" altLang="zh-CN" dirty="0"/>
              <a:t>	</a:t>
            </a:r>
            <a:r>
              <a:rPr lang="en-US" altLang="zh-CN" dirty="0" err="1"/>
              <a:t>addr</a:t>
            </a:r>
            <a:r>
              <a:rPr lang="en-US" altLang="zh-CN" dirty="0"/>
              <a:t>=</a:t>
            </a:r>
            <a:r>
              <a:rPr lang="en-US" altLang="zh-CN" dirty="0" err="1"/>
              <a:t>data_key%MaxSize</a:t>
            </a:r>
            <a:r>
              <a:rPr lang="en-US" altLang="zh-CN" dirty="0"/>
              <a:t>;               //</a:t>
            </a:r>
            <a:r>
              <a:rPr lang="zh-CN" altLang="en-US" dirty="0"/>
              <a:t>计算哈希地址</a:t>
            </a:r>
          </a:p>
          <a:p>
            <a:r>
              <a:rPr lang="zh-CN" altLang="en-US" dirty="0"/>
              <a:t>	</a:t>
            </a:r>
            <a:r>
              <a:rPr lang="en-US" altLang="zh-CN" dirty="0" err="1"/>
              <a:t>new_addr</a:t>
            </a:r>
            <a:r>
              <a:rPr lang="en-US" altLang="zh-CN" dirty="0"/>
              <a:t>=</a:t>
            </a:r>
            <a:r>
              <a:rPr lang="en-US" altLang="zh-CN" dirty="0" err="1"/>
              <a:t>addr</a:t>
            </a:r>
            <a:r>
              <a:rPr lang="en-US" altLang="zh-CN" dirty="0"/>
              <a:t>;           </a:t>
            </a:r>
          </a:p>
          <a:p>
            <a:r>
              <a:rPr lang="en-US" altLang="zh-CN" dirty="0"/>
              <a:t>	j=1;</a:t>
            </a:r>
          </a:p>
          <a:p>
            <a:r>
              <a:rPr lang="en-US" altLang="zh-CN" dirty="0"/>
              <a:t>	temp=</a:t>
            </a:r>
            <a:r>
              <a:rPr lang="en-US" altLang="zh-CN" dirty="0" err="1"/>
              <a:t>new_addr</a:t>
            </a:r>
            <a:r>
              <a:rPr lang="en-US" altLang="zh-CN" dirty="0"/>
              <a:t>;</a:t>
            </a:r>
          </a:p>
          <a:p>
            <a:r>
              <a:rPr lang="en-US" altLang="zh-CN" dirty="0"/>
              <a:t>	while ((R[</a:t>
            </a:r>
            <a:r>
              <a:rPr lang="en-US" altLang="zh-CN" dirty="0" err="1"/>
              <a:t>new_addr</a:t>
            </a:r>
            <a:r>
              <a:rPr lang="en-US" altLang="zh-CN" dirty="0"/>
              <a:t>].key!=x)&amp;&amp;(R[</a:t>
            </a:r>
            <a:r>
              <a:rPr lang="en-US" altLang="zh-CN" dirty="0" err="1"/>
              <a:t>new_addr</a:t>
            </a:r>
            <a:r>
              <a:rPr lang="en-US" altLang="zh-CN" dirty="0"/>
              <a:t>].key!=-1))</a:t>
            </a:r>
          </a:p>
          <a:p>
            <a:r>
              <a:rPr lang="en-US" altLang="zh-CN" dirty="0"/>
              <a:t>    //</a:t>
            </a:r>
            <a:r>
              <a:rPr lang="zh-CN" altLang="en-US" dirty="0"/>
              <a:t>当表中元素不等于</a:t>
            </a:r>
            <a:r>
              <a:rPr lang="en-US" altLang="zh-CN" dirty="0"/>
              <a:t>x</a:t>
            </a:r>
            <a:r>
              <a:rPr lang="zh-CN" altLang="en-US" dirty="0"/>
              <a:t>，并且不等于</a:t>
            </a:r>
            <a:r>
              <a:rPr lang="en-US" altLang="zh-CN" dirty="0"/>
              <a:t>-1</a:t>
            </a:r>
            <a:r>
              <a:rPr lang="zh-CN" altLang="en-US" dirty="0"/>
              <a:t>，则计算出新地址再比较</a:t>
            </a:r>
          </a:p>
          <a:p>
            <a:r>
              <a:rPr lang="zh-CN" altLang="en-US" dirty="0"/>
              <a:t>    </a:t>
            </a:r>
            <a:r>
              <a:rPr lang="en-US" altLang="zh-CN" dirty="0"/>
              <a:t>{</a:t>
            </a:r>
          </a:p>
          <a:p>
            <a:r>
              <a:rPr lang="en-US" altLang="zh-CN" dirty="0"/>
              <a:t>    	di=j*j;</a:t>
            </a:r>
          </a:p>
          <a:p>
            <a:r>
              <a:rPr lang="en-US" altLang="zh-CN" dirty="0"/>
              <a:t>		</a:t>
            </a:r>
            <a:r>
              <a:rPr lang="en-US" altLang="zh-CN" dirty="0" err="1"/>
              <a:t>new_addr</a:t>
            </a:r>
            <a:r>
              <a:rPr lang="en-US" altLang="zh-CN" dirty="0"/>
              <a:t>=(</a:t>
            </a:r>
            <a:r>
              <a:rPr lang="en-US" altLang="zh-CN" dirty="0" err="1"/>
              <a:t>addr+di</a:t>
            </a:r>
            <a:r>
              <a:rPr lang="en-US" altLang="zh-CN" dirty="0"/>
              <a:t>)%</a:t>
            </a:r>
            <a:r>
              <a:rPr lang="en-US" altLang="zh-CN" dirty="0" err="1"/>
              <a:t>MaxSize</a:t>
            </a:r>
            <a:r>
              <a:rPr lang="en-US" altLang="zh-CN" dirty="0"/>
              <a:t>;</a:t>
            </a:r>
          </a:p>
          <a:p>
            <a:r>
              <a:rPr lang="en-US" altLang="zh-CN" dirty="0"/>
              <a:t>		if (</a:t>
            </a:r>
            <a:r>
              <a:rPr lang="en-US" altLang="zh-CN" dirty="0" err="1"/>
              <a:t>new_addr</a:t>
            </a:r>
            <a:r>
              <a:rPr lang="en-US" altLang="zh-CN" dirty="0"/>
              <a:t> == temp) return -1;	//</a:t>
            </a:r>
            <a:r>
              <a:rPr lang="zh-CN" altLang="en-US" dirty="0"/>
              <a:t>查找不成功，返回</a:t>
            </a:r>
            <a:r>
              <a:rPr lang="en-US" altLang="zh-CN" dirty="0"/>
              <a:t>-1</a:t>
            </a:r>
            <a:r>
              <a:rPr lang="zh-CN" altLang="en-US" dirty="0"/>
              <a:t>值</a:t>
            </a:r>
          </a:p>
          <a:p>
            <a:r>
              <a:rPr lang="zh-CN" altLang="en-US" dirty="0"/>
              <a:t>		</a:t>
            </a:r>
            <a:r>
              <a:rPr lang="en-US" altLang="zh-CN" dirty="0" err="1"/>
              <a:t>j++</a:t>
            </a:r>
            <a:r>
              <a:rPr lang="en-US" altLang="zh-CN" dirty="0"/>
              <a:t>;</a:t>
            </a:r>
          </a:p>
          <a:p>
            <a:r>
              <a:rPr lang="en-US" altLang="zh-CN" dirty="0"/>
              <a:t>	}</a:t>
            </a:r>
          </a:p>
          <a:p>
            <a:r>
              <a:rPr lang="en-US" altLang="zh-CN" dirty="0"/>
              <a:t>	if(R[</a:t>
            </a:r>
            <a:r>
              <a:rPr lang="en-US" altLang="zh-CN" dirty="0" err="1"/>
              <a:t>new_addr</a:t>
            </a:r>
            <a:r>
              <a:rPr lang="en-US" altLang="zh-CN" dirty="0"/>
              <a:t>].key==x)</a:t>
            </a:r>
          </a:p>
          <a:p>
            <a:r>
              <a:rPr lang="en-US" altLang="zh-CN" dirty="0"/>
              <a:t>		return </a:t>
            </a:r>
            <a:r>
              <a:rPr lang="en-US" altLang="zh-CN" dirty="0" err="1"/>
              <a:t>new_addr</a:t>
            </a:r>
            <a:r>
              <a:rPr lang="en-US" altLang="zh-CN" dirty="0"/>
              <a:t>;                    //</a:t>
            </a:r>
            <a:r>
              <a:rPr lang="zh-CN" altLang="en-US" dirty="0"/>
              <a:t>查找成功，返回表中位置</a:t>
            </a:r>
          </a:p>
          <a:p>
            <a:r>
              <a:rPr lang="zh-CN" altLang="en-US" dirty="0"/>
              <a:t>	</a:t>
            </a:r>
            <a:r>
              <a:rPr lang="en-US" altLang="zh-CN" dirty="0"/>
              <a:t>else</a:t>
            </a:r>
          </a:p>
          <a:p>
            <a:r>
              <a:rPr lang="en-US" altLang="zh-CN" dirty="0"/>
              <a:t>		return -1;                            //</a:t>
            </a:r>
            <a:r>
              <a:rPr lang="zh-CN" altLang="en-US" dirty="0"/>
              <a:t>查找不成功，返回</a:t>
            </a:r>
            <a:r>
              <a:rPr lang="en-US" altLang="zh-CN" dirty="0"/>
              <a:t>-1</a:t>
            </a:r>
            <a:r>
              <a:rPr lang="zh-CN" altLang="en-US" dirty="0"/>
              <a:t>值</a:t>
            </a:r>
          </a:p>
          <a:p>
            <a:r>
              <a:rPr lang="en-US" altLang="zh-CN" dirty="0"/>
              <a:t>}</a:t>
            </a:r>
            <a:endParaRPr lang="zh-CN" altLang="en-US" dirty="0"/>
          </a:p>
        </p:txBody>
      </p:sp>
      <p:sp>
        <p:nvSpPr>
          <p:cNvPr id="4" name="灯片编号占位符 3"/>
          <p:cNvSpPr>
            <a:spLocks noGrp="1"/>
          </p:cNvSpPr>
          <p:nvPr>
            <p:ph type="sldNum" sz="quarter" idx="5"/>
          </p:nvPr>
        </p:nvSpPr>
        <p:spPr/>
        <p:txBody>
          <a:bodyPr/>
          <a:lstStyle/>
          <a:p>
            <a:fld id="{358D460B-FCBF-4F68-A559-8E415D1DDEDB}" type="slidenum">
              <a:rPr lang="zh-CN" altLang="en-US" smtClean="0"/>
              <a:pPr/>
              <a:t>62</a:t>
            </a:fld>
            <a:endParaRPr lang="zh-CN" altLang="en-US"/>
          </a:p>
        </p:txBody>
      </p:sp>
    </p:spTree>
    <p:extLst>
      <p:ext uri="{BB962C8B-B14F-4D97-AF65-F5344CB8AC3E}">
        <p14:creationId xmlns:p14="http://schemas.microsoft.com/office/powerpoint/2010/main" val="26426715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template &lt;class </a:t>
            </a:r>
            <a:r>
              <a:rPr lang="en-US" altLang="zh-CN" dirty="0" err="1"/>
              <a:t>keytype,class</a:t>
            </a:r>
            <a:r>
              <a:rPr lang="en-US" altLang="zh-CN" dirty="0"/>
              <a:t> </a:t>
            </a:r>
            <a:r>
              <a:rPr lang="en-US" altLang="zh-CN" dirty="0" err="1"/>
              <a:t>Itemtype</a:t>
            </a:r>
            <a:r>
              <a:rPr lang="en-US" altLang="zh-CN" dirty="0"/>
              <a:t>&gt;</a:t>
            </a:r>
          </a:p>
          <a:p>
            <a:r>
              <a:rPr lang="en-US" altLang="zh-CN" dirty="0"/>
              <a:t>bool </a:t>
            </a:r>
            <a:r>
              <a:rPr lang="en-US" altLang="zh-CN" dirty="0" err="1"/>
              <a:t>recordList</a:t>
            </a:r>
            <a:r>
              <a:rPr lang="en-US" altLang="zh-CN" dirty="0"/>
              <a:t>&lt;</a:t>
            </a:r>
            <a:r>
              <a:rPr lang="en-US" altLang="zh-CN" dirty="0" err="1"/>
              <a:t>keytype,Itemtype</a:t>
            </a:r>
            <a:r>
              <a:rPr lang="en-US" altLang="zh-CN" dirty="0"/>
              <a:t>&gt;::set_hash5(</a:t>
            </a:r>
            <a:r>
              <a:rPr lang="en-US" altLang="zh-CN" dirty="0" err="1"/>
              <a:t>keytype</a:t>
            </a:r>
            <a:r>
              <a:rPr lang="en-US" altLang="zh-CN" dirty="0"/>
              <a:t> *</a:t>
            </a:r>
            <a:r>
              <a:rPr lang="en-US" altLang="zh-CN" dirty="0" err="1"/>
              <a:t>pa,int</a:t>
            </a:r>
            <a:r>
              <a:rPr lang="en-US" altLang="zh-CN" dirty="0"/>
              <a:t> n)</a:t>
            </a:r>
          </a:p>
          <a:p>
            <a:r>
              <a:rPr lang="en-US" altLang="zh-CN" dirty="0"/>
              <a:t>//n</a:t>
            </a:r>
            <a:r>
              <a:rPr lang="zh-CN" altLang="en-US" dirty="0"/>
              <a:t>个数据元素存放在一维数组中，</a:t>
            </a:r>
            <a:r>
              <a:rPr lang="en-US" altLang="zh-CN" dirty="0"/>
              <a:t>pa</a:t>
            </a:r>
            <a:r>
              <a:rPr lang="zh-CN" altLang="en-US" dirty="0"/>
              <a:t>指向数组的首地址</a:t>
            </a:r>
          </a:p>
          <a:p>
            <a:r>
              <a:rPr lang="en-US" altLang="zh-CN" dirty="0"/>
              <a:t>{	</a:t>
            </a:r>
          </a:p>
          <a:p>
            <a:r>
              <a:rPr lang="en-US" altLang="zh-CN" dirty="0"/>
              <a:t>	int </a:t>
            </a:r>
            <a:r>
              <a:rPr lang="en-US" altLang="zh-CN" dirty="0" err="1"/>
              <a:t>addr,new_addr,di,j,temp</a:t>
            </a:r>
            <a:r>
              <a:rPr lang="en-US" altLang="zh-CN" dirty="0"/>
              <a:t>;</a:t>
            </a:r>
          </a:p>
          <a:p>
            <a:r>
              <a:rPr lang="en-US" altLang="zh-CN" dirty="0"/>
              <a:t>	bool flag;</a:t>
            </a:r>
          </a:p>
          <a:p>
            <a:endParaRPr lang="en-US" altLang="zh-CN" dirty="0"/>
          </a:p>
          <a:p>
            <a:r>
              <a:rPr lang="en-US" altLang="zh-CN" dirty="0"/>
              <a:t>	for(int </a:t>
            </a:r>
            <a:r>
              <a:rPr lang="en-US" altLang="zh-CN" dirty="0" err="1"/>
              <a:t>i</a:t>
            </a:r>
            <a:r>
              <a:rPr lang="en-US" altLang="zh-CN" dirty="0"/>
              <a:t>=0;i&lt;</a:t>
            </a:r>
            <a:r>
              <a:rPr lang="en-US" altLang="zh-CN" dirty="0" err="1"/>
              <a:t>MaxSize;i</a:t>
            </a:r>
            <a:r>
              <a:rPr lang="en-US" altLang="zh-CN" dirty="0"/>
              <a:t>++)    		//</a:t>
            </a:r>
            <a:r>
              <a:rPr lang="zh-CN" altLang="en-US" dirty="0"/>
              <a:t>先将哈希表中元素置</a:t>
            </a:r>
            <a:r>
              <a:rPr lang="en-US" altLang="zh-CN" dirty="0"/>
              <a:t>-1</a:t>
            </a:r>
            <a:r>
              <a:rPr lang="zh-CN" altLang="en-US" dirty="0"/>
              <a:t>和索引下标 </a:t>
            </a:r>
          </a:p>
          <a:p>
            <a:r>
              <a:rPr lang="zh-CN" altLang="en-US" dirty="0"/>
              <a:t>	</a:t>
            </a:r>
            <a:r>
              <a:rPr lang="en-US" altLang="zh-CN" dirty="0"/>
              <a:t>{</a:t>
            </a:r>
          </a:p>
          <a:p>
            <a:r>
              <a:rPr lang="en-US" altLang="zh-CN" dirty="0"/>
              <a:t>		R[</a:t>
            </a:r>
            <a:r>
              <a:rPr lang="en-US" altLang="zh-CN" dirty="0" err="1"/>
              <a:t>i</a:t>
            </a:r>
            <a:r>
              <a:rPr lang="en-US" altLang="zh-CN" dirty="0"/>
              <a:t>].key=-1;</a:t>
            </a:r>
          </a:p>
          <a:p>
            <a:r>
              <a:rPr lang="en-US" altLang="zh-CN" dirty="0"/>
              <a:t>		R[</a:t>
            </a:r>
            <a:r>
              <a:rPr lang="en-US" altLang="zh-CN" dirty="0" err="1"/>
              <a:t>i</a:t>
            </a:r>
            <a:r>
              <a:rPr lang="en-US" altLang="zh-CN" dirty="0"/>
              <a:t>].</a:t>
            </a:r>
            <a:r>
              <a:rPr lang="en-US" altLang="zh-CN" dirty="0" err="1"/>
              <a:t>otherinfo</a:t>
            </a:r>
            <a:r>
              <a:rPr lang="en-US" altLang="zh-CN" dirty="0"/>
              <a:t>=</a:t>
            </a:r>
            <a:r>
              <a:rPr lang="en-US" altLang="zh-CN" dirty="0" err="1"/>
              <a:t>i</a:t>
            </a:r>
            <a:r>
              <a:rPr lang="en-US" altLang="zh-CN" dirty="0"/>
              <a:t>;</a:t>
            </a:r>
          </a:p>
          <a:p>
            <a:r>
              <a:rPr lang="en-US" altLang="zh-CN" dirty="0"/>
              <a:t>	}	</a:t>
            </a:r>
          </a:p>
          <a:p>
            <a:r>
              <a:rPr lang="en-US" altLang="zh-CN" dirty="0"/>
              <a:t>	for(int </a:t>
            </a:r>
            <a:r>
              <a:rPr lang="en-US" altLang="zh-CN" dirty="0" err="1"/>
              <a:t>i</a:t>
            </a:r>
            <a:r>
              <a:rPr lang="en-US" altLang="zh-CN" dirty="0"/>
              <a:t>=0;i&lt;</a:t>
            </a:r>
            <a:r>
              <a:rPr lang="en-US" altLang="zh-CN" dirty="0" err="1"/>
              <a:t>n;i</a:t>
            </a:r>
            <a:r>
              <a:rPr lang="en-US" altLang="zh-CN" dirty="0"/>
              <a:t>++)</a:t>
            </a:r>
          </a:p>
          <a:p>
            <a:r>
              <a:rPr lang="en-US" altLang="zh-CN" dirty="0"/>
              <a:t>	{</a:t>
            </a:r>
          </a:p>
          <a:p>
            <a:r>
              <a:rPr lang="en-US" altLang="zh-CN" dirty="0"/>
              <a:t>		</a:t>
            </a:r>
            <a:r>
              <a:rPr lang="en-US" altLang="zh-CN" dirty="0" err="1"/>
              <a:t>addr</a:t>
            </a:r>
            <a:r>
              <a:rPr lang="en-US" altLang="zh-CN" dirty="0"/>
              <a:t> = pa[</a:t>
            </a:r>
            <a:r>
              <a:rPr lang="en-US" altLang="zh-CN" dirty="0" err="1"/>
              <a:t>i</a:t>
            </a:r>
            <a:r>
              <a:rPr lang="en-US" altLang="zh-CN" dirty="0"/>
              <a:t>] % </a:t>
            </a:r>
            <a:r>
              <a:rPr lang="en-US" altLang="zh-CN" dirty="0" err="1"/>
              <a:t>MaxSize</a:t>
            </a:r>
            <a:r>
              <a:rPr lang="en-US" altLang="zh-CN" dirty="0"/>
              <a:t>;      //</a:t>
            </a:r>
            <a:r>
              <a:rPr lang="zh-CN" altLang="en-US" dirty="0"/>
              <a:t>计算哈希地址</a:t>
            </a:r>
          </a:p>
          <a:p>
            <a:r>
              <a:rPr lang="zh-CN" altLang="en-US" dirty="0"/>
              <a:t>		</a:t>
            </a:r>
            <a:r>
              <a:rPr lang="en-US" altLang="zh-CN" dirty="0" err="1"/>
              <a:t>new_addr</a:t>
            </a:r>
            <a:r>
              <a:rPr lang="en-US" altLang="zh-CN" dirty="0"/>
              <a:t> = </a:t>
            </a:r>
            <a:r>
              <a:rPr lang="en-US" altLang="zh-CN" dirty="0" err="1"/>
              <a:t>addr</a:t>
            </a:r>
            <a:r>
              <a:rPr lang="en-US" altLang="zh-CN" dirty="0"/>
              <a:t>;                 //</a:t>
            </a:r>
            <a:r>
              <a:rPr lang="zh-CN" altLang="en-US" dirty="0"/>
              <a:t>又假设为新地址</a:t>
            </a:r>
          </a:p>
          <a:p>
            <a:r>
              <a:rPr lang="zh-CN" altLang="en-US" dirty="0"/>
              <a:t>		</a:t>
            </a:r>
            <a:r>
              <a:rPr lang="en-US" altLang="zh-CN" dirty="0"/>
              <a:t>flag=true;                       //flag</a:t>
            </a:r>
            <a:r>
              <a:rPr lang="zh-CN" altLang="en-US" dirty="0"/>
              <a:t>为标志位</a:t>
            </a:r>
          </a:p>
          <a:p>
            <a:r>
              <a:rPr lang="zh-CN" altLang="en-US" dirty="0"/>
              <a:t>		</a:t>
            </a:r>
            <a:r>
              <a:rPr lang="en-US" altLang="zh-CN" dirty="0"/>
              <a:t>j = 1;</a:t>
            </a:r>
          </a:p>
          <a:p>
            <a:r>
              <a:rPr lang="en-US" altLang="zh-CN" dirty="0"/>
              <a:t>		temp=</a:t>
            </a:r>
            <a:r>
              <a:rPr lang="en-US" altLang="zh-CN" dirty="0" err="1"/>
              <a:t>new_addr</a:t>
            </a:r>
            <a:r>
              <a:rPr lang="en-US" altLang="zh-CN" dirty="0"/>
              <a:t>;</a:t>
            </a:r>
          </a:p>
          <a:p>
            <a:r>
              <a:rPr lang="en-US" altLang="zh-CN" dirty="0"/>
              <a:t>		while(R[</a:t>
            </a:r>
            <a:r>
              <a:rPr lang="en-US" altLang="zh-CN" dirty="0" err="1"/>
              <a:t>new_addr</a:t>
            </a:r>
            <a:r>
              <a:rPr lang="en-US" altLang="zh-CN" dirty="0"/>
              <a:t>].key!=-1)       //</a:t>
            </a:r>
            <a:r>
              <a:rPr lang="zh-CN" altLang="en-US" dirty="0"/>
              <a:t>循环搜索表中空闲单元</a:t>
            </a:r>
          </a:p>
          <a:p>
            <a:r>
              <a:rPr lang="zh-CN" altLang="en-US" dirty="0"/>
              <a:t>        </a:t>
            </a:r>
            <a:r>
              <a:rPr lang="en-US" altLang="zh-CN" dirty="0"/>
              <a:t>{</a:t>
            </a:r>
          </a:p>
          <a:p>
            <a:r>
              <a:rPr lang="en-US" altLang="zh-CN" dirty="0"/>
              <a:t>			if (flag)</a:t>
            </a:r>
          </a:p>
          <a:p>
            <a:r>
              <a:rPr lang="en-US" altLang="zh-CN" dirty="0"/>
              <a:t>				di=j*j;</a:t>
            </a:r>
          </a:p>
          <a:p>
            <a:r>
              <a:rPr lang="en-US" altLang="zh-CN" dirty="0"/>
              <a:t>			else</a:t>
            </a:r>
          </a:p>
          <a:p>
            <a:r>
              <a:rPr lang="en-US" altLang="zh-CN" dirty="0"/>
              <a:t>			{</a:t>
            </a:r>
          </a:p>
          <a:p>
            <a:r>
              <a:rPr lang="en-US" altLang="zh-CN" dirty="0"/>
              <a:t>				di=</a:t>
            </a:r>
            <a:r>
              <a:rPr lang="en-US" altLang="zh-CN" dirty="0" err="1"/>
              <a:t>MaxSize</a:t>
            </a:r>
            <a:r>
              <a:rPr lang="en-US" altLang="zh-CN" dirty="0"/>
              <a:t>-((j*j)%</a:t>
            </a:r>
            <a:r>
              <a:rPr lang="en-US" altLang="zh-CN" dirty="0" err="1"/>
              <a:t>MaxSize</a:t>
            </a:r>
            <a:r>
              <a:rPr lang="en-US" altLang="zh-CN" dirty="0"/>
              <a:t>);</a:t>
            </a:r>
          </a:p>
          <a:p>
            <a:r>
              <a:rPr lang="en-US" altLang="zh-CN" dirty="0"/>
              <a:t>				</a:t>
            </a:r>
            <a:r>
              <a:rPr lang="en-US" altLang="zh-CN" dirty="0" err="1"/>
              <a:t>j++</a:t>
            </a:r>
            <a:r>
              <a:rPr lang="en-US" altLang="zh-CN" dirty="0"/>
              <a:t>;</a:t>
            </a:r>
          </a:p>
          <a:p>
            <a:r>
              <a:rPr lang="en-US" altLang="zh-CN" dirty="0"/>
              <a:t>			}</a:t>
            </a:r>
          </a:p>
          <a:p>
            <a:r>
              <a:rPr lang="en-US" altLang="zh-CN" dirty="0"/>
              <a:t>			</a:t>
            </a:r>
            <a:r>
              <a:rPr lang="en-US" altLang="zh-CN" dirty="0" err="1"/>
              <a:t>new_addr</a:t>
            </a:r>
            <a:r>
              <a:rPr lang="en-US" altLang="zh-CN" dirty="0"/>
              <a:t> = (</a:t>
            </a:r>
            <a:r>
              <a:rPr lang="en-US" altLang="zh-CN" dirty="0" err="1"/>
              <a:t>addr+di</a:t>
            </a:r>
            <a:r>
              <a:rPr lang="en-US" altLang="zh-CN" dirty="0"/>
              <a:t>) % </a:t>
            </a:r>
            <a:r>
              <a:rPr lang="en-US" altLang="zh-CN" dirty="0" err="1"/>
              <a:t>MaxSize</a:t>
            </a:r>
            <a:r>
              <a:rPr lang="en-US" altLang="zh-CN" dirty="0"/>
              <a:t>;  //</a:t>
            </a:r>
            <a:r>
              <a:rPr lang="zh-CN" altLang="en-US" dirty="0"/>
              <a:t>地址冲突，计算新地址</a:t>
            </a:r>
          </a:p>
          <a:p>
            <a:r>
              <a:rPr lang="zh-CN" altLang="en-US" dirty="0"/>
              <a:t>			</a:t>
            </a:r>
            <a:r>
              <a:rPr lang="en-US" altLang="zh-CN" dirty="0"/>
              <a:t>if (</a:t>
            </a:r>
            <a:r>
              <a:rPr lang="en-US" altLang="zh-CN" dirty="0" err="1"/>
              <a:t>new_addr</a:t>
            </a:r>
            <a:r>
              <a:rPr lang="en-US" altLang="zh-CN" dirty="0"/>
              <a:t> == temp) return false;  	//</a:t>
            </a:r>
            <a:r>
              <a:rPr lang="zh-CN" altLang="en-US" dirty="0"/>
              <a:t>查找完所有位置后表示无法插入						</a:t>
            </a:r>
          </a:p>
          <a:p>
            <a:r>
              <a:rPr lang="zh-CN" altLang="en-US" dirty="0"/>
              <a:t>			</a:t>
            </a:r>
            <a:r>
              <a:rPr lang="en-US" altLang="zh-CN" dirty="0"/>
              <a:t>flag=!flag;</a:t>
            </a:r>
          </a:p>
          <a:p>
            <a:r>
              <a:rPr lang="en-US" altLang="zh-CN" dirty="0"/>
              <a:t>		}</a:t>
            </a:r>
          </a:p>
          <a:p>
            <a:r>
              <a:rPr lang="en-US" altLang="zh-CN" dirty="0"/>
              <a:t>		R[</a:t>
            </a:r>
            <a:r>
              <a:rPr lang="en-US" altLang="zh-CN" dirty="0" err="1"/>
              <a:t>new_addr</a:t>
            </a:r>
            <a:r>
              <a:rPr lang="en-US" altLang="zh-CN" dirty="0"/>
              <a:t>].</a:t>
            </a:r>
            <a:r>
              <a:rPr lang="en-US" altLang="zh-CN" dirty="0" err="1"/>
              <a:t>otherinfo</a:t>
            </a:r>
            <a:r>
              <a:rPr lang="en-US" altLang="zh-CN" dirty="0"/>
              <a:t> = </a:t>
            </a:r>
            <a:r>
              <a:rPr lang="en-US" altLang="zh-CN" dirty="0" err="1"/>
              <a:t>new_addr</a:t>
            </a:r>
            <a:r>
              <a:rPr lang="en-US" altLang="zh-CN" dirty="0"/>
              <a:t>;		</a:t>
            </a:r>
          </a:p>
          <a:p>
            <a:r>
              <a:rPr lang="en-US" altLang="zh-CN" dirty="0"/>
              <a:t>		R[</a:t>
            </a:r>
            <a:r>
              <a:rPr lang="en-US" altLang="zh-CN" dirty="0" err="1"/>
              <a:t>new_addr</a:t>
            </a:r>
            <a:r>
              <a:rPr lang="en-US" altLang="zh-CN" dirty="0"/>
              <a:t>].key = pa[</a:t>
            </a:r>
            <a:r>
              <a:rPr lang="en-US" altLang="zh-CN" dirty="0" err="1"/>
              <a:t>i</a:t>
            </a:r>
            <a:r>
              <a:rPr lang="en-US" altLang="zh-CN" dirty="0"/>
              <a:t>];</a:t>
            </a:r>
          </a:p>
          <a:p>
            <a:r>
              <a:rPr lang="en-US" altLang="zh-CN" dirty="0"/>
              <a:t>		</a:t>
            </a:r>
            <a:r>
              <a:rPr lang="en-US" altLang="zh-CN" dirty="0" err="1"/>
              <a:t>CurrentSize</a:t>
            </a:r>
            <a:r>
              <a:rPr lang="en-US" altLang="zh-CN" dirty="0"/>
              <a:t>++;</a:t>
            </a:r>
          </a:p>
          <a:p>
            <a:r>
              <a:rPr lang="en-US" altLang="zh-CN" dirty="0"/>
              <a:t>	}</a:t>
            </a:r>
          </a:p>
          <a:p>
            <a:r>
              <a:rPr lang="en-US" altLang="zh-CN" dirty="0"/>
              <a:t>	return true;</a:t>
            </a:r>
          </a:p>
          <a:p>
            <a:r>
              <a:rPr lang="en-US" altLang="zh-CN" dirty="0"/>
              <a:t>}</a:t>
            </a:r>
            <a:endParaRPr lang="zh-CN" altLang="en-US" dirty="0"/>
          </a:p>
        </p:txBody>
      </p:sp>
      <p:sp>
        <p:nvSpPr>
          <p:cNvPr id="4" name="灯片编号占位符 3"/>
          <p:cNvSpPr>
            <a:spLocks noGrp="1"/>
          </p:cNvSpPr>
          <p:nvPr>
            <p:ph type="sldNum" sz="quarter" idx="5"/>
          </p:nvPr>
        </p:nvSpPr>
        <p:spPr/>
        <p:txBody>
          <a:bodyPr/>
          <a:lstStyle/>
          <a:p>
            <a:fld id="{358D460B-FCBF-4F68-A559-8E415D1DDEDB}" type="slidenum">
              <a:rPr lang="zh-CN" altLang="en-US" smtClean="0"/>
              <a:pPr/>
              <a:t>64</a:t>
            </a:fld>
            <a:endParaRPr lang="zh-CN" altLang="en-US"/>
          </a:p>
        </p:txBody>
      </p:sp>
    </p:spTree>
    <p:extLst>
      <p:ext uri="{BB962C8B-B14F-4D97-AF65-F5344CB8AC3E}">
        <p14:creationId xmlns:p14="http://schemas.microsoft.com/office/powerpoint/2010/main" val="27344819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333333"/>
                </a:solidFill>
                <a:effectLst/>
                <a:latin typeface="pingfang SC"/>
              </a:rPr>
              <a:t>线性索引在插入和删除上就要浪费大量的时间，这点对于数据量大的情况下尤为明显。所以</a:t>
            </a:r>
            <a:r>
              <a:rPr lang="en-US" altLang="zh-CN" b="0" i="0" dirty="0">
                <a:solidFill>
                  <a:srgbClr val="333333"/>
                </a:solidFill>
                <a:effectLst/>
                <a:latin typeface="pingfang SC"/>
              </a:rPr>
              <a:t>MySQL</a:t>
            </a:r>
            <a:r>
              <a:rPr lang="zh-CN" altLang="en-US" b="0" i="0" dirty="0">
                <a:solidFill>
                  <a:srgbClr val="333333"/>
                </a:solidFill>
                <a:effectLst/>
                <a:latin typeface="pingfang SC"/>
              </a:rPr>
              <a:t>的引擎几乎没有使用线性索引。</a:t>
            </a:r>
            <a:r>
              <a:rPr lang="en-US" altLang="zh-CN" b="0" i="0" dirty="0">
                <a:solidFill>
                  <a:srgbClr val="333333"/>
                </a:solidFill>
                <a:effectLst/>
                <a:latin typeface="pingfang SC"/>
              </a:rPr>
              <a:t>MySQL</a:t>
            </a:r>
            <a:r>
              <a:rPr lang="zh-CN" altLang="en-US" b="0" i="0" dirty="0">
                <a:solidFill>
                  <a:srgbClr val="333333"/>
                </a:solidFill>
                <a:effectLst/>
                <a:latin typeface="pingfang SC"/>
              </a:rPr>
              <a:t>的主流存储引擎都使用</a:t>
            </a:r>
            <a:r>
              <a:rPr lang="en-US" altLang="zh-CN" b="0" i="0" dirty="0">
                <a:solidFill>
                  <a:srgbClr val="333333"/>
                </a:solidFill>
                <a:effectLst/>
                <a:latin typeface="pingfang SC"/>
              </a:rPr>
              <a:t>B-/B+</a:t>
            </a:r>
            <a:r>
              <a:rPr lang="zh-CN" altLang="en-US" b="0" i="0" dirty="0">
                <a:solidFill>
                  <a:srgbClr val="333333"/>
                </a:solidFill>
                <a:effectLst/>
                <a:latin typeface="pingfang SC"/>
              </a:rPr>
              <a:t>树索引，作为二叉树的变种，我们先简单介绍一下使用二叉搜索树构建的索引。</a:t>
            </a:r>
            <a:endParaRPr lang="en-US" altLang="zh-CN" b="0" i="0" dirty="0">
              <a:solidFill>
                <a:srgbClr val="333333"/>
              </a:solidFill>
              <a:effectLst/>
              <a:latin typeface="pingfang SC"/>
            </a:endParaRPr>
          </a:p>
          <a:p>
            <a:pPr algn="l"/>
            <a:r>
              <a:rPr lang="zh-CN" altLang="en-US" b="0" i="0" dirty="0">
                <a:solidFill>
                  <a:srgbClr val="333333"/>
                </a:solidFill>
                <a:effectLst/>
                <a:latin typeface="pingfang SC"/>
              </a:rPr>
              <a:t>二叉树在保留了二分搜索的前提下，使插入和删除上可以直接修改指针实现，极大提高插入和删除的效率。但是由于二叉树的形状不确定性导致极端查询时间复杂度和平均查询时间复杂度相差很大。例如如果插入数据时本身就是从小到大插入的，那么在构建索引时就会构建出一条极右斜树，他虽然是二叉搜索树，但是这时候对索引的搜索效率等于遍历效率，即</a:t>
            </a:r>
            <a:r>
              <a:rPr lang="en-US" altLang="zh-CN" b="0" i="0" dirty="0">
                <a:solidFill>
                  <a:srgbClr val="333333"/>
                </a:solidFill>
                <a:effectLst/>
                <a:latin typeface="pingfang SC"/>
              </a:rPr>
              <a:t>O(n)</a:t>
            </a:r>
            <a:r>
              <a:rPr lang="zh-CN" altLang="en-US" b="0" i="0" dirty="0">
                <a:solidFill>
                  <a:srgbClr val="333333"/>
                </a:solidFill>
                <a:effectLst/>
                <a:latin typeface="pingfang SC"/>
              </a:rPr>
              <a:t>，而对于上图情况却最多只需要查找两次。所以就有了平衡二叉树</a:t>
            </a:r>
            <a:r>
              <a:rPr lang="en-US" altLang="zh-CN" b="0" i="0" dirty="0">
                <a:solidFill>
                  <a:srgbClr val="333333"/>
                </a:solidFill>
                <a:effectLst/>
                <a:latin typeface="pingfang SC"/>
              </a:rPr>
              <a:t>(AVL tree)</a:t>
            </a:r>
            <a:r>
              <a:rPr lang="zh-CN" altLang="en-US" b="0" i="0" dirty="0">
                <a:solidFill>
                  <a:srgbClr val="333333"/>
                </a:solidFill>
                <a:effectLst/>
                <a:latin typeface="pingfang SC"/>
              </a:rPr>
              <a:t>和红黑树</a:t>
            </a:r>
            <a:r>
              <a:rPr lang="en-US" altLang="zh-CN" b="0" i="0" dirty="0">
                <a:solidFill>
                  <a:srgbClr val="333333"/>
                </a:solidFill>
                <a:effectLst/>
                <a:latin typeface="pingfang SC"/>
              </a:rPr>
              <a:t>(Red–black tree)</a:t>
            </a:r>
          </a:p>
          <a:p>
            <a:pPr algn="l"/>
            <a:r>
              <a:rPr lang="zh-CN" altLang="en-US" b="0" i="0" dirty="0">
                <a:solidFill>
                  <a:srgbClr val="333333"/>
                </a:solidFill>
                <a:effectLst/>
                <a:latin typeface="pingfang SC"/>
              </a:rPr>
              <a:t>平衡二叉树上所有结点的平衡因子（</a:t>
            </a:r>
            <a:r>
              <a:rPr lang="en-US" altLang="zh-CN" b="0" i="0" dirty="0">
                <a:solidFill>
                  <a:srgbClr val="333333"/>
                </a:solidFill>
                <a:effectLst/>
                <a:latin typeface="pingfang SC"/>
              </a:rPr>
              <a:t>balance factor</a:t>
            </a:r>
            <a:r>
              <a:rPr lang="zh-CN" altLang="en-US" b="0" i="0" dirty="0">
                <a:solidFill>
                  <a:srgbClr val="333333"/>
                </a:solidFill>
                <a:effectLst/>
                <a:latin typeface="pingfang SC"/>
              </a:rPr>
              <a:t>）值只能是</a:t>
            </a:r>
            <a:r>
              <a:rPr lang="en-US" altLang="zh-CN" b="0" i="0" dirty="0">
                <a:solidFill>
                  <a:srgbClr val="333333"/>
                </a:solidFill>
                <a:effectLst/>
                <a:latin typeface="pingfang SC"/>
              </a:rPr>
              <a:t>-1</a:t>
            </a:r>
            <a:r>
              <a:rPr lang="zh-CN" altLang="en-US" b="0" i="0" dirty="0">
                <a:solidFill>
                  <a:srgbClr val="333333"/>
                </a:solidFill>
                <a:effectLst/>
                <a:latin typeface="pingfang SC"/>
              </a:rPr>
              <a:t>、</a:t>
            </a:r>
            <a:r>
              <a:rPr lang="en-US" altLang="zh-CN" b="0" i="0" dirty="0">
                <a:solidFill>
                  <a:srgbClr val="333333"/>
                </a:solidFill>
                <a:effectLst/>
                <a:latin typeface="pingfang SC"/>
              </a:rPr>
              <a:t>0</a:t>
            </a:r>
            <a:r>
              <a:rPr lang="zh-CN" altLang="en-US" b="0" i="0" dirty="0">
                <a:solidFill>
                  <a:srgbClr val="333333"/>
                </a:solidFill>
                <a:effectLst/>
                <a:latin typeface="pingfang SC"/>
              </a:rPr>
              <a:t>、</a:t>
            </a:r>
            <a:r>
              <a:rPr lang="en-US" altLang="zh-CN" b="0" i="0" dirty="0">
                <a:solidFill>
                  <a:srgbClr val="333333"/>
                </a:solidFill>
                <a:effectLst/>
                <a:latin typeface="pingfang SC"/>
              </a:rPr>
              <a:t>1</a:t>
            </a:r>
            <a:r>
              <a:rPr lang="zh-CN" altLang="en-US" b="0" i="0" dirty="0">
                <a:solidFill>
                  <a:srgbClr val="333333"/>
                </a:solidFill>
                <a:effectLst/>
                <a:latin typeface="pingfang SC"/>
              </a:rPr>
              <a:t>，保证了查找时的效率问题，但是同样的由于频繁调整树的节点，插入和删除效率下降。而红黑树并不追求“完全平衡”</a:t>
            </a:r>
            <a:r>
              <a:rPr lang="en-US" altLang="zh-CN" b="0" i="0" dirty="0">
                <a:solidFill>
                  <a:srgbClr val="333333"/>
                </a:solidFill>
                <a:effectLst/>
                <a:latin typeface="pingfang SC"/>
              </a:rPr>
              <a:t>——</a:t>
            </a:r>
            <a:r>
              <a:rPr lang="zh-CN" altLang="en-US" b="0" i="0" dirty="0">
                <a:solidFill>
                  <a:srgbClr val="333333"/>
                </a:solidFill>
                <a:effectLst/>
                <a:latin typeface="pingfang SC"/>
              </a:rPr>
              <a:t>它只要求部分地达到平衡要求，降低了对旋转的要求，从而提高了性能。</a:t>
            </a:r>
          </a:p>
          <a:p>
            <a:pPr algn="l"/>
            <a:r>
              <a:rPr lang="zh-CN" altLang="en-US" b="0" i="0" dirty="0">
                <a:solidFill>
                  <a:srgbClr val="333333"/>
                </a:solidFill>
                <a:effectLst/>
                <a:latin typeface="pingfang SC"/>
              </a:rPr>
              <a:t>红黑树能够以</a:t>
            </a:r>
            <a:r>
              <a:rPr lang="en-US" altLang="zh-CN" b="0" i="0" dirty="0">
                <a:solidFill>
                  <a:srgbClr val="333333"/>
                </a:solidFill>
                <a:effectLst/>
                <a:latin typeface="pingfang SC"/>
              </a:rPr>
              <a:t>O(log2 n) </a:t>
            </a:r>
            <a:r>
              <a:rPr lang="zh-CN" altLang="en-US" b="0" i="0" dirty="0">
                <a:solidFill>
                  <a:srgbClr val="333333"/>
                </a:solidFill>
                <a:effectLst/>
                <a:latin typeface="pingfang SC"/>
              </a:rPr>
              <a:t>的时间复杂度进行搜索、插入、删除操作。此外，由于它的设计，任何不平衡都会在三次旋转之内解决。当然，还有一些更好的，但实现起来更复杂的数据结构，能够做到一步旋转之内达到平衡，但红黑树能够给我们一个比较“便宜”的解决方案。红黑树的算法时间复杂度和</a:t>
            </a:r>
            <a:r>
              <a:rPr lang="en-US" altLang="zh-CN" b="0" i="0" dirty="0">
                <a:solidFill>
                  <a:srgbClr val="333333"/>
                </a:solidFill>
                <a:effectLst/>
                <a:latin typeface="pingfang SC"/>
              </a:rPr>
              <a:t>AVL</a:t>
            </a:r>
            <a:r>
              <a:rPr lang="zh-CN" altLang="en-US" b="0" i="0" dirty="0">
                <a:solidFill>
                  <a:srgbClr val="333333"/>
                </a:solidFill>
                <a:effectLst/>
                <a:latin typeface="pingfang SC"/>
              </a:rPr>
              <a:t>相同，但统计性能比</a:t>
            </a:r>
            <a:r>
              <a:rPr lang="en-US" altLang="zh-CN" b="0" i="0" dirty="0">
                <a:solidFill>
                  <a:srgbClr val="333333"/>
                </a:solidFill>
                <a:effectLst/>
                <a:latin typeface="pingfang SC"/>
              </a:rPr>
              <a:t>AVL</a:t>
            </a:r>
            <a:r>
              <a:rPr lang="zh-CN" altLang="en-US" b="0" i="0" dirty="0">
                <a:solidFill>
                  <a:srgbClr val="333333"/>
                </a:solidFill>
                <a:effectLst/>
                <a:latin typeface="pingfang SC"/>
              </a:rPr>
              <a:t>树更高。</a:t>
            </a:r>
            <a:endParaRPr lang="en-US" altLang="zh-CN" b="0" i="0" dirty="0">
              <a:solidFill>
                <a:srgbClr val="333333"/>
              </a:solidFill>
              <a:effectLst/>
              <a:latin typeface="pingfang SC"/>
            </a:endParaRPr>
          </a:p>
          <a:p>
            <a:pPr algn="l"/>
            <a:r>
              <a:rPr lang="zh-CN" altLang="en-US" b="0" i="0" dirty="0">
                <a:solidFill>
                  <a:srgbClr val="333333"/>
                </a:solidFill>
                <a:effectLst/>
                <a:latin typeface="PingFang SC"/>
              </a:rPr>
              <a:t>树形索引‌是一种在数据库中用于加速数据检索的数据结构，通过建立值与物理位置的映射，减少磁盘</a:t>
            </a:r>
            <a:r>
              <a:rPr lang="en-US" altLang="zh-CN" b="0" i="0" dirty="0">
                <a:solidFill>
                  <a:srgbClr val="333333"/>
                </a:solidFill>
                <a:effectLst/>
                <a:latin typeface="PingFang SC"/>
              </a:rPr>
              <a:t>I/O</a:t>
            </a:r>
            <a:r>
              <a:rPr lang="zh-CN" altLang="en-US" b="0" i="0" dirty="0">
                <a:solidFill>
                  <a:srgbClr val="333333"/>
                </a:solidFill>
                <a:effectLst/>
                <a:latin typeface="PingFang SC"/>
              </a:rPr>
              <a:t>次数，类似于书籍的目录。其核心目标在于加速数据检索，提高查询效率‌</a:t>
            </a:r>
            <a:endParaRPr lang="en-US" altLang="zh-CN" b="0" i="0" dirty="0">
              <a:solidFill>
                <a:srgbClr val="333333"/>
              </a:solidFill>
              <a:effectLst/>
              <a:latin typeface="PingFang SC"/>
            </a:endParaRPr>
          </a:p>
          <a:p>
            <a:pPr algn="l"/>
            <a:r>
              <a:rPr lang="zh-CN" altLang="en-US" b="0" i="0" dirty="0">
                <a:solidFill>
                  <a:srgbClr val="333333"/>
                </a:solidFill>
                <a:effectLst/>
                <a:latin typeface="PingFang SC"/>
              </a:rPr>
              <a:t>树形索引通过构建一个树形结构来组织数据，使得数据的查找、插入和删除操作可以在对数时间内完成。常见的树形索引包括</a:t>
            </a:r>
            <a:r>
              <a:rPr lang="zh-CN" altLang="en-US" b="0" i="0" dirty="0">
                <a:solidFill>
                  <a:srgbClr val="2440B3"/>
                </a:solidFill>
                <a:effectLst/>
                <a:latin typeface="PingFang SC"/>
              </a:rPr>
              <a:t> </a:t>
            </a:r>
            <a:r>
              <a:rPr lang="en-US" altLang="zh-CN" b="0" i="0" dirty="0">
                <a:solidFill>
                  <a:srgbClr val="2440B3"/>
                </a:solidFill>
                <a:effectLst/>
                <a:latin typeface="PingFang SC"/>
              </a:rPr>
              <a:t>B</a:t>
            </a:r>
            <a:r>
              <a:rPr lang="zh-CN" altLang="en-US" b="0" i="0" dirty="0">
                <a:solidFill>
                  <a:srgbClr val="2440B3"/>
                </a:solidFill>
                <a:effectLst/>
                <a:latin typeface="PingFang SC"/>
              </a:rPr>
              <a:t>树索引 </a:t>
            </a:r>
            <a:r>
              <a:rPr lang="zh-CN" altLang="en-US" b="0" i="0" dirty="0">
                <a:solidFill>
                  <a:srgbClr val="333333"/>
                </a:solidFill>
                <a:effectLst/>
                <a:latin typeface="PingFang SC"/>
              </a:rPr>
              <a:t>、</a:t>
            </a:r>
            <a:r>
              <a:rPr lang="zh-CN" altLang="en-US" b="0" i="0" dirty="0">
                <a:solidFill>
                  <a:srgbClr val="2440B3"/>
                </a:solidFill>
                <a:effectLst/>
                <a:latin typeface="PingFang SC"/>
              </a:rPr>
              <a:t> </a:t>
            </a:r>
            <a:r>
              <a:rPr lang="en-US" altLang="zh-CN" b="0" i="0" dirty="0">
                <a:solidFill>
                  <a:srgbClr val="2440B3"/>
                </a:solidFill>
                <a:effectLst/>
                <a:latin typeface="PingFang SC"/>
              </a:rPr>
              <a:t>B+</a:t>
            </a:r>
            <a:r>
              <a:rPr lang="zh-CN" altLang="en-US" b="0" i="0" dirty="0">
                <a:solidFill>
                  <a:srgbClr val="2440B3"/>
                </a:solidFill>
                <a:effectLst/>
                <a:latin typeface="PingFang SC"/>
              </a:rPr>
              <a:t>树索引 </a:t>
            </a:r>
            <a:r>
              <a:rPr lang="zh-CN" altLang="en-US" b="0" i="0" dirty="0">
                <a:solidFill>
                  <a:srgbClr val="333333"/>
                </a:solidFill>
                <a:effectLst/>
                <a:latin typeface="PingFang SC"/>
              </a:rPr>
              <a:t>、</a:t>
            </a:r>
            <a:r>
              <a:rPr lang="zh-CN" altLang="en-US" b="0" i="0" dirty="0">
                <a:solidFill>
                  <a:srgbClr val="2440B3"/>
                </a:solidFill>
                <a:effectLst/>
                <a:latin typeface="PingFang SC"/>
              </a:rPr>
              <a:t> 哈希索引 </a:t>
            </a:r>
            <a:r>
              <a:rPr lang="zh-CN" altLang="en-US" b="0" i="0" dirty="0">
                <a:solidFill>
                  <a:srgbClr val="333333"/>
                </a:solidFill>
                <a:effectLst/>
                <a:latin typeface="PingFang SC"/>
              </a:rPr>
              <a:t>、</a:t>
            </a:r>
            <a:r>
              <a:rPr lang="zh-CN" altLang="en-US" b="0" i="0" dirty="0">
                <a:solidFill>
                  <a:srgbClr val="2440B3"/>
                </a:solidFill>
                <a:effectLst/>
                <a:latin typeface="PingFang SC"/>
              </a:rPr>
              <a:t> 全文索引 </a:t>
            </a:r>
            <a:r>
              <a:rPr lang="zh-CN" altLang="en-US" b="0" i="0" dirty="0">
                <a:solidFill>
                  <a:srgbClr val="333333"/>
                </a:solidFill>
                <a:effectLst/>
                <a:latin typeface="PingFang SC"/>
              </a:rPr>
              <a:t>和</a:t>
            </a:r>
            <a:r>
              <a:rPr lang="zh-CN" altLang="en-US" b="0" i="0" dirty="0">
                <a:solidFill>
                  <a:srgbClr val="2440B3"/>
                </a:solidFill>
                <a:effectLst/>
                <a:latin typeface="PingFang SC"/>
              </a:rPr>
              <a:t> 位图索引</a:t>
            </a:r>
            <a:endParaRPr lang="en-US" altLang="zh-CN" b="0" i="0" dirty="0">
              <a:solidFill>
                <a:srgbClr val="2440B3"/>
              </a:solidFill>
              <a:effectLst/>
              <a:latin typeface="PingFang SC"/>
            </a:endParaRPr>
          </a:p>
          <a:p>
            <a:pPr algn="l"/>
            <a:r>
              <a:rPr lang="zh-CN" altLang="en-US" b="0" i="0" dirty="0">
                <a:solidFill>
                  <a:srgbClr val="191B1F"/>
                </a:solidFill>
                <a:effectLst/>
                <a:latin typeface="-apple-system"/>
              </a:rPr>
              <a:t>因此对应的数据结构应该尽量的满足“</a:t>
            </a:r>
            <a:r>
              <a:rPr lang="zh-CN" altLang="en-US" b="0" i="0" u="none" strike="noStrike" dirty="0">
                <a:solidFill>
                  <a:srgbClr val="09408E"/>
                </a:solidFill>
                <a:effectLst/>
                <a:latin typeface="-apple-system"/>
                <a:hlinkClick r:id="rId3"/>
              </a:rPr>
              <a:t>局部性原理</a:t>
            </a:r>
            <a:r>
              <a:rPr lang="zh-CN" altLang="en-US" b="0" i="0" dirty="0">
                <a:solidFill>
                  <a:srgbClr val="191B1F"/>
                </a:solidFill>
                <a:effectLst/>
                <a:latin typeface="-apple-system"/>
              </a:rPr>
              <a:t>”：“当一个数据被用到时，其附近的数据也通常会马上被使用”</a:t>
            </a:r>
            <a:endParaRPr lang="en-US" altLang="zh-CN" b="0" i="0" dirty="0">
              <a:solidFill>
                <a:srgbClr val="191B1F"/>
              </a:solidFill>
              <a:effectLst/>
              <a:latin typeface="-apple-system"/>
            </a:endParaRPr>
          </a:p>
          <a:p>
            <a:pPr algn="l"/>
            <a:r>
              <a:rPr lang="zh-CN" altLang="en-US" b="0" i="0" dirty="0">
                <a:solidFill>
                  <a:srgbClr val="191B1F"/>
                </a:solidFill>
                <a:effectLst/>
                <a:latin typeface="-apple-system"/>
              </a:rPr>
              <a:t>由于平衡二叉查找树每个节点只能容纳一个数据，导致树的高度很高，逻辑上挨着的节点数据可能离的很远。如果是在内存中操作数据的话，这样问题并不大。考虑在磁盘中存储数据的情况</a:t>
            </a:r>
            <a:endParaRPr lang="en-US" altLang="zh-CN" b="0" i="0" dirty="0">
              <a:solidFill>
                <a:srgbClr val="191B1F"/>
              </a:solidFill>
              <a:effectLst/>
              <a:latin typeface="-apple-system"/>
            </a:endParaRPr>
          </a:p>
          <a:p>
            <a:pPr algn="l"/>
            <a:r>
              <a:rPr lang="zh-CN" altLang="en-US" b="0" i="0" dirty="0">
                <a:solidFill>
                  <a:srgbClr val="191B1F"/>
                </a:solidFill>
                <a:effectLst/>
                <a:latin typeface="-apple-system"/>
              </a:rPr>
              <a:t>对比起一个节点只能存储一个数据的</a:t>
            </a:r>
            <a:r>
              <a:rPr lang="en-US" altLang="zh-CN" b="0" i="0" dirty="0">
                <a:solidFill>
                  <a:srgbClr val="191B1F"/>
                </a:solidFill>
                <a:effectLst/>
                <a:latin typeface="-apple-system"/>
              </a:rPr>
              <a:t>BST</a:t>
            </a:r>
            <a:r>
              <a:rPr lang="zh-CN" altLang="en-US" b="0" i="0" dirty="0">
                <a:solidFill>
                  <a:srgbClr val="191B1F"/>
                </a:solidFill>
                <a:effectLst/>
                <a:latin typeface="-apple-system"/>
              </a:rPr>
              <a:t>类数据结构来，要求这种数据结构在形状上更“胖”、更加“扁平”，即：每个节点能容纳更多的数据，这样就能降低树的高度，同时让逻辑上相邻的数据都能尽量的存储在物理上也相邻的硬盘空间上，减少磁盘读写。</a:t>
            </a:r>
          </a:p>
          <a:p>
            <a:pPr algn="l"/>
            <a:endParaRPr lang="en-US" altLang="zh-CN" b="0" i="0" dirty="0">
              <a:solidFill>
                <a:srgbClr val="2440B3"/>
              </a:solidFill>
              <a:effectLst/>
              <a:latin typeface="PingFang SC"/>
            </a:endParaRPr>
          </a:p>
          <a:p>
            <a:pPr algn="l"/>
            <a:br>
              <a:rPr lang="zh-CN" altLang="en-US" b="0" i="0" dirty="0">
                <a:solidFill>
                  <a:srgbClr val="333333"/>
                </a:solidFill>
                <a:effectLst/>
                <a:latin typeface="PingFang SC"/>
              </a:rPr>
            </a:br>
            <a:endParaRPr lang="zh-CN" altLang="en-US" b="0" i="0" dirty="0">
              <a:solidFill>
                <a:srgbClr val="333333"/>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fld id="{358D460B-FCBF-4F68-A559-8E415D1DDEDB}" type="slidenum">
              <a:rPr lang="zh-CN" altLang="en-US" smtClean="0"/>
              <a:pPr/>
              <a:t>81</a:t>
            </a:fld>
            <a:endParaRPr lang="zh-CN" altLang="en-US"/>
          </a:p>
        </p:txBody>
      </p:sp>
    </p:spTree>
    <p:extLst>
      <p:ext uri="{BB962C8B-B14F-4D97-AF65-F5344CB8AC3E}">
        <p14:creationId xmlns:p14="http://schemas.microsoft.com/office/powerpoint/2010/main" val="14546311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58D460B-FCBF-4F68-A559-8E415D1DDEDB}" type="slidenum">
              <a:rPr lang="zh-CN" altLang="en-US" smtClean="0"/>
              <a:pPr/>
              <a:t>84</a:t>
            </a:fld>
            <a:endParaRPr lang="zh-CN" altLang="en-US"/>
          </a:p>
        </p:txBody>
      </p:sp>
    </p:spTree>
    <p:extLst>
      <p:ext uri="{BB962C8B-B14F-4D97-AF65-F5344CB8AC3E}">
        <p14:creationId xmlns:p14="http://schemas.microsoft.com/office/powerpoint/2010/main" val="9921550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191B1F"/>
                </a:solidFill>
                <a:effectLst/>
                <a:latin typeface="-apple-system"/>
              </a:rPr>
              <a:t>B</a:t>
            </a:r>
            <a:r>
              <a:rPr lang="zh-CN" altLang="en-US" b="0" i="0" dirty="0">
                <a:solidFill>
                  <a:srgbClr val="191B1F"/>
                </a:solidFill>
                <a:effectLst/>
                <a:latin typeface="-apple-system"/>
              </a:rPr>
              <a:t>树的搜索，从根结点开始，如果查询的关键字与结点的关键字相等，那么就命中；否则，如果查询关键字比结点关键字小，就进入左儿子；如果比结点关键字大，就进入右儿子；如果左儿子或右儿子的指针为空，则报告找不到相应的关键字；</a:t>
            </a:r>
            <a:endParaRPr lang="zh-CN" altLang="en-US" dirty="0"/>
          </a:p>
        </p:txBody>
      </p:sp>
      <p:sp>
        <p:nvSpPr>
          <p:cNvPr id="4" name="灯片编号占位符 3"/>
          <p:cNvSpPr>
            <a:spLocks noGrp="1"/>
          </p:cNvSpPr>
          <p:nvPr>
            <p:ph type="sldNum" sz="quarter" idx="5"/>
          </p:nvPr>
        </p:nvSpPr>
        <p:spPr/>
        <p:txBody>
          <a:bodyPr/>
          <a:lstStyle/>
          <a:p>
            <a:fld id="{358D460B-FCBF-4F68-A559-8E415D1DDEDB}" type="slidenum">
              <a:rPr lang="zh-CN" altLang="en-US" smtClean="0"/>
              <a:pPr/>
              <a:t>127</a:t>
            </a:fld>
            <a:endParaRPr lang="zh-CN" altLang="en-US"/>
          </a:p>
        </p:txBody>
      </p:sp>
    </p:spTree>
    <p:extLst>
      <p:ext uri="{BB962C8B-B14F-4D97-AF65-F5344CB8AC3E}">
        <p14:creationId xmlns:p14="http://schemas.microsoft.com/office/powerpoint/2010/main" val="10769845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200" b="1" i="0" dirty="0">
                <a:solidFill>
                  <a:srgbClr val="191B1F"/>
                </a:solidFill>
                <a:effectLst/>
                <a:latin typeface="-apple-system"/>
              </a:rPr>
              <a:t>在</a:t>
            </a:r>
            <a:r>
              <a:rPr lang="en-US" altLang="zh-CN" sz="1200" b="1" i="0" dirty="0">
                <a:solidFill>
                  <a:srgbClr val="191B1F"/>
                </a:solidFill>
                <a:effectLst/>
                <a:latin typeface="-apple-system"/>
              </a:rPr>
              <a:t>B</a:t>
            </a:r>
            <a:r>
              <a:rPr lang="zh-CN" altLang="en-US" sz="1200" b="1" i="0" dirty="0">
                <a:solidFill>
                  <a:srgbClr val="191B1F"/>
                </a:solidFill>
                <a:effectLst/>
                <a:latin typeface="-apple-system"/>
              </a:rPr>
              <a:t>树中，分为两种节点：</a:t>
            </a:r>
          </a:p>
          <a:p>
            <a:pPr algn="l">
              <a:buFont typeface="Arial" panose="020B0604020202020204" pitchFamily="34" charset="0"/>
              <a:buChar char="•"/>
            </a:pPr>
            <a:r>
              <a:rPr lang="zh-CN" altLang="en-US" sz="1200" b="1" i="0" u="none" strike="noStrike" dirty="0">
                <a:solidFill>
                  <a:srgbClr val="09408E"/>
                </a:solidFill>
                <a:effectLst/>
                <a:latin typeface="-apple-system"/>
                <a:hlinkClick r:id="rId3"/>
              </a:rPr>
              <a:t>内部节点</a:t>
            </a:r>
            <a:r>
              <a:rPr lang="zh-CN" altLang="en-US" sz="1200" b="1" i="0" dirty="0">
                <a:solidFill>
                  <a:srgbClr val="191B1F"/>
                </a:solidFill>
                <a:effectLst/>
                <a:latin typeface="-apple-system"/>
              </a:rPr>
              <a:t>（</a:t>
            </a:r>
            <a:r>
              <a:rPr lang="en-US" altLang="zh-CN" sz="1200" b="1" i="0" dirty="0">
                <a:solidFill>
                  <a:srgbClr val="191B1F"/>
                </a:solidFill>
                <a:effectLst/>
                <a:latin typeface="-apple-system"/>
              </a:rPr>
              <a:t>internal node</a:t>
            </a:r>
            <a:r>
              <a:rPr lang="zh-CN" altLang="en-US" sz="1200" b="1" i="0" dirty="0">
                <a:solidFill>
                  <a:srgbClr val="191B1F"/>
                </a:solidFill>
                <a:effectLst/>
                <a:latin typeface="-apple-system"/>
              </a:rPr>
              <a:t>）：存储了数据以及指向其子节点的指针。</a:t>
            </a:r>
          </a:p>
          <a:p>
            <a:pPr algn="l">
              <a:buFont typeface="Arial" panose="020B0604020202020204" pitchFamily="34" charset="0"/>
              <a:buChar char="•"/>
            </a:pPr>
            <a:r>
              <a:rPr lang="zh-CN" altLang="en-US" sz="1200" b="1" i="0" u="none" strike="noStrike" dirty="0">
                <a:solidFill>
                  <a:srgbClr val="09408E"/>
                </a:solidFill>
                <a:effectLst/>
                <a:latin typeface="-apple-system"/>
                <a:hlinkClick r:id="rId4"/>
              </a:rPr>
              <a:t>叶子节点</a:t>
            </a:r>
            <a:r>
              <a:rPr lang="zh-CN" altLang="en-US" sz="1200" b="1" i="0" dirty="0">
                <a:solidFill>
                  <a:srgbClr val="191B1F"/>
                </a:solidFill>
                <a:effectLst/>
                <a:latin typeface="-apple-system"/>
              </a:rPr>
              <a:t>（</a:t>
            </a:r>
            <a:r>
              <a:rPr lang="en-US" altLang="zh-CN" sz="1200" b="1" i="0" dirty="0">
                <a:solidFill>
                  <a:srgbClr val="191B1F"/>
                </a:solidFill>
                <a:effectLst/>
                <a:latin typeface="-apple-system"/>
              </a:rPr>
              <a:t>leaf node</a:t>
            </a:r>
            <a:r>
              <a:rPr lang="zh-CN" altLang="en-US" sz="1200" b="1" i="0" dirty="0">
                <a:solidFill>
                  <a:srgbClr val="191B1F"/>
                </a:solidFill>
                <a:effectLst/>
                <a:latin typeface="-apple-system"/>
              </a:rPr>
              <a:t>）：与内部节点不同的是，叶子节点只存储数据，并没有子节点。</a:t>
            </a:r>
          </a:p>
          <a:p>
            <a:pPr algn="l"/>
            <a:r>
              <a:rPr lang="zh-CN" altLang="en-US" sz="1200" b="1" i="0" dirty="0">
                <a:solidFill>
                  <a:srgbClr val="191B1F"/>
                </a:solidFill>
                <a:effectLst/>
                <a:latin typeface="-apple-system"/>
              </a:rPr>
              <a:t>一个数据，既可能存在内部节点上，也可能存在叶子节点上，这一点是与后面讲到的</a:t>
            </a:r>
            <a:r>
              <a:rPr lang="en-US" altLang="zh-CN" sz="1200" b="1" i="0" dirty="0">
                <a:solidFill>
                  <a:srgbClr val="191B1F"/>
                </a:solidFill>
                <a:effectLst/>
                <a:latin typeface="-apple-system"/>
              </a:rPr>
              <a:t>B+</a:t>
            </a:r>
            <a:r>
              <a:rPr lang="zh-CN" altLang="en-US" sz="1200" b="1" i="0" dirty="0">
                <a:solidFill>
                  <a:srgbClr val="191B1F"/>
                </a:solidFill>
                <a:effectLst/>
                <a:latin typeface="-apple-system"/>
              </a:rPr>
              <a:t>树最大的不同，后者只会将数据存储在叶子节点上。</a:t>
            </a:r>
          </a:p>
          <a:p>
            <a:pPr algn="l"/>
            <a:r>
              <a:rPr lang="zh-CN" altLang="en-US" sz="1200" b="1" i="0" dirty="0">
                <a:solidFill>
                  <a:srgbClr val="191B1F"/>
                </a:solidFill>
                <a:effectLst/>
                <a:latin typeface="-apple-system"/>
              </a:rPr>
              <a:t>创建</a:t>
            </a:r>
            <a:r>
              <a:rPr lang="en-US" altLang="zh-CN" sz="1200" b="1" i="0" dirty="0">
                <a:solidFill>
                  <a:srgbClr val="191B1F"/>
                </a:solidFill>
                <a:effectLst/>
                <a:latin typeface="-apple-system"/>
              </a:rPr>
              <a:t>B</a:t>
            </a:r>
            <a:r>
              <a:rPr lang="zh-CN" altLang="en-US" sz="1200" b="1" i="0" dirty="0">
                <a:solidFill>
                  <a:srgbClr val="191B1F"/>
                </a:solidFill>
                <a:effectLst/>
                <a:latin typeface="-apple-system"/>
              </a:rPr>
              <a:t>树时，需要输入一个</a:t>
            </a:r>
            <a:r>
              <a:rPr lang="en-US" altLang="zh-CN" sz="1200" b="1" i="0" dirty="0">
                <a:solidFill>
                  <a:srgbClr val="191B1F"/>
                </a:solidFill>
                <a:effectLst/>
                <a:latin typeface="-apple-system"/>
              </a:rPr>
              <a:t>degree</a:t>
            </a:r>
            <a:r>
              <a:rPr lang="zh-CN" altLang="en-US" sz="1200" b="1" i="0" dirty="0">
                <a:solidFill>
                  <a:srgbClr val="191B1F"/>
                </a:solidFill>
                <a:effectLst/>
                <a:latin typeface="-apple-system"/>
              </a:rPr>
              <a:t>参数（以下简写为</a:t>
            </a:r>
            <a:r>
              <a:rPr lang="en-US" altLang="zh-CN" sz="1200" b="1" i="0" dirty="0">
                <a:solidFill>
                  <a:srgbClr val="191B1F"/>
                </a:solidFill>
                <a:effectLst/>
                <a:latin typeface="-apple-system"/>
              </a:rPr>
              <a:t>t</a:t>
            </a:r>
            <a:r>
              <a:rPr lang="zh-CN" altLang="en-US" sz="1200" b="1" i="0" dirty="0">
                <a:solidFill>
                  <a:srgbClr val="191B1F"/>
                </a:solidFill>
                <a:effectLst/>
                <a:latin typeface="-apple-system"/>
              </a:rPr>
              <a:t>），该参数决定了每个节点上数据量的多少，即节点的“胖”、“瘦”程度，而节点的胖瘦程度又会影响整棵树的高度，因为越胖的节点树高度就会越矮。</a:t>
            </a:r>
          </a:p>
          <a:p>
            <a:pPr algn="l"/>
            <a:r>
              <a:rPr lang="zh-CN" altLang="en-US" sz="1200" b="1" i="0" dirty="0">
                <a:solidFill>
                  <a:srgbClr val="191B1F"/>
                </a:solidFill>
                <a:effectLst/>
                <a:latin typeface="-apple-system"/>
              </a:rPr>
              <a:t>为了维持</a:t>
            </a:r>
            <a:r>
              <a:rPr lang="en-US" altLang="zh-CN" sz="1200" b="1" i="0" dirty="0">
                <a:solidFill>
                  <a:srgbClr val="191B1F"/>
                </a:solidFill>
                <a:effectLst/>
                <a:latin typeface="-apple-system"/>
              </a:rPr>
              <a:t>B</a:t>
            </a:r>
            <a:r>
              <a:rPr lang="zh-CN" altLang="en-US" sz="1200" b="1" i="0" dirty="0">
                <a:solidFill>
                  <a:srgbClr val="191B1F"/>
                </a:solidFill>
                <a:effectLst/>
                <a:latin typeface="-apple-system"/>
              </a:rPr>
              <a:t>树的平衡性，需要满足以下的属性：</a:t>
            </a:r>
          </a:p>
          <a:p>
            <a:endParaRPr lang="zh-CN" altLang="en-US" dirty="0"/>
          </a:p>
        </p:txBody>
      </p:sp>
      <p:sp>
        <p:nvSpPr>
          <p:cNvPr id="4" name="灯片编号占位符 3"/>
          <p:cNvSpPr>
            <a:spLocks noGrp="1"/>
          </p:cNvSpPr>
          <p:nvPr>
            <p:ph type="sldNum" sz="quarter" idx="5"/>
          </p:nvPr>
        </p:nvSpPr>
        <p:spPr/>
        <p:txBody>
          <a:bodyPr/>
          <a:lstStyle/>
          <a:p>
            <a:fld id="{358D460B-FCBF-4F68-A559-8E415D1DDEDB}" type="slidenum">
              <a:rPr lang="zh-CN" altLang="en-US" smtClean="0"/>
              <a:pPr/>
              <a:t>130</a:t>
            </a:fld>
            <a:endParaRPr lang="zh-CN" altLang="en-US"/>
          </a:p>
        </p:txBody>
      </p:sp>
    </p:spTree>
    <p:extLst>
      <p:ext uri="{BB962C8B-B14F-4D97-AF65-F5344CB8AC3E}">
        <p14:creationId xmlns:p14="http://schemas.microsoft.com/office/powerpoint/2010/main" val="7762043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Arial" panose="020B0604020202020204" pitchFamily="34" charset="0"/>
              <a:buChar char="•"/>
            </a:pPr>
            <a:r>
              <a:rPr lang="zh-CN" altLang="en-US" b="0" i="0" dirty="0">
                <a:solidFill>
                  <a:srgbClr val="191B1F"/>
                </a:solidFill>
                <a:effectLst/>
                <a:latin typeface="-apple-system"/>
              </a:rPr>
              <a:t>由于</a:t>
            </a:r>
            <a:r>
              <a:rPr lang="en-US" altLang="zh-CN" b="0" i="0" dirty="0">
                <a:solidFill>
                  <a:srgbClr val="191B1F"/>
                </a:solidFill>
                <a:effectLst/>
                <a:latin typeface="-apple-system"/>
              </a:rPr>
              <a:t>t=2</a:t>
            </a:r>
            <a:r>
              <a:rPr lang="zh-CN" altLang="en-US" b="0" i="0" dirty="0">
                <a:solidFill>
                  <a:srgbClr val="191B1F"/>
                </a:solidFill>
                <a:effectLst/>
                <a:latin typeface="-apple-system"/>
              </a:rPr>
              <a:t>，所有所有节点的键值数量在</a:t>
            </a:r>
            <a:r>
              <a:rPr lang="en-US" altLang="zh-CN" b="0" i="0" dirty="0">
                <a:solidFill>
                  <a:srgbClr val="191B1F"/>
                </a:solidFill>
                <a:effectLst/>
                <a:latin typeface="-apple-system"/>
              </a:rPr>
              <a:t>[1,3]</a:t>
            </a:r>
            <a:r>
              <a:rPr lang="zh-CN" altLang="en-US" b="0" i="0" dirty="0">
                <a:solidFill>
                  <a:srgbClr val="191B1F"/>
                </a:solidFill>
                <a:effectLst/>
                <a:latin typeface="-apple-system"/>
              </a:rPr>
              <a:t>之间。</a:t>
            </a:r>
          </a:p>
          <a:p>
            <a:pPr algn="l">
              <a:buFont typeface="Arial" panose="020B0604020202020204" pitchFamily="34" charset="0"/>
              <a:buChar char="•"/>
            </a:pPr>
            <a:r>
              <a:rPr lang="zh-CN" altLang="en-US" b="0" i="0" dirty="0">
                <a:solidFill>
                  <a:srgbClr val="191B1F"/>
                </a:solidFill>
                <a:effectLst/>
                <a:latin typeface="-apple-system"/>
              </a:rPr>
              <a:t>所有叶子节点的高度相同。</a:t>
            </a:r>
          </a:p>
          <a:p>
            <a:pPr algn="l">
              <a:buFont typeface="Arial" panose="020B0604020202020204" pitchFamily="34" charset="0"/>
              <a:buChar char="•"/>
            </a:pPr>
            <a:r>
              <a:rPr lang="zh-CN" altLang="en-US" b="0" i="0" dirty="0">
                <a:solidFill>
                  <a:srgbClr val="191B1F"/>
                </a:solidFill>
                <a:effectLst/>
                <a:latin typeface="-apple-system"/>
              </a:rPr>
              <a:t>以左边的内部节点为例，其第一个键值为</a:t>
            </a:r>
            <a:r>
              <a:rPr lang="en-US" altLang="zh-CN" b="0" i="0" dirty="0">
                <a:solidFill>
                  <a:srgbClr val="191B1F"/>
                </a:solidFill>
                <a:effectLst/>
                <a:latin typeface="-apple-system"/>
              </a:rPr>
              <a:t>3</a:t>
            </a:r>
            <a:r>
              <a:rPr lang="zh-CN" altLang="en-US" b="0" i="0" dirty="0">
                <a:solidFill>
                  <a:srgbClr val="191B1F"/>
                </a:solidFill>
                <a:effectLst/>
                <a:latin typeface="-apple-system"/>
              </a:rPr>
              <a:t>，即该节点的</a:t>
            </a:r>
            <a:r>
              <a:rPr lang="en-US" altLang="zh-CN" b="0" i="0" dirty="0">
                <a:solidFill>
                  <a:srgbClr val="191B1F"/>
                </a:solidFill>
                <a:effectLst/>
                <a:latin typeface="-apple-system"/>
              </a:rPr>
              <a:t>keys[0]=3</a:t>
            </a:r>
            <a:r>
              <a:rPr lang="zh-CN" altLang="en-US" b="0" i="0" dirty="0">
                <a:solidFill>
                  <a:srgbClr val="191B1F"/>
                </a:solidFill>
                <a:effectLst/>
                <a:latin typeface="-apple-system"/>
              </a:rPr>
              <a:t>，而该键值的左边子树的键值为</a:t>
            </a:r>
            <a:r>
              <a:rPr lang="en-US" altLang="zh-CN" b="0" i="0" dirty="0">
                <a:solidFill>
                  <a:srgbClr val="191B1F"/>
                </a:solidFill>
                <a:effectLst/>
                <a:latin typeface="-apple-system"/>
              </a:rPr>
              <a:t>[1,2]</a:t>
            </a:r>
            <a:r>
              <a:rPr lang="zh-CN" altLang="en-US" b="0" i="0" dirty="0">
                <a:solidFill>
                  <a:srgbClr val="191B1F"/>
                </a:solidFill>
                <a:effectLst/>
                <a:latin typeface="-apple-system"/>
              </a:rPr>
              <a:t>，都小于</a:t>
            </a:r>
            <a:r>
              <a:rPr lang="en-US" altLang="zh-CN" b="0" i="0" dirty="0">
                <a:solidFill>
                  <a:srgbClr val="191B1F"/>
                </a:solidFill>
                <a:effectLst/>
                <a:latin typeface="-apple-system"/>
              </a:rPr>
              <a:t>3</a:t>
            </a:r>
            <a:r>
              <a:rPr lang="zh-CN" altLang="en-US" b="0" i="0" dirty="0">
                <a:solidFill>
                  <a:srgbClr val="191B1F"/>
                </a:solidFill>
                <a:effectLst/>
                <a:latin typeface="-apple-system"/>
              </a:rPr>
              <a:t>，即</a:t>
            </a:r>
            <a:r>
              <a:rPr lang="en-US" altLang="zh-CN" b="0" i="0" dirty="0">
                <a:solidFill>
                  <a:srgbClr val="191B1F"/>
                </a:solidFill>
                <a:effectLst/>
                <a:latin typeface="-apple-system"/>
              </a:rPr>
              <a:t>keys[0]&gt;max(child[0]</a:t>
            </a:r>
            <a:r>
              <a:rPr lang="zh-CN" altLang="en-US" b="0" i="0" dirty="0">
                <a:solidFill>
                  <a:srgbClr val="191B1F"/>
                </a:solidFill>
                <a:effectLst/>
                <a:latin typeface="-apple-system"/>
              </a:rPr>
              <a:t>的所有键值</a:t>
            </a:r>
            <a:r>
              <a:rPr lang="en-US" altLang="zh-CN" b="0" i="0" dirty="0">
                <a:solidFill>
                  <a:srgbClr val="191B1F"/>
                </a:solidFill>
                <a:effectLst/>
                <a:latin typeface="-apple-system"/>
              </a:rPr>
              <a:t>)</a:t>
            </a:r>
            <a:r>
              <a:rPr lang="zh-CN" altLang="en-US" b="0" i="0" dirty="0">
                <a:solidFill>
                  <a:srgbClr val="191B1F"/>
                </a:solidFill>
                <a:effectLst/>
                <a:latin typeface="-apple-system"/>
              </a:rPr>
              <a:t>；而其右边子树的键值为</a:t>
            </a:r>
            <a:r>
              <a:rPr lang="en-US" altLang="zh-CN" b="0" i="0" dirty="0">
                <a:solidFill>
                  <a:srgbClr val="191B1F"/>
                </a:solidFill>
                <a:effectLst/>
                <a:latin typeface="-apple-system"/>
              </a:rPr>
              <a:t>[4,5,6]</a:t>
            </a:r>
            <a:r>
              <a:rPr lang="zh-CN" altLang="en-US" b="0" i="0" dirty="0">
                <a:solidFill>
                  <a:srgbClr val="191B1F"/>
                </a:solidFill>
                <a:effectLst/>
                <a:latin typeface="-apple-system"/>
              </a:rPr>
              <a:t>，都不小于</a:t>
            </a:r>
            <a:r>
              <a:rPr lang="en-US" altLang="zh-CN" b="0" i="0" dirty="0">
                <a:solidFill>
                  <a:srgbClr val="191B1F"/>
                </a:solidFill>
                <a:effectLst/>
                <a:latin typeface="-apple-system"/>
              </a:rPr>
              <a:t>3</a:t>
            </a:r>
            <a:r>
              <a:rPr lang="zh-CN" altLang="en-US" b="0" i="0" dirty="0">
                <a:solidFill>
                  <a:srgbClr val="191B1F"/>
                </a:solidFill>
                <a:effectLst/>
                <a:latin typeface="-apple-system"/>
              </a:rPr>
              <a:t>，即</a:t>
            </a:r>
            <a:r>
              <a:rPr lang="en-US" altLang="zh-CN" b="0" i="0" dirty="0">
                <a:solidFill>
                  <a:srgbClr val="191B1F"/>
                </a:solidFill>
                <a:effectLst/>
                <a:latin typeface="-apple-system"/>
              </a:rPr>
              <a:t>keys[0]&lt;=min(child[1]</a:t>
            </a:r>
            <a:r>
              <a:rPr lang="zh-CN" altLang="en-US" b="0" i="0" dirty="0">
                <a:solidFill>
                  <a:srgbClr val="191B1F"/>
                </a:solidFill>
                <a:effectLst/>
                <a:latin typeface="-apple-system"/>
              </a:rPr>
              <a:t>的所有键值</a:t>
            </a:r>
            <a:r>
              <a:rPr lang="en-US" altLang="zh-CN" b="0" i="0" dirty="0">
                <a:solidFill>
                  <a:srgbClr val="191B1F"/>
                </a:solidFill>
                <a:effectLst/>
                <a:latin typeface="-apple-system"/>
              </a:rPr>
              <a:t>)</a:t>
            </a:r>
            <a:r>
              <a:rPr lang="zh-CN" altLang="en-US" b="0" i="0" dirty="0">
                <a:solidFill>
                  <a:srgbClr val="191B1F"/>
                </a:solidFill>
                <a:effectLst/>
                <a:latin typeface="-apple-system"/>
              </a:rPr>
              <a:t>。</a:t>
            </a:r>
          </a:p>
          <a:p>
            <a:endParaRPr lang="zh-CN" altLang="en-US" dirty="0"/>
          </a:p>
        </p:txBody>
      </p:sp>
      <p:sp>
        <p:nvSpPr>
          <p:cNvPr id="4" name="灯片编号占位符 3"/>
          <p:cNvSpPr>
            <a:spLocks noGrp="1"/>
          </p:cNvSpPr>
          <p:nvPr>
            <p:ph type="sldNum" sz="quarter" idx="5"/>
          </p:nvPr>
        </p:nvSpPr>
        <p:spPr/>
        <p:txBody>
          <a:bodyPr/>
          <a:lstStyle/>
          <a:p>
            <a:fld id="{358D460B-FCBF-4F68-A559-8E415D1DDEDB}" type="slidenum">
              <a:rPr lang="zh-CN" altLang="en-US" smtClean="0"/>
              <a:pPr/>
              <a:t>131</a:t>
            </a:fld>
            <a:endParaRPr lang="zh-CN" altLang="en-US"/>
          </a:p>
        </p:txBody>
      </p:sp>
    </p:spTree>
    <p:extLst>
      <p:ext uri="{BB962C8B-B14F-4D97-AF65-F5344CB8AC3E}">
        <p14:creationId xmlns:p14="http://schemas.microsoft.com/office/powerpoint/2010/main" val="8300777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333333"/>
                </a:solidFill>
                <a:effectLst/>
                <a:latin typeface="pingfang SC"/>
              </a:rPr>
              <a:t>这里设表一共有三列，假设我们以</a:t>
            </a:r>
            <a:r>
              <a:rPr lang="en-US" altLang="zh-CN" b="0" i="0" dirty="0">
                <a:solidFill>
                  <a:srgbClr val="333333"/>
                </a:solidFill>
                <a:effectLst/>
                <a:latin typeface="pingfang SC"/>
              </a:rPr>
              <a:t>Col1</a:t>
            </a:r>
            <a:r>
              <a:rPr lang="zh-CN" altLang="en-US" b="0" i="0" dirty="0">
                <a:solidFill>
                  <a:srgbClr val="333333"/>
                </a:solidFill>
                <a:effectLst/>
                <a:latin typeface="pingfang SC"/>
              </a:rPr>
              <a:t>为主键，则图</a:t>
            </a:r>
            <a:r>
              <a:rPr lang="en-US" altLang="zh-CN" b="0" i="0" dirty="0">
                <a:solidFill>
                  <a:srgbClr val="333333"/>
                </a:solidFill>
                <a:effectLst/>
                <a:latin typeface="pingfang SC"/>
              </a:rPr>
              <a:t>8</a:t>
            </a:r>
            <a:r>
              <a:rPr lang="zh-CN" altLang="en-US" b="0" i="0" dirty="0">
                <a:solidFill>
                  <a:srgbClr val="333333"/>
                </a:solidFill>
                <a:effectLst/>
                <a:latin typeface="pingfang SC"/>
              </a:rPr>
              <a:t>是一个</a:t>
            </a:r>
            <a:r>
              <a:rPr lang="en-US" altLang="zh-CN" b="0" i="0" dirty="0" err="1">
                <a:solidFill>
                  <a:srgbClr val="333333"/>
                </a:solidFill>
                <a:effectLst/>
                <a:latin typeface="pingfang SC"/>
              </a:rPr>
              <a:t>MyISAM</a:t>
            </a:r>
            <a:r>
              <a:rPr lang="zh-CN" altLang="en-US" b="0" i="0" dirty="0">
                <a:solidFill>
                  <a:srgbClr val="333333"/>
                </a:solidFill>
                <a:effectLst/>
                <a:latin typeface="pingfang SC"/>
              </a:rPr>
              <a:t>表的主索引（</a:t>
            </a:r>
            <a:r>
              <a:rPr lang="en-US" altLang="zh-CN" b="0" i="0" dirty="0">
                <a:solidFill>
                  <a:srgbClr val="333333"/>
                </a:solidFill>
                <a:effectLst/>
                <a:latin typeface="pingfang SC"/>
              </a:rPr>
              <a:t>Primary key</a:t>
            </a:r>
            <a:r>
              <a:rPr lang="zh-CN" altLang="en-US" b="0" i="0" dirty="0">
                <a:solidFill>
                  <a:srgbClr val="333333"/>
                </a:solidFill>
                <a:effectLst/>
                <a:latin typeface="pingfang SC"/>
              </a:rPr>
              <a:t>）示意。</a:t>
            </a:r>
            <a:endParaRPr lang="zh-CN" altLang="en-US" dirty="0"/>
          </a:p>
        </p:txBody>
      </p:sp>
      <p:sp>
        <p:nvSpPr>
          <p:cNvPr id="4" name="灯片编号占位符 3"/>
          <p:cNvSpPr>
            <a:spLocks noGrp="1"/>
          </p:cNvSpPr>
          <p:nvPr>
            <p:ph type="sldNum" sz="quarter" idx="5"/>
          </p:nvPr>
        </p:nvSpPr>
        <p:spPr/>
        <p:txBody>
          <a:bodyPr/>
          <a:lstStyle/>
          <a:p>
            <a:fld id="{358D460B-FCBF-4F68-A559-8E415D1DDEDB}" type="slidenum">
              <a:rPr lang="zh-CN" altLang="en-US" smtClean="0"/>
              <a:pPr/>
              <a:t>132</a:t>
            </a:fld>
            <a:endParaRPr lang="zh-CN" altLang="en-US"/>
          </a:p>
        </p:txBody>
      </p:sp>
    </p:spTree>
    <p:extLst>
      <p:ext uri="{BB962C8B-B14F-4D97-AF65-F5344CB8AC3E}">
        <p14:creationId xmlns:p14="http://schemas.microsoft.com/office/powerpoint/2010/main" val="2840461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333333"/>
                </a:solidFill>
                <a:effectLst/>
                <a:latin typeface="pingfang SC"/>
              </a:rPr>
              <a:t>可以看出</a:t>
            </a:r>
            <a:r>
              <a:rPr lang="en-US" altLang="zh-CN" b="0" i="0" dirty="0" err="1">
                <a:solidFill>
                  <a:srgbClr val="333333"/>
                </a:solidFill>
                <a:effectLst/>
                <a:latin typeface="pingfang SC"/>
              </a:rPr>
              <a:t>MyISAM</a:t>
            </a:r>
            <a:r>
              <a:rPr lang="zh-CN" altLang="en-US" b="0" i="0" dirty="0">
                <a:solidFill>
                  <a:srgbClr val="333333"/>
                </a:solidFill>
                <a:effectLst/>
                <a:latin typeface="pingfang SC"/>
              </a:rPr>
              <a:t>的索引文件仅仅保存数据记录的地址。在</a:t>
            </a:r>
            <a:r>
              <a:rPr lang="en-US" altLang="zh-CN" b="0" i="0" dirty="0" err="1">
                <a:solidFill>
                  <a:srgbClr val="333333"/>
                </a:solidFill>
                <a:effectLst/>
                <a:latin typeface="pingfang SC"/>
              </a:rPr>
              <a:t>MyISAM</a:t>
            </a:r>
            <a:r>
              <a:rPr lang="zh-CN" altLang="en-US" b="0" i="0" dirty="0">
                <a:solidFill>
                  <a:srgbClr val="333333"/>
                </a:solidFill>
                <a:effectLst/>
                <a:latin typeface="pingfang SC"/>
              </a:rPr>
              <a:t>中，主索引和辅助索引（</a:t>
            </a:r>
            <a:r>
              <a:rPr lang="en-US" altLang="zh-CN" b="0" i="0" dirty="0">
                <a:solidFill>
                  <a:srgbClr val="333333"/>
                </a:solidFill>
                <a:effectLst/>
                <a:latin typeface="pingfang SC"/>
              </a:rPr>
              <a:t>Secondary key</a:t>
            </a:r>
            <a:r>
              <a:rPr lang="zh-CN" altLang="en-US" b="0" i="0" dirty="0">
                <a:solidFill>
                  <a:srgbClr val="333333"/>
                </a:solidFill>
                <a:effectLst/>
                <a:latin typeface="pingfang SC"/>
              </a:rPr>
              <a:t>）在结构上没有任何区别，只是主索引要求</a:t>
            </a:r>
            <a:r>
              <a:rPr lang="en-US" altLang="zh-CN" b="0" i="0" dirty="0">
                <a:solidFill>
                  <a:srgbClr val="333333"/>
                </a:solidFill>
                <a:effectLst/>
                <a:latin typeface="pingfang SC"/>
              </a:rPr>
              <a:t>key</a:t>
            </a:r>
            <a:r>
              <a:rPr lang="zh-CN" altLang="en-US" b="0" i="0" dirty="0">
                <a:solidFill>
                  <a:srgbClr val="333333"/>
                </a:solidFill>
                <a:effectLst/>
                <a:latin typeface="pingfang SC"/>
              </a:rPr>
              <a:t>是唯一的，而辅助索引的</a:t>
            </a:r>
            <a:r>
              <a:rPr lang="en-US" altLang="zh-CN" b="0" i="0" dirty="0">
                <a:solidFill>
                  <a:srgbClr val="333333"/>
                </a:solidFill>
                <a:effectLst/>
                <a:latin typeface="pingfang SC"/>
              </a:rPr>
              <a:t>key</a:t>
            </a:r>
            <a:r>
              <a:rPr lang="zh-CN" altLang="en-US" b="0" i="0" dirty="0">
                <a:solidFill>
                  <a:srgbClr val="333333"/>
                </a:solidFill>
                <a:effectLst/>
                <a:latin typeface="pingfang SC"/>
              </a:rPr>
              <a:t>可以重复。如果我们在</a:t>
            </a:r>
            <a:r>
              <a:rPr lang="en-US" altLang="zh-CN" b="0" i="0" dirty="0">
                <a:solidFill>
                  <a:srgbClr val="333333"/>
                </a:solidFill>
                <a:effectLst/>
                <a:latin typeface="pingfang SC"/>
              </a:rPr>
              <a:t>Col2</a:t>
            </a:r>
            <a:r>
              <a:rPr lang="zh-CN" altLang="en-US" b="0" i="0" dirty="0">
                <a:solidFill>
                  <a:srgbClr val="333333"/>
                </a:solidFill>
                <a:effectLst/>
                <a:latin typeface="pingfang SC"/>
              </a:rPr>
              <a:t>上建立一个辅助索引，如图：</a:t>
            </a:r>
            <a:endParaRPr lang="zh-CN" altLang="en-US" dirty="0"/>
          </a:p>
        </p:txBody>
      </p:sp>
      <p:sp>
        <p:nvSpPr>
          <p:cNvPr id="4" name="灯片编号占位符 3"/>
          <p:cNvSpPr>
            <a:spLocks noGrp="1"/>
          </p:cNvSpPr>
          <p:nvPr>
            <p:ph type="sldNum" sz="quarter" idx="5"/>
          </p:nvPr>
        </p:nvSpPr>
        <p:spPr/>
        <p:txBody>
          <a:bodyPr/>
          <a:lstStyle/>
          <a:p>
            <a:fld id="{358D460B-FCBF-4F68-A559-8E415D1DDEDB}" type="slidenum">
              <a:rPr lang="zh-CN" altLang="en-US" smtClean="0"/>
              <a:pPr/>
              <a:t>133</a:t>
            </a:fld>
            <a:endParaRPr lang="zh-CN" altLang="en-US"/>
          </a:p>
        </p:txBody>
      </p:sp>
    </p:spTree>
    <p:extLst>
      <p:ext uri="{BB962C8B-B14F-4D97-AF65-F5344CB8AC3E}">
        <p14:creationId xmlns:p14="http://schemas.microsoft.com/office/powerpoint/2010/main" val="21729905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Right Triangle 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817112" y="1730403"/>
            <a:ext cx="5648623" cy="1204306"/>
          </a:xfrm>
        </p:spPr>
        <p:txBody>
          <a:bodyPr bIns="9144" anchor="b"/>
          <a:lstStyle>
            <a:lvl1pPr>
              <a:defRPr sz="3200"/>
            </a:lvl1pPr>
          </a:lstStyle>
          <a:p>
            <a:r>
              <a:rPr lang="zh-CN" altLang="en-US" dirty="0"/>
              <a:t>单击此处编辑母版标题样式</a:t>
            </a:r>
            <a:endParaRPr lang="en-US" dirty="0"/>
          </a:p>
        </p:txBody>
      </p:sp>
      <p:sp>
        <p:nvSpPr>
          <p:cNvPr id="3" name="Subtitle 2"/>
          <p:cNvSpPr>
            <a:spLocks noGrp="1"/>
          </p:cNvSpPr>
          <p:nvPr>
            <p:ph type="subTitle" idx="1"/>
          </p:nvPr>
        </p:nvSpPr>
        <p:spPr>
          <a:xfrm>
            <a:off x="2632869" y="5517232"/>
            <a:ext cx="6511131" cy="329259"/>
          </a:xfrm>
        </p:spPr>
        <p:txBody>
          <a:bodyPr tIns="9144">
            <a:normAutofit/>
          </a:bodyPr>
          <a:lstStyle>
            <a:lvl1pPr marL="0" indent="0" algn="l">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zh-CN" altLang="en-US" dirty="0"/>
              <a:t>单击此处编辑母版副标题样式</a:t>
            </a:r>
            <a:endParaRPr lang="en-US" dirty="0"/>
          </a:p>
        </p:txBody>
      </p:sp>
      <p:sp>
        <p:nvSpPr>
          <p:cNvPr id="4" name="Date Placeholder 3"/>
          <p:cNvSpPr>
            <a:spLocks noGrp="1"/>
          </p:cNvSpPr>
          <p:nvPr>
            <p:ph type="dt" sz="half" idx="10"/>
          </p:nvPr>
        </p:nvSpPr>
        <p:spPr/>
        <p:txBody>
          <a:bodyPr/>
          <a:lstStyle/>
          <a:p>
            <a:fld id="{79947EC6-CB47-4768-9811-6E3B54093484}" type="datetime1">
              <a:rPr lang="zh-CN" altLang="en-US" smtClean="0"/>
              <a:pPr/>
              <a:t>2025/6/3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827584" y="895707"/>
            <a:ext cx="7520940" cy="548640"/>
          </a:xfrm>
        </p:spPr>
        <p:txBody>
          <a:bodyPr/>
          <a:lstStyle>
            <a:lvl1pPr>
              <a:defRPr>
                <a:latin typeface="黑体" panose="02010609060101010101" pitchFamily="49" charset="-122"/>
                <a:ea typeface="黑体" panose="02010609060101010101" pitchFamily="49"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a:xfrm>
            <a:off x="827584" y="1628800"/>
            <a:ext cx="7520940" cy="3579849"/>
          </a:xfrm>
        </p:spPr>
        <p:txBody>
          <a:bodyPr>
            <a:normAutofit/>
          </a:bodyPr>
          <a:lstStyle>
            <a:lvl1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1pPr>
            <a:lvl2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2pPr>
            <a:lvl3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3pPr>
            <a:lvl4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4pPr>
            <a:lvl5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pic>
        <p:nvPicPr>
          <p:cNvPr id="7"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7504" y="116632"/>
            <a:ext cx="798104" cy="7991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矩形 7"/>
          <p:cNvSpPr/>
          <p:nvPr userDrawn="1"/>
        </p:nvSpPr>
        <p:spPr>
          <a:xfrm>
            <a:off x="933802" y="146299"/>
            <a:ext cx="4267944" cy="461665"/>
          </a:xfrm>
          <a:prstGeom prst="rect">
            <a:avLst/>
          </a:prstGeom>
        </p:spPr>
        <p:txBody>
          <a:bodyPr wrap="square">
            <a:spAutoFit/>
          </a:bodyPr>
          <a:lstStyle/>
          <a:p>
            <a:r>
              <a:rPr lang="zh-CN" altLang="en-US" sz="2400" cap="all" dirty="0">
                <a:solidFill>
                  <a:srgbClr val="000000"/>
                </a:solidFill>
                <a:effectLst>
                  <a:outerShdw blurRad="38100" dist="38100" dir="2700000" algn="tl">
                    <a:srgbClr val="000000">
                      <a:alpha val="43137"/>
                    </a:srgbClr>
                  </a:outerShdw>
                </a:effectLst>
                <a:latin typeface="方正舒体" panose="02010601030101010101" pitchFamily="2" charset="-122"/>
                <a:ea typeface="方正舒体" panose="02010601030101010101" pitchFamily="2" charset="-122"/>
                <a:cs typeface="+mj-cs"/>
              </a:rPr>
              <a:t>数据结构与算法</a:t>
            </a:r>
            <a:endParaRPr lang="zh-CN" altLang="en-US" sz="2400" dirty="0">
              <a:latin typeface="方正舒体" panose="02010601030101010101" pitchFamily="2" charset="-122"/>
              <a:ea typeface="方正舒体" panose="02010601030101010101" pitchFamily="2" charset="-122"/>
            </a:endParaRPr>
          </a:p>
        </p:txBody>
      </p:sp>
      <p:sp>
        <p:nvSpPr>
          <p:cNvPr id="10" name="TextBox 9"/>
          <p:cNvSpPr txBox="1"/>
          <p:nvPr userDrawn="1"/>
        </p:nvSpPr>
        <p:spPr>
          <a:xfrm>
            <a:off x="3779912" y="6453336"/>
            <a:ext cx="4104456" cy="369332"/>
          </a:xfrm>
          <a:prstGeom prst="rect">
            <a:avLst/>
          </a:prstGeom>
          <a:noFill/>
        </p:spPr>
        <p:txBody>
          <a:bodyPr wrap="square" rtlCol="0">
            <a:spAutoFit/>
          </a:bodyPr>
          <a:lstStyle/>
          <a:p>
            <a:r>
              <a:rPr lang="zh-CN" altLang="en-US" dirty="0">
                <a:solidFill>
                  <a:schemeClr val="bg1"/>
                </a:solidFill>
              </a:rPr>
              <a:t>西安交通大学计算机科学与技术系</a:t>
            </a:r>
          </a:p>
        </p:txBody>
      </p:sp>
      <p:sp>
        <p:nvSpPr>
          <p:cNvPr id="11" name="TextBox 10"/>
          <p:cNvSpPr txBox="1"/>
          <p:nvPr userDrawn="1"/>
        </p:nvSpPr>
        <p:spPr>
          <a:xfrm>
            <a:off x="8244408" y="6441217"/>
            <a:ext cx="792088" cy="369332"/>
          </a:xfrm>
          <a:prstGeom prst="rect">
            <a:avLst/>
          </a:prstGeom>
          <a:noFill/>
        </p:spPr>
        <p:txBody>
          <a:bodyPr wrap="square" rtlCol="0">
            <a:spAutoFit/>
          </a:bodyPr>
          <a:lstStyle/>
          <a:p>
            <a:fld id="{D6FB1EF2-4E04-428D-9A98-735957314976}" type="slidenum">
              <a:rPr lang="zh-CN" altLang="en-US" smtClean="0">
                <a:solidFill>
                  <a:schemeClr val="bg1"/>
                </a:solidFill>
              </a:rPr>
              <a:pPr/>
              <a:t>‹#›</a:t>
            </a:fld>
            <a:endParaRPr lang="zh-CN" altLang="en-US" dirty="0">
              <a:solidFill>
                <a:schemeClr val="bg1"/>
              </a:solidFill>
            </a:endParaRPr>
          </a:p>
        </p:txBody>
      </p:sp>
      <p:sp>
        <p:nvSpPr>
          <p:cNvPr id="12" name="TextBox 11"/>
          <p:cNvSpPr txBox="1"/>
          <p:nvPr userDrawn="1"/>
        </p:nvSpPr>
        <p:spPr>
          <a:xfrm>
            <a:off x="179512" y="6441217"/>
            <a:ext cx="1512168" cy="369332"/>
          </a:xfrm>
          <a:prstGeom prst="rect">
            <a:avLst/>
          </a:prstGeom>
          <a:noFill/>
        </p:spPr>
        <p:txBody>
          <a:bodyPr wrap="square" rtlCol="0">
            <a:spAutoFit/>
          </a:bodyPr>
          <a:lstStyle/>
          <a:p>
            <a:fld id="{96E4F326-64BA-411B-A3E2-178695AB5E51}" type="datetime1">
              <a:rPr lang="zh-CN" altLang="en-US" smtClean="0">
                <a:solidFill>
                  <a:schemeClr val="bg1"/>
                </a:solidFill>
                <a:latin typeface="黑体" panose="02010609060101010101" pitchFamily="49" charset="-122"/>
                <a:ea typeface="黑体" panose="02010609060101010101" pitchFamily="49" charset="-122"/>
              </a:rPr>
              <a:pPr/>
              <a:t>2025/6/3</a:t>
            </a:fld>
            <a:endParaRPr lang="zh-CN" altLang="en-US" dirty="0">
              <a:solidFill>
                <a:schemeClr val="bg1"/>
              </a:solidFill>
              <a:latin typeface="黑体" panose="02010609060101010101" pitchFamily="49" charset="-122"/>
              <a:ea typeface="黑体" panose="02010609060101010101" pitchFamily="49"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Triangle 6"/>
          <p:cNvSpPr/>
          <p:nvPr/>
        </p:nvSpPr>
        <p:spPr>
          <a:xfrm>
            <a:off x="0" y="2647950"/>
            <a:ext cx="3571875" cy="4210050"/>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819399" y="1726737"/>
            <a:ext cx="5650992" cy="1207509"/>
          </a:xfrm>
        </p:spPr>
        <p:txBody>
          <a:bodyPr bIns="9144" anchor="b"/>
          <a:lstStyle>
            <a:lvl1pPr algn="l">
              <a:defRPr kumimoji="0" lang="en-US" sz="3200" b="0" i="0" u="none" strike="noStrike" kern="1200" cap="all" spc="0" normalizeH="0" baseline="0" noProof="0" dirty="0" smtClean="0">
                <a:ln>
                  <a:noFill/>
                </a:ln>
                <a:solidFill>
                  <a:schemeClr val="tx1"/>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zh-CN" altLang="en-US"/>
              <a:t>单击此处编辑母版标题样式</a:t>
            </a:r>
            <a:endParaRPr lang="en-US" dirty="0"/>
          </a:p>
        </p:txBody>
      </p:sp>
      <p:sp>
        <p:nvSpPr>
          <p:cNvPr id="3" name="Text Placeholder 2"/>
          <p:cNvSpPr>
            <a:spLocks noGrp="1"/>
          </p:cNvSpPr>
          <p:nvPr>
            <p:ph type="body" idx="1"/>
          </p:nvPr>
        </p:nvSpPr>
        <p:spPr>
          <a:xfrm rot="19140000">
            <a:off x="1216152" y="2468304"/>
            <a:ext cx="6510528" cy="329184"/>
          </a:xfrm>
        </p:spPr>
        <p:txBody>
          <a:bodyPr anchor="t">
            <a:normAutofit/>
          </a:bodyPr>
          <a:lstStyle>
            <a:lvl1pPr marL="0" indent="0">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zh-CN" altLang="en-US"/>
              <a:t>单击此处编辑母版文本样式</a:t>
            </a:r>
          </a:p>
        </p:txBody>
      </p:sp>
      <p:sp>
        <p:nvSpPr>
          <p:cNvPr id="4" name="Date Placeholder 3"/>
          <p:cNvSpPr>
            <a:spLocks noGrp="1"/>
          </p:cNvSpPr>
          <p:nvPr>
            <p:ph type="dt" sz="half" idx="10"/>
          </p:nvPr>
        </p:nvSpPr>
        <p:spPr/>
        <p:txBody>
          <a:bodyPr/>
          <a:lstStyle/>
          <a:p>
            <a:fld id="{96FF9C47-783F-4BA3-8F44-C651CC1C7843}" type="datetime1">
              <a:rPr lang="zh-CN" altLang="en-US" smtClean="0"/>
              <a:pPr/>
              <a:t>2025/6/3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22960"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700016"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0A34DB96-0AE5-4520-9185-F689CCFB8160}" type="datetime1">
              <a:rPr lang="zh-CN" altLang="en-US" smtClean="0"/>
              <a:pPr/>
              <a:t>2025/6/3</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pPr/>
              <a:t>‹#›</a:t>
            </a:fld>
            <a:endParaRPr lang="zh-CN" altLang="en-US"/>
          </a:p>
        </p:txBody>
      </p:sp>
      <p:sp>
        <p:nvSpPr>
          <p:cNvPr id="8" name="Title 7"/>
          <p:cNvSpPr>
            <a:spLocks noGrp="1"/>
          </p:cNvSpPr>
          <p:nvPr>
            <p:ph type="title"/>
          </p:nvPr>
        </p:nvSpPr>
        <p:spPr/>
        <p:txBody>
          <a:bodyPr/>
          <a:lstStyle/>
          <a:p>
            <a:r>
              <a:rPr lang="zh-CN" altLang="en-US"/>
              <a:t>单击此处编辑母版标题样式</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a:p>
        </p:txBody>
      </p:sp>
      <p:sp>
        <p:nvSpPr>
          <p:cNvPr id="3" name="Text Placeholder 2"/>
          <p:cNvSpPr>
            <a:spLocks noGrp="1"/>
          </p:cNvSpPr>
          <p:nvPr>
            <p:ph type="body" idx="1"/>
          </p:nvPr>
        </p:nvSpPr>
        <p:spPr>
          <a:xfrm>
            <a:off x="822960"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zh-CN" altLang="en-US"/>
              <a:t>单击此处编辑母版文本样式</a:t>
            </a:r>
          </a:p>
        </p:txBody>
      </p:sp>
      <p:sp>
        <p:nvSpPr>
          <p:cNvPr id="4" name="Content Placeholder 3"/>
          <p:cNvSpPr>
            <a:spLocks noGrp="1"/>
          </p:cNvSpPr>
          <p:nvPr>
            <p:ph sz="half" idx="2"/>
          </p:nvPr>
        </p:nvSpPr>
        <p:spPr>
          <a:xfrm>
            <a:off x="819150"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700016"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zh-CN" altLang="en-US"/>
              <a:t>单击此处编辑母版文本样式</a:t>
            </a:r>
          </a:p>
        </p:txBody>
      </p:sp>
      <p:sp>
        <p:nvSpPr>
          <p:cNvPr id="6" name="Content Placeholder 5"/>
          <p:cNvSpPr>
            <a:spLocks noGrp="1"/>
          </p:cNvSpPr>
          <p:nvPr>
            <p:ph sz="quarter" idx="4"/>
          </p:nvPr>
        </p:nvSpPr>
        <p:spPr>
          <a:xfrm>
            <a:off x="4700016"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B5BD1D45-E3BC-449A-A2CA-DC7EEC7FF1AB}" type="datetime1">
              <a:rPr lang="zh-CN" altLang="en-US" smtClean="0"/>
              <a:pPr/>
              <a:t>2025/6/3</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2"/>
          <p:cNvSpPr>
            <a:spLocks noGrp="1"/>
          </p:cNvSpPr>
          <p:nvPr>
            <p:ph type="dt" sz="half" idx="10"/>
          </p:nvPr>
        </p:nvSpPr>
        <p:spPr/>
        <p:txBody>
          <a:bodyPr/>
          <a:lstStyle/>
          <a:p>
            <a:fld id="{B7996B2F-325E-4DB5-B672-90AD506B448C}" type="datetime1">
              <a:rPr lang="zh-CN" altLang="en-US" smtClean="0"/>
              <a:pPr/>
              <a:t>2025/6/3</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6B2991-BBE5-4E69-A281-1A8B0AE9CDD7}" type="datetime1">
              <a:rPr lang="zh-CN" altLang="en-US" smtClean="0"/>
              <a:pPr/>
              <a:t>2025/6/3</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17" name="Right Triangle 1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Triangle 17"/>
          <p:cNvSpPr/>
          <p:nvPr/>
        </p:nvSpPr>
        <p:spPr>
          <a:xfrm rot="5400000">
            <a:off x="433389" y="-433387"/>
            <a:ext cx="6858000" cy="7724778"/>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2" name="Title 1"/>
          <p:cNvSpPr>
            <a:spLocks noGrp="1"/>
          </p:cNvSpPr>
          <p:nvPr>
            <p:ph type="title"/>
          </p:nvPr>
        </p:nvSpPr>
        <p:spPr>
          <a:xfrm rot="19140000">
            <a:off x="784930" y="1576103"/>
            <a:ext cx="5212080" cy="1089427"/>
          </a:xfrm>
        </p:spPr>
        <p:txBody>
          <a:bodyPr bIns="0" anchor="b"/>
          <a:lstStyle>
            <a:lvl1pPr algn="l">
              <a:defRPr kumimoji="0" lang="en-US" sz="2800" b="0" i="0" u="none" strike="noStrike" kern="1200" cap="all" spc="0" normalizeH="0" baseline="0" noProof="0" dirty="0" smtClean="0">
                <a:ln>
                  <a:noFill/>
                </a:ln>
                <a:solidFill>
                  <a:srgbClr val="FFFFFF"/>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zh-CN" altLang="en-US"/>
              <a:t>单击此处编辑母版标题样式</a:t>
            </a:r>
            <a:endParaRPr lang="en-US" dirty="0"/>
          </a:p>
        </p:txBody>
      </p:sp>
      <p:sp>
        <p:nvSpPr>
          <p:cNvPr id="3" name="Content Placeholder 2"/>
          <p:cNvSpPr>
            <a:spLocks noGrp="1"/>
          </p:cNvSpPr>
          <p:nvPr>
            <p:ph idx="1"/>
          </p:nvPr>
        </p:nvSpPr>
        <p:spPr>
          <a:xfrm>
            <a:off x="4749552" y="2618912"/>
            <a:ext cx="3807779" cy="33246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rot="19140000">
            <a:off x="1297954" y="2253385"/>
            <a:ext cx="5794760" cy="623314"/>
          </a:xfrm>
        </p:spPr>
        <p:txBody>
          <a:bodyPr>
            <a:normAutofit/>
          </a:bodyPr>
          <a:lstStyle>
            <a:lvl1pPr marL="0" indent="0">
              <a:buNone/>
              <a:defRPr lang="en-US" sz="1400" b="1" kern="1200" dirty="0" smtClean="0">
                <a:solidFill>
                  <a:srgbClr val="FFFFFF"/>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300"/>
              </a:spcBef>
              <a:spcAft>
                <a:spcPts val="0"/>
              </a:spcAft>
              <a:buClr>
                <a:schemeClr val="accent1"/>
              </a:buClr>
              <a:buSzPct val="100000"/>
              <a:buFont typeface="Arial" pitchFamily="34" charset="0"/>
              <a:buNone/>
              <a:tabLst/>
              <a:defRPr/>
            </a:pPr>
            <a:r>
              <a:rPr lang="zh-CN" altLang="en-US"/>
              <a:t>单击此处编辑母版文本样式</a:t>
            </a:r>
          </a:p>
        </p:txBody>
      </p:sp>
      <p:sp>
        <p:nvSpPr>
          <p:cNvPr id="5" name="Date Placeholder 4"/>
          <p:cNvSpPr>
            <a:spLocks noGrp="1"/>
          </p:cNvSpPr>
          <p:nvPr>
            <p:ph type="dt" sz="half" idx="10"/>
          </p:nvPr>
        </p:nvSpPr>
        <p:spPr/>
        <p:txBody>
          <a:bodyPr/>
          <a:lstStyle/>
          <a:p>
            <a:fld id="{998D44D8-17C8-4EF3-AEA6-26CE6DA18EE0}" type="datetime1">
              <a:rPr lang="zh-CN" altLang="en-US" smtClean="0"/>
              <a:pPr/>
              <a:t>2025/6/3</a:t>
            </a:fld>
            <a:endParaRPr lang="zh-CN" altLang="en-US"/>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zh-CN" altLang="en-US"/>
          </a:p>
        </p:txBody>
      </p:sp>
      <p:sp>
        <p:nvSpPr>
          <p:cNvPr id="7" name="Slide Number Placeholder 6"/>
          <p:cNvSpPr>
            <a:spLocks noGrp="1"/>
          </p:cNvSpPr>
          <p:nvPr>
            <p:ph type="sldNum" sz="quarter" idx="12"/>
          </p:nvPr>
        </p:nvSpPr>
        <p:spPr>
          <a:ln>
            <a:solidFill>
              <a:schemeClr val="tx2"/>
            </a:solidFill>
          </a:ln>
        </p:spPr>
        <p:txBody>
          <a:bodyPr/>
          <a:lstStyle>
            <a:lvl1pPr>
              <a:defRPr>
                <a:solidFill>
                  <a:schemeClr val="tx2"/>
                </a:solidFill>
              </a:defRPr>
            </a:lvl1pPr>
          </a:lstStyle>
          <a:p>
            <a:fld id="{0C913308-F349-4B6D-A68A-DD1791B4A57B}"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11" name="Picture Placeholder 10"/>
          <p:cNvSpPr>
            <a:spLocks noGrp="1"/>
          </p:cNvSpPr>
          <p:nvPr>
            <p:ph type="pic" sz="quarter" idx="14"/>
          </p:nvPr>
        </p:nvSpPr>
        <p:spPr>
          <a:xfrm>
            <a:off x="2028825" y="0"/>
            <a:ext cx="7115175" cy="6858000"/>
          </a:xfrm>
          <a:custGeom>
            <a:avLst/>
            <a:gdLst>
              <a:gd name="connsiteX0" fmla="*/ 0 w 7104888"/>
              <a:gd name="connsiteY0" fmla="*/ 0 h 6858000"/>
              <a:gd name="connsiteX1" fmla="*/ 7104888 w 7104888"/>
              <a:gd name="connsiteY1" fmla="*/ 0 h 6858000"/>
              <a:gd name="connsiteX2" fmla="*/ 7104888 w 7104888"/>
              <a:gd name="connsiteY2" fmla="*/ 6858000 h 6858000"/>
              <a:gd name="connsiteX3" fmla="*/ 0 w 7104888"/>
              <a:gd name="connsiteY3" fmla="*/ 6858000 h 6858000"/>
              <a:gd name="connsiteX4" fmla="*/ 0 w 7104888"/>
              <a:gd name="connsiteY4" fmla="*/ 0 h 6858000"/>
              <a:gd name="connsiteX0" fmla="*/ 0 w 7104888"/>
              <a:gd name="connsiteY0" fmla="*/ 0 h 6858000"/>
              <a:gd name="connsiteX1" fmla="*/ 5695188 w 7104888"/>
              <a:gd name="connsiteY1" fmla="*/ 0 h 6858000"/>
              <a:gd name="connsiteX2" fmla="*/ 7104888 w 7104888"/>
              <a:gd name="connsiteY2" fmla="*/ 0 h 6858000"/>
              <a:gd name="connsiteX3" fmla="*/ 7104888 w 7104888"/>
              <a:gd name="connsiteY3" fmla="*/ 6858000 h 6858000"/>
              <a:gd name="connsiteX4" fmla="*/ 0 w 7104888"/>
              <a:gd name="connsiteY4" fmla="*/ 6858000 h 6858000"/>
              <a:gd name="connsiteX5" fmla="*/ 0 w 7104888"/>
              <a:gd name="connsiteY5"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0287 w 7115175"/>
              <a:gd name="connsiteY4" fmla="*/ 6858000 h 6858000"/>
              <a:gd name="connsiteX5" fmla="*/ 0 w 7115175"/>
              <a:gd name="connsiteY5" fmla="*/ 5048250 h 6858000"/>
              <a:gd name="connsiteX6" fmla="*/ 10287 w 7115175"/>
              <a:gd name="connsiteY6"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10287 w 7115175"/>
              <a:gd name="connsiteY5" fmla="*/ 6858000 h 6858000"/>
              <a:gd name="connsiteX6" fmla="*/ 0 w 7115175"/>
              <a:gd name="connsiteY6" fmla="*/ 5048250 h 6858000"/>
              <a:gd name="connsiteX7" fmla="*/ 10287 w 7115175"/>
              <a:gd name="connsiteY7"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 name="connsiteX6" fmla="*/ 10287 w 7115175"/>
              <a:gd name="connsiteY6" fmla="*/ 0 h 6858000"/>
              <a:gd name="connsiteX0" fmla="*/ 0 w 7115175"/>
              <a:gd name="connsiteY0" fmla="*/ 504825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15175" h="6858000">
                <a:moveTo>
                  <a:pt x="0" y="5048250"/>
                </a:moveTo>
                <a:lnTo>
                  <a:pt x="5705475" y="0"/>
                </a:lnTo>
                <a:lnTo>
                  <a:pt x="7115175" y="0"/>
                </a:lnTo>
                <a:lnTo>
                  <a:pt x="7115175" y="6858000"/>
                </a:lnTo>
                <a:lnTo>
                  <a:pt x="1533526" y="6848475"/>
                </a:lnTo>
                <a:lnTo>
                  <a:pt x="0" y="5048250"/>
                </a:lnTo>
                <a:close/>
              </a:path>
            </a:pathLst>
          </a:custGeom>
          <a:solidFill>
            <a:schemeClr val="accent3">
              <a:alpha val="80000"/>
            </a:schemeClr>
          </a:solidFill>
        </p:spPr>
        <p:txBody>
          <a:bodyPr rIns="182880" anchor="ctr"/>
          <a:lstStyle>
            <a:lvl1pPr algn="r">
              <a:defRPr/>
            </a:lvl1pPr>
          </a:lstStyle>
          <a:p>
            <a:r>
              <a:rPr lang="zh-CN" altLang="en-US"/>
              <a:t>单击图标添加图片</a:t>
            </a:r>
            <a:endParaRPr lang="en-US" dirty="0"/>
          </a:p>
        </p:txBody>
      </p:sp>
      <p:sp>
        <p:nvSpPr>
          <p:cNvPr id="9" name="Right Triangle 8"/>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p:cNvSpPr/>
          <p:nvPr/>
        </p:nvSpPr>
        <p:spPr>
          <a:xfrm>
            <a:off x="0" y="5048250"/>
            <a:ext cx="3571875" cy="1809750"/>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1809750 h 1809750"/>
              <a:gd name="connsiteX1" fmla="*/ 1895475 w 3571875"/>
              <a:gd name="connsiteY1" fmla="*/ 0 h 1809750"/>
              <a:gd name="connsiteX2" fmla="*/ 3571875 w 3571875"/>
              <a:gd name="connsiteY2" fmla="*/ 1809750 h 1809750"/>
              <a:gd name="connsiteX3" fmla="*/ 0 w 3571875"/>
              <a:gd name="connsiteY3" fmla="*/ 1809750 h 1809750"/>
              <a:gd name="connsiteX0" fmla="*/ 0 w 3571875"/>
              <a:gd name="connsiteY0" fmla="*/ 1809750 h 1809750"/>
              <a:gd name="connsiteX1" fmla="*/ 2038350 w 3571875"/>
              <a:gd name="connsiteY1" fmla="*/ 0 h 1809750"/>
              <a:gd name="connsiteX2" fmla="*/ 3571875 w 3571875"/>
              <a:gd name="connsiteY2" fmla="*/ 1809750 h 1809750"/>
              <a:gd name="connsiteX3" fmla="*/ 0 w 3571875"/>
              <a:gd name="connsiteY3" fmla="*/ 1809750 h 1809750"/>
            </a:gdLst>
            <a:ahLst/>
            <a:cxnLst>
              <a:cxn ang="0">
                <a:pos x="connsiteX0" y="connsiteY0"/>
              </a:cxn>
              <a:cxn ang="0">
                <a:pos x="connsiteX1" y="connsiteY1"/>
              </a:cxn>
              <a:cxn ang="0">
                <a:pos x="connsiteX2" y="connsiteY2"/>
              </a:cxn>
              <a:cxn ang="0">
                <a:pos x="connsiteX3" y="connsiteY3"/>
              </a:cxn>
            </a:cxnLst>
            <a:rect l="l" t="t" r="r" b="b"/>
            <a:pathLst>
              <a:path w="3571875" h="1809750">
                <a:moveTo>
                  <a:pt x="0" y="1809750"/>
                </a:moveTo>
                <a:lnTo>
                  <a:pt x="2038350" y="0"/>
                </a:lnTo>
                <a:lnTo>
                  <a:pt x="3571875" y="1809750"/>
                </a:lnTo>
                <a:lnTo>
                  <a:pt x="0" y="1809750"/>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671197" y="1717501"/>
            <a:ext cx="5486400" cy="867444"/>
          </a:xfrm>
        </p:spPr>
        <p:txBody>
          <a:bodyPr anchor="b"/>
          <a:lstStyle>
            <a:lvl1pPr algn="l">
              <a:defRPr sz="2800" b="0">
                <a:latin typeface="+mj-lt"/>
              </a:defRPr>
            </a:lvl1pPr>
          </a:lstStyle>
          <a:p>
            <a:r>
              <a:rPr lang="zh-CN" altLang="en-US"/>
              <a:t>单击此处编辑母版标题样式</a:t>
            </a:r>
            <a:endParaRPr lang="en-US" dirty="0"/>
          </a:p>
        </p:txBody>
      </p:sp>
      <p:sp>
        <p:nvSpPr>
          <p:cNvPr id="4" name="Text Placeholder 3"/>
          <p:cNvSpPr>
            <a:spLocks noGrp="1"/>
          </p:cNvSpPr>
          <p:nvPr>
            <p:ph type="body" sz="half" idx="2"/>
          </p:nvPr>
        </p:nvSpPr>
        <p:spPr>
          <a:xfrm rot="19140000">
            <a:off x="1143479" y="2180529"/>
            <a:ext cx="6096545" cy="740664"/>
          </a:xfrm>
        </p:spPr>
        <p:txBody>
          <a:bodyPr/>
          <a:lstStyle>
            <a:lvl1pPr marL="0" indent="0">
              <a:buNone/>
              <a:defRPr sz="14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FB116A5A-BD99-4717-BAC1-7A32521A6EAD}" type="datetime1">
              <a:rPr lang="zh-CN" altLang="en-US" smtClean="0"/>
              <a:pPr/>
              <a:t>2025/6/3</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p:txBody>
          <a:bodyPr/>
          <a:lstStyle/>
          <a:p>
            <a:fld id="{5D1CC93F-9B3C-4EE7-9870-3D016680E837}" type="datetime1">
              <a:rPr lang="zh-CN" altLang="en-US" smtClean="0"/>
              <a:pPr/>
              <a:t>2025/6/3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467836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457200" y="274639"/>
            <a:ext cx="6019800" cy="467836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p:txBody>
          <a:bodyPr/>
          <a:lstStyle/>
          <a:p>
            <a:fld id="{9D16CA2C-5ACD-411C-BC33-FE293CBE3AB9}" type="datetime1">
              <a:rPr lang="zh-CN" altLang="en-US" smtClean="0"/>
              <a:pPr/>
              <a:t>2025/6/3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reeform 6"/>
          <p:cNvSpPr/>
          <p:nvPr/>
        </p:nvSpPr>
        <p:spPr>
          <a:xfrm>
            <a:off x="-2382" y="6309319"/>
            <a:ext cx="3574257" cy="548681"/>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4210050 h 4210050"/>
              <a:gd name="connsiteX1" fmla="*/ 0 w 3571875"/>
              <a:gd name="connsiteY1" fmla="*/ 0 h 4210050"/>
              <a:gd name="connsiteX2" fmla="*/ 2028825 w 3571875"/>
              <a:gd name="connsiteY2" fmla="*/ 23883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050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812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76450 w 3571875"/>
              <a:gd name="connsiteY2" fmla="*/ 22740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245519 w 3571875"/>
              <a:gd name="connsiteY2" fmla="*/ 2405063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38350 w 3571875"/>
              <a:gd name="connsiteY2" fmla="*/ 2405063 h 4210050"/>
              <a:gd name="connsiteX3" fmla="*/ 3571875 w 3571875"/>
              <a:gd name="connsiteY3" fmla="*/ 4210050 h 4210050"/>
              <a:gd name="connsiteX4" fmla="*/ 0 w 3571875"/>
              <a:gd name="connsiteY4" fmla="*/ 4210050 h 4210050"/>
              <a:gd name="connsiteX0" fmla="*/ 0 w 3571875"/>
              <a:gd name="connsiteY0" fmla="*/ 2433637 h 2433637"/>
              <a:gd name="connsiteX1" fmla="*/ 257175 w 3571875"/>
              <a:gd name="connsiteY1" fmla="*/ 0 h 2433637"/>
              <a:gd name="connsiteX2" fmla="*/ 2038350 w 3571875"/>
              <a:gd name="connsiteY2" fmla="*/ 628650 h 2433637"/>
              <a:gd name="connsiteX3" fmla="*/ 3571875 w 3571875"/>
              <a:gd name="connsiteY3" fmla="*/ 2433637 h 2433637"/>
              <a:gd name="connsiteX4" fmla="*/ 0 w 3571875"/>
              <a:gd name="connsiteY4" fmla="*/ 2433637 h 2433637"/>
              <a:gd name="connsiteX0" fmla="*/ 2382 w 3574257"/>
              <a:gd name="connsiteY0" fmla="*/ 1807368 h 1807368"/>
              <a:gd name="connsiteX1" fmla="*/ 0 w 3574257"/>
              <a:gd name="connsiteY1" fmla="*/ 0 h 1807368"/>
              <a:gd name="connsiteX2" fmla="*/ 2040732 w 3574257"/>
              <a:gd name="connsiteY2" fmla="*/ 2381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24051 w 3574257"/>
              <a:gd name="connsiteY2" fmla="*/ 307181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40682 w 3574257"/>
              <a:gd name="connsiteY2" fmla="*/ 450057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57351 w 3574257"/>
              <a:gd name="connsiteY2" fmla="*/ 2309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0732 w 3574257"/>
              <a:gd name="connsiteY2" fmla="*/ 23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774032 w 3574257"/>
              <a:gd name="connsiteY2" fmla="*/ 161925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69294 w 3574257"/>
              <a:gd name="connsiteY2" fmla="*/ 2143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819275 w 3574257"/>
              <a:gd name="connsiteY2" fmla="*/ 200026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5494 w 3574257"/>
              <a:gd name="connsiteY2" fmla="*/ 1 h 1807368"/>
              <a:gd name="connsiteX3" fmla="*/ 3574257 w 3574257"/>
              <a:gd name="connsiteY3" fmla="*/ 1807368 h 1807368"/>
              <a:gd name="connsiteX4" fmla="*/ 2382 w 3574257"/>
              <a:gd name="connsiteY4" fmla="*/ 1807368 h 1807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4257" h="1807368">
                <a:moveTo>
                  <a:pt x="2382" y="1807368"/>
                </a:moveTo>
                <a:lnTo>
                  <a:pt x="0" y="0"/>
                </a:lnTo>
                <a:lnTo>
                  <a:pt x="2045494" y="1"/>
                </a:lnTo>
                <a:lnTo>
                  <a:pt x="3574257" y="1807368"/>
                </a:lnTo>
                <a:lnTo>
                  <a:pt x="2382" y="1807368"/>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6309319"/>
            <a:ext cx="9146380" cy="548682"/>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 name="connsiteX0" fmla="*/ 0 w 3352800"/>
              <a:gd name="connsiteY0" fmla="*/ 2002631 h 2002631"/>
              <a:gd name="connsiteX1" fmla="*/ 754045 w 3352800"/>
              <a:gd name="connsiteY1" fmla="*/ 146832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26618 h 526618"/>
              <a:gd name="connsiteX1" fmla="*/ 980611 w 3352800"/>
              <a:gd name="connsiteY1" fmla="*/ 9368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6888 h 526888"/>
              <a:gd name="connsiteX1" fmla="*/ 744735 w 3352800"/>
              <a:gd name="connsiteY1" fmla="*/ 0 h 526888"/>
              <a:gd name="connsiteX2" fmla="*/ 3352800 w 3352800"/>
              <a:gd name="connsiteY2" fmla="*/ 270 h 526888"/>
              <a:gd name="connsiteX3" fmla="*/ 3352800 w 3352800"/>
              <a:gd name="connsiteY3" fmla="*/ 526888 h 526888"/>
              <a:gd name="connsiteX4" fmla="*/ 0 w 3352800"/>
              <a:gd name="connsiteY4" fmla="*/ 526888 h 526888"/>
              <a:gd name="connsiteX0" fmla="*/ 0 w 3352800"/>
              <a:gd name="connsiteY0" fmla="*/ 526618 h 526618"/>
              <a:gd name="connsiteX1" fmla="*/ 811948 w 3352800"/>
              <a:gd name="connsiteY1" fmla="*/ 6092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7584 h 527584"/>
              <a:gd name="connsiteX1" fmla="*/ 751718 w 3352800"/>
              <a:gd name="connsiteY1" fmla="*/ 0 h 527584"/>
              <a:gd name="connsiteX2" fmla="*/ 3352800 w 3352800"/>
              <a:gd name="connsiteY2" fmla="*/ 966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241069 w 3352800"/>
              <a:gd name="connsiteY2" fmla="*/ 94144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 name="connsiteX0" fmla="*/ 0 w 3352800"/>
              <a:gd name="connsiteY0" fmla="*/ 527313 h 527313"/>
              <a:gd name="connsiteX1" fmla="*/ 900984 w 3352800"/>
              <a:gd name="connsiteY1" fmla="*/ 97774 h 527313"/>
              <a:gd name="connsiteX2" fmla="*/ 3352800 w 3352800"/>
              <a:gd name="connsiteY2" fmla="*/ 0 h 527313"/>
              <a:gd name="connsiteX3" fmla="*/ 3352800 w 3352800"/>
              <a:gd name="connsiteY3" fmla="*/ 527313 h 527313"/>
              <a:gd name="connsiteX4" fmla="*/ 0 w 3352800"/>
              <a:gd name="connsiteY4" fmla="*/ 527313 h 527313"/>
              <a:gd name="connsiteX0" fmla="*/ 0 w 3352800"/>
              <a:gd name="connsiteY0" fmla="*/ 527584 h 527584"/>
              <a:gd name="connsiteX1" fmla="*/ 748227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527584">
                <a:moveTo>
                  <a:pt x="0" y="527584"/>
                </a:moveTo>
                <a:lnTo>
                  <a:pt x="748227" y="0"/>
                </a:lnTo>
                <a:lnTo>
                  <a:pt x="3352800" y="271"/>
                </a:lnTo>
                <a:lnTo>
                  <a:pt x="3352800" y="527584"/>
                </a:lnTo>
                <a:lnTo>
                  <a:pt x="0" y="527584"/>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822960" y="365760"/>
            <a:ext cx="7520940" cy="548640"/>
          </a:xfrm>
          <a:prstGeom prst="rect">
            <a:avLst/>
          </a:prstGeom>
        </p:spPr>
        <p:txBody>
          <a:bodyPr vert="horz" lIns="91440" tIns="45720" rIns="91440" bIns="45720" rtlCol="0" anchor="ctr">
            <a:no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22960" y="1100628"/>
            <a:ext cx="7520940" cy="3579849"/>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251520" y="6451667"/>
            <a:ext cx="1533226" cy="263984"/>
          </a:xfrm>
          <a:prstGeom prst="rect">
            <a:avLst/>
          </a:prstGeom>
        </p:spPr>
        <p:txBody>
          <a:bodyPr vert="horz" lIns="91440" tIns="45720" rIns="91440" bIns="45720" rtlCol="0" anchor="ctr"/>
          <a:lstStyle>
            <a:lvl1pPr algn="l">
              <a:defRPr sz="1200">
                <a:solidFill>
                  <a:srgbClr val="FFFFFF"/>
                </a:solidFill>
              </a:defRPr>
            </a:lvl1pPr>
          </a:lstStyle>
          <a:p>
            <a:fld id="{42F99069-F18D-4F57-97B5-E5E224D09DA9}" type="datetime1">
              <a:rPr lang="zh-CN" altLang="en-US" smtClean="0"/>
              <a:pPr/>
              <a:t>2025/6/3</a:t>
            </a:fld>
            <a:endParaRPr lang="zh-CN" altLang="en-US"/>
          </a:p>
        </p:txBody>
      </p:sp>
      <p:sp>
        <p:nvSpPr>
          <p:cNvPr id="5" name="Footer Placeholder 4"/>
          <p:cNvSpPr>
            <a:spLocks noGrp="1"/>
          </p:cNvSpPr>
          <p:nvPr>
            <p:ph type="ftr" sz="quarter" idx="3"/>
          </p:nvPr>
        </p:nvSpPr>
        <p:spPr>
          <a:xfrm>
            <a:off x="3561570" y="6446499"/>
            <a:ext cx="4724400" cy="274320"/>
          </a:xfrm>
          <a:prstGeom prst="rect">
            <a:avLst/>
          </a:prstGeom>
        </p:spPr>
        <p:txBody>
          <a:bodyPr vert="horz" lIns="91440" tIns="45720" rIns="91440" bIns="45720" rtlCol="0" anchor="ctr"/>
          <a:lstStyle>
            <a:lvl1pPr algn="r">
              <a:defRPr sz="1000" cap="all" spc="200" baseline="0">
                <a:solidFill>
                  <a:srgbClr val="FFFFFF"/>
                </a:solidFill>
              </a:defRPr>
            </a:lvl1pPr>
          </a:lstStyle>
          <a:p>
            <a:endParaRPr lang="zh-CN" altLang="en-US"/>
          </a:p>
        </p:txBody>
      </p:sp>
      <p:sp>
        <p:nvSpPr>
          <p:cNvPr id="6" name="Slide Number Placeholder 5"/>
          <p:cNvSpPr>
            <a:spLocks noGrp="1"/>
          </p:cNvSpPr>
          <p:nvPr>
            <p:ph type="sldNum" sz="quarter" idx="4"/>
          </p:nvPr>
        </p:nvSpPr>
        <p:spPr>
          <a:xfrm>
            <a:off x="8460432" y="6332199"/>
            <a:ext cx="502920" cy="502920"/>
          </a:xfrm>
          <a:prstGeom prst="ellipse">
            <a:avLst/>
          </a:prstGeom>
          <a:ln w="19050">
            <a:solidFill>
              <a:srgbClr val="FFFFFF"/>
            </a:solidFill>
          </a:ln>
        </p:spPr>
        <p:txBody>
          <a:bodyPr vert="horz" lIns="9144" tIns="9144" rIns="9144" bIns="9144" rtlCol="0" anchor="ctr">
            <a:normAutofit/>
          </a:bodyPr>
          <a:lstStyle>
            <a:lvl1pPr algn="ctr">
              <a:defRPr sz="1650">
                <a:solidFill>
                  <a:srgbClr val="FFFFFF"/>
                </a:solidFill>
              </a:defRPr>
            </a:lvl1pPr>
          </a:lstStyle>
          <a:p>
            <a:fld id="{0C913308-F349-4B6D-A68A-DD1791B4A57B}"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hf sldNum="0" hdr="0" ftr="0"/>
  <p:txStyles>
    <p:titleStyle>
      <a:lvl1pPr algn="l" defTabSz="914400" rtl="0" eaLnBrk="1" latinLnBrk="0" hangingPunct="1">
        <a:spcBef>
          <a:spcPct val="0"/>
        </a:spcBef>
        <a:buNone/>
        <a:defRPr sz="2800" kern="1200" cap="all" baseline="0">
          <a:solidFill>
            <a:schemeClr val="tx1"/>
          </a:solidFill>
          <a:latin typeface="+mj-lt"/>
          <a:ea typeface="+mj-ea"/>
          <a:cs typeface="+mj-cs"/>
        </a:defRPr>
      </a:lvl1pPr>
    </p:titleStyle>
    <p:bodyStyle>
      <a:lvl1pPr marL="342900" indent="-342900" algn="l" defTabSz="914400" rtl="0" eaLnBrk="1" latinLnBrk="0" hangingPunct="1">
        <a:spcBef>
          <a:spcPts val="800"/>
        </a:spcBef>
        <a:buFont typeface="Arial" pitchFamily="34" charset="0"/>
        <a:buNone/>
        <a:defRPr sz="1600" b="1" kern="1200">
          <a:solidFill>
            <a:schemeClr val="tx1"/>
          </a:solidFill>
          <a:latin typeface="+mn-lt"/>
          <a:ea typeface="+mn-ea"/>
          <a:cs typeface="+mn-cs"/>
        </a:defRPr>
      </a:lvl1pPr>
      <a:lvl2pPr marL="1737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2pPr>
      <a:lvl3pPr marL="4023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3pPr>
      <a:lvl4pPr marL="6309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4pPr>
      <a:lvl5pPr marL="8595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5.wmf"/><Relationship Id="rId4" Type="http://schemas.openxmlformats.org/officeDocument/2006/relationships/oleObject" Target="../embeddings/oleObject1.bin"/></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tiff"/><Relationship Id="rId2" Type="http://schemas.openxmlformats.org/officeDocument/2006/relationships/image" Target="../media/image8.tiff"/><Relationship Id="rId1" Type="http://schemas.openxmlformats.org/officeDocument/2006/relationships/slideLayout" Target="../slideLayouts/slideLayout2.xml"/><Relationship Id="rId4" Type="http://schemas.openxmlformats.org/officeDocument/2006/relationships/image" Target="../media/image10.tiff"/></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12.wmf"/></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tif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10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 Id="rId5" Type="http://schemas.openxmlformats.org/officeDocument/2006/relationships/image" Target="../media/image53.png"/><Relationship Id="rId4" Type="http://schemas.openxmlformats.org/officeDocument/2006/relationships/image" Target="../media/image52.png"/></Relationships>
</file>

<file path=ppt/slides/_rels/slide10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 Id="rId5" Type="http://schemas.openxmlformats.org/officeDocument/2006/relationships/image" Target="../media/image56.png"/><Relationship Id="rId4" Type="http://schemas.openxmlformats.org/officeDocument/2006/relationships/image" Target="../media/image55.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image" Target="../media/image62.jpeg"/><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3" Type="http://schemas.openxmlformats.org/officeDocument/2006/relationships/hyperlink" Target="https://zhida.zhihu.com/search?content_id=117921598&amp;content_type=Article&amp;match_order=1&amp;q=%E4%BA%8C%E5%88%86%E6%9F%A5%E6%89%BE&amp;zd_token=eyJhbGciOiJIUzI1NiIsInR5cCI6IkpXVCJ9.eyJpc3MiOiJ6aGlkYV9zZXJ2ZXIiLCJleHAiOjE3NDg4NzE3ODAsInEiOiLkuozliIbmn6Xmib4iLCJ6aGlkYV9zb3VyY2UiOiJlbnRpdHkiLCJjb250ZW50X2lkIjoxMTc5MjE1OTgsImNvbnRlbnRfdHlwZSI6IkFydGljbGUiLCJtYXRjaF9vcmRlciI6MSwiemRfdG9rZW4iOm51bGx9.kgHbvmwSY4rgvDB4spfBOcVSzC_XoL7neueq2L5z4yA&amp;zhida_source=entity" TargetMode="External"/><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3" Type="http://schemas.openxmlformats.org/officeDocument/2006/relationships/hyperlink" Target="https://zhida.zhihu.com/search?content_id=117921598&amp;content_type=Article&amp;match_order=1&amp;q=%E5%B9%B3%E8%A1%A1%E4%BA%8C%E5%8F%89%E6%A0%91&amp;zd_token=eyJhbGciOiJIUzI1NiIsInR5cCI6IkpXVCJ9.eyJpc3MiOiJ6aGlkYV9zZXJ2ZXIiLCJleHAiOjE3NDg4NzE3ODAsInEiOiLlubPooaHkuozlj4nmoJEiLCJ6aGlkYV9zb3VyY2UiOiJlbnRpdHkiLCJjb250ZW50X2lkIjoxMTc5MjE1OTgsImNvbnRlbnRfdHlwZSI6IkFydGljbGUiLCJtYXRjaF9vcmRlciI6MSwiemRfdG9rZW4iOm51bGx9.cVxbgna2WU1Vgor_grpLM68RvuB6OneKYYIBgTsBHKI&amp;zhida_source=entity" TargetMode="External"/><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506556" y="1628800"/>
            <a:ext cx="5648623" cy="1204306"/>
          </a:xfrm>
        </p:spPr>
        <p:txBody>
          <a:bodyPr/>
          <a:lstStyle/>
          <a:p>
            <a:r>
              <a:rPr lang="zh-CN" altLang="zh-CN" sz="4400" b="1" dirty="0"/>
              <a:t>第</a:t>
            </a:r>
            <a:r>
              <a:rPr lang="en-US" altLang="zh-CN" sz="4400" b="1" dirty="0"/>
              <a:t>8</a:t>
            </a:r>
            <a:r>
              <a:rPr lang="zh-CN" altLang="zh-CN" sz="4400" b="1" dirty="0"/>
              <a:t>章 查找算法</a:t>
            </a:r>
            <a:endParaRPr lang="zh-CN" altLang="zh-CN" sz="4400" dirty="0"/>
          </a:p>
        </p:txBody>
      </p:sp>
      <p:pic>
        <p:nvPicPr>
          <p:cNvPr id="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7504" y="116632"/>
            <a:ext cx="798104" cy="7991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矩形 4"/>
          <p:cNvSpPr/>
          <p:nvPr/>
        </p:nvSpPr>
        <p:spPr>
          <a:xfrm>
            <a:off x="933802" y="146299"/>
            <a:ext cx="4267944" cy="461665"/>
          </a:xfrm>
          <a:prstGeom prst="rect">
            <a:avLst/>
          </a:prstGeom>
        </p:spPr>
        <p:txBody>
          <a:bodyPr wrap="square">
            <a:spAutoFit/>
          </a:bodyPr>
          <a:lstStyle/>
          <a:p>
            <a:r>
              <a:rPr lang="zh-CN" altLang="en-US" sz="2400" cap="all" dirty="0">
                <a:solidFill>
                  <a:srgbClr val="000000"/>
                </a:solidFill>
                <a:effectLst>
                  <a:outerShdw blurRad="38100" dist="38100" dir="2700000" algn="tl">
                    <a:srgbClr val="000000">
                      <a:alpha val="43137"/>
                    </a:srgbClr>
                  </a:outerShdw>
                </a:effectLst>
                <a:latin typeface="方正舒体" panose="02010601030101010101" pitchFamily="2" charset="-122"/>
                <a:ea typeface="方正舒体" panose="02010601030101010101" pitchFamily="2" charset="-122"/>
                <a:cs typeface="+mj-cs"/>
              </a:rPr>
              <a:t>数据结构与算法</a:t>
            </a:r>
            <a:endParaRPr lang="zh-CN" altLang="en-US" sz="2400" dirty="0">
              <a:latin typeface="方正舒体" panose="02010601030101010101" pitchFamily="2" charset="-122"/>
              <a:ea typeface="方正舒体" panose="02010601030101010101" pitchFamily="2" charset="-122"/>
            </a:endParaRPr>
          </a:p>
        </p:txBody>
      </p:sp>
      <p:sp>
        <p:nvSpPr>
          <p:cNvPr id="6" name="圆角矩形 5"/>
          <p:cNvSpPr/>
          <p:nvPr/>
        </p:nvSpPr>
        <p:spPr>
          <a:xfrm>
            <a:off x="5201746" y="2132856"/>
            <a:ext cx="3942254" cy="3168352"/>
          </a:xfrm>
          <a:prstGeom prst="round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nSpc>
                <a:spcPct val="120000"/>
              </a:lnSpc>
            </a:pPr>
            <a:r>
              <a:rPr lang="zh-CN" altLang="zh-CN" sz="3200" b="1" dirty="0">
                <a:effectLst>
                  <a:outerShdw blurRad="38100" dist="38100" dir="2700000" algn="tl">
                    <a:srgbClr val="000000">
                      <a:alpha val="43137"/>
                    </a:srgbClr>
                  </a:outerShdw>
                </a:effectLst>
              </a:rPr>
              <a:t>知识要点</a:t>
            </a:r>
            <a:endParaRPr lang="en-US" altLang="zh-CN" sz="2400" dirty="0"/>
          </a:p>
          <a:p>
            <a:r>
              <a:rPr lang="en-US" altLang="zh-CN" sz="2000" dirty="0"/>
              <a:t>(1) </a:t>
            </a:r>
            <a:r>
              <a:rPr lang="zh-CN" altLang="zh-CN" sz="2000" dirty="0"/>
              <a:t>理解查找的概念；</a:t>
            </a:r>
          </a:p>
          <a:p>
            <a:r>
              <a:rPr lang="en-US" altLang="zh-CN" sz="2000" dirty="0"/>
              <a:t>(2) </a:t>
            </a:r>
            <a:r>
              <a:rPr lang="zh-CN" altLang="zh-CN" sz="2000" dirty="0"/>
              <a:t>掌握静态查找表的方法；</a:t>
            </a:r>
          </a:p>
          <a:p>
            <a:r>
              <a:rPr lang="en-US" altLang="zh-CN" sz="2000" dirty="0"/>
              <a:t>(3) </a:t>
            </a:r>
            <a:r>
              <a:rPr lang="zh-CN" altLang="zh-CN" sz="2000" dirty="0"/>
              <a:t>熟悉并能运用散列技术解决实际问题；</a:t>
            </a:r>
          </a:p>
          <a:p>
            <a:r>
              <a:rPr lang="en-US" altLang="zh-CN" sz="2000" dirty="0"/>
              <a:t>(4) </a:t>
            </a:r>
            <a:r>
              <a:rPr lang="zh-CN" altLang="zh-CN" sz="2000" dirty="0"/>
              <a:t>熟悉线性索引以及树形索引。</a:t>
            </a:r>
          </a:p>
          <a:p>
            <a:pPr algn="ctr"/>
            <a:endParaRPr lang="zh-CN" altLang="en-US" dirty="0"/>
          </a:p>
        </p:txBody>
      </p:sp>
      <p:sp>
        <p:nvSpPr>
          <p:cNvPr id="7" name="副标题 2"/>
          <p:cNvSpPr txBox="1">
            <a:spLocks/>
          </p:cNvSpPr>
          <p:nvPr/>
        </p:nvSpPr>
        <p:spPr>
          <a:xfrm>
            <a:off x="3563889" y="5949280"/>
            <a:ext cx="5976664" cy="886002"/>
          </a:xfrm>
          <a:prstGeom prst="rect">
            <a:avLst/>
          </a:prstGeom>
        </p:spPr>
        <p:txBody>
          <a:bodyPr vert="horz" lIns="91440" tIns="9144" rIns="91440" bIns="45720" rtlCol="0">
            <a:normAutofit/>
          </a:bodyPr>
          <a:lstStyle>
            <a:lvl1pPr marL="0" indent="0" algn="l" defTabSz="914400" rtl="0" eaLnBrk="1" latinLnBrk="0" hangingPunct="1">
              <a:spcBef>
                <a:spcPts val="800"/>
              </a:spcBef>
              <a:buFont typeface="Arial" pitchFamily="34" charset="0"/>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lgn="ctr" defTabSz="914400" rtl="0" eaLnBrk="1" latinLnBrk="0" hangingPunct="1">
              <a:spcBef>
                <a:spcPts val="300"/>
              </a:spcBef>
              <a:buClr>
                <a:schemeClr val="accent2"/>
              </a:buClr>
              <a:buFont typeface="Wingdings" pitchFamily="2" charset="2"/>
              <a:buNone/>
              <a:defRPr sz="1600" kern="1200">
                <a:solidFill>
                  <a:schemeClr val="tx1">
                    <a:tint val="75000"/>
                  </a:schemeClr>
                </a:solidFill>
                <a:latin typeface="+mn-lt"/>
                <a:ea typeface="+mn-ea"/>
                <a:cs typeface="+mn-cs"/>
              </a:defRPr>
            </a:lvl2pPr>
            <a:lvl3pPr marL="914400" indent="0" algn="ctr" defTabSz="914400" rtl="0" eaLnBrk="1" latinLnBrk="0" hangingPunct="1">
              <a:spcBef>
                <a:spcPts val="300"/>
              </a:spcBef>
              <a:buClr>
                <a:schemeClr val="accent2"/>
              </a:buClr>
              <a:buFont typeface="Wingdings" pitchFamily="2" charset="2"/>
              <a:buNone/>
              <a:defRPr sz="1600" kern="1200">
                <a:solidFill>
                  <a:schemeClr val="tx1">
                    <a:tint val="75000"/>
                  </a:schemeClr>
                </a:solidFill>
                <a:latin typeface="+mn-lt"/>
                <a:ea typeface="+mn-ea"/>
                <a:cs typeface="+mn-cs"/>
              </a:defRPr>
            </a:lvl3pPr>
            <a:lvl4pPr marL="1371600" indent="0" algn="ctr" defTabSz="914400" rtl="0" eaLnBrk="1" latinLnBrk="0" hangingPunct="1">
              <a:spcBef>
                <a:spcPts val="300"/>
              </a:spcBef>
              <a:buClr>
                <a:schemeClr val="accent2"/>
              </a:buClr>
              <a:buFont typeface="Wingdings" pitchFamily="2" charset="2"/>
              <a:buNone/>
              <a:defRPr sz="1600" kern="1200">
                <a:solidFill>
                  <a:schemeClr val="tx1">
                    <a:tint val="75000"/>
                  </a:schemeClr>
                </a:solidFill>
                <a:latin typeface="+mn-lt"/>
                <a:ea typeface="+mn-ea"/>
                <a:cs typeface="+mn-cs"/>
              </a:defRPr>
            </a:lvl4pPr>
            <a:lvl5pPr marL="1828800" indent="0" algn="ctr" defTabSz="914400" rtl="0" eaLnBrk="1" latinLnBrk="0" hangingPunct="1">
              <a:spcBef>
                <a:spcPts val="300"/>
              </a:spcBef>
              <a:buClr>
                <a:schemeClr val="accent2"/>
              </a:buClr>
              <a:buFont typeface="Wingdings" pitchFamily="2" charset="2"/>
              <a:buNone/>
              <a:defRPr sz="1600" kern="1200">
                <a:solidFill>
                  <a:schemeClr val="tx1">
                    <a:tint val="75000"/>
                  </a:schemeClr>
                </a:solidFill>
                <a:latin typeface="+mn-lt"/>
                <a:ea typeface="+mn-ea"/>
                <a:cs typeface="+mn-cs"/>
              </a:defRPr>
            </a:lvl5pPr>
            <a:lvl6pPr marL="2286000" indent="0" algn="ctr" defTabSz="914400" rtl="0" eaLnBrk="1" latinLnBrk="0" hangingPunct="1">
              <a:spcBef>
                <a:spcPts val="300"/>
              </a:spcBef>
              <a:buClr>
                <a:schemeClr val="accent2"/>
              </a:buClr>
              <a:buFont typeface="Wingdings" pitchFamily="2" charset="2"/>
              <a:buNone/>
              <a:defRPr sz="1400" kern="1200">
                <a:solidFill>
                  <a:schemeClr val="tx1">
                    <a:tint val="75000"/>
                  </a:schemeClr>
                </a:solidFill>
                <a:latin typeface="+mn-lt"/>
                <a:ea typeface="+mn-ea"/>
                <a:cs typeface="+mn-cs"/>
              </a:defRPr>
            </a:lvl6pPr>
            <a:lvl7pPr marL="2743200" indent="0" algn="ctr" defTabSz="914400" rtl="0" eaLnBrk="1" latinLnBrk="0" hangingPunct="1">
              <a:spcBef>
                <a:spcPts val="300"/>
              </a:spcBef>
              <a:buClr>
                <a:schemeClr val="accent2"/>
              </a:buClr>
              <a:buFont typeface="Wingdings" pitchFamily="2" charset="2"/>
              <a:buNone/>
              <a:defRPr sz="1400" kern="1200">
                <a:solidFill>
                  <a:schemeClr val="tx1">
                    <a:tint val="75000"/>
                  </a:schemeClr>
                </a:solidFill>
                <a:latin typeface="+mn-lt"/>
                <a:ea typeface="+mn-ea"/>
                <a:cs typeface="+mn-cs"/>
              </a:defRPr>
            </a:lvl7pPr>
            <a:lvl8pPr marL="3200400" indent="0" algn="ctr" defTabSz="914400" rtl="0" eaLnBrk="1" latinLnBrk="0" hangingPunct="1">
              <a:spcBef>
                <a:spcPts val="300"/>
              </a:spcBef>
              <a:buClr>
                <a:schemeClr val="accent2"/>
              </a:buClr>
              <a:buFont typeface="Wingdings" pitchFamily="2" charset="2"/>
              <a:buNone/>
              <a:defRPr sz="1400" kern="1200">
                <a:solidFill>
                  <a:schemeClr val="tx1">
                    <a:tint val="75000"/>
                  </a:schemeClr>
                </a:solidFill>
                <a:latin typeface="+mn-lt"/>
                <a:ea typeface="+mn-ea"/>
                <a:cs typeface="+mn-cs"/>
              </a:defRPr>
            </a:lvl8pPr>
            <a:lvl9pPr marL="3657600" indent="0" algn="ctr" defTabSz="914400" rtl="0" eaLnBrk="1" latinLnBrk="0" hangingPunct="1">
              <a:spcBef>
                <a:spcPts val="300"/>
              </a:spcBef>
              <a:buClr>
                <a:schemeClr val="accent2"/>
              </a:buClr>
              <a:buFont typeface="Wingdings" pitchFamily="2" charset="2"/>
              <a:buNone/>
              <a:defRPr sz="1400" kern="1200">
                <a:solidFill>
                  <a:schemeClr val="tx1">
                    <a:tint val="75000"/>
                  </a:schemeClr>
                </a:solidFill>
                <a:latin typeface="+mn-lt"/>
                <a:ea typeface="+mn-ea"/>
                <a:cs typeface="+mn-cs"/>
              </a:defRPr>
            </a:lvl9pPr>
          </a:lstStyle>
          <a:p>
            <a:pPr algn="ctr"/>
            <a:r>
              <a:rPr lang="zh-CN" altLang="en-US" sz="1800" i="1">
                <a:latin typeface="华文行楷" panose="02010800040101010101" pitchFamily="2" charset="-122"/>
                <a:ea typeface="华文行楷" panose="02010800040101010101" pitchFamily="2" charset="-122"/>
              </a:rPr>
              <a:t>西安交通大学计算机科学与技术系</a:t>
            </a:r>
          </a:p>
          <a:p>
            <a:pPr algn="ctr"/>
            <a:r>
              <a:rPr lang="en-US" altLang="zh-CN" sz="1800" i="1">
                <a:latin typeface="华文行楷" panose="02010800040101010101" pitchFamily="2" charset="-122"/>
                <a:ea typeface="华文行楷" panose="02010800040101010101" pitchFamily="2" charset="-122"/>
              </a:rPr>
              <a:t>2016</a:t>
            </a:r>
            <a:endParaRPr lang="zh-CN" altLang="en-US" sz="1800" i="1">
              <a:latin typeface="华文行楷" panose="02010800040101010101" pitchFamily="2" charset="-122"/>
              <a:ea typeface="华文行楷" panose="02010800040101010101" pitchFamily="2" charset="-122"/>
            </a:endParaRPr>
          </a:p>
        </p:txBody>
      </p:sp>
      <p:sp>
        <p:nvSpPr>
          <p:cNvPr id="8" name="日期占位符 5"/>
          <p:cNvSpPr>
            <a:spLocks noGrp="1"/>
          </p:cNvSpPr>
          <p:nvPr>
            <p:ph type="dt" sz="half" idx="10"/>
          </p:nvPr>
        </p:nvSpPr>
        <p:spPr>
          <a:xfrm>
            <a:off x="-36512" y="6485577"/>
            <a:ext cx="1123132" cy="227149"/>
          </a:xfrm>
        </p:spPr>
        <p:txBody>
          <a:bodyPr/>
          <a:lstStyle/>
          <a:p>
            <a:fld id="{FE3E9456-702B-478D-AFB3-A22B853B09FE}" type="datetime1">
              <a:rPr lang="zh-CN" altLang="en-US" smtClean="0"/>
              <a:pPr/>
              <a:t>2025/6/3</a:t>
            </a:fld>
            <a:endParaRPr lang="zh-CN" altLang="en-US" dirty="0"/>
          </a:p>
        </p:txBody>
      </p:sp>
    </p:spTree>
    <p:extLst>
      <p:ext uri="{BB962C8B-B14F-4D97-AF65-F5344CB8AC3E}">
        <p14:creationId xmlns:p14="http://schemas.microsoft.com/office/powerpoint/2010/main" val="2627410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8.1 </a:t>
            </a:r>
            <a:r>
              <a:rPr lang="zh-CN" altLang="zh-CN" b="1" dirty="0"/>
              <a:t>查找的基本概念</a:t>
            </a:r>
            <a:endParaRPr lang="zh-CN" altLang="en-US" dirty="0"/>
          </a:p>
        </p:txBody>
      </p:sp>
      <p:sp>
        <p:nvSpPr>
          <p:cNvPr id="3" name="内容占位符 2"/>
          <p:cNvSpPr>
            <a:spLocks noGrp="1"/>
          </p:cNvSpPr>
          <p:nvPr>
            <p:ph idx="1"/>
          </p:nvPr>
        </p:nvSpPr>
        <p:spPr>
          <a:xfrm>
            <a:off x="827584" y="1628800"/>
            <a:ext cx="7520940" cy="4608512"/>
          </a:xfrm>
        </p:spPr>
        <p:txBody>
          <a:bodyPr/>
          <a:lstStyle/>
          <a:p>
            <a:r>
              <a:rPr lang="zh-CN" altLang="zh-CN" dirty="0">
                <a:solidFill>
                  <a:srgbClr val="FF0000"/>
                </a:solidFill>
              </a:rPr>
              <a:t>查找</a:t>
            </a:r>
            <a:r>
              <a:rPr lang="zh-CN" altLang="zh-CN" b="0" dirty="0">
                <a:solidFill>
                  <a:srgbClr val="FF0000"/>
                </a:solidFill>
              </a:rPr>
              <a:t>又称为检索</a:t>
            </a:r>
            <a:r>
              <a:rPr lang="zh-CN" altLang="zh-CN" b="0" dirty="0"/>
              <a:t>，确定一个已经给出的数据是否出现在某个数据元素集合中。</a:t>
            </a:r>
            <a:endParaRPr lang="en-US" altLang="zh-CN" b="0" dirty="0"/>
          </a:p>
          <a:p>
            <a:r>
              <a:rPr lang="zh-CN" altLang="zh-CN" dirty="0"/>
              <a:t>有关查找表的相关概念</a:t>
            </a:r>
            <a:r>
              <a:rPr lang="zh-CN" altLang="en-US" dirty="0"/>
              <a:t>：</a:t>
            </a:r>
            <a:endParaRPr lang="en-US" altLang="zh-CN" dirty="0"/>
          </a:p>
          <a:p>
            <a:r>
              <a:rPr lang="zh-CN" altLang="zh-CN" b="0" dirty="0"/>
              <a:t>（</a:t>
            </a:r>
            <a:r>
              <a:rPr lang="en-US" altLang="zh-CN" b="0" dirty="0"/>
              <a:t>1</a:t>
            </a:r>
            <a:r>
              <a:rPr lang="zh-CN" altLang="zh-CN" b="0" dirty="0"/>
              <a:t>）</a:t>
            </a:r>
            <a:r>
              <a:rPr lang="zh-CN" altLang="zh-CN" dirty="0">
                <a:solidFill>
                  <a:srgbClr val="FF0000"/>
                </a:solidFill>
              </a:rPr>
              <a:t>键</a:t>
            </a:r>
            <a:r>
              <a:rPr lang="zh-CN" altLang="zh-CN" b="0" dirty="0"/>
              <a:t>是数据元素中的某个项或者组合项的值，用来标识一个数据元素。能够唯一确定一个数据元素的键，称为</a:t>
            </a:r>
            <a:r>
              <a:rPr lang="zh-CN" altLang="zh-CN" b="0" dirty="0">
                <a:solidFill>
                  <a:srgbClr val="FF0000"/>
                </a:solidFill>
              </a:rPr>
              <a:t>主键</a:t>
            </a:r>
            <a:r>
              <a:rPr lang="zh-CN" altLang="zh-CN" b="0" dirty="0"/>
              <a:t>。而不能唯一确定一个数据元素的键，称为</a:t>
            </a:r>
            <a:r>
              <a:rPr lang="zh-CN" altLang="zh-CN" b="0" dirty="0">
                <a:solidFill>
                  <a:srgbClr val="FF0000"/>
                </a:solidFill>
              </a:rPr>
              <a:t>次键</a:t>
            </a:r>
            <a:r>
              <a:rPr lang="zh-CN" altLang="zh-CN" b="0" dirty="0"/>
              <a:t>。</a:t>
            </a:r>
            <a:endParaRPr lang="zh-CN" altLang="en-US" b="0" dirty="0"/>
          </a:p>
        </p:txBody>
      </p:sp>
    </p:spTree>
    <p:extLst>
      <p:ext uri="{BB962C8B-B14F-4D97-AF65-F5344CB8AC3E}">
        <p14:creationId xmlns:p14="http://schemas.microsoft.com/office/powerpoint/2010/main" val="1915953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1520" y="1124744"/>
            <a:ext cx="8604448" cy="4968552"/>
          </a:xfrm>
        </p:spPr>
        <p:txBody>
          <a:bodyPr>
            <a:normAutofit fontScale="85000" lnSpcReduction="10000"/>
          </a:bodyPr>
          <a:lstStyle/>
          <a:p>
            <a:r>
              <a:rPr lang="zh-CN" altLang="zh-CN" b="0" dirty="0"/>
              <a:t>（</a:t>
            </a:r>
            <a:r>
              <a:rPr lang="en-US" altLang="zh-CN" b="0" dirty="0"/>
              <a:t>2</a:t>
            </a:r>
            <a:r>
              <a:rPr lang="zh-CN" altLang="zh-CN" b="0" dirty="0"/>
              <a:t>）</a:t>
            </a:r>
            <a:r>
              <a:rPr lang="zh-CN" altLang="zh-CN" dirty="0">
                <a:solidFill>
                  <a:srgbClr val="FF0000"/>
                </a:solidFill>
              </a:rPr>
              <a:t>查找表</a:t>
            </a:r>
            <a:r>
              <a:rPr lang="zh-CN" altLang="zh-CN" b="0" dirty="0"/>
              <a:t>指由具有同一类型（属性）的数据元素组成的集合。</a:t>
            </a:r>
          </a:p>
          <a:p>
            <a:pPr lvl="2"/>
            <a:r>
              <a:rPr lang="zh-CN" altLang="zh-CN" b="0" dirty="0">
                <a:solidFill>
                  <a:srgbClr val="FF0000"/>
                </a:solidFill>
              </a:rPr>
              <a:t>静态查找表</a:t>
            </a:r>
            <a:r>
              <a:rPr lang="zh-CN" altLang="zh-CN" b="0" dirty="0"/>
              <a:t>只允许进行查找，不能改变表中的数据元素。</a:t>
            </a:r>
          </a:p>
          <a:p>
            <a:pPr lvl="2"/>
            <a:r>
              <a:rPr lang="zh-CN" altLang="zh-CN" b="0" dirty="0">
                <a:solidFill>
                  <a:srgbClr val="FF0000"/>
                </a:solidFill>
              </a:rPr>
              <a:t>动态查找表</a:t>
            </a:r>
            <a:r>
              <a:rPr lang="zh-CN" altLang="zh-CN" b="0" dirty="0"/>
              <a:t>不仅可以实现查找，还允许向表中插入或删除数据元素。</a:t>
            </a:r>
          </a:p>
          <a:p>
            <a:r>
              <a:rPr lang="zh-CN" altLang="zh-CN" b="0" dirty="0"/>
              <a:t>（</a:t>
            </a:r>
            <a:r>
              <a:rPr lang="en-US" altLang="zh-CN" b="0" dirty="0"/>
              <a:t>3</a:t>
            </a:r>
            <a:r>
              <a:rPr lang="zh-CN" altLang="zh-CN" b="0" dirty="0"/>
              <a:t>）</a:t>
            </a:r>
            <a:r>
              <a:rPr lang="zh-CN" altLang="zh-CN" dirty="0">
                <a:solidFill>
                  <a:srgbClr val="FF0000"/>
                </a:solidFill>
              </a:rPr>
              <a:t>查找</a:t>
            </a:r>
            <a:r>
              <a:rPr lang="zh-CN" altLang="zh-CN" b="0" dirty="0"/>
              <a:t>是指在查找表中查找键值与待查元素值相等的过程。</a:t>
            </a:r>
            <a:endParaRPr lang="en-US" altLang="zh-CN" b="0" dirty="0"/>
          </a:p>
          <a:p>
            <a:r>
              <a:rPr lang="zh-CN" altLang="zh-CN" b="0" dirty="0"/>
              <a:t>（</a:t>
            </a:r>
            <a:r>
              <a:rPr lang="en-US" altLang="zh-CN" b="0" dirty="0"/>
              <a:t>4</a:t>
            </a:r>
            <a:r>
              <a:rPr lang="zh-CN" altLang="zh-CN" b="0" dirty="0"/>
              <a:t>）</a:t>
            </a:r>
            <a:r>
              <a:rPr lang="zh-CN" altLang="zh-CN" dirty="0">
                <a:solidFill>
                  <a:srgbClr val="FF0000"/>
                </a:solidFill>
              </a:rPr>
              <a:t>平均查找长度</a:t>
            </a:r>
            <a:r>
              <a:rPr lang="zh-CN" altLang="zh-CN" b="0" dirty="0"/>
              <a:t>是指查找过程中对键需要执行的平均比较次数，是一个查找算法优劣的衡量标准。</a:t>
            </a:r>
            <a:endParaRPr lang="en-US" altLang="zh-CN" b="0" dirty="0"/>
          </a:p>
          <a:p>
            <a:r>
              <a:rPr lang="en-US" altLang="zh-CN" b="0" dirty="0"/>
              <a:t>	</a:t>
            </a:r>
            <a:r>
              <a:rPr lang="zh-CN" altLang="zh-CN" b="0" dirty="0"/>
              <a:t>对</a:t>
            </a:r>
            <a:r>
              <a:rPr lang="en-US" altLang="zh-CN" b="0" dirty="0"/>
              <a:t>n</a:t>
            </a:r>
            <a:r>
              <a:rPr lang="zh-CN" altLang="zh-CN" b="0" dirty="0"/>
              <a:t>个对象记录进行查找时，</a:t>
            </a:r>
            <a:r>
              <a:rPr lang="zh-CN" altLang="zh-CN" dirty="0">
                <a:solidFill>
                  <a:srgbClr val="FF0000"/>
                </a:solidFill>
              </a:rPr>
              <a:t>平均查找长度为：</a:t>
            </a:r>
            <a:endParaRPr lang="en-US" altLang="zh-CN" dirty="0">
              <a:solidFill>
                <a:srgbClr val="FF0000"/>
              </a:solidFill>
            </a:endParaRPr>
          </a:p>
          <a:p>
            <a:endParaRPr lang="en-US" altLang="zh-CN" dirty="0">
              <a:solidFill>
                <a:srgbClr val="FF0000"/>
              </a:solidFill>
            </a:endParaRPr>
          </a:p>
          <a:p>
            <a:endParaRPr lang="en-US" altLang="zh-CN" dirty="0">
              <a:solidFill>
                <a:srgbClr val="FF0000"/>
              </a:solidFill>
            </a:endParaRPr>
          </a:p>
          <a:p>
            <a:endParaRPr lang="en-US" altLang="zh-CN" dirty="0">
              <a:solidFill>
                <a:srgbClr val="FF0000"/>
              </a:solidFill>
            </a:endParaRPr>
          </a:p>
          <a:p>
            <a:r>
              <a:rPr lang="zh-CN" altLang="en-US" b="0" dirty="0"/>
              <a:t>其中，</a:t>
            </a:r>
            <a:r>
              <a:rPr lang="en-US" altLang="zh-CN" b="0" dirty="0"/>
              <a:t>Pi</a:t>
            </a:r>
            <a:r>
              <a:rPr lang="zh-CN" altLang="en-US" b="0" dirty="0"/>
              <a:t>是第</a:t>
            </a:r>
            <a:r>
              <a:rPr lang="en-US" altLang="zh-CN" b="0" dirty="0" err="1"/>
              <a:t>i</a:t>
            </a:r>
            <a:r>
              <a:rPr lang="zh-CN" altLang="en-US" b="0" dirty="0"/>
              <a:t>个记录的查找概率，</a:t>
            </a:r>
            <a:r>
              <a:rPr lang="en-US" altLang="zh-CN" b="0" dirty="0"/>
              <a:t>Ci</a:t>
            </a:r>
            <a:r>
              <a:rPr lang="zh-CN" altLang="en-US" b="0" dirty="0"/>
              <a:t>是为查找第</a:t>
            </a:r>
            <a:r>
              <a:rPr lang="en-US" altLang="zh-CN" b="0" dirty="0" err="1"/>
              <a:t>i</a:t>
            </a:r>
            <a:r>
              <a:rPr lang="zh-CN" altLang="en-US" b="0" dirty="0"/>
              <a:t>个记录所需的比较次数</a:t>
            </a:r>
            <a:r>
              <a:rPr lang="zh-CN" altLang="en-US" dirty="0"/>
              <a:t>。</a:t>
            </a:r>
            <a:endParaRPr lang="zh-CN" altLang="zh-CN" dirty="0"/>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03848" y="4077072"/>
            <a:ext cx="2324100" cy="1133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34680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500"/>
                                        <p:tgtEl>
                                          <p:spTgt spid="3">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1026"/>
                                        </p:tgtEl>
                                        <p:attrNameLst>
                                          <p:attrName>style.visibility</p:attrName>
                                        </p:attrNameLst>
                                      </p:cBhvr>
                                      <p:to>
                                        <p:strVal val="visible"/>
                                      </p:to>
                                    </p:set>
                                    <p:animEffect transition="in" filter="fade">
                                      <p:cBhvr>
                                        <p:cTn id="31" dur="500"/>
                                        <p:tgtEl>
                                          <p:spTgt spid="1026"/>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
                                            <p:txEl>
                                              <p:pRg st="9" end="9"/>
                                            </p:txEl>
                                          </p:spTgt>
                                        </p:tgtEl>
                                        <p:attrNameLst>
                                          <p:attrName>style.visibility</p:attrName>
                                        </p:attrNameLst>
                                      </p:cBhvr>
                                      <p:to>
                                        <p:strVal val="visible"/>
                                      </p:to>
                                    </p:set>
                                    <p:animEffect transition="in" filter="fade">
                                      <p:cBhvr>
                                        <p:cTn id="36"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8.2 </a:t>
            </a:r>
            <a:r>
              <a:rPr lang="zh-CN" altLang="zh-CN" b="1" dirty="0"/>
              <a:t>静态查找表</a:t>
            </a:r>
            <a:endParaRPr lang="zh-CN" altLang="en-US" dirty="0"/>
          </a:p>
        </p:txBody>
      </p:sp>
      <p:sp>
        <p:nvSpPr>
          <p:cNvPr id="3" name="内容占位符 2"/>
          <p:cNvSpPr>
            <a:spLocks noGrp="1"/>
          </p:cNvSpPr>
          <p:nvPr>
            <p:ph idx="1"/>
          </p:nvPr>
        </p:nvSpPr>
        <p:spPr>
          <a:xfrm>
            <a:off x="827584" y="1628800"/>
            <a:ext cx="7520940" cy="4464496"/>
          </a:xfrm>
        </p:spPr>
        <p:txBody>
          <a:bodyPr>
            <a:normAutofit fontScale="85000" lnSpcReduction="20000"/>
          </a:bodyPr>
          <a:lstStyle/>
          <a:p>
            <a:pPr marL="0" indent="0"/>
            <a:r>
              <a:rPr lang="zh-CN" altLang="zh-CN" b="0" dirty="0"/>
              <a:t>静态查找表大部分情况下采用</a:t>
            </a:r>
            <a:r>
              <a:rPr lang="zh-CN" altLang="zh-CN" b="0" dirty="0">
                <a:solidFill>
                  <a:srgbClr val="FF0000"/>
                </a:solidFill>
              </a:rPr>
              <a:t>顺序存储结构</a:t>
            </a:r>
            <a:r>
              <a:rPr lang="zh-CN" altLang="zh-CN" b="0" dirty="0"/>
              <a:t>，有时在概率不等的复杂情况下也可以采用链表结构。</a:t>
            </a:r>
            <a:r>
              <a:rPr lang="zh-CN" altLang="en-US" b="0" dirty="0"/>
              <a:t>本节主要介绍顺序存储结构下的静态查找表的各种查找算法。</a:t>
            </a:r>
            <a:endParaRPr lang="en-US" altLang="zh-CN" b="0" dirty="0"/>
          </a:p>
          <a:p>
            <a:r>
              <a:rPr lang="zh-CN" altLang="zh-CN" dirty="0"/>
              <a:t>算法</a:t>
            </a:r>
            <a:r>
              <a:rPr lang="en-US" altLang="zh-CN" dirty="0"/>
              <a:t>8.1</a:t>
            </a:r>
            <a:r>
              <a:rPr lang="zh-CN" altLang="zh-CN" dirty="0"/>
              <a:t>：定义记录的结构</a:t>
            </a:r>
          </a:p>
          <a:p>
            <a:r>
              <a:rPr lang="en-US" altLang="zh-CN" b="0" dirty="0"/>
              <a:t>//</a:t>
            </a:r>
            <a:r>
              <a:rPr lang="zh-CN" altLang="en-US" b="0" dirty="0"/>
              <a:t>顺序查找表数据元素结构定义</a:t>
            </a:r>
          </a:p>
          <a:p>
            <a:r>
              <a:rPr lang="en-US" altLang="zh-CN" b="0" dirty="0"/>
              <a:t>template &lt;class </a:t>
            </a:r>
            <a:r>
              <a:rPr lang="en-US" altLang="zh-CN" b="0" dirty="0" err="1"/>
              <a:t>keytype,class</a:t>
            </a:r>
            <a:r>
              <a:rPr lang="en-US" altLang="zh-CN" b="0" dirty="0"/>
              <a:t> </a:t>
            </a:r>
            <a:r>
              <a:rPr lang="en-US" altLang="zh-CN" b="0" dirty="0" err="1"/>
              <a:t>Itemtype</a:t>
            </a:r>
            <a:r>
              <a:rPr lang="en-US" altLang="zh-CN" b="0" dirty="0"/>
              <a:t>&gt;</a:t>
            </a:r>
          </a:p>
          <a:p>
            <a:r>
              <a:rPr lang="en-US" altLang="zh-CN" b="0" dirty="0"/>
              <a:t>struct Element</a:t>
            </a:r>
          </a:p>
          <a:p>
            <a:r>
              <a:rPr lang="en-US" altLang="zh-CN" b="0" dirty="0"/>
              <a:t>{</a:t>
            </a:r>
          </a:p>
          <a:p>
            <a:r>
              <a:rPr lang="en-US" altLang="zh-CN" b="0" dirty="0"/>
              <a:t>	</a:t>
            </a:r>
            <a:r>
              <a:rPr lang="en-US" altLang="zh-CN" b="0" dirty="0" err="1"/>
              <a:t>keytype</a:t>
            </a:r>
            <a:r>
              <a:rPr lang="en-US" altLang="zh-CN" b="0" dirty="0"/>
              <a:t> key;           //</a:t>
            </a:r>
            <a:r>
              <a:rPr lang="zh-CN" altLang="en-US" b="0" dirty="0"/>
              <a:t>关键字码</a:t>
            </a:r>
          </a:p>
          <a:p>
            <a:r>
              <a:rPr lang="zh-CN" altLang="en-US" b="0" dirty="0"/>
              <a:t>	</a:t>
            </a:r>
            <a:r>
              <a:rPr lang="en-US" altLang="zh-CN" b="0" dirty="0" err="1"/>
              <a:t>Itemtype</a:t>
            </a:r>
            <a:r>
              <a:rPr lang="en-US" altLang="zh-CN" b="0" dirty="0"/>
              <a:t> </a:t>
            </a:r>
            <a:r>
              <a:rPr lang="en-US" altLang="zh-CN" b="0" dirty="0" err="1"/>
              <a:t>otherinfo</a:t>
            </a:r>
            <a:r>
              <a:rPr lang="en-US" altLang="zh-CN" b="0" dirty="0"/>
              <a:t>;    //</a:t>
            </a:r>
            <a:r>
              <a:rPr lang="zh-CN" altLang="en-US" b="0" dirty="0"/>
              <a:t>记录中的其他数据</a:t>
            </a:r>
          </a:p>
          <a:p>
            <a:r>
              <a:rPr lang="en-US" altLang="zh-CN" b="0" dirty="0"/>
              <a:t>};</a:t>
            </a:r>
            <a:endParaRPr lang="zh-CN" altLang="zh-CN" b="0" dirty="0"/>
          </a:p>
          <a:p>
            <a:endParaRPr lang="zh-CN" altLang="en-US" b="0" dirty="0"/>
          </a:p>
        </p:txBody>
      </p:sp>
    </p:spTree>
    <p:extLst>
      <p:ext uri="{BB962C8B-B14F-4D97-AF65-F5344CB8AC3E}">
        <p14:creationId xmlns:p14="http://schemas.microsoft.com/office/powerpoint/2010/main" val="1508087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8" end="8"/>
                                            </p:txEl>
                                          </p:spTgt>
                                        </p:tgtEl>
                                        <p:attrNameLst>
                                          <p:attrName>style.visibility</p:attrName>
                                        </p:attrNameLst>
                                      </p:cBhvr>
                                      <p:to>
                                        <p:strVal val="visible"/>
                                      </p:to>
                                    </p:set>
                                    <p:animEffect transition="in" filter="fade">
                                      <p:cBhvr>
                                        <p:cTn id="12" dur="500"/>
                                        <p:tgtEl>
                                          <p:spTgt spid="3">
                                            <p:txEl>
                                              <p:pRg st="8" end="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08720"/>
            <a:ext cx="7520940" cy="5184576"/>
          </a:xfrm>
        </p:spPr>
        <p:txBody>
          <a:bodyPr>
            <a:normAutofit fontScale="77500" lnSpcReduction="20000"/>
          </a:bodyPr>
          <a:lstStyle/>
          <a:p>
            <a:r>
              <a:rPr lang="zh-CN" altLang="zh-CN" dirty="0"/>
              <a:t>顺序表类的定义如下：</a:t>
            </a:r>
          </a:p>
          <a:p>
            <a:r>
              <a:rPr lang="zh-CN" altLang="zh-CN" dirty="0"/>
              <a:t>算法</a:t>
            </a:r>
            <a:r>
              <a:rPr lang="en-US" altLang="zh-CN" dirty="0"/>
              <a:t>8.2</a:t>
            </a:r>
            <a:r>
              <a:rPr lang="zh-CN" altLang="zh-CN" dirty="0"/>
              <a:t>：顺序表类的定义</a:t>
            </a:r>
          </a:p>
          <a:p>
            <a:r>
              <a:rPr lang="en-US" altLang="zh-CN" b="0" dirty="0"/>
              <a:t>class </a:t>
            </a:r>
            <a:r>
              <a:rPr lang="en-US" altLang="zh-CN" b="0" dirty="0" err="1"/>
              <a:t>Sqtable</a:t>
            </a:r>
            <a:r>
              <a:rPr lang="en-US" altLang="zh-CN" b="0" dirty="0"/>
              <a:t>{</a:t>
            </a:r>
            <a:endParaRPr lang="zh-CN" altLang="zh-CN" b="0" dirty="0"/>
          </a:p>
          <a:p>
            <a:r>
              <a:rPr lang="en-US" altLang="zh-CN" b="0" dirty="0"/>
              <a:t>private:</a:t>
            </a:r>
            <a:endParaRPr lang="zh-CN" altLang="zh-CN" b="0" dirty="0"/>
          </a:p>
          <a:p>
            <a:r>
              <a:rPr lang="en-US" altLang="zh-CN" b="0" dirty="0"/>
              <a:t>	</a:t>
            </a:r>
            <a:r>
              <a:rPr lang="en-US" altLang="zh-CN" b="0" dirty="0" err="1"/>
              <a:t>datanode</a:t>
            </a:r>
            <a:r>
              <a:rPr lang="en-US" altLang="zh-CN" b="0" dirty="0"/>
              <a:t> r[MAXSIZE];          //</a:t>
            </a:r>
            <a:r>
              <a:rPr lang="zh-CN" altLang="zh-CN" b="0" dirty="0"/>
              <a:t>数组，查找表</a:t>
            </a:r>
          </a:p>
          <a:p>
            <a:r>
              <a:rPr lang="en-US" altLang="zh-CN" b="0" dirty="0"/>
              <a:t>	</a:t>
            </a:r>
            <a:r>
              <a:rPr lang="en-US" altLang="zh-CN" b="0" dirty="0" err="1"/>
              <a:t>int</a:t>
            </a:r>
            <a:r>
              <a:rPr lang="en-US" altLang="zh-CN" b="0" dirty="0"/>
              <a:t> n;                         //</a:t>
            </a:r>
            <a:r>
              <a:rPr lang="zh-CN" altLang="zh-CN" b="0" dirty="0"/>
              <a:t>数据元素个数，表长</a:t>
            </a:r>
          </a:p>
          <a:p>
            <a:r>
              <a:rPr lang="en-US" altLang="zh-CN" b="0" dirty="0"/>
              <a:t>public:</a:t>
            </a:r>
            <a:endParaRPr lang="zh-CN" altLang="zh-CN" b="0" dirty="0"/>
          </a:p>
          <a:p>
            <a:r>
              <a:rPr lang="en-US" altLang="zh-CN" b="0" dirty="0"/>
              <a:t>	</a:t>
            </a:r>
            <a:r>
              <a:rPr lang="en-US" altLang="zh-CN" b="0" dirty="0" err="1"/>
              <a:t>Sqtable</a:t>
            </a:r>
            <a:r>
              <a:rPr lang="en-US" altLang="zh-CN" b="0" dirty="0"/>
              <a:t>();   //</a:t>
            </a:r>
            <a:r>
              <a:rPr lang="zh-CN" altLang="en-US" b="0" dirty="0"/>
              <a:t>构造函数</a:t>
            </a:r>
            <a:endParaRPr lang="zh-CN" altLang="zh-CN" b="0" dirty="0"/>
          </a:p>
          <a:p>
            <a:r>
              <a:rPr lang="en-US" altLang="zh-CN" b="0" dirty="0"/>
              <a:t>	void create();</a:t>
            </a:r>
            <a:endParaRPr lang="zh-CN" altLang="zh-CN" b="0" dirty="0"/>
          </a:p>
          <a:p>
            <a:r>
              <a:rPr lang="en-US" altLang="zh-CN" b="0" dirty="0"/>
              <a:t>	void output();</a:t>
            </a:r>
            <a:endParaRPr lang="zh-CN" altLang="zh-CN" b="0" dirty="0"/>
          </a:p>
          <a:p>
            <a:r>
              <a:rPr lang="en-US" altLang="zh-CN" b="0" dirty="0"/>
              <a:t>	</a:t>
            </a:r>
            <a:r>
              <a:rPr lang="en-US" altLang="zh-CN" b="0" dirty="0" err="1"/>
              <a:t>int</a:t>
            </a:r>
            <a:r>
              <a:rPr lang="en-US" altLang="zh-CN" b="0" dirty="0"/>
              <a:t> </a:t>
            </a:r>
            <a:r>
              <a:rPr lang="en-US" altLang="zh-CN" b="0" dirty="0" err="1"/>
              <a:t>sq_search</a:t>
            </a:r>
            <a:r>
              <a:rPr lang="en-US" altLang="zh-CN" b="0" dirty="0"/>
              <a:t>(</a:t>
            </a:r>
            <a:r>
              <a:rPr lang="en-US" altLang="zh-CN" b="0" dirty="0" err="1"/>
              <a:t>KeyType</a:t>
            </a:r>
            <a:r>
              <a:rPr lang="en-US" altLang="zh-CN" b="0" dirty="0"/>
              <a:t> k);       //</a:t>
            </a:r>
            <a:r>
              <a:rPr lang="zh-CN" altLang="zh-CN" b="0" dirty="0"/>
              <a:t>顺序查找</a:t>
            </a:r>
          </a:p>
          <a:p>
            <a:r>
              <a:rPr lang="en-US" altLang="zh-CN" b="0" dirty="0"/>
              <a:t>      </a:t>
            </a:r>
            <a:r>
              <a:rPr lang="en-US" altLang="zh-CN" b="0" dirty="0" err="1"/>
              <a:t>int</a:t>
            </a:r>
            <a:r>
              <a:rPr lang="en-US" altLang="zh-CN" b="0" dirty="0"/>
              <a:t> </a:t>
            </a:r>
            <a:r>
              <a:rPr lang="en-US" altLang="zh-CN" b="0" dirty="0" err="1"/>
              <a:t>binary_search</a:t>
            </a:r>
            <a:r>
              <a:rPr lang="en-US" altLang="zh-CN" b="0" dirty="0"/>
              <a:t>(</a:t>
            </a:r>
            <a:r>
              <a:rPr lang="en-US" altLang="zh-CN" b="0" dirty="0" err="1"/>
              <a:t>KeyType</a:t>
            </a:r>
            <a:r>
              <a:rPr lang="en-US" altLang="zh-CN" b="0" dirty="0"/>
              <a:t> k);   //</a:t>
            </a:r>
            <a:r>
              <a:rPr lang="zh-CN" altLang="zh-CN" b="0" dirty="0"/>
              <a:t>折半查找</a:t>
            </a:r>
          </a:p>
          <a:p>
            <a:r>
              <a:rPr lang="en-US" altLang="zh-CN" b="0" dirty="0"/>
              <a:t> };</a:t>
            </a:r>
            <a:endParaRPr lang="zh-CN" altLang="zh-CN" b="0" dirty="0"/>
          </a:p>
          <a:p>
            <a:endParaRPr lang="zh-CN" altLang="en-US" dirty="0"/>
          </a:p>
        </p:txBody>
      </p:sp>
    </p:spTree>
    <p:extLst>
      <p:ext uri="{BB962C8B-B14F-4D97-AF65-F5344CB8AC3E}">
        <p14:creationId xmlns:p14="http://schemas.microsoft.com/office/powerpoint/2010/main" val="606916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fade">
                                      <p:cBhvr>
                                        <p:cTn id="7" dur="500"/>
                                        <p:tgtEl>
                                          <p:spTgt spid="3">
                                            <p:txEl>
                                              <p:pRg st="6" end="6"/>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7" end="7"/>
                                            </p:txEl>
                                          </p:spTgt>
                                        </p:tgtEl>
                                        <p:attrNameLst>
                                          <p:attrName>style.visibility</p:attrName>
                                        </p:attrNameLst>
                                      </p:cBhvr>
                                      <p:to>
                                        <p:strVal val="visible"/>
                                      </p:to>
                                    </p:set>
                                    <p:animEffect transition="in" filter="fade">
                                      <p:cBhvr>
                                        <p:cTn id="10" dur="500"/>
                                        <p:tgtEl>
                                          <p:spTgt spid="3">
                                            <p:txEl>
                                              <p:pRg st="7" end="7"/>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animEffect transition="in" filter="fade">
                                      <p:cBhvr>
                                        <p:cTn id="13" dur="500"/>
                                        <p:tgtEl>
                                          <p:spTgt spid="3">
                                            <p:txEl>
                                              <p:pRg st="8" end="8"/>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9" end="9"/>
                                            </p:txEl>
                                          </p:spTgt>
                                        </p:tgtEl>
                                        <p:attrNameLst>
                                          <p:attrName>style.visibility</p:attrName>
                                        </p:attrNameLst>
                                      </p:cBhvr>
                                      <p:to>
                                        <p:strVal val="visible"/>
                                      </p:to>
                                    </p:set>
                                    <p:animEffect transition="in" filter="fade">
                                      <p:cBhvr>
                                        <p:cTn id="16" dur="500"/>
                                        <p:tgtEl>
                                          <p:spTgt spid="3">
                                            <p:txEl>
                                              <p:pRg st="9" end="9"/>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animEffect transition="in" filter="fade">
                                      <p:cBhvr>
                                        <p:cTn id="19" dur="500"/>
                                        <p:tgtEl>
                                          <p:spTgt spid="3">
                                            <p:txEl>
                                              <p:pRg st="10" end="10"/>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11" end="11"/>
                                            </p:txEl>
                                          </p:spTgt>
                                        </p:tgtEl>
                                        <p:attrNameLst>
                                          <p:attrName>style.visibility</p:attrName>
                                        </p:attrNameLst>
                                      </p:cBhvr>
                                      <p:to>
                                        <p:strVal val="visible"/>
                                      </p:to>
                                    </p:set>
                                    <p:animEffect transition="in" filter="fade">
                                      <p:cBhvr>
                                        <p:cTn id="2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8.2.1 </a:t>
            </a:r>
            <a:r>
              <a:rPr lang="zh-CN" altLang="zh-CN" b="1" dirty="0"/>
              <a:t>顺序表的查找</a:t>
            </a:r>
            <a:endParaRPr lang="zh-CN" altLang="en-US" dirty="0"/>
          </a:p>
        </p:txBody>
      </p:sp>
      <p:sp>
        <p:nvSpPr>
          <p:cNvPr id="3" name="内容占位符 2"/>
          <p:cNvSpPr>
            <a:spLocks noGrp="1"/>
          </p:cNvSpPr>
          <p:nvPr>
            <p:ph idx="1"/>
          </p:nvPr>
        </p:nvSpPr>
        <p:spPr>
          <a:xfrm>
            <a:off x="827584" y="1628800"/>
            <a:ext cx="7520940" cy="4608512"/>
          </a:xfrm>
        </p:spPr>
        <p:txBody>
          <a:bodyPr>
            <a:normAutofit lnSpcReduction="10000"/>
          </a:bodyPr>
          <a:lstStyle/>
          <a:p>
            <a:r>
              <a:rPr lang="zh-CN" altLang="zh-CN" dirty="0">
                <a:solidFill>
                  <a:srgbClr val="FF0000"/>
                </a:solidFill>
              </a:rPr>
              <a:t>顺序查找</a:t>
            </a:r>
            <a:r>
              <a:rPr lang="zh-CN" altLang="zh-CN" b="0" dirty="0"/>
              <a:t>又称线性查找，是最基本的查找方法之一。将待查找的元素存放于数组或链表中。</a:t>
            </a:r>
          </a:p>
          <a:p>
            <a:r>
              <a:rPr lang="zh-CN" altLang="zh-CN" dirty="0">
                <a:solidFill>
                  <a:srgbClr val="FF0000"/>
                </a:solidFill>
              </a:rPr>
              <a:t>基本思想</a:t>
            </a:r>
            <a:r>
              <a:rPr lang="zh-CN" altLang="zh-CN" dirty="0"/>
              <a:t>：</a:t>
            </a:r>
            <a:endParaRPr lang="en-US" altLang="zh-CN" dirty="0"/>
          </a:p>
          <a:p>
            <a:pPr>
              <a:buFont typeface="Arial" pitchFamily="34" charset="0"/>
              <a:buChar char="•"/>
            </a:pPr>
            <a:r>
              <a:rPr lang="zh-CN" altLang="zh-CN" b="0" dirty="0"/>
              <a:t>按照元素存放位置顺序遍历所有元素，从而找到待查找的元素。</a:t>
            </a:r>
            <a:endParaRPr lang="en-US" altLang="zh-CN" b="0" dirty="0"/>
          </a:p>
          <a:p>
            <a:pPr>
              <a:buFont typeface="Arial" pitchFamily="34" charset="0"/>
              <a:buChar char="•"/>
            </a:pPr>
            <a:r>
              <a:rPr lang="zh-CN" altLang="zh-CN" b="0" dirty="0"/>
              <a:t>从表中的第一个记录开始，逐个进行记录的关键字与给定值的比较，如果某个记录的关键字与给定值比较相等，则查找成功；</a:t>
            </a:r>
            <a:endParaRPr lang="en-US" altLang="zh-CN" b="0" dirty="0"/>
          </a:p>
          <a:p>
            <a:pPr>
              <a:buFont typeface="Arial" pitchFamily="34" charset="0"/>
              <a:buChar char="•"/>
            </a:pPr>
            <a:r>
              <a:rPr lang="zh-CN" altLang="zh-CN" b="0" dirty="0"/>
              <a:t>反之，若直至最后一个记录，其关键字与给定值比较都不等，则表明表中没有所查记录，查找不成功。</a:t>
            </a:r>
          </a:p>
          <a:p>
            <a:endParaRPr lang="zh-CN" altLang="en-US" dirty="0"/>
          </a:p>
        </p:txBody>
      </p:sp>
    </p:spTree>
    <p:extLst>
      <p:ext uri="{BB962C8B-B14F-4D97-AF65-F5344CB8AC3E}">
        <p14:creationId xmlns:p14="http://schemas.microsoft.com/office/powerpoint/2010/main" val="1664222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7992888" cy="5184576"/>
          </a:xfrm>
        </p:spPr>
        <p:txBody>
          <a:bodyPr>
            <a:normAutofit/>
          </a:bodyPr>
          <a:lstStyle/>
          <a:p>
            <a:r>
              <a:rPr lang="zh-CN" altLang="zh-CN" b="0" dirty="0"/>
              <a:t>已知表</a:t>
            </a:r>
            <a:r>
              <a:rPr lang="en-US" altLang="zh-CN" b="0" dirty="0"/>
              <a:t>r</a:t>
            </a:r>
            <a:r>
              <a:rPr lang="zh-CN" altLang="zh-CN" b="0" dirty="0"/>
              <a:t>，关键字数据</a:t>
            </a:r>
            <a:r>
              <a:rPr lang="en-US" altLang="zh-CN" b="0" dirty="0"/>
              <a:t>K</a:t>
            </a:r>
            <a:r>
              <a:rPr lang="zh-CN" altLang="zh-CN" b="0" dirty="0"/>
              <a:t>，表长</a:t>
            </a:r>
            <a:r>
              <a:rPr lang="en-US" altLang="zh-CN" b="0" dirty="0"/>
              <a:t>n</a:t>
            </a:r>
            <a:r>
              <a:rPr lang="zh-CN" altLang="zh-CN" b="0" dirty="0"/>
              <a:t>：</a:t>
            </a:r>
          </a:p>
          <a:p>
            <a:r>
              <a:rPr lang="zh-CN" altLang="zh-CN" dirty="0"/>
              <a:t>算法</a:t>
            </a:r>
            <a:r>
              <a:rPr lang="en-US" altLang="zh-CN" dirty="0"/>
              <a:t>8.3</a:t>
            </a:r>
            <a:r>
              <a:rPr lang="zh-CN" altLang="zh-CN" dirty="0"/>
              <a:t>：顺序查找算法</a:t>
            </a:r>
          </a:p>
          <a:p>
            <a:r>
              <a:rPr lang="en-US" altLang="zh-CN" b="0" dirty="0" err="1"/>
              <a:t>int</a:t>
            </a:r>
            <a:r>
              <a:rPr lang="en-US" altLang="zh-CN" b="0" dirty="0"/>
              <a:t> </a:t>
            </a:r>
            <a:r>
              <a:rPr lang="en-US" altLang="zh-CN" b="0" dirty="0" err="1"/>
              <a:t>Sqtable</a:t>
            </a:r>
            <a:r>
              <a:rPr lang="en-US" altLang="zh-CN" b="0" dirty="0"/>
              <a:t>::</a:t>
            </a:r>
            <a:r>
              <a:rPr lang="en-US" altLang="zh-CN" b="0" dirty="0" err="1"/>
              <a:t>sq_search</a:t>
            </a:r>
            <a:r>
              <a:rPr lang="en-US" altLang="zh-CN" b="0" dirty="0"/>
              <a:t>(</a:t>
            </a:r>
            <a:r>
              <a:rPr lang="en-US" altLang="zh-CN" b="0" dirty="0" err="1"/>
              <a:t>KeyType</a:t>
            </a:r>
            <a:r>
              <a:rPr lang="en-US" altLang="zh-CN" b="0" dirty="0"/>
              <a:t> K){</a:t>
            </a:r>
            <a:endParaRPr lang="zh-CN" altLang="zh-CN" b="0" dirty="0"/>
          </a:p>
          <a:p>
            <a:r>
              <a:rPr lang="en-US" altLang="zh-CN" b="0" dirty="0"/>
              <a:t>	r[n].key=K;        //</a:t>
            </a:r>
            <a:r>
              <a:rPr lang="zh-CN" altLang="zh-CN" b="0" dirty="0">
                <a:solidFill>
                  <a:srgbClr val="FF0000"/>
                </a:solidFill>
              </a:rPr>
              <a:t>设置监视哨</a:t>
            </a:r>
          </a:p>
          <a:p>
            <a:r>
              <a:rPr lang="en-US" altLang="zh-CN" b="0" dirty="0"/>
              <a:t>	</a:t>
            </a:r>
            <a:r>
              <a:rPr lang="en-US" altLang="zh-CN" b="0" dirty="0" err="1"/>
              <a:t>int</a:t>
            </a:r>
            <a:r>
              <a:rPr lang="en-US" altLang="zh-CN" b="0" dirty="0"/>
              <a:t> </a:t>
            </a:r>
            <a:r>
              <a:rPr lang="en-US" altLang="zh-CN" b="0" dirty="0" err="1"/>
              <a:t>i</a:t>
            </a:r>
            <a:r>
              <a:rPr lang="en-US" altLang="zh-CN" b="0" dirty="0"/>
              <a:t>=0;</a:t>
            </a:r>
            <a:endParaRPr lang="zh-CN" altLang="zh-CN" b="0" dirty="0"/>
          </a:p>
          <a:p>
            <a:r>
              <a:rPr lang="en-US" altLang="zh-CN" b="0" dirty="0"/>
              <a:t>	while(r[</a:t>
            </a:r>
            <a:r>
              <a:rPr lang="en-US" altLang="zh-CN" b="0" dirty="0" err="1"/>
              <a:t>i</a:t>
            </a:r>
            <a:r>
              <a:rPr lang="en-US" altLang="zh-CN" b="0" dirty="0"/>
              <a:t>].key!=K)  </a:t>
            </a:r>
            <a:r>
              <a:rPr lang="en-US" altLang="zh-CN" b="0" dirty="0" err="1"/>
              <a:t>i</a:t>
            </a:r>
            <a:r>
              <a:rPr lang="en-US" altLang="zh-CN" b="0" dirty="0"/>
              <a:t>++;</a:t>
            </a:r>
            <a:endParaRPr lang="zh-CN" altLang="zh-CN" b="0" dirty="0"/>
          </a:p>
          <a:p>
            <a:r>
              <a:rPr lang="en-US" altLang="zh-CN" b="0" dirty="0"/>
              <a:t>	if(</a:t>
            </a:r>
            <a:r>
              <a:rPr lang="en-US" altLang="zh-CN" b="0" dirty="0" err="1"/>
              <a:t>i</a:t>
            </a:r>
            <a:r>
              <a:rPr lang="en-US" altLang="zh-CN" b="0" dirty="0"/>
              <a:t>&lt;n) return </a:t>
            </a:r>
            <a:r>
              <a:rPr lang="en-US" altLang="zh-CN" b="0" dirty="0" err="1"/>
              <a:t>i</a:t>
            </a:r>
            <a:r>
              <a:rPr lang="en-US" altLang="zh-CN" b="0" dirty="0"/>
              <a:t>;  //</a:t>
            </a:r>
            <a:r>
              <a:rPr lang="zh-CN" altLang="zh-CN" b="0" dirty="0"/>
              <a:t>查找成功，该记录下标为</a:t>
            </a:r>
            <a:r>
              <a:rPr lang="en-US" altLang="zh-CN" b="0" dirty="0" err="1"/>
              <a:t>i</a:t>
            </a:r>
            <a:endParaRPr lang="zh-CN" altLang="zh-CN" b="0" dirty="0"/>
          </a:p>
          <a:p>
            <a:r>
              <a:rPr lang="en-US" altLang="zh-CN" b="0" dirty="0"/>
              <a:t>	else return -1;    //</a:t>
            </a:r>
            <a:r>
              <a:rPr lang="zh-CN" altLang="zh-CN" b="0" dirty="0"/>
              <a:t>查找失败</a:t>
            </a:r>
          </a:p>
          <a:p>
            <a:r>
              <a:rPr lang="en-US" altLang="zh-CN" b="0" dirty="0"/>
              <a:t>}</a:t>
            </a:r>
            <a:endParaRPr lang="zh-CN" altLang="zh-CN" b="0" dirty="0"/>
          </a:p>
          <a:p>
            <a:endParaRPr lang="zh-CN" altLang="en-US" dirty="0"/>
          </a:p>
        </p:txBody>
      </p:sp>
    </p:spTree>
    <p:extLst>
      <p:ext uri="{BB962C8B-B14F-4D97-AF65-F5344CB8AC3E}">
        <p14:creationId xmlns:p14="http://schemas.microsoft.com/office/powerpoint/2010/main" val="11527747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sz="2400" dirty="0"/>
              <a:t>顺序表的性能分析：</a:t>
            </a:r>
            <a:endParaRPr lang="zh-CN" altLang="en-US" sz="2400" dirty="0"/>
          </a:p>
        </p:txBody>
      </p:sp>
      <mc:AlternateContent xmlns:mc="http://schemas.openxmlformats.org/markup-compatibility/2006" xmlns:a14="http://schemas.microsoft.com/office/drawing/2010/main">
        <mc:Choice Requires="a14">
          <p:sp>
            <p:nvSpPr>
              <p:cNvPr id="5" name="内容占位符 4"/>
              <p:cNvSpPr>
                <a:spLocks noGrp="1"/>
              </p:cNvSpPr>
              <p:nvPr>
                <p:ph idx="1"/>
              </p:nvPr>
            </p:nvSpPr>
            <p:spPr>
              <a:xfrm>
                <a:off x="928662" y="1428736"/>
                <a:ext cx="7520940" cy="4729158"/>
              </a:xfrm>
            </p:spPr>
            <p:txBody>
              <a:bodyPr>
                <a:normAutofit/>
              </a:bodyPr>
              <a:lstStyle/>
              <a:p>
                <a:pPr>
                  <a:buFont typeface="Arial" pitchFamily="34" charset="0"/>
                  <a:buChar char="•"/>
                </a:pPr>
                <a:r>
                  <a:rPr lang="zh-CN" altLang="en-US" b="0" dirty="0"/>
                  <a:t>假设顺序表中有</a:t>
                </a:r>
                <a:r>
                  <a:rPr lang="en-US" b="0" dirty="0"/>
                  <a:t>n</a:t>
                </a:r>
                <a:r>
                  <a:rPr lang="zh-CN" altLang="en-US" b="0" dirty="0"/>
                  <a:t>个记录，每个记录</a:t>
                </a:r>
                <a:r>
                  <a:rPr lang="en-US" b="0" dirty="0" err="1"/>
                  <a:t>r</a:t>
                </a:r>
                <a:r>
                  <a:rPr lang="en-US" b="0" baseline="-25000" dirty="0" err="1"/>
                  <a:t>i</a:t>
                </a:r>
                <a:r>
                  <a:rPr lang="zh-CN" altLang="en-US" b="0" dirty="0"/>
                  <a:t>（</a:t>
                </a:r>
                <a:r>
                  <a:rPr lang="en-US" b="0" dirty="0" err="1"/>
                  <a:t>i</a:t>
                </a:r>
                <a:r>
                  <a:rPr lang="en-US" b="0" dirty="0"/>
                  <a:t>=0,1,…,n-1</a:t>
                </a:r>
                <a:r>
                  <a:rPr lang="zh-CN" altLang="en-US" b="0" dirty="0"/>
                  <a:t>）被查找的概率为</a:t>
                </a:r>
                <a:r>
                  <a:rPr lang="en-US" b="0" dirty="0"/>
                  <a:t>P</a:t>
                </a:r>
                <a:r>
                  <a:rPr lang="en-US" b="0" baseline="-25000" dirty="0"/>
                  <a:t>i</a:t>
                </a:r>
                <a:r>
                  <a:rPr lang="zh-CN" altLang="en-US" b="0" dirty="0"/>
                  <a:t>，查找</a:t>
                </a:r>
                <a:r>
                  <a:rPr lang="en-US" b="0" dirty="0" err="1"/>
                  <a:t>r</a:t>
                </a:r>
                <a:r>
                  <a:rPr lang="en-US" b="0" baseline="-25000" dirty="0" err="1"/>
                  <a:t>i</a:t>
                </a:r>
                <a:r>
                  <a:rPr lang="zh-CN" altLang="en-US" b="0" dirty="0"/>
                  <a:t>所用比较次数为</a:t>
                </a:r>
                <a:r>
                  <a:rPr lang="en-US" b="0" dirty="0" err="1"/>
                  <a:t>C</a:t>
                </a:r>
                <a:r>
                  <a:rPr lang="en-US" b="0" baseline="-25000" dirty="0" err="1"/>
                  <a:t>i</a:t>
                </a:r>
                <a:r>
                  <a:rPr lang="en-US" b="0" baseline="-25000" dirty="0"/>
                  <a:t> </a:t>
                </a:r>
                <a:r>
                  <a:rPr lang="zh-CN" altLang="en-US" b="0" dirty="0"/>
                  <a:t>，查找到第</a:t>
                </a:r>
                <a:r>
                  <a:rPr lang="en-US" b="0" dirty="0" err="1"/>
                  <a:t>i</a:t>
                </a:r>
                <a:r>
                  <a:rPr lang="zh-CN" altLang="en-US" b="0" dirty="0"/>
                  <a:t>个元素需要比较</a:t>
                </a:r>
                <a:r>
                  <a:rPr lang="en-US" b="0" dirty="0"/>
                  <a:t>i+1</a:t>
                </a:r>
                <a:r>
                  <a:rPr lang="zh-CN" altLang="en-US" b="0" dirty="0"/>
                  <a:t>次，因此</a:t>
                </a:r>
                <a:r>
                  <a:rPr lang="en-US" b="0" dirty="0" err="1"/>
                  <a:t>C</a:t>
                </a:r>
                <a:r>
                  <a:rPr lang="en-US" b="0" baseline="-25000" dirty="0" err="1"/>
                  <a:t>i</a:t>
                </a:r>
                <a:r>
                  <a:rPr lang="en-US" b="0" baseline="-25000" dirty="0"/>
                  <a:t> </a:t>
                </a:r>
                <a:r>
                  <a:rPr lang="en-US" b="0" dirty="0"/>
                  <a:t>=i+1</a:t>
                </a:r>
                <a:r>
                  <a:rPr lang="zh-CN" altLang="en-US" b="0" dirty="0"/>
                  <a:t>。</a:t>
                </a:r>
                <a:endParaRPr lang="en-US" altLang="zh-CN" b="0" dirty="0"/>
              </a:p>
              <a:p>
                <a:pPr>
                  <a:buFont typeface="Arial" pitchFamily="34" charset="0"/>
                  <a:buChar char="•"/>
                </a:pPr>
                <a:r>
                  <a:rPr lang="zh-CN" altLang="en-US" b="0" dirty="0"/>
                  <a:t>假设每个记录的查找机会都相等，即</a:t>
                </a:r>
                <a:r>
                  <a:rPr lang="en-US" b="0" dirty="0"/>
                  <a:t>P</a:t>
                </a:r>
                <a:r>
                  <a:rPr lang="en-US" b="0" baseline="-25000" dirty="0"/>
                  <a:t>i</a:t>
                </a:r>
                <a:r>
                  <a:rPr lang="en-US" b="0" dirty="0"/>
                  <a:t>=</a:t>
                </a:r>
                <a14:m>
                  <m:oMath xmlns:m="http://schemas.openxmlformats.org/officeDocument/2006/math">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m:rPr>
                            <m:sty m:val="p"/>
                          </m:rPr>
                          <a:rPr lang="en-US" altLang="zh-CN" b="0" i="1">
                            <a:latin typeface="Cambria Math" panose="02040503050406030204" pitchFamily="18" charset="0"/>
                          </a:rPr>
                          <m:t>n</m:t>
                        </m:r>
                      </m:den>
                    </m:f>
                  </m:oMath>
                </a14:m>
                <a:r>
                  <a:rPr lang="zh-CN" altLang="en-US" b="0" dirty="0"/>
                  <a:t>，则在等概率情形下顺序查找的平均查找长度为：</a:t>
                </a:r>
              </a:p>
              <a:p>
                <a:endParaRPr lang="en-US" altLang="zh-CN" b="0" dirty="0"/>
              </a:p>
              <a:p>
                <a:endParaRPr lang="en-US" altLang="zh-CN" b="0" dirty="0"/>
              </a:p>
              <a:p>
                <a:pPr>
                  <a:buFont typeface="Arial" pitchFamily="34" charset="0"/>
                  <a:buChar char="•"/>
                </a:pPr>
                <a:r>
                  <a:rPr lang="zh-CN" altLang="en-US" b="0" dirty="0"/>
                  <a:t>当查找不成功时，平均查找长度为</a:t>
                </a:r>
                <a:r>
                  <a:rPr lang="en-US" b="0" dirty="0"/>
                  <a:t>n+1</a:t>
                </a:r>
                <a:r>
                  <a:rPr lang="zh-CN" altLang="en-US" b="0" dirty="0"/>
                  <a:t>，故算法的时间复杂度为</a:t>
                </a:r>
                <a:r>
                  <a:rPr lang="en-US" b="0" dirty="0"/>
                  <a:t>O(n)</a:t>
                </a:r>
                <a:r>
                  <a:rPr lang="zh-CN" altLang="en-US" b="0" dirty="0"/>
                  <a:t>。</a:t>
                </a:r>
                <a:r>
                  <a:rPr lang="en-US" dirty="0"/>
                  <a:t>	</a:t>
                </a:r>
                <a:endParaRPr lang="zh-CN" altLang="en-US" dirty="0"/>
              </a:p>
              <a:p>
                <a:endParaRPr lang="zh-CN" altLang="en-US" dirty="0"/>
              </a:p>
            </p:txBody>
          </p:sp>
        </mc:Choice>
        <mc:Fallback xmlns="">
          <p:sp>
            <p:nvSpPr>
              <p:cNvPr id="5" name="内容占位符 4"/>
              <p:cNvSpPr>
                <a:spLocks noGrp="1" noRot="1" noChangeAspect="1" noMove="1" noResize="1" noEditPoints="1" noAdjustHandles="1" noChangeArrowheads="1" noChangeShapeType="1" noTextEdit="1"/>
              </p:cNvSpPr>
              <p:nvPr>
                <p:ph idx="1"/>
              </p:nvPr>
            </p:nvSpPr>
            <p:spPr>
              <a:xfrm>
                <a:off x="928662" y="1428736"/>
                <a:ext cx="7520940" cy="4729158"/>
              </a:xfrm>
              <a:blipFill>
                <a:blip r:embed="rId3"/>
                <a:stretch>
                  <a:fillRect l="-1053" t="-773" r="-1053"/>
                </a:stretch>
              </a:blipFill>
            </p:spPr>
            <p:txBody>
              <a:bodyPr/>
              <a:lstStyle/>
              <a:p>
                <a:r>
                  <a:rPr lang="zh-CN" altLang="en-US">
                    <a:noFill/>
                  </a:rPr>
                  <a:t> </a:t>
                </a:r>
              </a:p>
            </p:txBody>
          </p:sp>
        </mc:Fallback>
      </mc:AlternateContent>
      <p:graphicFrame>
        <p:nvGraphicFramePr>
          <p:cNvPr id="3" name="对象 2"/>
          <p:cNvGraphicFramePr>
            <a:graphicFrameLocks noChangeAspect="1"/>
          </p:cNvGraphicFramePr>
          <p:nvPr>
            <p:extLst>
              <p:ext uri="{D42A27DB-BD31-4B8C-83A1-F6EECF244321}">
                <p14:modId xmlns:p14="http://schemas.microsoft.com/office/powerpoint/2010/main" val="2553155672"/>
              </p:ext>
            </p:extLst>
          </p:nvPr>
        </p:nvGraphicFramePr>
        <p:xfrm>
          <a:off x="1763687" y="4149080"/>
          <a:ext cx="6133025" cy="792088"/>
        </p:xfrm>
        <a:graphic>
          <a:graphicData uri="http://schemas.openxmlformats.org/presentationml/2006/ole">
            <mc:AlternateContent xmlns:mc="http://schemas.openxmlformats.org/markup-compatibility/2006">
              <mc:Choice xmlns:v="urn:schemas-microsoft-com:vml" Requires="v">
                <p:oleObj spid="_x0000_s1189" name="Equation" r:id="rId4" imgW="3441600" imgH="444240" progId="Equation.DSMT4">
                  <p:embed/>
                </p:oleObj>
              </mc:Choice>
              <mc:Fallback>
                <p:oleObj name="Equation" r:id="rId4" imgW="3441600" imgH="444240" progId="Equation.DSMT4">
                  <p:embed/>
                  <p:pic>
                    <p:nvPicPr>
                      <p:cNvPr id="0" name=""/>
                      <p:cNvPicPr/>
                      <p:nvPr/>
                    </p:nvPicPr>
                    <p:blipFill>
                      <a:blip r:embed="rId5"/>
                      <a:stretch>
                        <a:fillRect/>
                      </a:stretch>
                    </p:blipFill>
                    <p:spPr>
                      <a:xfrm>
                        <a:off x="1763687" y="4149080"/>
                        <a:ext cx="6133025" cy="792088"/>
                      </a:xfrm>
                      <a:prstGeom prst="rect">
                        <a:avLst/>
                      </a:prstGeom>
                    </p:spPr>
                  </p:pic>
                </p:oleObj>
              </mc:Fallback>
            </mc:AlternateContent>
          </a:graphicData>
        </a:graphic>
      </p:graphicFrame>
    </p:spTree>
    <p:extLst>
      <p:ext uri="{BB962C8B-B14F-4D97-AF65-F5344CB8AC3E}">
        <p14:creationId xmlns:p14="http://schemas.microsoft.com/office/powerpoint/2010/main" val="1606019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60" y="1196752"/>
            <a:ext cx="7848872" cy="4896544"/>
          </a:xfrm>
        </p:spPr>
        <p:txBody>
          <a:bodyPr/>
          <a:lstStyle/>
          <a:p>
            <a:pPr algn="ctr"/>
            <a:r>
              <a:rPr lang="zh-CN" altLang="en-US" sz="3200" dirty="0">
                <a:solidFill>
                  <a:srgbClr val="FF0000"/>
                </a:solidFill>
              </a:rPr>
              <a:t>改进：自组织表</a:t>
            </a:r>
            <a:r>
              <a:rPr lang="en-US" altLang="zh-CN" sz="1800" dirty="0">
                <a:solidFill>
                  <a:srgbClr val="FF0000"/>
                </a:solidFill>
              </a:rPr>
              <a:t>(</a:t>
            </a:r>
            <a:r>
              <a:rPr lang="zh-CN" altLang="en-US" sz="1800" dirty="0">
                <a:solidFill>
                  <a:srgbClr val="FF0000"/>
                </a:solidFill>
              </a:rPr>
              <a:t>手机通讯录</a:t>
            </a:r>
            <a:r>
              <a:rPr lang="en-US" altLang="zh-CN" sz="1800" dirty="0">
                <a:solidFill>
                  <a:srgbClr val="FF0000"/>
                </a:solidFill>
              </a:rPr>
              <a:t>)</a:t>
            </a:r>
            <a:endParaRPr lang="en-US" altLang="zh-CN" sz="1800" dirty="0"/>
          </a:p>
          <a:p>
            <a:r>
              <a:rPr lang="zh-CN" altLang="zh-CN" dirty="0"/>
              <a:t>对顺序表的查找有如下</a:t>
            </a:r>
            <a:r>
              <a:rPr lang="zh-CN" altLang="zh-CN" dirty="0">
                <a:solidFill>
                  <a:srgbClr val="FF0000"/>
                </a:solidFill>
              </a:rPr>
              <a:t>三种改进策略</a:t>
            </a:r>
            <a:r>
              <a:rPr lang="zh-CN" altLang="en-US" dirty="0">
                <a:solidFill>
                  <a:srgbClr val="FF0000"/>
                </a:solidFill>
              </a:rPr>
              <a:t>（自组织表）</a:t>
            </a:r>
            <a:r>
              <a:rPr lang="zh-CN" altLang="zh-CN" dirty="0"/>
              <a:t>：</a:t>
            </a:r>
          </a:p>
          <a:p>
            <a:r>
              <a:rPr lang="en-US" altLang="zh-CN" dirty="0"/>
              <a:t>	</a:t>
            </a:r>
            <a:r>
              <a:rPr lang="zh-CN" altLang="zh-CN" b="0" dirty="0"/>
              <a:t>① 每次成功查找将被查元素移动到查找表的表头；</a:t>
            </a:r>
          </a:p>
          <a:p>
            <a:r>
              <a:rPr lang="en-US" altLang="zh-CN" b="0" dirty="0"/>
              <a:t>	</a:t>
            </a:r>
            <a:r>
              <a:rPr lang="zh-CN" altLang="zh-CN" b="0" dirty="0"/>
              <a:t>② 每次成功查找将被查元素向前移动一个位置；</a:t>
            </a:r>
          </a:p>
          <a:p>
            <a:r>
              <a:rPr lang="en-US" altLang="zh-CN" b="0" dirty="0"/>
              <a:t>	</a:t>
            </a:r>
            <a:r>
              <a:rPr lang="zh-CN" altLang="zh-CN" b="0" dirty="0"/>
              <a:t>③ 给每个元素增加一个频率域，每次成功查找时，更新该元素的频率并且移动元素的位置，以保持查找表中的元素按频率从大到小存储。</a:t>
            </a:r>
            <a:endParaRPr lang="en-US" altLang="zh-CN" b="0" dirty="0"/>
          </a:p>
          <a:p>
            <a:r>
              <a:rPr lang="zh-CN" altLang="en-US" b="0" dirty="0"/>
              <a:t>根据</a:t>
            </a:r>
            <a:r>
              <a:rPr lang="zh-CN" altLang="en-US" b="0" dirty="0">
                <a:solidFill>
                  <a:srgbClr val="FF0000"/>
                </a:solidFill>
              </a:rPr>
              <a:t>“二八规律”</a:t>
            </a:r>
            <a:r>
              <a:rPr lang="zh-CN" altLang="en-US" b="0" dirty="0"/>
              <a:t>，</a:t>
            </a:r>
            <a:r>
              <a:rPr lang="en-US" altLang="zh-CN" b="0" dirty="0"/>
              <a:t>80%</a:t>
            </a:r>
            <a:r>
              <a:rPr lang="zh-CN" altLang="en-US" b="0" dirty="0"/>
              <a:t>的查找发生在</a:t>
            </a:r>
            <a:r>
              <a:rPr lang="en-US" altLang="zh-CN" b="0" dirty="0"/>
              <a:t>20%</a:t>
            </a:r>
            <a:r>
              <a:rPr lang="zh-CN" altLang="en-US" b="0" dirty="0"/>
              <a:t>的记录上。</a:t>
            </a:r>
            <a:endParaRPr lang="zh-CN" altLang="zh-CN" b="0" dirty="0"/>
          </a:p>
          <a:p>
            <a:endParaRPr lang="zh-CN" altLang="en-US" dirty="0"/>
          </a:p>
        </p:txBody>
      </p:sp>
    </p:spTree>
    <p:extLst>
      <p:ext uri="{BB962C8B-B14F-4D97-AF65-F5344CB8AC3E}">
        <p14:creationId xmlns:p14="http://schemas.microsoft.com/office/powerpoint/2010/main" val="1537887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8.2.2 </a:t>
            </a:r>
            <a:r>
              <a:rPr lang="zh-CN" altLang="zh-CN" b="1" dirty="0"/>
              <a:t>折半查找</a:t>
            </a:r>
            <a:endParaRPr lang="zh-CN" altLang="en-US" dirty="0"/>
          </a:p>
        </p:txBody>
      </p:sp>
      <p:sp>
        <p:nvSpPr>
          <p:cNvPr id="3" name="内容占位符 2"/>
          <p:cNvSpPr>
            <a:spLocks noGrp="1"/>
          </p:cNvSpPr>
          <p:nvPr>
            <p:ph idx="1"/>
          </p:nvPr>
        </p:nvSpPr>
        <p:spPr>
          <a:xfrm>
            <a:off x="611560" y="1628800"/>
            <a:ext cx="8280920" cy="4464496"/>
          </a:xfrm>
        </p:spPr>
        <p:txBody>
          <a:bodyPr>
            <a:normAutofit fontScale="92500"/>
          </a:bodyPr>
          <a:lstStyle/>
          <a:p>
            <a:r>
              <a:rPr lang="zh-CN" altLang="zh-CN" dirty="0">
                <a:solidFill>
                  <a:srgbClr val="FF0000"/>
                </a:solidFill>
              </a:rPr>
              <a:t>折半查找</a:t>
            </a:r>
            <a:r>
              <a:rPr lang="zh-CN" altLang="zh-CN" b="0" dirty="0"/>
              <a:t>又称</a:t>
            </a:r>
            <a:r>
              <a:rPr lang="zh-CN" altLang="zh-CN" dirty="0"/>
              <a:t>二分</a:t>
            </a:r>
            <a:r>
              <a:rPr lang="zh-CN" altLang="en-US" dirty="0"/>
              <a:t>法</a:t>
            </a:r>
            <a:r>
              <a:rPr lang="zh-CN" altLang="zh-CN" dirty="0"/>
              <a:t>查找</a:t>
            </a:r>
            <a:r>
              <a:rPr lang="zh-CN" altLang="en-US" b="0" dirty="0"/>
              <a:t>：</a:t>
            </a:r>
            <a:endParaRPr lang="en-US" altLang="zh-CN" b="0" dirty="0"/>
          </a:p>
          <a:p>
            <a:r>
              <a:rPr lang="en-US" altLang="zh-CN" b="0" dirty="0"/>
              <a:t>	</a:t>
            </a:r>
            <a:r>
              <a:rPr lang="zh-CN" altLang="zh-CN" b="0" dirty="0"/>
              <a:t>折半查找只适用于对</a:t>
            </a:r>
            <a:r>
              <a:rPr lang="zh-CN" altLang="zh-CN" dirty="0"/>
              <a:t>有序顺序表</a:t>
            </a:r>
            <a:r>
              <a:rPr lang="zh-CN" altLang="zh-CN" b="0" dirty="0"/>
              <a:t>进行查找的情况。</a:t>
            </a:r>
            <a:endParaRPr lang="en-US" altLang="zh-CN" b="0" dirty="0"/>
          </a:p>
          <a:p>
            <a:r>
              <a:rPr lang="zh-CN" altLang="zh-CN" dirty="0">
                <a:solidFill>
                  <a:srgbClr val="FF0000"/>
                </a:solidFill>
              </a:rPr>
              <a:t>算法步骤：</a:t>
            </a:r>
          </a:p>
          <a:p>
            <a:r>
              <a:rPr lang="en-US" altLang="zh-CN" b="0" dirty="0"/>
              <a:t>	</a:t>
            </a:r>
            <a:r>
              <a:rPr lang="zh-CN" altLang="zh-CN" b="0" dirty="0"/>
              <a:t>给定一个</a:t>
            </a:r>
            <a:r>
              <a:rPr lang="zh-CN" altLang="en-US" b="0" dirty="0"/>
              <a:t>待查找</a:t>
            </a:r>
            <a:r>
              <a:rPr lang="zh-CN" altLang="zh-CN" dirty="0"/>
              <a:t>关键值</a:t>
            </a:r>
            <a:r>
              <a:rPr lang="en-US" altLang="zh-CN" dirty="0"/>
              <a:t>K</a:t>
            </a:r>
            <a:r>
              <a:rPr lang="zh-CN" altLang="zh-CN" b="0" dirty="0"/>
              <a:t>，在存储表</a:t>
            </a:r>
            <a:r>
              <a:rPr lang="en-US" altLang="zh-CN" dirty="0"/>
              <a:t>rec[</a:t>
            </a:r>
            <a:r>
              <a:rPr lang="en-US" altLang="zh-CN" dirty="0" err="1"/>
              <a:t>low..high</a:t>
            </a:r>
            <a:r>
              <a:rPr lang="en-US" altLang="zh-CN" dirty="0"/>
              <a:t>]</a:t>
            </a:r>
            <a:r>
              <a:rPr lang="zh-CN" altLang="zh-CN" b="0" dirty="0"/>
              <a:t>中查找</a:t>
            </a:r>
            <a:r>
              <a:rPr lang="zh-CN" altLang="en-US" b="0" dirty="0"/>
              <a:t>。每次与</a:t>
            </a:r>
            <a:r>
              <a:rPr lang="en-US" altLang="zh-CN" dirty="0"/>
              <a:t>mid=(</a:t>
            </a:r>
            <a:r>
              <a:rPr lang="en-US" altLang="zh-CN" dirty="0" err="1"/>
              <a:t>low+high</a:t>
            </a:r>
            <a:r>
              <a:rPr lang="en-US" altLang="zh-CN" dirty="0"/>
              <a:t>)/2</a:t>
            </a:r>
            <a:r>
              <a:rPr lang="zh-CN" altLang="en-US" b="0" dirty="0"/>
              <a:t>的位置元素比较，</a:t>
            </a:r>
            <a:r>
              <a:rPr lang="zh-CN" altLang="zh-CN" b="0" dirty="0"/>
              <a:t>根据比较的结果可分为以下三种情况：</a:t>
            </a:r>
          </a:p>
          <a:p>
            <a:r>
              <a:rPr lang="zh-CN" altLang="zh-CN" b="0" dirty="0"/>
              <a:t>（</a:t>
            </a:r>
            <a:r>
              <a:rPr lang="en-US" altLang="zh-CN" b="0" dirty="0"/>
              <a:t>1</a:t>
            </a:r>
            <a:r>
              <a:rPr lang="zh-CN" altLang="zh-CN" b="0" dirty="0"/>
              <a:t>）如果</a:t>
            </a:r>
            <a:r>
              <a:rPr lang="en-US" altLang="zh-CN" dirty="0"/>
              <a:t>K</a:t>
            </a:r>
            <a:r>
              <a:rPr lang="zh-CN" altLang="zh-CN" dirty="0"/>
              <a:t>与</a:t>
            </a:r>
            <a:r>
              <a:rPr lang="en-US" altLang="zh-CN" dirty="0"/>
              <a:t>rec[mid]</a:t>
            </a:r>
            <a:r>
              <a:rPr lang="zh-CN" altLang="zh-CN" dirty="0"/>
              <a:t>的值相等</a:t>
            </a:r>
            <a:r>
              <a:rPr lang="zh-CN" altLang="zh-CN" b="0" dirty="0"/>
              <a:t>，则</a:t>
            </a:r>
            <a:r>
              <a:rPr lang="en-US" altLang="zh-CN" b="0" dirty="0"/>
              <a:t>rec[mid]</a:t>
            </a:r>
            <a:r>
              <a:rPr lang="zh-CN" altLang="zh-CN" b="0" dirty="0"/>
              <a:t>的值为查找的记录；</a:t>
            </a:r>
          </a:p>
          <a:p>
            <a:r>
              <a:rPr lang="zh-CN" altLang="zh-CN" b="0" dirty="0"/>
              <a:t>（</a:t>
            </a:r>
            <a:r>
              <a:rPr lang="en-US" altLang="zh-CN" b="0" dirty="0"/>
              <a:t>2</a:t>
            </a:r>
            <a:r>
              <a:rPr lang="zh-CN" altLang="zh-CN" b="0" dirty="0"/>
              <a:t>）如果</a:t>
            </a:r>
            <a:r>
              <a:rPr lang="en-US" altLang="zh-CN" dirty="0"/>
              <a:t>K</a:t>
            </a:r>
            <a:r>
              <a:rPr lang="zh-CN" altLang="zh-CN" dirty="0"/>
              <a:t>小于</a:t>
            </a:r>
            <a:r>
              <a:rPr lang="en-US" altLang="zh-CN" dirty="0"/>
              <a:t>rec[mid]</a:t>
            </a:r>
            <a:r>
              <a:rPr lang="zh-CN" altLang="zh-CN" dirty="0"/>
              <a:t>的值</a:t>
            </a:r>
            <a:r>
              <a:rPr lang="zh-CN" altLang="zh-CN" b="0" dirty="0"/>
              <a:t>，则在</a:t>
            </a:r>
            <a:r>
              <a:rPr lang="en-US" altLang="zh-CN" b="0" dirty="0"/>
              <a:t>rec[low,mid-1]</a:t>
            </a:r>
            <a:r>
              <a:rPr lang="zh-CN" altLang="zh-CN" b="0" dirty="0"/>
              <a:t>中进行查找；</a:t>
            </a:r>
          </a:p>
          <a:p>
            <a:r>
              <a:rPr lang="zh-CN" altLang="zh-CN" b="0" dirty="0"/>
              <a:t>（</a:t>
            </a:r>
            <a:r>
              <a:rPr lang="en-US" altLang="zh-CN" b="0" dirty="0"/>
              <a:t>3</a:t>
            </a:r>
            <a:r>
              <a:rPr lang="zh-CN" altLang="zh-CN" b="0" dirty="0"/>
              <a:t>）如果</a:t>
            </a:r>
            <a:r>
              <a:rPr lang="en-US" altLang="zh-CN" dirty="0"/>
              <a:t>K</a:t>
            </a:r>
            <a:r>
              <a:rPr lang="zh-CN" altLang="zh-CN" dirty="0"/>
              <a:t>大于</a:t>
            </a:r>
            <a:r>
              <a:rPr lang="en-US" altLang="zh-CN" dirty="0"/>
              <a:t>rec[mid]</a:t>
            </a:r>
            <a:r>
              <a:rPr lang="zh-CN" altLang="zh-CN" dirty="0"/>
              <a:t>的值</a:t>
            </a:r>
            <a:r>
              <a:rPr lang="zh-CN" altLang="zh-CN" b="0" dirty="0"/>
              <a:t>，则在</a:t>
            </a:r>
            <a:r>
              <a:rPr lang="en-US" altLang="zh-CN" b="0" dirty="0"/>
              <a:t>rec[mid+1,high]</a:t>
            </a:r>
            <a:r>
              <a:rPr lang="zh-CN" altLang="zh-CN" b="0" dirty="0"/>
              <a:t>中进行查找。</a:t>
            </a:r>
          </a:p>
          <a:p>
            <a:endParaRPr lang="zh-CN" altLang="en-US" dirty="0"/>
          </a:p>
        </p:txBody>
      </p:sp>
      <p:pic>
        <p:nvPicPr>
          <p:cNvPr id="4" name="图片 3"/>
          <p:cNvPicPr/>
          <p:nvPr/>
        </p:nvPicPr>
        <p:blipFill>
          <a:blip r:embed="rId2" cstate="print">
            <a:extLst>
              <a:ext uri="{28A0092B-C50C-407E-A947-70E740481C1C}">
                <a14:useLocalDpi xmlns:a14="http://schemas.microsoft.com/office/drawing/2010/main" val="0"/>
              </a:ext>
            </a:extLst>
          </a:blip>
          <a:stretch>
            <a:fillRect/>
          </a:stretch>
        </p:blipFill>
        <p:spPr>
          <a:xfrm>
            <a:off x="8143900" y="285728"/>
            <a:ext cx="412098" cy="415255"/>
          </a:xfrm>
          <a:prstGeom prst="rect">
            <a:avLst/>
          </a:prstGeom>
        </p:spPr>
      </p:pic>
    </p:spTree>
    <p:extLst>
      <p:ext uri="{BB962C8B-B14F-4D97-AF65-F5344CB8AC3E}">
        <p14:creationId xmlns:p14="http://schemas.microsoft.com/office/powerpoint/2010/main" val="88671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500"/>
                                        <p:tgtEl>
                                          <p:spTgt spid="3">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484784"/>
            <a:ext cx="7520940" cy="3579849"/>
          </a:xfrm>
        </p:spPr>
        <p:txBody>
          <a:bodyPr/>
          <a:lstStyle/>
          <a:p>
            <a:r>
              <a:rPr lang="zh-CN" altLang="zh-CN" b="0" dirty="0"/>
              <a:t>【例</a:t>
            </a:r>
            <a:r>
              <a:rPr lang="en-US" altLang="zh-CN" b="0" dirty="0"/>
              <a:t>8.1</a:t>
            </a:r>
            <a:r>
              <a:rPr lang="zh-CN" altLang="zh-CN" b="0" dirty="0"/>
              <a:t>】已知一个有</a:t>
            </a:r>
            <a:r>
              <a:rPr lang="en-US" altLang="zh-CN" b="0" dirty="0"/>
              <a:t>11</a:t>
            </a:r>
            <a:r>
              <a:rPr lang="zh-CN" altLang="zh-CN" b="0" dirty="0"/>
              <a:t>个数据元素的有序表（关键字即为数据元素的值）：（</a:t>
            </a:r>
            <a:r>
              <a:rPr lang="en-US" altLang="zh-CN" b="0" dirty="0"/>
              <a:t>04</a:t>
            </a:r>
            <a:r>
              <a:rPr lang="zh-CN" altLang="zh-CN" b="0" dirty="0"/>
              <a:t>，</a:t>
            </a:r>
            <a:r>
              <a:rPr lang="en-US" altLang="zh-CN" b="0" dirty="0"/>
              <a:t>15</a:t>
            </a:r>
            <a:r>
              <a:rPr lang="zh-CN" altLang="zh-CN" b="0" dirty="0"/>
              <a:t>，</a:t>
            </a:r>
            <a:r>
              <a:rPr lang="en-US" altLang="zh-CN" b="0" dirty="0"/>
              <a:t>20</a:t>
            </a:r>
            <a:r>
              <a:rPr lang="zh-CN" altLang="zh-CN" b="0" dirty="0"/>
              <a:t>，</a:t>
            </a:r>
            <a:r>
              <a:rPr lang="en-US" altLang="zh-CN" b="0" dirty="0"/>
              <a:t>27</a:t>
            </a:r>
            <a:r>
              <a:rPr lang="zh-CN" altLang="zh-CN" b="0" dirty="0"/>
              <a:t>，</a:t>
            </a:r>
            <a:r>
              <a:rPr lang="en-US" altLang="zh-CN" b="0" dirty="0"/>
              <a:t>39</a:t>
            </a:r>
            <a:r>
              <a:rPr lang="zh-CN" altLang="zh-CN" b="0" dirty="0"/>
              <a:t>，</a:t>
            </a:r>
            <a:r>
              <a:rPr lang="en-US" altLang="zh-CN" b="0" dirty="0"/>
              <a:t>46</a:t>
            </a:r>
            <a:r>
              <a:rPr lang="zh-CN" altLang="zh-CN" b="0" dirty="0"/>
              <a:t>，</a:t>
            </a:r>
            <a:r>
              <a:rPr lang="en-US" altLang="zh-CN" b="0" dirty="0"/>
              <a:t>59</a:t>
            </a:r>
            <a:r>
              <a:rPr lang="zh-CN" altLang="zh-CN" b="0" dirty="0"/>
              <a:t>，</a:t>
            </a:r>
            <a:r>
              <a:rPr lang="en-US" altLang="zh-CN" b="0" dirty="0"/>
              <a:t>61</a:t>
            </a:r>
            <a:r>
              <a:rPr lang="zh-CN" altLang="zh-CN" b="0" dirty="0"/>
              <a:t>，</a:t>
            </a:r>
            <a:r>
              <a:rPr lang="en-US" altLang="zh-CN" b="0" dirty="0"/>
              <a:t>78</a:t>
            </a:r>
            <a:r>
              <a:rPr lang="zh-CN" altLang="zh-CN" b="0" dirty="0"/>
              <a:t>，</a:t>
            </a:r>
            <a:r>
              <a:rPr lang="en-US" altLang="zh-CN" b="0" dirty="0"/>
              <a:t>82</a:t>
            </a:r>
            <a:r>
              <a:rPr lang="zh-CN" altLang="zh-CN" b="0" dirty="0"/>
              <a:t>，</a:t>
            </a:r>
            <a:r>
              <a:rPr lang="en-US" altLang="zh-CN" b="0" dirty="0"/>
              <a:t>95</a:t>
            </a:r>
            <a:r>
              <a:rPr lang="zh-CN" altLang="zh-CN" b="0" dirty="0"/>
              <a:t>），以折半查找方法查找关键字为</a:t>
            </a:r>
            <a:r>
              <a:rPr lang="en-US" altLang="zh-CN" b="0" dirty="0"/>
              <a:t>27</a:t>
            </a:r>
            <a:r>
              <a:rPr lang="zh-CN" altLang="zh-CN" b="0" dirty="0"/>
              <a:t>和</a:t>
            </a:r>
            <a:r>
              <a:rPr lang="en-US" altLang="zh-CN" b="0" dirty="0"/>
              <a:t>86</a:t>
            </a:r>
            <a:r>
              <a:rPr lang="zh-CN" altLang="zh-CN" b="0" dirty="0"/>
              <a:t>的数据元素。</a:t>
            </a:r>
            <a:endParaRPr lang="en-US" altLang="zh-CN" b="0" dirty="0"/>
          </a:p>
          <a:p>
            <a:r>
              <a:rPr lang="en-US" altLang="zh-CN" b="0" dirty="0"/>
              <a:t>	</a:t>
            </a:r>
            <a:r>
              <a:rPr lang="zh-CN" altLang="zh-CN" b="0" dirty="0"/>
              <a:t>其中</a:t>
            </a:r>
            <a:r>
              <a:rPr lang="zh-CN" altLang="en-US" b="0" dirty="0"/>
              <a:t>：</a:t>
            </a:r>
            <a:r>
              <a:rPr lang="zh-CN" altLang="zh-CN" b="0" dirty="0"/>
              <a:t>方括号表示当前的查找区间，</a:t>
            </a:r>
            <a:r>
              <a:rPr lang="en-US" altLang="zh-CN" b="0" dirty="0"/>
              <a:t>“</a:t>
            </a:r>
            <a:r>
              <a:rPr lang="zh-CN" altLang="zh-CN" b="0" dirty="0"/>
              <a:t>↑</a:t>
            </a:r>
            <a:r>
              <a:rPr lang="en-US" altLang="zh-CN" b="0" dirty="0"/>
              <a:t>”</a:t>
            </a:r>
            <a:r>
              <a:rPr lang="zh-CN" altLang="zh-CN" b="0" dirty="0"/>
              <a:t>指向中间、下界和上界位置。</a:t>
            </a:r>
          </a:p>
          <a:p>
            <a:endParaRPr lang="zh-CN" altLang="en-US" dirty="0"/>
          </a:p>
        </p:txBody>
      </p:sp>
    </p:spTree>
    <p:extLst>
      <p:ext uri="{BB962C8B-B14F-4D97-AF65-F5344CB8AC3E}">
        <p14:creationId xmlns:p14="http://schemas.microsoft.com/office/powerpoint/2010/main" val="6404504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980728"/>
            <a:ext cx="7704856" cy="648072"/>
          </a:xfrm>
        </p:spPr>
        <p:txBody>
          <a:bodyPr/>
          <a:lstStyle/>
          <a:p>
            <a:r>
              <a:rPr lang="zh-CN" altLang="zh-CN" dirty="0"/>
              <a:t>（</a:t>
            </a:r>
            <a:r>
              <a:rPr lang="en-US" altLang="zh-CN" dirty="0"/>
              <a:t>1</a:t>
            </a:r>
            <a:r>
              <a:rPr lang="zh-CN" altLang="zh-CN" dirty="0"/>
              <a:t>）如查找给定值</a:t>
            </a:r>
            <a:r>
              <a:rPr lang="en-US" altLang="zh-CN" dirty="0"/>
              <a:t>key=27</a:t>
            </a:r>
            <a:r>
              <a:rPr lang="zh-CN" altLang="zh-CN" dirty="0"/>
              <a:t>的元素</a:t>
            </a:r>
            <a:endParaRPr lang="zh-CN" altLang="en-US" dirty="0"/>
          </a:p>
        </p:txBody>
      </p:sp>
      <p:pic>
        <p:nvPicPr>
          <p:cNvPr id="4" name="图片 3" descr="C:\Users\xhb\Desktop\2014-11-17\例9.1-(1).tif"/>
          <p:cNvPicPr/>
          <p:nvPr/>
        </p:nvPicPr>
        <p:blipFill>
          <a:blip r:embed="rId2" cstate="print"/>
          <a:srcRect/>
          <a:stretch>
            <a:fillRect/>
          </a:stretch>
        </p:blipFill>
        <p:spPr bwMode="auto">
          <a:xfrm>
            <a:off x="2051720" y="1700808"/>
            <a:ext cx="4800303" cy="864096"/>
          </a:xfrm>
          <a:prstGeom prst="rect">
            <a:avLst/>
          </a:prstGeom>
          <a:noFill/>
          <a:ln w="9525">
            <a:noFill/>
            <a:miter lim="800000"/>
            <a:headEnd/>
            <a:tailEnd/>
          </a:ln>
        </p:spPr>
      </p:pic>
      <p:pic>
        <p:nvPicPr>
          <p:cNvPr id="5" name="图片 4" descr="C:\Users\xhb\Desktop\2014-11-17\例9.1-(2).tif"/>
          <p:cNvPicPr/>
          <p:nvPr/>
        </p:nvPicPr>
        <p:blipFill>
          <a:blip r:embed="rId3" cstate="print"/>
          <a:srcRect/>
          <a:stretch>
            <a:fillRect/>
          </a:stretch>
        </p:blipFill>
        <p:spPr bwMode="auto">
          <a:xfrm>
            <a:off x="2051720" y="2924944"/>
            <a:ext cx="4718560" cy="936104"/>
          </a:xfrm>
          <a:prstGeom prst="rect">
            <a:avLst/>
          </a:prstGeom>
          <a:noFill/>
          <a:ln w="9525">
            <a:noFill/>
            <a:miter lim="800000"/>
            <a:headEnd/>
            <a:tailEnd/>
          </a:ln>
        </p:spPr>
      </p:pic>
      <p:pic>
        <p:nvPicPr>
          <p:cNvPr id="6" name="图片 5" descr="C:\Users\xhb\Desktop\2014-11-17\例9.1-(3).tif"/>
          <p:cNvPicPr/>
          <p:nvPr/>
        </p:nvPicPr>
        <p:blipFill>
          <a:blip r:embed="rId4" cstate="print"/>
          <a:srcRect/>
          <a:stretch>
            <a:fillRect/>
          </a:stretch>
        </p:blipFill>
        <p:spPr bwMode="auto">
          <a:xfrm>
            <a:off x="2076861" y="4221088"/>
            <a:ext cx="4655379" cy="1100810"/>
          </a:xfrm>
          <a:prstGeom prst="rect">
            <a:avLst/>
          </a:prstGeom>
          <a:noFill/>
          <a:ln w="9525">
            <a:noFill/>
            <a:miter lim="800000"/>
            <a:headEnd/>
            <a:tailEnd/>
          </a:ln>
        </p:spPr>
      </p:pic>
      <p:sp>
        <p:nvSpPr>
          <p:cNvPr id="7" name="矩形 6"/>
          <p:cNvSpPr/>
          <p:nvPr/>
        </p:nvSpPr>
        <p:spPr>
          <a:xfrm>
            <a:off x="1907704" y="5589240"/>
            <a:ext cx="5184576" cy="400110"/>
          </a:xfrm>
          <a:prstGeom prst="rect">
            <a:avLst/>
          </a:prstGeom>
        </p:spPr>
        <p:txBody>
          <a:bodyPr wrap="square">
            <a:spAutoFit/>
          </a:bodyPr>
          <a:lstStyle/>
          <a:p>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由于</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Key == </a:t>
            </a:r>
            <a:r>
              <a:rPr lang="en-US" altLang="zh-CN" sz="2000" dirty="0" err="1">
                <a:latin typeface="Times New Roman" panose="02020603050405020304" pitchFamily="18" charset="0"/>
                <a:ea typeface="楷体" panose="02010609060101010101" pitchFamily="49" charset="-122"/>
                <a:cs typeface="Times New Roman" panose="02020603050405020304" pitchFamily="18" charset="0"/>
              </a:rPr>
              <a:t>rec</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[mid]</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0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查找成功</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a:t>
            </a:r>
            <a:endParaRPr lang="zh-CN" altLang="en-US" sz="2000"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724014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43608" y="836712"/>
            <a:ext cx="7488832" cy="576064"/>
          </a:xfrm>
        </p:spPr>
        <p:txBody>
          <a:bodyPr/>
          <a:lstStyle/>
          <a:p>
            <a:r>
              <a:rPr lang="zh-CN" altLang="zh-CN" dirty="0"/>
              <a:t>（</a:t>
            </a:r>
            <a:r>
              <a:rPr lang="en-US" altLang="zh-CN" dirty="0"/>
              <a:t>2</a:t>
            </a:r>
            <a:r>
              <a:rPr lang="zh-CN" altLang="zh-CN" dirty="0"/>
              <a:t>）如查找给定值</a:t>
            </a:r>
            <a:r>
              <a:rPr lang="en-US" altLang="zh-CN" dirty="0"/>
              <a:t>key=86</a:t>
            </a:r>
            <a:endParaRPr lang="zh-CN" altLang="en-US" dirty="0"/>
          </a:p>
        </p:txBody>
      </p:sp>
      <p:pic>
        <p:nvPicPr>
          <p:cNvPr id="4" name="图片 3"/>
          <p:cNvPicPr/>
          <p:nvPr/>
        </p:nvPicPr>
        <p:blipFill>
          <a:blip r:embed="rId2" cstate="print"/>
          <a:stretch>
            <a:fillRect/>
          </a:stretch>
        </p:blipFill>
        <p:spPr>
          <a:xfrm>
            <a:off x="1907704" y="1484784"/>
            <a:ext cx="5184576" cy="3744416"/>
          </a:xfrm>
          <a:prstGeom prst="rect">
            <a:avLst/>
          </a:prstGeom>
        </p:spPr>
      </p:pic>
      <p:sp>
        <p:nvSpPr>
          <p:cNvPr id="5" name="矩形 4"/>
          <p:cNvSpPr/>
          <p:nvPr/>
        </p:nvSpPr>
        <p:spPr>
          <a:xfrm>
            <a:off x="1043608" y="5373216"/>
            <a:ext cx="7776864" cy="646331"/>
          </a:xfrm>
          <a:prstGeom prst="rect">
            <a:avLst/>
          </a:prstGeom>
        </p:spPr>
        <p:txBody>
          <a:bodyPr wrap="square">
            <a:spAutoFit/>
          </a:bodyPr>
          <a:lstStyle/>
          <a:p>
            <a:r>
              <a:rPr lang="en-US" altLang="zh-CN" dirty="0">
                <a:latin typeface="Times New Roman" panose="02020603050405020304" pitchFamily="18" charset="0"/>
                <a:ea typeface="楷体" panose="02010609060101010101" pitchFamily="49" charset="-122"/>
                <a:cs typeface="Times New Roman" panose="02020603050405020304" pitchFamily="18" charset="0"/>
              </a:rPr>
              <a:t>Low</a:t>
            </a:r>
            <a:r>
              <a:rPr lang="zh-CN" altLang="en-US"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a:latin typeface="Times New Roman" panose="02020603050405020304" pitchFamily="18" charset="0"/>
                <a:ea typeface="楷体" panose="02010609060101010101" pitchFamily="49" charset="-122"/>
                <a:cs typeface="Times New Roman" panose="02020603050405020304" pitchFamily="18" charset="0"/>
              </a:rPr>
              <a:t>high</a:t>
            </a:r>
            <a:r>
              <a:rPr lang="zh-CN" altLang="en-US"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a:latin typeface="Times New Roman" panose="02020603050405020304" pitchFamily="18" charset="0"/>
                <a:ea typeface="楷体" panose="02010609060101010101" pitchFamily="49" charset="-122"/>
                <a:cs typeface="Times New Roman" panose="02020603050405020304" pitchFamily="18" charset="0"/>
              </a:rPr>
              <a:t>mid</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均指着</a:t>
            </a:r>
            <a:r>
              <a:rPr lang="en-US" altLang="zh-CN" dirty="0">
                <a:latin typeface="Times New Roman" panose="02020603050405020304" pitchFamily="18" charset="0"/>
                <a:ea typeface="楷体" panose="02010609060101010101" pitchFamily="49" charset="-122"/>
                <a:cs typeface="Times New Roman" panose="02020603050405020304" pitchFamily="18" charset="0"/>
              </a:rPr>
              <a:t>95</a:t>
            </a:r>
            <a:r>
              <a:rPr lang="zh-CN" altLang="en-US" dirty="0">
                <a:latin typeface="Times New Roman" panose="02020603050405020304" pitchFamily="18" charset="0"/>
                <a:ea typeface="楷体" panose="02010609060101010101" pitchFamily="49" charset="-122"/>
                <a:cs typeface="Times New Roman" panose="02020603050405020304" pitchFamily="18" charset="0"/>
              </a:rPr>
              <a:t>且不相等</a:t>
            </a:r>
            <a:r>
              <a:rPr lang="zh-CN" altLang="zh-CN" dirty="0">
                <a:latin typeface="Times New Roman" panose="02020603050405020304" pitchFamily="18" charset="0"/>
                <a:ea typeface="楷体" panose="02010609060101010101" pitchFamily="49" charset="-122"/>
                <a:cs typeface="Times New Roman" panose="02020603050405020304" pitchFamily="18" charset="0"/>
              </a:rPr>
              <a:t>，表明查找表中没有与</a:t>
            </a:r>
            <a:r>
              <a:rPr lang="en-US" altLang="zh-CN" dirty="0">
                <a:latin typeface="Times New Roman" panose="02020603050405020304" pitchFamily="18" charset="0"/>
                <a:ea typeface="楷体" panose="02010609060101010101" pitchFamily="49" charset="-122"/>
                <a:cs typeface="Times New Roman" panose="02020603050405020304" pitchFamily="18" charset="0"/>
              </a:rPr>
              <a:t>key</a:t>
            </a:r>
            <a:r>
              <a:rPr lang="zh-CN" altLang="zh-CN" dirty="0">
                <a:latin typeface="Times New Roman" panose="02020603050405020304" pitchFamily="18" charset="0"/>
                <a:ea typeface="楷体" panose="02010609060101010101" pitchFamily="49" charset="-122"/>
                <a:cs typeface="Times New Roman" panose="02020603050405020304" pitchFamily="18" charset="0"/>
              </a:rPr>
              <a:t>相等的关键字，即</a:t>
            </a:r>
            <a:r>
              <a:rPr lang="zh-CN" altLang="zh-CN"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查找不成功</a:t>
            </a:r>
            <a:r>
              <a:rPr lang="zh-CN" altLang="zh-CN" dirty="0">
                <a:latin typeface="Times New Roman" panose="02020603050405020304" pitchFamily="18" charset="0"/>
                <a:ea typeface="楷体" panose="02010609060101010101" pitchFamily="49" charset="-122"/>
                <a:cs typeface="Times New Roman" panose="02020603050405020304" pitchFamily="18" charset="0"/>
              </a:rPr>
              <a:t>。</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9275730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A76066B-CB22-4ED7-84FD-8CD1997B647D}"/>
              </a:ext>
            </a:extLst>
          </p:cNvPr>
          <p:cNvSpPr>
            <a:spLocks noGrp="1"/>
          </p:cNvSpPr>
          <p:nvPr>
            <p:ph type="dt" sz="half" idx="10"/>
          </p:nvPr>
        </p:nvSpPr>
        <p:spPr/>
        <p:txBody>
          <a:bodyPr/>
          <a:lstStyle/>
          <a:p>
            <a:fld id="{9A6B2991-BBE5-4E69-A281-1A8B0AE9CDD7}" type="datetime1">
              <a:rPr lang="zh-CN" altLang="en-US" smtClean="0"/>
              <a:pPr/>
              <a:t>2025/6/3</a:t>
            </a:fld>
            <a:endParaRPr lang="zh-CN" altLang="en-US"/>
          </a:p>
        </p:txBody>
      </p:sp>
      <p:graphicFrame>
        <p:nvGraphicFramePr>
          <p:cNvPr id="3" name="对象 2">
            <a:extLst>
              <a:ext uri="{FF2B5EF4-FFF2-40B4-BE49-F238E27FC236}">
                <a16:creationId xmlns:a16="http://schemas.microsoft.com/office/drawing/2014/main" id="{DED3D6EE-4F2E-4C82-BAF9-F22DF69582D3}"/>
              </a:ext>
            </a:extLst>
          </p:cNvPr>
          <p:cNvGraphicFramePr>
            <a:graphicFrameLocks noChangeAspect="1"/>
          </p:cNvGraphicFramePr>
          <p:nvPr>
            <p:extLst>
              <p:ext uri="{D42A27DB-BD31-4B8C-83A1-F6EECF244321}">
                <p14:modId xmlns:p14="http://schemas.microsoft.com/office/powerpoint/2010/main" val="3830880047"/>
              </p:ext>
            </p:extLst>
          </p:nvPr>
        </p:nvGraphicFramePr>
        <p:xfrm>
          <a:off x="4762" y="4762"/>
          <a:ext cx="8311653" cy="6736605"/>
        </p:xfrm>
        <a:graphic>
          <a:graphicData uri="http://schemas.openxmlformats.org/presentationml/2006/ole">
            <mc:AlternateContent xmlns:mc="http://schemas.openxmlformats.org/markup-compatibility/2006">
              <mc:Choice xmlns:v="urn:schemas-microsoft-com:vml" Requires="v">
                <p:oleObj spid="_x0000_s2125" r:id="rId3" imgW="4727160" imgH="4419000" progId="">
                  <p:embed/>
                </p:oleObj>
              </mc:Choice>
              <mc:Fallback>
                <p:oleObj r:id="rId3" imgW="4727160" imgH="4419000" progId="">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62" y="4762"/>
                        <a:ext cx="8311653" cy="6736605"/>
                      </a:xfrm>
                      <a:prstGeom prst="rect">
                        <a:avLst/>
                      </a:prstGeom>
                      <a:solidFill>
                        <a:schemeClr val="bg1"/>
                      </a:solidFill>
                      <a:ln>
                        <a:noFill/>
                      </a:ln>
                    </p:spPr>
                  </p:pic>
                </p:oleObj>
              </mc:Fallback>
            </mc:AlternateContent>
          </a:graphicData>
        </a:graphic>
      </p:graphicFrame>
    </p:spTree>
    <p:extLst>
      <p:ext uri="{BB962C8B-B14F-4D97-AF65-F5344CB8AC3E}">
        <p14:creationId xmlns:p14="http://schemas.microsoft.com/office/powerpoint/2010/main" val="28212316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71600" y="1268760"/>
            <a:ext cx="7520940" cy="3579849"/>
          </a:xfrm>
        </p:spPr>
        <p:txBody>
          <a:bodyPr>
            <a:normAutofit fontScale="92500" lnSpcReduction="20000"/>
          </a:bodyPr>
          <a:lstStyle/>
          <a:p>
            <a:r>
              <a:rPr lang="zh-CN" altLang="zh-CN" dirty="0"/>
              <a:t>算法</a:t>
            </a:r>
            <a:r>
              <a:rPr lang="en-US" altLang="zh-CN" dirty="0"/>
              <a:t>8.5</a:t>
            </a:r>
            <a:r>
              <a:rPr lang="zh-CN" altLang="zh-CN" dirty="0"/>
              <a:t>：折半查找的</a:t>
            </a:r>
            <a:r>
              <a:rPr lang="zh-CN" altLang="zh-CN" dirty="0">
                <a:solidFill>
                  <a:srgbClr val="FF0000"/>
                </a:solidFill>
              </a:rPr>
              <a:t>递归算法</a:t>
            </a:r>
          </a:p>
          <a:p>
            <a:r>
              <a:rPr lang="en-US" altLang="zh-CN" b="0" dirty="0" err="1"/>
              <a:t>int</a:t>
            </a:r>
            <a:r>
              <a:rPr lang="en-US" altLang="zh-CN" b="0" dirty="0"/>
              <a:t> </a:t>
            </a:r>
            <a:r>
              <a:rPr lang="en-US" altLang="zh-CN" b="0" dirty="0" err="1"/>
              <a:t>Sqtable</a:t>
            </a:r>
            <a:r>
              <a:rPr lang="en-US" altLang="zh-CN" b="0" dirty="0"/>
              <a:t>:: </a:t>
            </a:r>
            <a:r>
              <a:rPr lang="en-US" altLang="zh-CN" b="0" dirty="0" err="1"/>
              <a:t>binary_search</a:t>
            </a:r>
            <a:r>
              <a:rPr lang="en-US" altLang="zh-CN" b="0" dirty="0"/>
              <a:t>(</a:t>
            </a:r>
            <a:r>
              <a:rPr lang="en-US" altLang="zh-CN" b="0" dirty="0" err="1"/>
              <a:t>KeyType</a:t>
            </a:r>
            <a:r>
              <a:rPr lang="en-US" altLang="zh-CN" b="0" dirty="0"/>
              <a:t> k, </a:t>
            </a:r>
            <a:r>
              <a:rPr lang="en-US" altLang="zh-CN" b="0" dirty="0" err="1"/>
              <a:t>int</a:t>
            </a:r>
            <a:r>
              <a:rPr lang="en-US" altLang="zh-CN" b="0" dirty="0"/>
              <a:t> low, </a:t>
            </a:r>
            <a:r>
              <a:rPr lang="en-US" altLang="zh-CN" b="0" dirty="0" err="1"/>
              <a:t>int</a:t>
            </a:r>
            <a:r>
              <a:rPr lang="en-US" altLang="zh-CN" b="0" dirty="0"/>
              <a:t> high){</a:t>
            </a:r>
            <a:endParaRPr lang="zh-CN" altLang="zh-CN" b="0" dirty="0"/>
          </a:p>
          <a:p>
            <a:r>
              <a:rPr lang="en-US" altLang="zh-CN" b="0" dirty="0"/>
              <a:t>	if  ( low &gt; high ) return –1;</a:t>
            </a:r>
            <a:endParaRPr lang="zh-CN" altLang="zh-CN" b="0" dirty="0"/>
          </a:p>
          <a:p>
            <a:r>
              <a:rPr lang="en-US" altLang="zh-CN" b="0" dirty="0"/>
              <a:t>	</a:t>
            </a:r>
            <a:r>
              <a:rPr lang="en-US" altLang="zh-CN" b="0" dirty="0" err="1"/>
              <a:t>int</a:t>
            </a:r>
            <a:r>
              <a:rPr lang="en-US" altLang="zh-CN" b="0" dirty="0"/>
              <a:t> mid = (low + high) / 2;</a:t>
            </a:r>
            <a:endParaRPr lang="zh-CN" altLang="zh-CN" b="0" dirty="0"/>
          </a:p>
          <a:p>
            <a:r>
              <a:rPr lang="en-US" altLang="zh-CN" b="0" dirty="0"/>
              <a:t>	if  ( k == r[mid] ) return mid;</a:t>
            </a:r>
            <a:endParaRPr lang="zh-CN" altLang="zh-CN" b="0" dirty="0"/>
          </a:p>
          <a:p>
            <a:r>
              <a:rPr lang="en-US" altLang="zh-CN" b="0" dirty="0"/>
              <a:t>	else if  ( k &lt; r[mid] ) return </a:t>
            </a:r>
            <a:r>
              <a:rPr lang="en-US" altLang="zh-CN" b="0" dirty="0" err="1"/>
              <a:t>binary_search</a:t>
            </a:r>
            <a:r>
              <a:rPr lang="en-US" altLang="zh-CN" b="0" dirty="0"/>
              <a:t>(k, low, mid-1);</a:t>
            </a:r>
            <a:endParaRPr lang="zh-CN" altLang="zh-CN" b="0" dirty="0"/>
          </a:p>
          <a:p>
            <a:r>
              <a:rPr lang="en-US" altLang="zh-CN" b="0" dirty="0"/>
              <a:t>		else return </a:t>
            </a:r>
            <a:r>
              <a:rPr lang="en-US" altLang="zh-CN" b="0" dirty="0" err="1"/>
              <a:t>binary_search</a:t>
            </a:r>
            <a:r>
              <a:rPr lang="en-US" altLang="zh-CN" b="0" dirty="0"/>
              <a:t>(k, mid+1, high);</a:t>
            </a:r>
            <a:endParaRPr lang="zh-CN" altLang="zh-CN" b="0" dirty="0"/>
          </a:p>
          <a:p>
            <a:r>
              <a:rPr lang="en-US" altLang="zh-CN" b="0" dirty="0"/>
              <a:t>}</a:t>
            </a:r>
            <a:endParaRPr lang="zh-CN" altLang="zh-CN" b="0" dirty="0"/>
          </a:p>
          <a:p>
            <a:endParaRPr lang="zh-CN" altLang="en-US" dirty="0"/>
          </a:p>
        </p:txBody>
      </p:sp>
      <p:sp>
        <p:nvSpPr>
          <p:cNvPr id="4" name="矩形 3">
            <a:extLst>
              <a:ext uri="{FF2B5EF4-FFF2-40B4-BE49-F238E27FC236}">
                <a16:creationId xmlns:a16="http://schemas.microsoft.com/office/drawing/2014/main" id="{CE718B0C-8286-492F-AF26-981824125ADE}"/>
              </a:ext>
            </a:extLst>
          </p:cNvPr>
          <p:cNvSpPr/>
          <p:nvPr/>
        </p:nvSpPr>
        <p:spPr>
          <a:xfrm>
            <a:off x="395536" y="5013176"/>
            <a:ext cx="8208912" cy="523220"/>
          </a:xfrm>
          <a:prstGeom prst="rect">
            <a:avLst/>
          </a:prstGeom>
        </p:spPr>
        <p:txBody>
          <a:bodyPr wrap="square">
            <a:spAutoFit/>
          </a:bodyPr>
          <a:lstStyle/>
          <a:p>
            <a:r>
              <a:rPr lang="zh-CN" altLang="zh-CN" sz="2800" b="1" dirty="0">
                <a:solidFill>
                  <a:srgbClr val="FF0000"/>
                </a:solidFill>
                <a:latin typeface="楷体" panose="02010609060101010101" pitchFamily="49" charset="-122"/>
                <a:ea typeface="楷体" panose="02010609060101010101" pitchFamily="49" charset="-122"/>
              </a:rPr>
              <a:t>★注：折半查找中，</a:t>
            </a:r>
            <a:r>
              <a:rPr lang="zh-CN" altLang="en-US" sz="2800" b="1" dirty="0">
                <a:solidFill>
                  <a:srgbClr val="FF0000"/>
                </a:solidFill>
                <a:latin typeface="楷体" panose="02010609060101010101" pitchFamily="49" charset="-122"/>
                <a:ea typeface="楷体" panose="02010609060101010101" pitchFamily="49" charset="-122"/>
              </a:rPr>
              <a:t>除</a:t>
            </a:r>
            <a:r>
              <a:rPr lang="en-US" altLang="zh-CN" sz="2800" b="1" dirty="0">
                <a:solidFill>
                  <a:srgbClr val="FF0000"/>
                </a:solidFill>
                <a:latin typeface="楷体" panose="02010609060101010101" pitchFamily="49" charset="-122"/>
                <a:ea typeface="楷体" panose="02010609060101010101" pitchFamily="49" charset="-122"/>
              </a:rPr>
              <a:t>2</a:t>
            </a:r>
            <a:r>
              <a:rPr lang="zh-CN" altLang="en-US" sz="2800" b="1" dirty="0">
                <a:solidFill>
                  <a:srgbClr val="FF0000"/>
                </a:solidFill>
                <a:latin typeface="楷体" panose="02010609060101010101" pitchFamily="49" charset="-122"/>
                <a:ea typeface="楷体" panose="02010609060101010101" pitchFamily="49" charset="-122"/>
              </a:rPr>
              <a:t>等于乘</a:t>
            </a:r>
            <a:r>
              <a:rPr lang="en-US" altLang="zh-CN" sz="2800" b="1" dirty="0">
                <a:solidFill>
                  <a:srgbClr val="FF0000"/>
                </a:solidFill>
                <a:latin typeface="楷体" panose="02010609060101010101" pitchFamily="49" charset="-122"/>
                <a:ea typeface="楷体" panose="02010609060101010101" pitchFamily="49" charset="-122"/>
              </a:rPr>
              <a:t>0.5</a:t>
            </a:r>
            <a:r>
              <a:rPr lang="zh-CN" altLang="en-US" sz="2800" b="1" dirty="0">
                <a:solidFill>
                  <a:srgbClr val="FF0000"/>
                </a:solidFill>
                <a:latin typeface="楷体" panose="02010609060101010101" pitchFamily="49" charset="-122"/>
                <a:ea typeface="楷体" panose="02010609060101010101" pitchFamily="49" charset="-122"/>
              </a:rPr>
              <a:t>，还可以乘</a:t>
            </a:r>
            <a:r>
              <a:rPr lang="en-US" altLang="zh-CN" sz="2800" b="1" dirty="0">
                <a:solidFill>
                  <a:srgbClr val="FF0000"/>
                </a:solidFill>
                <a:latin typeface="楷体" panose="02010609060101010101" pitchFamily="49" charset="-122"/>
                <a:ea typeface="楷体" panose="02010609060101010101" pitchFamily="49" charset="-122"/>
              </a:rPr>
              <a:t>0.6</a:t>
            </a:r>
            <a:r>
              <a:rPr lang="zh-CN" altLang="zh-CN" sz="2800" b="1" dirty="0">
                <a:solidFill>
                  <a:srgbClr val="FF0000"/>
                </a:solidFill>
                <a:latin typeface="楷体" panose="02010609060101010101" pitchFamily="49" charset="-122"/>
                <a:ea typeface="楷体" panose="02010609060101010101" pitchFamily="49" charset="-122"/>
              </a:rPr>
              <a:t>。</a:t>
            </a:r>
          </a:p>
        </p:txBody>
      </p:sp>
    </p:spTree>
    <p:extLst>
      <p:ext uri="{BB962C8B-B14F-4D97-AF65-F5344CB8AC3E}">
        <p14:creationId xmlns:p14="http://schemas.microsoft.com/office/powerpoint/2010/main" val="679790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836712"/>
            <a:ext cx="7992888" cy="5256584"/>
          </a:xfrm>
        </p:spPr>
        <p:txBody>
          <a:bodyPr>
            <a:normAutofit fontScale="70000" lnSpcReduction="20000"/>
          </a:bodyPr>
          <a:lstStyle/>
          <a:p>
            <a:r>
              <a:rPr lang="zh-CN" altLang="zh-CN" dirty="0"/>
              <a:t>算法</a:t>
            </a:r>
            <a:r>
              <a:rPr lang="en-US" altLang="zh-CN" dirty="0"/>
              <a:t>8.4</a:t>
            </a:r>
            <a:r>
              <a:rPr lang="zh-CN" altLang="zh-CN" dirty="0"/>
              <a:t>：折半查找的</a:t>
            </a:r>
            <a:r>
              <a:rPr lang="zh-CN" altLang="zh-CN" dirty="0">
                <a:solidFill>
                  <a:srgbClr val="FF0000"/>
                </a:solidFill>
              </a:rPr>
              <a:t>非递归算法</a:t>
            </a:r>
          </a:p>
          <a:p>
            <a:r>
              <a:rPr lang="en-US" altLang="zh-CN" b="0" dirty="0" err="1"/>
              <a:t>int</a:t>
            </a:r>
            <a:r>
              <a:rPr lang="en-US" altLang="zh-CN" b="0" dirty="0"/>
              <a:t> </a:t>
            </a:r>
            <a:r>
              <a:rPr lang="en-US" altLang="zh-CN" b="0" dirty="0" err="1"/>
              <a:t>Sqtable</a:t>
            </a:r>
            <a:r>
              <a:rPr lang="en-US" altLang="zh-CN" b="0" dirty="0"/>
              <a:t>:: </a:t>
            </a:r>
            <a:r>
              <a:rPr lang="en-US" altLang="zh-CN" b="0" dirty="0" err="1"/>
              <a:t>binary_search</a:t>
            </a:r>
            <a:r>
              <a:rPr lang="en-US" altLang="zh-CN" b="0" dirty="0"/>
              <a:t>(</a:t>
            </a:r>
            <a:r>
              <a:rPr lang="en-US" altLang="zh-CN" b="0" dirty="0" err="1"/>
              <a:t>KeyType</a:t>
            </a:r>
            <a:r>
              <a:rPr lang="en-US" altLang="zh-CN" b="0" dirty="0"/>
              <a:t> K){</a:t>
            </a:r>
            <a:endParaRPr lang="zh-CN" altLang="zh-CN" b="0" dirty="0"/>
          </a:p>
          <a:p>
            <a:r>
              <a:rPr lang="en-US" altLang="zh-CN" b="0" dirty="0"/>
              <a:t>	</a:t>
            </a:r>
            <a:r>
              <a:rPr lang="en-US" altLang="zh-CN" b="0" dirty="0" err="1"/>
              <a:t>int</a:t>
            </a:r>
            <a:r>
              <a:rPr lang="en-US" altLang="zh-CN" b="0" dirty="0"/>
              <a:t> </a:t>
            </a:r>
            <a:r>
              <a:rPr lang="en-US" altLang="zh-CN" b="0" dirty="0" err="1"/>
              <a:t>mid,low,high,find</a:t>
            </a:r>
            <a:r>
              <a:rPr lang="en-US" altLang="zh-CN" b="0" dirty="0"/>
              <a:t>;</a:t>
            </a:r>
            <a:endParaRPr lang="zh-CN" altLang="zh-CN" b="0" dirty="0"/>
          </a:p>
          <a:p>
            <a:r>
              <a:rPr lang="en-US" altLang="zh-CN" b="0" dirty="0"/>
              <a:t>	low=0;high=n-1;find=0;</a:t>
            </a:r>
            <a:endParaRPr lang="zh-CN" altLang="zh-CN" b="0" dirty="0"/>
          </a:p>
          <a:p>
            <a:r>
              <a:rPr lang="en-US" altLang="zh-CN" b="0" dirty="0"/>
              <a:t>	do{</a:t>
            </a:r>
            <a:endParaRPr lang="zh-CN" altLang="zh-CN" b="0" dirty="0"/>
          </a:p>
          <a:p>
            <a:r>
              <a:rPr lang="en-US" altLang="zh-CN" b="0" dirty="0"/>
              <a:t>		mid=(</a:t>
            </a:r>
            <a:r>
              <a:rPr lang="en-US" altLang="zh-CN" b="0" dirty="0" err="1"/>
              <a:t>low+high</a:t>
            </a:r>
            <a:r>
              <a:rPr lang="en-US" altLang="zh-CN" b="0" dirty="0"/>
              <a:t>)/2;</a:t>
            </a:r>
            <a:endParaRPr lang="zh-CN" altLang="zh-CN" b="0" dirty="0"/>
          </a:p>
          <a:p>
            <a:r>
              <a:rPr lang="en-US" altLang="zh-CN" b="0" dirty="0"/>
              <a:t>		if(K==r[mid].key){</a:t>
            </a:r>
            <a:endParaRPr lang="zh-CN" altLang="zh-CN" b="0" dirty="0"/>
          </a:p>
          <a:p>
            <a:r>
              <a:rPr lang="en-US" altLang="zh-CN" b="0" dirty="0"/>
              <a:t>			find=1;</a:t>
            </a:r>
            <a:endParaRPr lang="zh-CN" altLang="zh-CN" b="0" dirty="0"/>
          </a:p>
          <a:p>
            <a:r>
              <a:rPr lang="en-US" altLang="zh-CN" b="0" dirty="0"/>
              <a:t>		 	return mid;    //</a:t>
            </a:r>
            <a:r>
              <a:rPr lang="zh-CN" altLang="zh-CN" b="0" dirty="0"/>
              <a:t>查找成功，该记录下标为</a:t>
            </a:r>
            <a:r>
              <a:rPr lang="en-US" altLang="zh-CN" b="0" dirty="0"/>
              <a:t>mid</a:t>
            </a:r>
            <a:endParaRPr lang="zh-CN" altLang="zh-CN" b="0" dirty="0"/>
          </a:p>
          <a:p>
            <a:r>
              <a:rPr lang="en-US" altLang="zh-CN" b="0" dirty="0"/>
              <a:t>		} else if(K&lt;r[mid].key) high=mid-1;</a:t>
            </a:r>
            <a:endParaRPr lang="zh-CN" altLang="zh-CN" b="0" dirty="0"/>
          </a:p>
          <a:p>
            <a:r>
              <a:rPr lang="en-US" altLang="zh-CN" b="0" dirty="0"/>
              <a:t>			else low=mid+1;</a:t>
            </a:r>
            <a:endParaRPr lang="zh-CN" altLang="zh-CN" b="0" dirty="0"/>
          </a:p>
          <a:p>
            <a:r>
              <a:rPr lang="en-US" altLang="zh-CN" b="0" dirty="0"/>
              <a:t>	}while(find==0&amp;&amp;low&lt;=high);</a:t>
            </a:r>
            <a:endParaRPr lang="zh-CN" altLang="zh-CN" b="0" dirty="0"/>
          </a:p>
          <a:p>
            <a:r>
              <a:rPr lang="en-US" altLang="zh-CN" b="0" dirty="0"/>
              <a:t>      if(find==0) return -1; 	//</a:t>
            </a:r>
            <a:r>
              <a:rPr lang="zh-CN" altLang="zh-CN" b="0" dirty="0"/>
              <a:t>查找失败</a:t>
            </a:r>
            <a:r>
              <a:rPr lang="en-US" altLang="zh-CN" b="0" dirty="0"/>
              <a:t>!</a:t>
            </a:r>
            <a:endParaRPr lang="zh-CN" altLang="zh-CN" b="0" dirty="0"/>
          </a:p>
          <a:p>
            <a:r>
              <a:rPr lang="en-US" altLang="zh-CN" b="0" dirty="0"/>
              <a:t>}	</a:t>
            </a:r>
            <a:endParaRPr lang="zh-CN" altLang="zh-CN" b="0" dirty="0"/>
          </a:p>
          <a:p>
            <a:endParaRPr lang="zh-CN" altLang="en-US" dirty="0"/>
          </a:p>
        </p:txBody>
      </p:sp>
    </p:spTree>
    <p:extLst>
      <p:ext uri="{BB962C8B-B14F-4D97-AF65-F5344CB8AC3E}">
        <p14:creationId xmlns:p14="http://schemas.microsoft.com/office/powerpoint/2010/main" val="15168298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552" y="980728"/>
            <a:ext cx="8208912" cy="2448272"/>
          </a:xfrm>
        </p:spPr>
        <p:txBody>
          <a:bodyPr>
            <a:normAutofit lnSpcReduction="10000"/>
          </a:bodyPr>
          <a:lstStyle/>
          <a:p>
            <a:r>
              <a:rPr lang="zh-CN" altLang="en-US" sz="2000" dirty="0"/>
              <a:t>折半查找算法的复杂度分析</a:t>
            </a:r>
            <a:r>
              <a:rPr lang="zh-CN" altLang="en-US" sz="2000" b="0" dirty="0"/>
              <a:t>：</a:t>
            </a:r>
            <a:endParaRPr lang="en-US" altLang="zh-CN" sz="2000" b="0" dirty="0"/>
          </a:p>
          <a:p>
            <a:r>
              <a:rPr lang="en-US" altLang="zh-CN" sz="2000" b="0" dirty="0"/>
              <a:t>		</a:t>
            </a:r>
            <a:r>
              <a:rPr lang="zh-CN" altLang="zh-CN" sz="2000" b="0" dirty="0"/>
              <a:t>折半查找可描述为二叉树的形式，称为</a:t>
            </a:r>
            <a:r>
              <a:rPr lang="zh-CN" altLang="zh-CN" sz="2000" dirty="0">
                <a:solidFill>
                  <a:srgbClr val="FF0000"/>
                </a:solidFill>
              </a:rPr>
              <a:t>折半查找判定树</a:t>
            </a:r>
            <a:r>
              <a:rPr lang="zh-CN" altLang="zh-CN" sz="2000" b="0" dirty="0"/>
              <a:t>。设待查区间为</a:t>
            </a:r>
            <a:r>
              <a:rPr lang="en-US" altLang="zh-CN" sz="2000" b="0" dirty="0"/>
              <a:t>[</a:t>
            </a:r>
            <a:r>
              <a:rPr lang="en-US" altLang="zh-CN" sz="2000" b="0" dirty="0" err="1"/>
              <a:t>low..high</a:t>
            </a:r>
            <a:r>
              <a:rPr lang="en-US" altLang="zh-CN" sz="2000" b="0" dirty="0"/>
              <a:t>]</a:t>
            </a:r>
            <a:r>
              <a:rPr lang="zh-CN" altLang="zh-CN" sz="2000" b="0" dirty="0"/>
              <a:t>，则折半查找判定树递归定义如下：</a:t>
            </a:r>
          </a:p>
          <a:p>
            <a:r>
              <a:rPr lang="en-US" altLang="zh-CN" sz="2000" b="0" dirty="0"/>
              <a:t>	</a:t>
            </a:r>
            <a:r>
              <a:rPr lang="zh-CN" altLang="zh-CN" sz="2000" b="0" dirty="0"/>
              <a:t>（</a:t>
            </a:r>
            <a:r>
              <a:rPr lang="en-US" altLang="zh-CN" sz="2000" b="0" dirty="0"/>
              <a:t>1</a:t>
            </a:r>
            <a:r>
              <a:rPr lang="zh-CN" altLang="zh-CN" sz="2000" b="0" dirty="0"/>
              <a:t>）如果</a:t>
            </a:r>
            <a:r>
              <a:rPr lang="en-US" altLang="zh-CN" sz="2000" b="0" dirty="0"/>
              <a:t>low&gt;high</a:t>
            </a:r>
            <a:r>
              <a:rPr lang="zh-CN" altLang="zh-CN" sz="2000" b="0" dirty="0"/>
              <a:t>，则折半查找判定树为空。</a:t>
            </a:r>
          </a:p>
          <a:p>
            <a:r>
              <a:rPr lang="en-US" altLang="zh-CN" sz="2000" b="0" dirty="0"/>
              <a:t>	</a:t>
            </a:r>
            <a:r>
              <a:rPr lang="zh-CN" altLang="zh-CN" sz="2000" b="0" dirty="0"/>
              <a:t>（</a:t>
            </a:r>
            <a:r>
              <a:rPr lang="en-US" altLang="zh-CN" sz="2000" b="0" dirty="0"/>
              <a:t>2</a:t>
            </a:r>
            <a:r>
              <a:rPr lang="zh-CN" altLang="zh-CN" sz="2000" b="0" dirty="0"/>
              <a:t>）如果</a:t>
            </a:r>
            <a:r>
              <a:rPr lang="en-US" altLang="zh-CN" sz="2000" b="0" dirty="0"/>
              <a:t>low&lt;=high</a:t>
            </a:r>
            <a:r>
              <a:rPr lang="zh-CN" altLang="zh-CN" sz="2000" b="0" dirty="0"/>
              <a:t>，则折半查找判定树的根为</a:t>
            </a:r>
            <a:r>
              <a:rPr lang="en-US" altLang="zh-CN" sz="2000" b="0" dirty="0"/>
              <a:t>mid=(</a:t>
            </a:r>
            <a:r>
              <a:rPr lang="en-US" altLang="zh-CN" sz="2000" b="0" dirty="0" err="1"/>
              <a:t>low+high</a:t>
            </a:r>
            <a:r>
              <a:rPr lang="en-US" altLang="zh-CN" sz="2000" b="0" dirty="0"/>
              <a:t>)/2</a:t>
            </a:r>
            <a:r>
              <a:rPr lang="zh-CN" altLang="zh-CN" sz="2000" b="0" dirty="0"/>
              <a:t>，左子树的查找区间为</a:t>
            </a:r>
            <a:r>
              <a:rPr lang="en-US" altLang="zh-CN" sz="2000" b="0" dirty="0"/>
              <a:t>[low..mid-1]</a:t>
            </a:r>
            <a:r>
              <a:rPr lang="zh-CN" altLang="zh-CN" sz="2000" b="0" dirty="0"/>
              <a:t>，右子树的查找区间为</a:t>
            </a:r>
            <a:r>
              <a:rPr lang="en-US" altLang="zh-CN" sz="2000" b="0" dirty="0"/>
              <a:t>[mid+1..high]</a:t>
            </a:r>
            <a:r>
              <a:rPr lang="zh-CN" altLang="zh-CN" sz="2000" b="0" dirty="0"/>
              <a:t>。</a:t>
            </a:r>
          </a:p>
          <a:p>
            <a:endParaRPr lang="zh-CN" altLang="en-US" sz="2000" b="0" dirty="0"/>
          </a:p>
        </p:txBody>
      </p:sp>
      <p:sp>
        <p:nvSpPr>
          <p:cNvPr id="4" name="矩形 3"/>
          <p:cNvSpPr/>
          <p:nvPr/>
        </p:nvSpPr>
        <p:spPr>
          <a:xfrm>
            <a:off x="323528" y="3861048"/>
            <a:ext cx="5616624" cy="400110"/>
          </a:xfrm>
          <a:prstGeom prst="rect">
            <a:avLst/>
          </a:prstGeom>
        </p:spPr>
        <p:txBody>
          <a:bodyPr wrap="square">
            <a:spAutoFit/>
          </a:bodyPr>
          <a:lstStyle/>
          <a:p>
            <a:r>
              <a:rPr lang="zh-CN" altLang="zh-CN" sz="2000" dirty="0">
                <a:latin typeface="楷体" pitchFamily="49" charset="-122"/>
                <a:ea typeface="楷体" pitchFamily="49" charset="-122"/>
              </a:rPr>
              <a:t>【例</a:t>
            </a:r>
            <a:r>
              <a:rPr lang="en-US" altLang="zh-CN" sz="2000" dirty="0">
                <a:latin typeface="楷体" pitchFamily="49" charset="-122"/>
                <a:ea typeface="楷体" pitchFamily="49" charset="-122"/>
              </a:rPr>
              <a:t>8.1</a:t>
            </a:r>
            <a:r>
              <a:rPr lang="zh-CN" altLang="zh-CN" sz="2000" dirty="0">
                <a:latin typeface="楷体" pitchFamily="49" charset="-122"/>
                <a:ea typeface="楷体" pitchFamily="49" charset="-122"/>
              </a:rPr>
              <a:t>】的折半查找判定树如图</a:t>
            </a:r>
            <a:r>
              <a:rPr lang="en-US" altLang="zh-CN" sz="2000" dirty="0">
                <a:latin typeface="楷体" pitchFamily="49" charset="-122"/>
                <a:ea typeface="楷体" pitchFamily="49" charset="-122"/>
              </a:rPr>
              <a:t>8-2</a:t>
            </a:r>
            <a:r>
              <a:rPr lang="zh-CN" altLang="zh-CN" sz="2000" dirty="0">
                <a:latin typeface="楷体" pitchFamily="49" charset="-122"/>
                <a:ea typeface="楷体" pitchFamily="49" charset="-122"/>
              </a:rPr>
              <a:t>所示。</a:t>
            </a:r>
          </a:p>
        </p:txBody>
      </p:sp>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80111" y="3573016"/>
            <a:ext cx="3368333" cy="26642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矩形 4"/>
          <p:cNvSpPr/>
          <p:nvPr/>
        </p:nvSpPr>
        <p:spPr>
          <a:xfrm>
            <a:off x="395536" y="5013176"/>
            <a:ext cx="4572000" cy="830997"/>
          </a:xfrm>
          <a:prstGeom prst="rect">
            <a:avLst/>
          </a:prstGeom>
        </p:spPr>
        <p:txBody>
          <a:bodyPr>
            <a:spAutoFit/>
          </a:bodyPr>
          <a:lstStyle/>
          <a:p>
            <a:r>
              <a:rPr lang="zh-CN" altLang="zh-CN" sz="2400" b="1" dirty="0">
                <a:solidFill>
                  <a:srgbClr val="FF0000"/>
                </a:solidFill>
                <a:latin typeface="楷体" panose="02010609060101010101" pitchFamily="49" charset="-122"/>
                <a:ea typeface="楷体" panose="02010609060101010101" pitchFamily="49" charset="-122"/>
              </a:rPr>
              <a:t>★注：折半查找中，最大的比较次数等于判定树的深度。</a:t>
            </a:r>
          </a:p>
        </p:txBody>
      </p:sp>
      <p:grpSp>
        <p:nvGrpSpPr>
          <p:cNvPr id="7" name="组合 6"/>
          <p:cNvGrpSpPr/>
          <p:nvPr/>
        </p:nvGrpSpPr>
        <p:grpSpPr>
          <a:xfrm>
            <a:off x="5416457" y="5305636"/>
            <a:ext cx="468054" cy="376590"/>
            <a:chOff x="5040050" y="5509815"/>
            <a:chExt cx="468054" cy="376590"/>
          </a:xfrm>
        </p:grpSpPr>
        <p:sp>
          <p:nvSpPr>
            <p:cNvPr id="2" name="椭圆 1"/>
            <p:cNvSpPr/>
            <p:nvPr/>
          </p:nvSpPr>
          <p:spPr>
            <a:xfrm>
              <a:off x="5076056" y="5509815"/>
              <a:ext cx="360041" cy="37659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p>
          </p:txBody>
        </p:sp>
        <p:sp>
          <p:nvSpPr>
            <p:cNvPr id="6" name="TextBox 5"/>
            <p:cNvSpPr txBox="1"/>
            <p:nvPr/>
          </p:nvSpPr>
          <p:spPr>
            <a:xfrm>
              <a:off x="5040050" y="5569495"/>
              <a:ext cx="468054" cy="253916"/>
            </a:xfrm>
            <a:prstGeom prst="rect">
              <a:avLst/>
            </a:prstGeom>
            <a:noFill/>
          </p:spPr>
          <p:txBody>
            <a:bodyPr wrap="square" rtlCol="0">
              <a:spAutoFit/>
            </a:bodyPr>
            <a:lstStyle/>
            <a:p>
              <a:r>
                <a:rPr lang="en-US" altLang="zh-CN" sz="1050" dirty="0"/>
                <a:t>04</a:t>
              </a:r>
              <a:endParaRPr lang="zh-CN" altLang="en-US" sz="1050" dirty="0"/>
            </a:p>
          </p:txBody>
        </p:sp>
      </p:grpSp>
      <p:grpSp>
        <p:nvGrpSpPr>
          <p:cNvPr id="9" name="组合 8"/>
          <p:cNvGrpSpPr/>
          <p:nvPr/>
        </p:nvGrpSpPr>
        <p:grpSpPr>
          <a:xfrm>
            <a:off x="6801413" y="5157192"/>
            <a:ext cx="362875" cy="263860"/>
            <a:chOff x="5032270" y="5509815"/>
            <a:chExt cx="468054" cy="476782"/>
          </a:xfrm>
        </p:grpSpPr>
        <p:sp>
          <p:nvSpPr>
            <p:cNvPr id="10" name="椭圆 9"/>
            <p:cNvSpPr/>
            <p:nvPr/>
          </p:nvSpPr>
          <p:spPr>
            <a:xfrm>
              <a:off x="5076056" y="5509815"/>
              <a:ext cx="360041" cy="37659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a:p>
          </p:txBody>
        </p:sp>
        <p:sp>
          <p:nvSpPr>
            <p:cNvPr id="11" name="TextBox 10"/>
            <p:cNvSpPr txBox="1"/>
            <p:nvPr/>
          </p:nvSpPr>
          <p:spPr>
            <a:xfrm>
              <a:off x="5032270" y="5569495"/>
              <a:ext cx="468054" cy="417102"/>
            </a:xfrm>
            <a:prstGeom prst="rect">
              <a:avLst/>
            </a:prstGeom>
            <a:noFill/>
          </p:spPr>
          <p:txBody>
            <a:bodyPr wrap="square" rtlCol="0">
              <a:spAutoFit/>
            </a:bodyPr>
            <a:lstStyle/>
            <a:p>
              <a:r>
                <a:rPr lang="en-US" altLang="zh-CN" sz="900" dirty="0"/>
                <a:t>39</a:t>
              </a:r>
              <a:endParaRPr lang="zh-CN" altLang="en-US" sz="900" dirty="0"/>
            </a:p>
          </p:txBody>
        </p:sp>
      </p:grpSp>
      <p:cxnSp>
        <p:nvCxnSpPr>
          <p:cNvPr id="12" name="直接连接符 11"/>
          <p:cNvCxnSpPr/>
          <p:nvPr/>
        </p:nvCxnSpPr>
        <p:spPr>
          <a:xfrm flipH="1">
            <a:off x="5838765" y="5225111"/>
            <a:ext cx="88728" cy="103899"/>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6876256" y="5085184"/>
            <a:ext cx="73746" cy="105036"/>
          </a:xfrm>
          <a:prstGeom prst="line">
            <a:avLst/>
          </a:prstGeom>
          <a:ln w="158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1530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par>
                                <p:cTn id="18" presetID="10" presetClass="entr" presetSubtype="0" fill="hold" nodeType="withEffect">
                                  <p:stCondLst>
                                    <p:cond delay="0"/>
                                  </p:stCondLst>
                                  <p:childTnLst>
                                    <p:set>
                                      <p:cBhvr>
                                        <p:cTn id="19" dur="1" fill="hold">
                                          <p:stCondLst>
                                            <p:cond delay="0"/>
                                          </p:stCondLst>
                                        </p:cTn>
                                        <p:tgtEl>
                                          <p:spTgt spid="3074"/>
                                        </p:tgtEl>
                                        <p:attrNameLst>
                                          <p:attrName>style.visibility</p:attrName>
                                        </p:attrNameLst>
                                      </p:cBhvr>
                                      <p:to>
                                        <p:strVal val="visible"/>
                                      </p:to>
                                    </p:set>
                                    <p:animEffect transition="in" filter="fade">
                                      <p:cBhvr>
                                        <p:cTn id="20" dur="500"/>
                                        <p:tgtEl>
                                          <p:spTgt spid="3074"/>
                                        </p:tgtEl>
                                      </p:cBhvr>
                                    </p:animEffect>
                                  </p:childTnLst>
                                </p:cTn>
                              </p:par>
                              <p:par>
                                <p:cTn id="21" presetID="10"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par>
                                <p:cTn id="24" presetID="10" presetClass="entr" presetSubtype="0" fill="hold"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fade">
                                      <p:cBhvr>
                                        <p:cTn id="3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957263" y="1048525"/>
                <a:ext cx="7520940" cy="5044771"/>
              </a:xfrm>
            </p:spPr>
            <p:txBody>
              <a:bodyPr>
                <a:normAutofit/>
              </a:bodyPr>
              <a:lstStyle/>
              <a:p>
                <a:r>
                  <a:rPr lang="zh-CN" altLang="zh-CN" b="0" dirty="0"/>
                  <a:t>假定查找表中的每个记录的查找概率都相等（</a:t>
                </a:r>
                <a:r>
                  <a:rPr lang="en-US" altLang="zh-CN" b="0" dirty="0"/>
                  <a:t>P</a:t>
                </a:r>
                <a:r>
                  <a:rPr lang="en-US" altLang="zh-CN" b="0" baseline="-25000" dirty="0"/>
                  <a:t>i</a:t>
                </a:r>
                <a:r>
                  <a:rPr lang="en-US" altLang="zh-CN" b="0" dirty="0"/>
                  <a:t>=</a:t>
                </a:r>
                <a14:m>
                  <m:oMath xmlns:m="http://schemas.openxmlformats.org/officeDocument/2006/math">
                    <m:f>
                      <m:fPr>
                        <m:ctrlPr>
                          <a:rPr lang="zh-CN" altLang="zh-CN" b="0" i="1">
                            <a:latin typeface="Cambria Math" panose="02040503050406030204" pitchFamily="18" charset="0"/>
                          </a:rPr>
                        </m:ctrlPr>
                      </m:fPr>
                      <m:num>
                        <m:r>
                          <a:rPr lang="en-US" altLang="zh-CN" b="0">
                            <a:latin typeface="Cambria Math"/>
                          </a:rPr>
                          <m:t>1</m:t>
                        </m:r>
                      </m:num>
                      <m:den>
                        <m:r>
                          <m:rPr>
                            <m:sty m:val="p"/>
                          </m:rPr>
                          <a:rPr lang="en-US" altLang="zh-CN" b="0">
                            <a:latin typeface="Cambria Math"/>
                          </a:rPr>
                          <m:t>n</m:t>
                        </m:r>
                      </m:den>
                    </m:f>
                  </m:oMath>
                </a14:m>
                <a:r>
                  <a:rPr lang="zh-CN" altLang="zh-CN" b="0" dirty="0"/>
                  <a:t>），则查找成功时折半查找的平均查找长度为：</a:t>
                </a:r>
              </a:p>
              <a:p>
                <a:endParaRPr lang="en-US" altLang="zh-CN" dirty="0"/>
              </a:p>
              <a:p>
                <a:endParaRPr lang="en-US" altLang="zh-CN" dirty="0"/>
              </a:p>
              <a:p>
                <a:r>
                  <a:rPr lang="en-US" altLang="zh-CN" b="0" dirty="0"/>
                  <a:t>	</a:t>
                </a:r>
                <a:r>
                  <a:rPr lang="zh-CN" altLang="en-US" b="0" dirty="0"/>
                  <a:t>即第</a:t>
                </a:r>
                <a:r>
                  <a:rPr lang="en-US" altLang="zh-CN" b="0" dirty="0"/>
                  <a:t>j</a:t>
                </a:r>
                <a:r>
                  <a:rPr lang="zh-CN" altLang="en-US" b="0" dirty="0"/>
                  <a:t>层最多有</a:t>
                </a:r>
                <a:r>
                  <a:rPr lang="en-US" altLang="zh-CN" b="0" dirty="0"/>
                  <a:t>2</a:t>
                </a:r>
                <a:r>
                  <a:rPr lang="en-US" altLang="zh-CN" b="0" baseline="30000" dirty="0"/>
                  <a:t>j-1</a:t>
                </a:r>
                <a:r>
                  <a:rPr lang="zh-CN" altLang="en-US" b="0" dirty="0"/>
                  <a:t>个结点，每个结点比较次数为</a:t>
                </a:r>
                <a:r>
                  <a:rPr lang="en-US" altLang="zh-CN" b="0" dirty="0"/>
                  <a:t>j</a:t>
                </a:r>
                <a:r>
                  <a:rPr lang="zh-CN" altLang="en-US" b="0" dirty="0"/>
                  <a:t>。</a:t>
                </a:r>
                <a:endParaRPr lang="en-US" altLang="zh-CN" b="0" dirty="0"/>
              </a:p>
              <a:p>
                <a:r>
                  <a:rPr lang="zh-CN" altLang="zh-CN" b="0" dirty="0"/>
                  <a:t>对任意的</a:t>
                </a:r>
                <a:r>
                  <a:rPr lang="en-US" altLang="zh-CN" b="0" dirty="0"/>
                  <a:t>n</a:t>
                </a:r>
                <a:r>
                  <a:rPr lang="zh-CN" altLang="zh-CN" b="0" dirty="0"/>
                  <a:t>，当</a:t>
                </a:r>
                <a:r>
                  <a:rPr lang="en-US" altLang="zh-CN" b="0" dirty="0"/>
                  <a:t>n</a:t>
                </a:r>
                <a:r>
                  <a:rPr lang="zh-CN" altLang="zh-CN" b="0" dirty="0"/>
                  <a:t>较大（</a:t>
                </a:r>
                <a:r>
                  <a:rPr lang="en-US" altLang="zh-CN" b="0" dirty="0"/>
                  <a:t>n&gt;50</a:t>
                </a:r>
                <a:r>
                  <a:rPr lang="zh-CN" altLang="zh-CN" b="0" dirty="0"/>
                  <a:t>）时，可有近似结果</a:t>
                </a:r>
                <a:r>
                  <a:rPr lang="en-US" altLang="zh-CN" b="0" dirty="0" err="1"/>
                  <a:t>ASL</a:t>
                </a:r>
                <a:r>
                  <a:rPr lang="en-US" altLang="zh-CN" b="0" baseline="-25000" dirty="0" err="1"/>
                  <a:t>bs</a:t>
                </a:r>
                <a:r>
                  <a:rPr lang="en-US" altLang="zh-CN" b="0" dirty="0"/>
                  <a:t>=log</a:t>
                </a:r>
                <a:r>
                  <a:rPr lang="en-US" altLang="zh-CN" b="0" baseline="-25000" dirty="0"/>
                  <a:t>2</a:t>
                </a:r>
                <a:r>
                  <a:rPr lang="en-US" altLang="zh-CN" b="0" dirty="0"/>
                  <a:t>(n+1)-1</a:t>
                </a:r>
              </a:p>
              <a:p>
                <a:endParaRPr lang="en-US" altLang="zh-CN" b="0" dirty="0"/>
              </a:p>
              <a:p>
                <a:r>
                  <a:rPr lang="en-US" altLang="zh-CN" b="0" dirty="0">
                    <a:solidFill>
                      <a:srgbClr val="FF0000"/>
                    </a:solidFill>
                  </a:rPr>
                  <a:t>	</a:t>
                </a:r>
                <a:r>
                  <a:rPr lang="zh-CN" altLang="zh-CN" b="0" dirty="0">
                    <a:solidFill>
                      <a:srgbClr val="FF0000"/>
                    </a:solidFill>
                  </a:rPr>
                  <a:t>折半查找的平均时间复杂度为</a:t>
                </a:r>
                <a:r>
                  <a:rPr lang="en-US" altLang="zh-CN" b="0" dirty="0">
                    <a:solidFill>
                      <a:srgbClr val="FF0000"/>
                    </a:solidFill>
                  </a:rPr>
                  <a:t> </a:t>
                </a:r>
                <a:r>
                  <a:rPr lang="en-US" altLang="zh-CN" dirty="0">
                    <a:solidFill>
                      <a:srgbClr val="FF0000"/>
                    </a:solidFill>
                  </a:rPr>
                  <a:t>O(log</a:t>
                </a:r>
                <a:r>
                  <a:rPr lang="en-US" altLang="zh-CN" baseline="-25000" dirty="0">
                    <a:solidFill>
                      <a:srgbClr val="FF0000"/>
                    </a:solidFill>
                  </a:rPr>
                  <a:t>2</a:t>
                </a:r>
                <a:r>
                  <a:rPr lang="en-US" altLang="zh-CN" dirty="0">
                    <a:solidFill>
                      <a:srgbClr val="FF0000"/>
                    </a:solidFill>
                  </a:rPr>
                  <a:t>n)</a:t>
                </a:r>
                <a:r>
                  <a:rPr lang="zh-CN" altLang="zh-CN" b="0" dirty="0">
                    <a:solidFill>
                      <a:srgbClr val="FF0000"/>
                    </a:solidFill>
                  </a:rPr>
                  <a:t>。</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957263" y="1048525"/>
                <a:ext cx="7520940" cy="5044771"/>
              </a:xfrm>
              <a:blipFill rotWithShape="1">
                <a:blip r:embed="rId2"/>
                <a:stretch>
                  <a:fillRect l="-1216"/>
                </a:stretch>
              </a:blipFill>
            </p:spPr>
            <p:txBody>
              <a:bodyPr/>
              <a:lstStyle/>
              <a:p>
                <a:r>
                  <a:rPr lang="zh-CN" altLang="en-US">
                    <a:noFill/>
                  </a:rPr>
                  <a:t> </a:t>
                </a:r>
              </a:p>
            </p:txBody>
          </p:sp>
        </mc:Fallback>
      </mc:AlternateContent>
      <p:pic>
        <p:nvPicPr>
          <p:cNvPr id="409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35696" y="2132856"/>
            <a:ext cx="6170621" cy="1008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005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6" end="6"/>
                                            </p:txEl>
                                          </p:spTgt>
                                        </p:tgtEl>
                                        <p:attrNameLst>
                                          <p:attrName>style.visibility</p:attrName>
                                        </p:attrNameLst>
                                      </p:cBhvr>
                                      <p:to>
                                        <p:strVal val="visible"/>
                                      </p:to>
                                    </p:set>
                                    <p:animEffect transition="in" filter="fade">
                                      <p:cBhvr>
                                        <p:cTn id="1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dirty="0">
                <a:solidFill>
                  <a:srgbClr val="FF0000"/>
                </a:solidFill>
              </a:rPr>
              <a:t>折半</a:t>
            </a:r>
            <a:r>
              <a:rPr lang="zh-CN" altLang="zh-CN" sz="2400" dirty="0">
                <a:solidFill>
                  <a:srgbClr val="FF0000"/>
                </a:solidFill>
              </a:rPr>
              <a:t>查找的优点与缺点</a:t>
            </a:r>
            <a:r>
              <a:rPr lang="zh-CN" altLang="zh-CN" sz="2400" dirty="0"/>
              <a:t>：</a:t>
            </a:r>
            <a:endParaRPr lang="zh-CN" altLang="en-US" sz="2400" dirty="0"/>
          </a:p>
        </p:txBody>
      </p:sp>
      <p:sp>
        <p:nvSpPr>
          <p:cNvPr id="3" name="内容占位符 2"/>
          <p:cNvSpPr>
            <a:spLocks noGrp="1"/>
          </p:cNvSpPr>
          <p:nvPr>
            <p:ph idx="1"/>
          </p:nvPr>
        </p:nvSpPr>
        <p:spPr>
          <a:xfrm>
            <a:off x="827584" y="1628800"/>
            <a:ext cx="7704856" cy="4608512"/>
          </a:xfrm>
        </p:spPr>
        <p:txBody>
          <a:bodyPr>
            <a:normAutofit/>
          </a:bodyPr>
          <a:lstStyle/>
          <a:p>
            <a:pPr>
              <a:buFont typeface="Wingdings" panose="05000000000000000000" pitchFamily="2" charset="2"/>
              <a:buChar char="n"/>
            </a:pPr>
            <a:r>
              <a:rPr lang="zh-CN" altLang="zh-CN" dirty="0"/>
              <a:t>折半查找的效率高，但是首先需要将表按关键字大小排序</a:t>
            </a:r>
            <a:r>
              <a:rPr lang="zh-CN" altLang="zh-CN" b="0" dirty="0"/>
              <a:t>，而排序本身又是一种非常费时的操作。</a:t>
            </a:r>
            <a:r>
              <a:rPr lang="zh-CN" altLang="en-US" b="0" dirty="0"/>
              <a:t>即使</a:t>
            </a:r>
            <a:r>
              <a:rPr lang="zh-CN" altLang="zh-CN" b="0" dirty="0"/>
              <a:t>采用高效的排序方法也要花费</a:t>
            </a:r>
            <a:r>
              <a:rPr lang="en-US" altLang="zh-CN" b="0" dirty="0"/>
              <a:t>O(</a:t>
            </a:r>
            <a:r>
              <a:rPr lang="en-US" altLang="zh-CN" b="0" dirty="0" err="1"/>
              <a:t>nlogn</a:t>
            </a:r>
            <a:r>
              <a:rPr lang="en-US" altLang="zh-CN" b="0" dirty="0"/>
              <a:t>)</a:t>
            </a:r>
            <a:r>
              <a:rPr lang="zh-CN" altLang="zh-CN" b="0" dirty="0"/>
              <a:t>的时间。</a:t>
            </a:r>
          </a:p>
          <a:p>
            <a:pPr>
              <a:buFont typeface="Wingdings" panose="05000000000000000000" pitchFamily="2" charset="2"/>
              <a:buChar char="n"/>
            </a:pPr>
            <a:r>
              <a:rPr lang="zh-CN" altLang="zh-CN" dirty="0"/>
              <a:t>折半查找只适用于顺序存储结构</a:t>
            </a:r>
            <a:r>
              <a:rPr lang="zh-CN" altLang="zh-CN" b="0" dirty="0"/>
              <a:t>。为保持表的有序性，在顺序结构里插入和删除都必须移动大量的结点。因此，</a:t>
            </a:r>
            <a:r>
              <a:rPr lang="zh-CN" altLang="zh-CN" dirty="0"/>
              <a:t>折半查找特别适用于那种一经建立就很少改动</a:t>
            </a:r>
            <a:r>
              <a:rPr lang="zh-CN" altLang="zh-CN" b="0" dirty="0"/>
              <a:t>且经常需要进行查找的线性表。</a:t>
            </a:r>
            <a:endParaRPr lang="en-US" altLang="zh-CN" b="0" dirty="0"/>
          </a:p>
          <a:p>
            <a:pPr>
              <a:buFont typeface="Wingdings" panose="05000000000000000000" pitchFamily="2" charset="2"/>
              <a:buChar char="n"/>
            </a:pPr>
            <a:r>
              <a:rPr lang="zh-CN" altLang="zh-CN" b="0" dirty="0"/>
              <a:t>链式结构不适合实现二分查找算法。</a:t>
            </a:r>
          </a:p>
          <a:p>
            <a:endParaRPr lang="zh-CN" altLang="en-US" dirty="0"/>
          </a:p>
        </p:txBody>
      </p:sp>
    </p:spTree>
    <p:extLst>
      <p:ext uri="{BB962C8B-B14F-4D97-AF65-F5344CB8AC3E}">
        <p14:creationId xmlns:p14="http://schemas.microsoft.com/office/powerpoint/2010/main" val="632825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8.3 </a:t>
            </a:r>
            <a:r>
              <a:rPr lang="zh-CN" altLang="zh-CN" b="1" dirty="0"/>
              <a:t>散列表</a:t>
            </a:r>
            <a:endParaRPr lang="zh-CN" altLang="en-US" dirty="0"/>
          </a:p>
        </p:txBody>
      </p:sp>
      <p:sp>
        <p:nvSpPr>
          <p:cNvPr id="3" name="内容占位符 2"/>
          <p:cNvSpPr>
            <a:spLocks noGrp="1"/>
          </p:cNvSpPr>
          <p:nvPr>
            <p:ph idx="1"/>
          </p:nvPr>
        </p:nvSpPr>
        <p:spPr>
          <a:xfrm>
            <a:off x="827584" y="1628800"/>
            <a:ext cx="7632848" cy="4176464"/>
          </a:xfrm>
        </p:spPr>
        <p:txBody>
          <a:bodyPr>
            <a:normAutofit lnSpcReduction="10000"/>
          </a:bodyPr>
          <a:lstStyle/>
          <a:p>
            <a:pPr>
              <a:buFont typeface="Wingdings" panose="05000000000000000000" pitchFamily="2" charset="2"/>
              <a:buChar char="l"/>
            </a:pPr>
            <a:r>
              <a:rPr lang="zh-CN" altLang="zh-CN" b="0" dirty="0">
                <a:solidFill>
                  <a:srgbClr val="FF0000"/>
                </a:solidFill>
              </a:rPr>
              <a:t>散列表</a:t>
            </a:r>
            <a:r>
              <a:rPr lang="zh-CN" altLang="zh-CN" b="0" dirty="0"/>
              <a:t>是一种非关键字查找方法，可像数组检索一样实现随机查找。</a:t>
            </a:r>
            <a:endParaRPr lang="en-US" altLang="zh-CN" b="0" dirty="0"/>
          </a:p>
          <a:p>
            <a:pPr>
              <a:buFont typeface="Wingdings" panose="05000000000000000000" pitchFamily="2" charset="2"/>
              <a:buChar char="l"/>
            </a:pPr>
            <a:r>
              <a:rPr lang="zh-CN" altLang="zh-CN" b="0" dirty="0"/>
              <a:t>将</a:t>
            </a:r>
            <a:r>
              <a:rPr lang="zh-CN" altLang="zh-CN" b="0" dirty="0">
                <a:solidFill>
                  <a:srgbClr val="FF0000"/>
                </a:solidFill>
              </a:rPr>
              <a:t>关键字映射到表中的位置</a:t>
            </a:r>
            <a:r>
              <a:rPr lang="zh-CN" altLang="zh-CN" b="0" dirty="0"/>
              <a:t>来访问记录的过程称为</a:t>
            </a:r>
            <a:r>
              <a:rPr lang="zh-CN" altLang="zh-CN" b="0" dirty="0">
                <a:solidFill>
                  <a:srgbClr val="FF0000"/>
                </a:solidFill>
              </a:rPr>
              <a:t>散列，又称哈希</a:t>
            </a:r>
            <a:r>
              <a:rPr lang="zh-CN" altLang="zh-CN" b="0" dirty="0"/>
              <a:t>。</a:t>
            </a:r>
            <a:endParaRPr lang="en-US" altLang="zh-CN" b="0" dirty="0"/>
          </a:p>
          <a:p>
            <a:pPr>
              <a:buFont typeface="Wingdings" panose="05000000000000000000" pitchFamily="2" charset="2"/>
              <a:buChar char="l"/>
            </a:pPr>
            <a:r>
              <a:rPr lang="zh-CN" altLang="zh-CN" b="0" dirty="0"/>
              <a:t>一个哈希表使用一个</a:t>
            </a:r>
            <a:r>
              <a:rPr lang="zh-CN" altLang="zh-CN" b="0" dirty="0">
                <a:solidFill>
                  <a:srgbClr val="FF0000"/>
                </a:solidFill>
              </a:rPr>
              <a:t>函数</a:t>
            </a:r>
            <a:r>
              <a:rPr lang="en-US" altLang="zh-CN" b="0" dirty="0">
                <a:solidFill>
                  <a:srgbClr val="FF0000"/>
                </a:solidFill>
              </a:rPr>
              <a:t>H</a:t>
            </a:r>
            <a:r>
              <a:rPr lang="zh-CN" altLang="zh-CN" b="0" dirty="0">
                <a:solidFill>
                  <a:srgbClr val="FF0000"/>
                </a:solidFill>
              </a:rPr>
              <a:t>（称为哈希函数）</a:t>
            </a:r>
            <a:r>
              <a:rPr lang="zh-CN" altLang="zh-CN" b="0" dirty="0"/>
              <a:t>，把关键字映射到非负整数（或表的索引值）。</a:t>
            </a:r>
            <a:endParaRPr lang="en-US" altLang="zh-CN" b="0" dirty="0"/>
          </a:p>
          <a:p>
            <a:pPr algn="ctr"/>
            <a:r>
              <a:rPr lang="en-US" altLang="zh-CN" b="0" dirty="0">
                <a:solidFill>
                  <a:srgbClr val="FF0000"/>
                </a:solidFill>
              </a:rPr>
              <a:t>Address=H(key)</a:t>
            </a:r>
            <a:endParaRPr lang="zh-CN" altLang="zh-CN" b="0" dirty="0">
              <a:solidFill>
                <a:srgbClr val="FF0000"/>
              </a:solidFill>
            </a:endParaRPr>
          </a:p>
          <a:p>
            <a:r>
              <a:rPr lang="zh-CN" altLang="zh-CN" dirty="0"/>
              <a:t>★注：按哈希表的存储范围来定义存储大小。哈希函数既是建存储表的函数也是哈希查找的函数。</a:t>
            </a:r>
          </a:p>
          <a:p>
            <a:endParaRPr lang="zh-CN" altLang="en-US" b="0" dirty="0"/>
          </a:p>
        </p:txBody>
      </p:sp>
    </p:spTree>
    <p:extLst>
      <p:ext uri="{BB962C8B-B14F-4D97-AF65-F5344CB8AC3E}">
        <p14:creationId xmlns:p14="http://schemas.microsoft.com/office/powerpoint/2010/main" val="1839867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8.3.1 </a:t>
            </a:r>
            <a:r>
              <a:rPr lang="zh-CN" altLang="zh-CN" b="1" dirty="0"/>
              <a:t>哈希函数的常用构建方法</a:t>
            </a:r>
            <a:endParaRPr lang="zh-CN" altLang="en-US" dirty="0"/>
          </a:p>
        </p:txBody>
      </p:sp>
      <p:sp>
        <p:nvSpPr>
          <p:cNvPr id="3" name="内容占位符 2"/>
          <p:cNvSpPr>
            <a:spLocks noGrp="1"/>
          </p:cNvSpPr>
          <p:nvPr>
            <p:ph idx="1"/>
          </p:nvPr>
        </p:nvSpPr>
        <p:spPr>
          <a:xfrm>
            <a:off x="467544" y="1628800"/>
            <a:ext cx="8352928" cy="4032448"/>
          </a:xfrm>
        </p:spPr>
        <p:txBody>
          <a:bodyPr/>
          <a:lstStyle/>
          <a:p>
            <a:r>
              <a:rPr lang="zh-CN" altLang="zh-CN" dirty="0"/>
              <a:t>构造哈希函数需要注意的</a:t>
            </a:r>
            <a:r>
              <a:rPr lang="zh-CN" altLang="zh-CN" dirty="0">
                <a:solidFill>
                  <a:srgbClr val="FF0000"/>
                </a:solidFill>
              </a:rPr>
              <a:t>几点要求：</a:t>
            </a:r>
          </a:p>
          <a:p>
            <a:r>
              <a:rPr lang="zh-CN" altLang="zh-CN" b="0" dirty="0"/>
              <a:t>（</a:t>
            </a:r>
            <a:r>
              <a:rPr lang="en-US" altLang="zh-CN" b="0" dirty="0"/>
              <a:t>1</a:t>
            </a:r>
            <a:r>
              <a:rPr lang="zh-CN" altLang="zh-CN" b="0" dirty="0"/>
              <a:t>）让哈希地址在哈希表中尽可能的</a:t>
            </a:r>
            <a:r>
              <a:rPr lang="zh-CN" altLang="zh-CN" b="0" dirty="0">
                <a:solidFill>
                  <a:srgbClr val="FF0000"/>
                </a:solidFill>
              </a:rPr>
              <a:t>分布均匀</a:t>
            </a:r>
            <a:r>
              <a:rPr lang="zh-CN" altLang="zh-CN" b="0" dirty="0"/>
              <a:t>，即减少冲突；</a:t>
            </a:r>
          </a:p>
          <a:p>
            <a:r>
              <a:rPr lang="zh-CN" altLang="zh-CN" b="0" dirty="0"/>
              <a:t>（</a:t>
            </a:r>
            <a:r>
              <a:rPr lang="en-US" altLang="zh-CN" b="0" dirty="0"/>
              <a:t>2</a:t>
            </a:r>
            <a:r>
              <a:rPr lang="zh-CN" altLang="zh-CN" b="0" dirty="0"/>
              <a:t>）哈希函数计算一定要</a:t>
            </a:r>
            <a:r>
              <a:rPr lang="zh-CN" altLang="zh-CN" b="0" dirty="0">
                <a:solidFill>
                  <a:srgbClr val="FF0000"/>
                </a:solidFill>
              </a:rPr>
              <a:t>简单且快速</a:t>
            </a:r>
            <a:r>
              <a:rPr lang="zh-CN" altLang="zh-CN" b="0" dirty="0"/>
              <a:t>；</a:t>
            </a:r>
          </a:p>
          <a:p>
            <a:r>
              <a:rPr lang="zh-CN" altLang="zh-CN" b="0" dirty="0"/>
              <a:t>（</a:t>
            </a:r>
            <a:r>
              <a:rPr lang="en-US" altLang="zh-CN" b="0" dirty="0"/>
              <a:t>3</a:t>
            </a:r>
            <a:r>
              <a:rPr lang="zh-CN" altLang="zh-CN" b="0" dirty="0"/>
              <a:t>）哈希函数的</a:t>
            </a:r>
            <a:r>
              <a:rPr lang="zh-CN" altLang="zh-CN" b="0" dirty="0">
                <a:solidFill>
                  <a:srgbClr val="FF0000"/>
                </a:solidFill>
              </a:rPr>
              <a:t>定义域</a:t>
            </a:r>
            <a:r>
              <a:rPr lang="zh-CN" altLang="zh-CN" dirty="0"/>
              <a:t>必须包括需要存储的全部关键字</a:t>
            </a:r>
            <a:r>
              <a:rPr lang="zh-CN" altLang="zh-CN" b="0" dirty="0"/>
              <a:t>，如果哈希表允许有</a:t>
            </a:r>
            <a:r>
              <a:rPr lang="en-US" altLang="zh-CN" b="0" dirty="0"/>
              <a:t>m</a:t>
            </a:r>
            <a:r>
              <a:rPr lang="zh-CN" altLang="zh-CN" b="0" dirty="0"/>
              <a:t>个地址时，</a:t>
            </a:r>
            <a:r>
              <a:rPr lang="zh-CN" altLang="zh-CN" b="0" dirty="0">
                <a:solidFill>
                  <a:srgbClr val="FF0000"/>
                </a:solidFill>
              </a:rPr>
              <a:t>其值域</a:t>
            </a:r>
            <a:r>
              <a:rPr lang="zh-CN" altLang="zh-CN" dirty="0"/>
              <a:t>必须在</a:t>
            </a:r>
            <a:r>
              <a:rPr lang="en-US" altLang="zh-CN" dirty="0"/>
              <a:t>[0..m-1]</a:t>
            </a:r>
            <a:r>
              <a:rPr lang="zh-CN" altLang="zh-CN" dirty="0"/>
              <a:t>之间</a:t>
            </a:r>
            <a:r>
              <a:rPr lang="zh-CN" altLang="zh-CN" b="0" dirty="0"/>
              <a:t>。</a:t>
            </a:r>
            <a:endParaRPr lang="zh-CN" altLang="en-US" b="0" dirty="0"/>
          </a:p>
        </p:txBody>
      </p:sp>
    </p:spTree>
    <p:extLst>
      <p:ext uri="{BB962C8B-B14F-4D97-AF65-F5344CB8AC3E}">
        <p14:creationId xmlns:p14="http://schemas.microsoft.com/office/powerpoint/2010/main" val="3236381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7520940" cy="5184576"/>
          </a:xfrm>
        </p:spPr>
        <p:txBody>
          <a:bodyPr>
            <a:normAutofit lnSpcReduction="10000"/>
          </a:bodyPr>
          <a:lstStyle/>
          <a:p>
            <a:pPr marL="457200" indent="-457200">
              <a:buAutoNum type="arabicPeriod"/>
            </a:pPr>
            <a:r>
              <a:rPr lang="zh-CN" altLang="zh-CN" dirty="0">
                <a:solidFill>
                  <a:srgbClr val="FF0000"/>
                </a:solidFill>
              </a:rPr>
              <a:t>直接定址法</a:t>
            </a:r>
          </a:p>
          <a:p>
            <a:pPr>
              <a:buFont typeface="Wingdings" panose="05000000000000000000" pitchFamily="2" charset="2"/>
              <a:buChar char="l"/>
            </a:pPr>
            <a:r>
              <a:rPr lang="zh-CN" altLang="zh-CN" b="0" dirty="0"/>
              <a:t>哈希函数</a:t>
            </a:r>
            <a:r>
              <a:rPr lang="en-US" altLang="zh-CN" b="0" dirty="0">
                <a:solidFill>
                  <a:srgbClr val="FF0000"/>
                </a:solidFill>
              </a:rPr>
              <a:t>Hash(key)=a*</a:t>
            </a:r>
            <a:r>
              <a:rPr lang="en-US" altLang="zh-CN" b="0" dirty="0" err="1">
                <a:solidFill>
                  <a:srgbClr val="FF0000"/>
                </a:solidFill>
              </a:rPr>
              <a:t>key+b</a:t>
            </a:r>
            <a:r>
              <a:rPr lang="zh-CN" altLang="zh-CN" b="0" dirty="0"/>
              <a:t>，其中</a:t>
            </a:r>
            <a:r>
              <a:rPr lang="en-US" altLang="zh-CN" b="0" dirty="0"/>
              <a:t>a</a:t>
            </a:r>
            <a:r>
              <a:rPr lang="zh-CN" altLang="zh-CN" b="0" dirty="0"/>
              <a:t>和</a:t>
            </a:r>
            <a:r>
              <a:rPr lang="en-US" altLang="zh-CN" b="0" dirty="0"/>
              <a:t>b</a:t>
            </a:r>
            <a:r>
              <a:rPr lang="zh-CN" altLang="zh-CN" b="0" dirty="0"/>
              <a:t>都为常数。</a:t>
            </a:r>
            <a:endParaRPr lang="en-US" altLang="zh-CN" b="0" dirty="0"/>
          </a:p>
          <a:p>
            <a:pPr>
              <a:buFont typeface="Wingdings" panose="05000000000000000000" pitchFamily="2" charset="2"/>
              <a:buChar char="l"/>
            </a:pPr>
            <a:r>
              <a:rPr lang="zh-CN" altLang="zh-CN" b="0" dirty="0"/>
              <a:t>直接定址法取关键字的</a:t>
            </a:r>
            <a:r>
              <a:rPr lang="zh-CN" altLang="zh-CN" dirty="0"/>
              <a:t>某个线性函数</a:t>
            </a:r>
            <a:r>
              <a:rPr lang="zh-CN" altLang="zh-CN" b="0" dirty="0"/>
              <a:t>值为哈希地址。</a:t>
            </a:r>
            <a:endParaRPr lang="en-US" altLang="zh-CN" b="0" dirty="0"/>
          </a:p>
          <a:p>
            <a:pPr>
              <a:buFont typeface="Wingdings" panose="05000000000000000000" pitchFamily="2" charset="2"/>
              <a:buChar char="l"/>
            </a:pPr>
            <a:r>
              <a:rPr lang="zh-CN" altLang="zh-CN" dirty="0"/>
              <a:t>此类哈希函数计算方法最简单，是一对一的映射，一般不会产生冲突。</a:t>
            </a:r>
            <a:r>
              <a:rPr lang="zh-CN" altLang="zh-CN" b="0" dirty="0"/>
              <a:t>但是，直接定址法要求所得的哈希地址空间的大小与关键字集合的大小相同。如果关键字的集合很大时，哈希地址空间不可能取到那么大。</a:t>
            </a:r>
          </a:p>
          <a:p>
            <a:pPr>
              <a:buFont typeface="Wingdings" panose="05000000000000000000" pitchFamily="2" charset="2"/>
              <a:buChar char="l"/>
            </a:pPr>
            <a:r>
              <a:rPr lang="zh-CN" altLang="zh-CN" dirty="0"/>
              <a:t>直接定址法适用于关键字分布基本连续的情况</a:t>
            </a:r>
            <a:r>
              <a:rPr lang="zh-CN" altLang="zh-CN" b="0" dirty="0"/>
              <a:t>，如果关键字分布不连续，空位较多，就会造成存储空间的浪费。实际中很少使用直接定址法。</a:t>
            </a:r>
          </a:p>
          <a:p>
            <a:endParaRPr lang="zh-CN" altLang="en-US" dirty="0"/>
          </a:p>
        </p:txBody>
      </p:sp>
    </p:spTree>
    <p:extLst>
      <p:ext uri="{BB962C8B-B14F-4D97-AF65-F5344CB8AC3E}">
        <p14:creationId xmlns:p14="http://schemas.microsoft.com/office/powerpoint/2010/main" val="1853090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124744"/>
            <a:ext cx="7920880" cy="4083905"/>
          </a:xfrm>
        </p:spPr>
        <p:txBody>
          <a:bodyPr/>
          <a:lstStyle/>
          <a:p>
            <a:r>
              <a:rPr lang="zh-CN" altLang="zh-CN" b="0" dirty="0"/>
              <a:t>【例</a:t>
            </a:r>
            <a:r>
              <a:rPr lang="en-US" altLang="zh-CN" b="0" dirty="0"/>
              <a:t>8.2</a:t>
            </a:r>
            <a:r>
              <a:rPr lang="zh-CN" altLang="zh-CN" b="0" dirty="0"/>
              <a:t>】有一组记录元素的关键字集合</a:t>
            </a:r>
            <a:r>
              <a:rPr lang="en-US" altLang="zh-CN" b="0" dirty="0"/>
              <a:t>{100</a:t>
            </a:r>
            <a:r>
              <a:rPr lang="zh-CN" altLang="zh-CN" b="0" dirty="0"/>
              <a:t>，</a:t>
            </a:r>
            <a:r>
              <a:rPr lang="en-US" altLang="zh-CN" b="0" dirty="0"/>
              <a:t>300</a:t>
            </a:r>
            <a:r>
              <a:rPr lang="zh-CN" altLang="zh-CN" b="0" dirty="0"/>
              <a:t>，</a:t>
            </a:r>
            <a:r>
              <a:rPr lang="en-US" altLang="zh-CN" b="0" dirty="0"/>
              <a:t>500</a:t>
            </a:r>
            <a:r>
              <a:rPr lang="zh-CN" altLang="zh-CN" b="0" dirty="0"/>
              <a:t>，</a:t>
            </a:r>
            <a:r>
              <a:rPr lang="en-US" altLang="zh-CN" b="0" dirty="0"/>
              <a:t>700</a:t>
            </a:r>
            <a:r>
              <a:rPr lang="zh-CN" altLang="zh-CN" b="0" dirty="0"/>
              <a:t>，</a:t>
            </a:r>
            <a:r>
              <a:rPr lang="en-US" altLang="zh-CN" b="0" dirty="0"/>
              <a:t>800</a:t>
            </a:r>
            <a:r>
              <a:rPr lang="zh-CN" altLang="zh-CN" b="0" dirty="0"/>
              <a:t>，</a:t>
            </a:r>
            <a:r>
              <a:rPr lang="en-US" altLang="zh-CN" b="0" dirty="0"/>
              <a:t>900}</a:t>
            </a:r>
            <a:r>
              <a:rPr lang="zh-CN" altLang="zh-CN" b="0" dirty="0"/>
              <a:t>，选取的哈希函数为</a:t>
            </a:r>
            <a:r>
              <a:rPr lang="en-US" altLang="zh-CN" b="0" dirty="0"/>
              <a:t>Hash(key)=key/100</a:t>
            </a:r>
            <a:r>
              <a:rPr lang="zh-CN" altLang="zh-CN" b="0" dirty="0"/>
              <a:t>，采用直接定址法后的存放如下所示：</a:t>
            </a:r>
          </a:p>
          <a:p>
            <a:endParaRPr lang="zh-CN" altLang="en-US" dirty="0"/>
          </a:p>
        </p:txBody>
      </p:sp>
      <p:pic>
        <p:nvPicPr>
          <p:cNvPr id="4" name="图片 3" descr="C:\Users\xhb\Pictures\第9章\例9.2.tif"/>
          <p:cNvPicPr/>
          <p:nvPr/>
        </p:nvPicPr>
        <p:blipFill>
          <a:blip r:embed="rId2" cstate="print"/>
          <a:srcRect/>
          <a:stretch>
            <a:fillRect/>
          </a:stretch>
        </p:blipFill>
        <p:spPr bwMode="auto">
          <a:xfrm>
            <a:off x="1403648" y="2780928"/>
            <a:ext cx="6480719" cy="823649"/>
          </a:xfrm>
          <a:prstGeom prst="rect">
            <a:avLst/>
          </a:prstGeom>
          <a:noFill/>
          <a:ln w="9525">
            <a:noFill/>
            <a:miter lim="800000"/>
            <a:headEnd/>
            <a:tailEnd/>
          </a:ln>
        </p:spPr>
      </p:pic>
    </p:spTree>
    <p:extLst>
      <p:ext uri="{BB962C8B-B14F-4D97-AF65-F5344CB8AC3E}">
        <p14:creationId xmlns:p14="http://schemas.microsoft.com/office/powerpoint/2010/main" val="1361787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0470CF3-0189-4A57-BCB0-24147181397C}"/>
              </a:ext>
            </a:extLst>
          </p:cNvPr>
          <p:cNvSpPr>
            <a:spLocks noGrp="1"/>
          </p:cNvSpPr>
          <p:nvPr>
            <p:ph type="dt" sz="half" idx="10"/>
          </p:nvPr>
        </p:nvSpPr>
        <p:spPr/>
        <p:txBody>
          <a:bodyPr/>
          <a:lstStyle/>
          <a:p>
            <a:fld id="{9A6B2991-BBE5-4E69-A281-1A8B0AE9CDD7}" type="datetime1">
              <a:rPr lang="zh-CN" altLang="en-US" smtClean="0"/>
              <a:pPr/>
              <a:t>2025/6/3</a:t>
            </a:fld>
            <a:endParaRPr lang="zh-CN" altLang="en-US"/>
          </a:p>
        </p:txBody>
      </p:sp>
      <p:graphicFrame>
        <p:nvGraphicFramePr>
          <p:cNvPr id="3" name="表格 2">
            <a:extLst>
              <a:ext uri="{FF2B5EF4-FFF2-40B4-BE49-F238E27FC236}">
                <a16:creationId xmlns:a16="http://schemas.microsoft.com/office/drawing/2014/main" id="{9E539EA6-853F-4C04-BFC1-6D8A6D6DD7FD}"/>
              </a:ext>
            </a:extLst>
          </p:cNvPr>
          <p:cNvGraphicFramePr>
            <a:graphicFrameLocks noGrp="1"/>
          </p:cNvGraphicFramePr>
          <p:nvPr>
            <p:extLst>
              <p:ext uri="{D42A27DB-BD31-4B8C-83A1-F6EECF244321}">
                <p14:modId xmlns:p14="http://schemas.microsoft.com/office/powerpoint/2010/main" val="2011993720"/>
              </p:ext>
            </p:extLst>
          </p:nvPr>
        </p:nvGraphicFramePr>
        <p:xfrm>
          <a:off x="755576" y="260648"/>
          <a:ext cx="7704856" cy="4536505"/>
        </p:xfrm>
        <a:graphic>
          <a:graphicData uri="http://schemas.openxmlformats.org/drawingml/2006/table">
            <a:tbl>
              <a:tblPr>
                <a:tableStyleId>{5C22544A-7EE6-4342-B048-85BDC9FD1C3A}</a:tableStyleId>
              </a:tblPr>
              <a:tblGrid>
                <a:gridCol w="2621191">
                  <a:extLst>
                    <a:ext uri="{9D8B030D-6E8A-4147-A177-3AD203B41FA5}">
                      <a16:colId xmlns:a16="http://schemas.microsoft.com/office/drawing/2014/main" val="1735033344"/>
                    </a:ext>
                  </a:extLst>
                </a:gridCol>
                <a:gridCol w="2621191">
                  <a:extLst>
                    <a:ext uri="{9D8B030D-6E8A-4147-A177-3AD203B41FA5}">
                      <a16:colId xmlns:a16="http://schemas.microsoft.com/office/drawing/2014/main" val="438709325"/>
                    </a:ext>
                  </a:extLst>
                </a:gridCol>
                <a:gridCol w="1053284">
                  <a:extLst>
                    <a:ext uri="{9D8B030D-6E8A-4147-A177-3AD203B41FA5}">
                      <a16:colId xmlns:a16="http://schemas.microsoft.com/office/drawing/2014/main" val="1777053997"/>
                    </a:ext>
                  </a:extLst>
                </a:gridCol>
                <a:gridCol w="1409190">
                  <a:extLst>
                    <a:ext uri="{9D8B030D-6E8A-4147-A177-3AD203B41FA5}">
                      <a16:colId xmlns:a16="http://schemas.microsoft.com/office/drawing/2014/main" val="3766437870"/>
                    </a:ext>
                  </a:extLst>
                </a:gridCol>
              </a:tblGrid>
              <a:tr h="563326">
                <a:tc>
                  <a:txBody>
                    <a:bodyPr/>
                    <a:lstStyle/>
                    <a:p>
                      <a:pPr algn="l">
                        <a:lnSpc>
                          <a:spcPts val="1800"/>
                        </a:lnSpc>
                      </a:pPr>
                      <a:r>
                        <a:rPr lang="zh-CN" sz="2400" kern="100">
                          <a:effectLst/>
                        </a:rPr>
                        <a:t>学号</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l">
                        <a:lnSpc>
                          <a:spcPts val="1800"/>
                        </a:lnSpc>
                      </a:pPr>
                      <a:r>
                        <a:rPr lang="zh-CN" sz="2400" kern="100">
                          <a:effectLst/>
                        </a:rPr>
                        <a:t>姓名</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l">
                        <a:lnSpc>
                          <a:spcPts val="1800"/>
                        </a:lnSpc>
                      </a:pPr>
                      <a:r>
                        <a:rPr lang="zh-CN" sz="2400" kern="100">
                          <a:effectLst/>
                        </a:rPr>
                        <a:t>性别</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l">
                        <a:lnSpc>
                          <a:spcPts val="1800"/>
                        </a:lnSpc>
                      </a:pPr>
                      <a:r>
                        <a:rPr lang="zh-CN" sz="2400" kern="100">
                          <a:effectLst/>
                        </a:rPr>
                        <a:t>分数</a:t>
                      </a:r>
                      <a:endParaRPr lang="zh-CN" sz="240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4025019960"/>
                  </a:ext>
                </a:extLst>
              </a:tr>
              <a:tr h="567597">
                <a:tc>
                  <a:txBody>
                    <a:bodyPr/>
                    <a:lstStyle/>
                    <a:p>
                      <a:pPr algn="l">
                        <a:lnSpc>
                          <a:spcPts val="1800"/>
                        </a:lnSpc>
                      </a:pPr>
                      <a:r>
                        <a:rPr lang="en-US" sz="2400" kern="100">
                          <a:effectLst/>
                        </a:rPr>
                        <a:t>98031001</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l">
                        <a:lnSpc>
                          <a:spcPts val="1800"/>
                        </a:lnSpc>
                      </a:pPr>
                      <a:r>
                        <a:rPr lang="zh-CN" sz="2400" kern="100">
                          <a:effectLst/>
                        </a:rPr>
                        <a:t>侯琳娜</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l">
                        <a:lnSpc>
                          <a:spcPts val="1800"/>
                        </a:lnSpc>
                      </a:pPr>
                      <a:r>
                        <a:rPr lang="zh-CN" sz="2400" kern="100">
                          <a:effectLst/>
                        </a:rPr>
                        <a:t>女</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l">
                        <a:lnSpc>
                          <a:spcPts val="1800"/>
                        </a:lnSpc>
                      </a:pPr>
                      <a:r>
                        <a:rPr lang="en-US" sz="2400" kern="100">
                          <a:effectLst/>
                        </a:rPr>
                        <a:t>95</a:t>
                      </a:r>
                      <a:endParaRPr lang="zh-CN" sz="240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2975612343"/>
                  </a:ext>
                </a:extLst>
              </a:tr>
              <a:tr h="567597">
                <a:tc>
                  <a:txBody>
                    <a:bodyPr/>
                    <a:lstStyle/>
                    <a:p>
                      <a:pPr algn="l">
                        <a:lnSpc>
                          <a:spcPts val="1800"/>
                        </a:lnSpc>
                      </a:pPr>
                      <a:r>
                        <a:rPr lang="en-US" sz="2400" kern="100">
                          <a:effectLst/>
                        </a:rPr>
                        <a:t>98031002</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l">
                        <a:lnSpc>
                          <a:spcPts val="1800"/>
                        </a:lnSpc>
                      </a:pPr>
                      <a:r>
                        <a:rPr lang="zh-CN" sz="2400" kern="100">
                          <a:effectLst/>
                        </a:rPr>
                        <a:t>康淼</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l">
                        <a:lnSpc>
                          <a:spcPts val="1800"/>
                        </a:lnSpc>
                      </a:pPr>
                      <a:r>
                        <a:rPr lang="zh-CN" sz="2400" kern="100">
                          <a:effectLst/>
                        </a:rPr>
                        <a:t>女</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l">
                        <a:lnSpc>
                          <a:spcPts val="1800"/>
                        </a:lnSpc>
                      </a:pPr>
                      <a:r>
                        <a:rPr lang="en-US" sz="2400" kern="100">
                          <a:effectLst/>
                        </a:rPr>
                        <a:t>87</a:t>
                      </a:r>
                      <a:endParaRPr lang="zh-CN" sz="240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1067613186"/>
                  </a:ext>
                </a:extLst>
              </a:tr>
              <a:tr h="567597">
                <a:tc>
                  <a:txBody>
                    <a:bodyPr/>
                    <a:lstStyle/>
                    <a:p>
                      <a:pPr algn="l">
                        <a:lnSpc>
                          <a:spcPts val="1800"/>
                        </a:lnSpc>
                      </a:pPr>
                      <a:r>
                        <a:rPr lang="en-US" sz="2400" kern="100">
                          <a:effectLst/>
                        </a:rPr>
                        <a:t>98031003</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l">
                        <a:lnSpc>
                          <a:spcPts val="1800"/>
                        </a:lnSpc>
                      </a:pPr>
                      <a:r>
                        <a:rPr lang="zh-CN" sz="2400" kern="100">
                          <a:effectLst/>
                        </a:rPr>
                        <a:t>王慧</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l">
                        <a:lnSpc>
                          <a:spcPts val="1800"/>
                        </a:lnSpc>
                      </a:pPr>
                      <a:r>
                        <a:rPr lang="zh-CN" sz="2400" kern="100">
                          <a:effectLst/>
                        </a:rPr>
                        <a:t>女</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l">
                        <a:lnSpc>
                          <a:spcPts val="1800"/>
                        </a:lnSpc>
                      </a:pPr>
                      <a:r>
                        <a:rPr lang="en-US" sz="2400" kern="100">
                          <a:effectLst/>
                        </a:rPr>
                        <a:t>90</a:t>
                      </a:r>
                      <a:endParaRPr lang="zh-CN" sz="240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2775346281"/>
                  </a:ext>
                </a:extLst>
              </a:tr>
              <a:tr h="567597">
                <a:tc>
                  <a:txBody>
                    <a:bodyPr/>
                    <a:lstStyle/>
                    <a:p>
                      <a:pPr algn="l">
                        <a:lnSpc>
                          <a:spcPts val="1800"/>
                        </a:lnSpc>
                      </a:pPr>
                      <a:r>
                        <a:rPr lang="en-US" sz="2400" kern="100">
                          <a:effectLst/>
                        </a:rPr>
                        <a:t>98031004</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l">
                        <a:lnSpc>
                          <a:spcPts val="1800"/>
                        </a:lnSpc>
                      </a:pPr>
                      <a:r>
                        <a:rPr lang="zh-CN" sz="2400" kern="100">
                          <a:effectLst/>
                        </a:rPr>
                        <a:t>王颖</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l">
                        <a:lnSpc>
                          <a:spcPts val="1800"/>
                        </a:lnSpc>
                      </a:pPr>
                      <a:r>
                        <a:rPr lang="zh-CN" sz="2400" kern="100">
                          <a:effectLst/>
                        </a:rPr>
                        <a:t>女</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l">
                        <a:lnSpc>
                          <a:spcPts val="1800"/>
                        </a:lnSpc>
                      </a:pPr>
                      <a:r>
                        <a:rPr lang="en-US" sz="2400" kern="100">
                          <a:effectLst/>
                        </a:rPr>
                        <a:t>75</a:t>
                      </a:r>
                      <a:endParaRPr lang="zh-CN" sz="240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1235893512"/>
                  </a:ext>
                </a:extLst>
              </a:tr>
              <a:tr h="567597">
                <a:tc>
                  <a:txBody>
                    <a:bodyPr/>
                    <a:lstStyle/>
                    <a:p>
                      <a:pPr algn="l">
                        <a:lnSpc>
                          <a:spcPts val="1800"/>
                        </a:lnSpc>
                      </a:pPr>
                      <a:r>
                        <a:rPr lang="en-US" sz="2400" kern="100">
                          <a:effectLst/>
                        </a:rPr>
                        <a:t>98031005</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l">
                        <a:lnSpc>
                          <a:spcPts val="1800"/>
                        </a:lnSpc>
                      </a:pPr>
                      <a:r>
                        <a:rPr lang="zh-CN" sz="2400" kern="100">
                          <a:effectLst/>
                        </a:rPr>
                        <a:t>崔凯</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l">
                        <a:lnSpc>
                          <a:spcPts val="1800"/>
                        </a:lnSpc>
                      </a:pPr>
                      <a:r>
                        <a:rPr lang="zh-CN" sz="2400" kern="100">
                          <a:effectLst/>
                        </a:rPr>
                        <a:t>男</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l">
                        <a:lnSpc>
                          <a:spcPts val="1800"/>
                        </a:lnSpc>
                      </a:pPr>
                      <a:r>
                        <a:rPr lang="en-US" sz="2400" kern="100">
                          <a:effectLst/>
                        </a:rPr>
                        <a:t>76</a:t>
                      </a:r>
                      <a:endParaRPr lang="zh-CN" sz="240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2095873611"/>
                  </a:ext>
                </a:extLst>
              </a:tr>
              <a:tr h="567597">
                <a:tc>
                  <a:txBody>
                    <a:bodyPr/>
                    <a:lstStyle/>
                    <a:p>
                      <a:pPr algn="l">
                        <a:lnSpc>
                          <a:spcPts val="1800"/>
                        </a:lnSpc>
                      </a:pPr>
                      <a:r>
                        <a:rPr lang="en-US" sz="2400" kern="100">
                          <a:effectLst/>
                        </a:rPr>
                        <a:t>……</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l">
                        <a:lnSpc>
                          <a:spcPts val="1800"/>
                        </a:lnSpc>
                      </a:pPr>
                      <a:r>
                        <a:rPr lang="en-US" sz="2400" kern="100">
                          <a:effectLst/>
                        </a:rPr>
                        <a:t>……</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l">
                        <a:lnSpc>
                          <a:spcPts val="1800"/>
                        </a:lnSpc>
                      </a:pPr>
                      <a:r>
                        <a:rPr lang="en-US" sz="2400" kern="100">
                          <a:effectLst/>
                        </a:rPr>
                        <a:t>……</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l">
                        <a:lnSpc>
                          <a:spcPts val="1800"/>
                        </a:lnSpc>
                      </a:pPr>
                      <a:r>
                        <a:rPr lang="en-US" sz="2400" kern="100">
                          <a:effectLst/>
                        </a:rPr>
                        <a:t>……</a:t>
                      </a:r>
                      <a:endParaRPr lang="zh-CN" sz="240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2563425644"/>
                  </a:ext>
                </a:extLst>
              </a:tr>
              <a:tr h="567597">
                <a:tc>
                  <a:txBody>
                    <a:bodyPr/>
                    <a:lstStyle/>
                    <a:p>
                      <a:pPr algn="l">
                        <a:lnSpc>
                          <a:spcPts val="1800"/>
                        </a:lnSpc>
                      </a:pPr>
                      <a:r>
                        <a:rPr lang="en-US" sz="2400" kern="100">
                          <a:effectLst/>
                        </a:rPr>
                        <a:t>98031032</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l">
                        <a:lnSpc>
                          <a:spcPts val="1800"/>
                        </a:lnSpc>
                      </a:pPr>
                      <a:r>
                        <a:rPr lang="zh-CN" sz="2400" kern="100">
                          <a:effectLst/>
                        </a:rPr>
                        <a:t>赵建伟</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l">
                        <a:lnSpc>
                          <a:spcPts val="1800"/>
                        </a:lnSpc>
                      </a:pPr>
                      <a:r>
                        <a:rPr lang="zh-CN" sz="2400" kern="100">
                          <a:effectLst/>
                        </a:rPr>
                        <a:t>男</a:t>
                      </a:r>
                      <a:endParaRPr lang="zh-CN" sz="24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l">
                        <a:lnSpc>
                          <a:spcPts val="1800"/>
                        </a:lnSpc>
                      </a:pPr>
                      <a:r>
                        <a:rPr lang="en-US" sz="2400" kern="100" dirty="0">
                          <a:effectLst/>
                        </a:rPr>
                        <a:t>88</a:t>
                      </a:r>
                      <a:endParaRPr lang="zh-CN" sz="2400" kern="100" dirty="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1888286611"/>
                  </a:ext>
                </a:extLst>
              </a:tr>
            </a:tbl>
          </a:graphicData>
        </a:graphic>
      </p:graphicFrame>
      <p:sp>
        <p:nvSpPr>
          <p:cNvPr id="5" name="文本框 4">
            <a:extLst>
              <a:ext uri="{FF2B5EF4-FFF2-40B4-BE49-F238E27FC236}">
                <a16:creationId xmlns:a16="http://schemas.microsoft.com/office/drawing/2014/main" id="{ACB97097-436D-4AC4-BBB7-59E81E8B6272}"/>
              </a:ext>
            </a:extLst>
          </p:cNvPr>
          <p:cNvSpPr txBox="1"/>
          <p:nvPr/>
        </p:nvSpPr>
        <p:spPr>
          <a:xfrm>
            <a:off x="2286000" y="5291916"/>
            <a:ext cx="4572000" cy="584775"/>
          </a:xfrm>
          <a:prstGeom prst="rect">
            <a:avLst/>
          </a:prstGeom>
          <a:noFill/>
        </p:spPr>
        <p:txBody>
          <a:bodyPr wrap="square">
            <a:spAutoFit/>
          </a:bodyPr>
          <a:lstStyle/>
          <a:p>
            <a:r>
              <a:rPr lang="en-US" altLang="zh-CN" sz="3200" b="1" kern="100" dirty="0">
                <a:solidFill>
                  <a:srgbClr val="FF0000"/>
                </a:solidFill>
                <a:effectLst/>
                <a:latin typeface="Times New Roman" panose="02020603050405020304" pitchFamily="18" charset="0"/>
                <a:ea typeface="宋体" panose="02010600030101010101" pitchFamily="2" charset="-122"/>
              </a:rPr>
              <a:t>D=keyword-98031000</a:t>
            </a:r>
            <a:endParaRPr lang="zh-CN" altLang="en-US" sz="3200" b="1" dirty="0">
              <a:solidFill>
                <a:srgbClr val="FF0000"/>
              </a:solidFill>
            </a:endParaRPr>
          </a:p>
        </p:txBody>
      </p:sp>
    </p:spTree>
    <p:extLst>
      <p:ext uri="{BB962C8B-B14F-4D97-AF65-F5344CB8AC3E}">
        <p14:creationId xmlns:p14="http://schemas.microsoft.com/office/powerpoint/2010/main" val="3150426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124744"/>
            <a:ext cx="7848872" cy="5112568"/>
          </a:xfrm>
        </p:spPr>
        <p:txBody>
          <a:bodyPr>
            <a:normAutofit/>
          </a:bodyPr>
          <a:lstStyle/>
          <a:p>
            <a:r>
              <a:rPr lang="en-US" altLang="zh-CN" dirty="0"/>
              <a:t>2</a:t>
            </a:r>
            <a:r>
              <a:rPr lang="zh-CN" altLang="zh-CN" dirty="0"/>
              <a:t>．</a:t>
            </a:r>
            <a:r>
              <a:rPr lang="zh-CN" altLang="zh-CN" dirty="0">
                <a:solidFill>
                  <a:srgbClr val="FF0000"/>
                </a:solidFill>
              </a:rPr>
              <a:t>除留余数法</a:t>
            </a:r>
          </a:p>
          <a:p>
            <a:pPr>
              <a:buFont typeface="Wingdings" panose="05000000000000000000" pitchFamily="2" charset="2"/>
              <a:buChar char="l"/>
            </a:pPr>
            <a:r>
              <a:rPr lang="zh-CN" altLang="zh-CN" b="0" dirty="0"/>
              <a:t>哈希函数</a:t>
            </a:r>
            <a:r>
              <a:rPr lang="en-US" altLang="zh-CN" b="0" dirty="0">
                <a:solidFill>
                  <a:srgbClr val="FF0000"/>
                </a:solidFill>
              </a:rPr>
              <a:t>Hash(key)=key % p</a:t>
            </a:r>
            <a:r>
              <a:rPr lang="zh-CN" altLang="zh-CN" b="0" dirty="0"/>
              <a:t>，如果哈希表中允许的地址数为</a:t>
            </a:r>
            <a:r>
              <a:rPr lang="en-US" altLang="zh-CN" b="0" dirty="0"/>
              <a:t>m</a:t>
            </a:r>
            <a:r>
              <a:rPr lang="zh-CN" altLang="zh-CN" b="0" dirty="0"/>
              <a:t>，</a:t>
            </a:r>
            <a:r>
              <a:rPr lang="en-US" altLang="zh-CN" b="0" dirty="0"/>
              <a:t>p</a:t>
            </a:r>
            <a:r>
              <a:rPr lang="zh-CN" altLang="zh-CN" b="0" dirty="0"/>
              <a:t>为不大于</a:t>
            </a:r>
            <a:r>
              <a:rPr lang="en-US" altLang="zh-CN" b="0" dirty="0"/>
              <a:t>m</a:t>
            </a:r>
            <a:r>
              <a:rPr lang="zh-CN" altLang="zh-CN" b="0" dirty="0"/>
              <a:t>的最大质数。</a:t>
            </a:r>
            <a:endParaRPr lang="en-US" altLang="zh-CN" b="0" dirty="0"/>
          </a:p>
          <a:p>
            <a:pPr>
              <a:buFont typeface="Wingdings" panose="05000000000000000000" pitchFamily="2" charset="2"/>
              <a:buChar char="l"/>
            </a:pPr>
            <a:r>
              <a:rPr lang="zh-CN" altLang="zh-CN" dirty="0"/>
              <a:t>除留余数法是通过取关键字除以</a:t>
            </a:r>
            <a:r>
              <a:rPr lang="en-US" altLang="zh-CN" dirty="0"/>
              <a:t>p</a:t>
            </a:r>
            <a:r>
              <a:rPr lang="zh-CN" altLang="zh-CN" dirty="0"/>
              <a:t>的余数作为哈希地址。</a:t>
            </a:r>
            <a:r>
              <a:rPr lang="zh-CN" altLang="zh-CN" b="0" dirty="0"/>
              <a:t>为了减少冲突，在一般情况下，</a:t>
            </a:r>
            <a:r>
              <a:rPr lang="en-US" altLang="zh-CN" b="0" dirty="0"/>
              <a:t>p</a:t>
            </a:r>
            <a:r>
              <a:rPr lang="zh-CN" altLang="zh-CN" b="0" dirty="0"/>
              <a:t>最好为素数或不包含小于</a:t>
            </a:r>
            <a:r>
              <a:rPr lang="en-US" altLang="zh-CN" b="0" dirty="0"/>
              <a:t>20</a:t>
            </a:r>
            <a:r>
              <a:rPr lang="zh-CN" altLang="zh-CN" b="0" dirty="0"/>
              <a:t>的素数因子的合数。</a:t>
            </a:r>
          </a:p>
          <a:p>
            <a:pPr>
              <a:buFont typeface="Wingdings" panose="05000000000000000000" pitchFamily="2" charset="2"/>
              <a:buChar char="l"/>
            </a:pPr>
            <a:r>
              <a:rPr lang="zh-CN" altLang="zh-CN" b="0" dirty="0"/>
              <a:t>如有一个关键字</a:t>
            </a:r>
            <a:r>
              <a:rPr lang="en-US" altLang="zh-CN" b="0" dirty="0"/>
              <a:t>key=11516287</a:t>
            </a:r>
            <a:r>
              <a:rPr lang="zh-CN" altLang="zh-CN" b="0" dirty="0"/>
              <a:t>，哈希表大小</a:t>
            </a:r>
            <a:r>
              <a:rPr lang="en-US" altLang="zh-CN" b="0" dirty="0"/>
              <a:t>m=100</a:t>
            </a:r>
            <a:r>
              <a:rPr lang="zh-CN" altLang="zh-CN" b="0" dirty="0"/>
              <a:t>，取质数</a:t>
            </a:r>
            <a:r>
              <a:rPr lang="en-US" altLang="zh-CN" b="0" dirty="0"/>
              <a:t>p=97</a:t>
            </a:r>
            <a:r>
              <a:rPr lang="zh-CN" altLang="zh-CN" b="0" dirty="0"/>
              <a:t>，哈希函数</a:t>
            </a:r>
            <a:r>
              <a:rPr lang="en-US" altLang="zh-CN" b="0" dirty="0"/>
              <a:t>Hash(key)=key % p</a:t>
            </a:r>
            <a:r>
              <a:rPr lang="zh-CN" altLang="zh-CN" b="0" dirty="0"/>
              <a:t>，则哈希地址为</a:t>
            </a:r>
            <a:r>
              <a:rPr lang="en-US" altLang="zh-CN" b="0" dirty="0"/>
              <a:t>Hash(11516287)=11516287 % 97=59</a:t>
            </a:r>
            <a:r>
              <a:rPr lang="zh-CN" altLang="zh-CN" b="0" dirty="0"/>
              <a:t>。</a:t>
            </a:r>
          </a:p>
          <a:p>
            <a:endParaRPr lang="zh-CN" altLang="en-US" dirty="0"/>
          </a:p>
        </p:txBody>
      </p:sp>
    </p:spTree>
    <p:extLst>
      <p:ext uri="{BB962C8B-B14F-4D97-AF65-F5344CB8AC3E}">
        <p14:creationId xmlns:p14="http://schemas.microsoft.com/office/powerpoint/2010/main" val="1311279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08C8DC6-0DEF-4A5E-99E2-011A8D8FF91A}"/>
              </a:ext>
            </a:extLst>
          </p:cNvPr>
          <p:cNvSpPr>
            <a:spLocks noGrp="1"/>
          </p:cNvSpPr>
          <p:nvPr>
            <p:ph type="dt" sz="half" idx="10"/>
          </p:nvPr>
        </p:nvSpPr>
        <p:spPr/>
        <p:txBody>
          <a:bodyPr/>
          <a:lstStyle/>
          <a:p>
            <a:fld id="{9A6B2991-BBE5-4E69-A281-1A8B0AE9CDD7}" type="datetime1">
              <a:rPr lang="zh-CN" altLang="en-US" smtClean="0"/>
              <a:pPr/>
              <a:t>2025/6/3</a:t>
            </a:fld>
            <a:endParaRPr lang="zh-CN" altLang="en-US"/>
          </a:p>
        </p:txBody>
      </p:sp>
      <p:sp>
        <p:nvSpPr>
          <p:cNvPr id="4" name="文本框 3">
            <a:extLst>
              <a:ext uri="{FF2B5EF4-FFF2-40B4-BE49-F238E27FC236}">
                <a16:creationId xmlns:a16="http://schemas.microsoft.com/office/drawing/2014/main" id="{69FE3440-C181-4070-961E-D6ABADF6975B}"/>
              </a:ext>
            </a:extLst>
          </p:cNvPr>
          <p:cNvSpPr txBox="1"/>
          <p:nvPr/>
        </p:nvSpPr>
        <p:spPr>
          <a:xfrm>
            <a:off x="107504" y="476672"/>
            <a:ext cx="8784976" cy="1689052"/>
          </a:xfrm>
          <a:prstGeom prst="rect">
            <a:avLst/>
          </a:prstGeom>
          <a:noFill/>
        </p:spPr>
        <p:txBody>
          <a:bodyPr wrap="square">
            <a:spAutoFit/>
          </a:bodyPr>
          <a:lstStyle/>
          <a:p>
            <a:pPr marL="304800" algn="just">
              <a:lnSpc>
                <a:spcPct val="150000"/>
              </a:lnSpc>
            </a:pPr>
            <a:r>
              <a:rPr lang="zh-CN" altLang="zh-CN" sz="2400" b="1" kern="100" dirty="0">
                <a:effectLst/>
                <a:latin typeface="+mj-ea"/>
                <a:ea typeface="+mj-ea"/>
              </a:rPr>
              <a:t>设哈希函数</a:t>
            </a:r>
            <a:r>
              <a:rPr lang="en-US" altLang="zh-CN" sz="2400" b="1" kern="100" dirty="0">
                <a:effectLst/>
                <a:latin typeface="+mj-ea"/>
                <a:ea typeface="+mj-ea"/>
              </a:rPr>
              <a:t>H</a:t>
            </a:r>
            <a:r>
              <a:rPr lang="zh-CN" altLang="zh-CN" sz="2400" b="1" kern="100" dirty="0">
                <a:effectLst/>
                <a:latin typeface="+mj-ea"/>
                <a:ea typeface="+mj-ea"/>
              </a:rPr>
              <a:t>（</a:t>
            </a:r>
            <a:r>
              <a:rPr lang="en-US" altLang="zh-CN" sz="2400" b="1" kern="100" dirty="0">
                <a:effectLst/>
                <a:latin typeface="+mj-ea"/>
                <a:ea typeface="+mj-ea"/>
              </a:rPr>
              <a:t>K</a:t>
            </a:r>
            <a:r>
              <a:rPr lang="zh-CN" altLang="zh-CN" sz="2400" b="1" kern="100" dirty="0">
                <a:effectLst/>
                <a:latin typeface="+mj-ea"/>
                <a:ea typeface="+mj-ea"/>
              </a:rPr>
              <a:t>）</a:t>
            </a:r>
            <a:r>
              <a:rPr lang="en-US" altLang="zh-CN" sz="2400" b="1" kern="100" dirty="0">
                <a:effectLst/>
                <a:latin typeface="+mj-ea"/>
                <a:ea typeface="+mj-ea"/>
              </a:rPr>
              <a:t>=K % 7</a:t>
            </a:r>
          </a:p>
          <a:p>
            <a:pPr marL="304800" algn="just">
              <a:lnSpc>
                <a:spcPct val="150000"/>
              </a:lnSpc>
            </a:pPr>
            <a:r>
              <a:rPr lang="zh-CN" altLang="zh-CN" sz="2400" b="1" kern="100" dirty="0">
                <a:effectLst/>
                <a:latin typeface="+mj-ea"/>
                <a:ea typeface="+mj-ea"/>
              </a:rPr>
              <a:t>哈希表的</a:t>
            </a:r>
            <a:r>
              <a:rPr lang="zh-CN" altLang="zh-CN" sz="2400" b="1" kern="100" dirty="0">
                <a:effectLst/>
                <a:latin typeface="+mj-ea"/>
                <a:ea typeface="+mj-ea"/>
                <a:cs typeface="Times New Roman" panose="02020603050405020304" pitchFamily="18" charset="0"/>
              </a:rPr>
              <a:t>存储空间地址码为</a:t>
            </a:r>
            <a:r>
              <a:rPr lang="en-US" altLang="zh-CN" sz="2400" b="1" kern="100" dirty="0">
                <a:effectLst/>
                <a:latin typeface="+mj-ea"/>
                <a:ea typeface="+mj-ea"/>
              </a:rPr>
              <a:t>0</a:t>
            </a:r>
            <a:r>
              <a:rPr lang="zh-CN" altLang="zh-CN" sz="2400" b="1" kern="100" dirty="0">
                <a:effectLst/>
                <a:latin typeface="+mj-ea"/>
                <a:ea typeface="+mj-ea"/>
                <a:cs typeface="Times New Roman" panose="02020603050405020304" pitchFamily="18" charset="0"/>
              </a:rPr>
              <a:t>～</a:t>
            </a:r>
            <a:r>
              <a:rPr lang="en-US" altLang="zh-CN" sz="2400" b="1" kern="100" dirty="0">
                <a:effectLst/>
                <a:latin typeface="+mj-ea"/>
                <a:ea typeface="+mj-ea"/>
              </a:rPr>
              <a:t>6</a:t>
            </a:r>
          </a:p>
          <a:p>
            <a:pPr>
              <a:lnSpc>
                <a:spcPct val="150000"/>
              </a:lnSpc>
            </a:pPr>
            <a:r>
              <a:rPr lang="en-US" altLang="zh-CN" sz="2400" b="1" kern="100" dirty="0">
                <a:latin typeface="+mj-ea"/>
                <a:ea typeface="+mj-ea"/>
                <a:cs typeface="Times New Roman" panose="02020603050405020304" pitchFamily="18" charset="0"/>
              </a:rPr>
              <a:t>   </a:t>
            </a:r>
            <a:r>
              <a:rPr lang="zh-CN" altLang="zh-CN" sz="2400" b="1" kern="100" dirty="0">
                <a:effectLst/>
                <a:latin typeface="+mj-ea"/>
                <a:ea typeface="+mj-ea"/>
                <a:cs typeface="Times New Roman" panose="02020603050405020304" pitchFamily="18" charset="0"/>
              </a:rPr>
              <a:t>对关键字序列（</a:t>
            </a:r>
            <a:r>
              <a:rPr lang="en-US" altLang="zh-CN" sz="2400" b="1" kern="100" dirty="0">
                <a:effectLst/>
                <a:latin typeface="+mj-ea"/>
                <a:ea typeface="+mj-ea"/>
                <a:cs typeface="Times New Roman" panose="02020603050405020304" pitchFamily="18" charset="0"/>
              </a:rPr>
              <a:t>1</a:t>
            </a:r>
            <a:r>
              <a:rPr lang="en-US" altLang="zh-CN" sz="2400" b="1" kern="100" dirty="0">
                <a:effectLst/>
                <a:latin typeface="+mj-ea"/>
                <a:ea typeface="+mj-ea"/>
              </a:rPr>
              <a:t>32</a:t>
            </a:r>
            <a:r>
              <a:rPr lang="zh-CN" altLang="zh-CN" sz="2400" b="1" kern="100" dirty="0">
                <a:effectLst/>
                <a:latin typeface="+mj-ea"/>
                <a:ea typeface="+mj-ea"/>
                <a:cs typeface="Times New Roman" panose="02020603050405020304" pitchFamily="18" charset="0"/>
              </a:rPr>
              <a:t>，</a:t>
            </a:r>
            <a:r>
              <a:rPr lang="en-US" altLang="zh-CN" sz="2400" b="1" kern="100" dirty="0">
                <a:effectLst/>
                <a:latin typeface="+mj-ea"/>
                <a:ea typeface="+mj-ea"/>
                <a:cs typeface="Times New Roman" panose="02020603050405020304" pitchFamily="18" charset="0"/>
              </a:rPr>
              <a:t>1</a:t>
            </a:r>
            <a:r>
              <a:rPr lang="en-US" altLang="zh-CN" sz="2400" b="1" kern="100" dirty="0">
                <a:effectLst/>
                <a:latin typeface="+mj-ea"/>
                <a:ea typeface="+mj-ea"/>
              </a:rPr>
              <a:t>13</a:t>
            </a:r>
            <a:r>
              <a:rPr lang="zh-CN" altLang="zh-CN" sz="2400" b="1" kern="100" dirty="0">
                <a:effectLst/>
                <a:latin typeface="+mj-ea"/>
                <a:ea typeface="+mj-ea"/>
                <a:cs typeface="Times New Roman" panose="02020603050405020304" pitchFamily="18" charset="0"/>
              </a:rPr>
              <a:t>，</a:t>
            </a:r>
            <a:r>
              <a:rPr lang="en-US" altLang="zh-CN" sz="2400" b="1" kern="100" dirty="0">
                <a:effectLst/>
                <a:latin typeface="+mj-ea"/>
                <a:ea typeface="+mj-ea"/>
                <a:cs typeface="Times New Roman" panose="02020603050405020304" pitchFamily="18" charset="0"/>
              </a:rPr>
              <a:t>1</a:t>
            </a:r>
            <a:r>
              <a:rPr lang="en-US" altLang="zh-CN" sz="2400" b="1" kern="100" dirty="0">
                <a:effectLst/>
                <a:latin typeface="+mj-ea"/>
                <a:ea typeface="+mj-ea"/>
              </a:rPr>
              <a:t>49</a:t>
            </a:r>
            <a:r>
              <a:rPr lang="zh-CN" altLang="zh-CN" sz="2400" b="1" kern="100" dirty="0">
                <a:effectLst/>
                <a:latin typeface="+mj-ea"/>
                <a:ea typeface="+mj-ea"/>
                <a:cs typeface="Times New Roman" panose="02020603050405020304" pitchFamily="18" charset="0"/>
              </a:rPr>
              <a:t>，</a:t>
            </a:r>
            <a:r>
              <a:rPr lang="en-US" altLang="zh-CN" sz="2400" b="1" kern="100" dirty="0">
                <a:effectLst/>
                <a:latin typeface="+mj-ea"/>
                <a:ea typeface="+mj-ea"/>
                <a:cs typeface="Times New Roman" panose="02020603050405020304" pitchFamily="18" charset="0"/>
              </a:rPr>
              <a:t>1</a:t>
            </a:r>
            <a:r>
              <a:rPr lang="en-US" altLang="zh-CN" sz="2400" b="1" kern="100" dirty="0">
                <a:effectLst/>
                <a:latin typeface="+mj-ea"/>
                <a:ea typeface="+mj-ea"/>
              </a:rPr>
              <a:t>57</a:t>
            </a:r>
            <a:r>
              <a:rPr lang="zh-CN" altLang="zh-CN" sz="2400" b="1" kern="100" dirty="0">
                <a:effectLst/>
                <a:latin typeface="+mj-ea"/>
                <a:ea typeface="+mj-ea"/>
                <a:cs typeface="Times New Roman" panose="02020603050405020304" pitchFamily="18" charset="0"/>
              </a:rPr>
              <a:t>，</a:t>
            </a:r>
            <a:r>
              <a:rPr lang="en-US" altLang="zh-CN" sz="2400" b="1" kern="100" dirty="0">
                <a:effectLst/>
                <a:latin typeface="+mj-ea"/>
                <a:ea typeface="+mj-ea"/>
                <a:cs typeface="Times New Roman" panose="02020603050405020304" pitchFamily="18" charset="0"/>
              </a:rPr>
              <a:t>1</a:t>
            </a:r>
            <a:r>
              <a:rPr lang="en-US" altLang="zh-CN" sz="2400" b="1" kern="100" dirty="0">
                <a:effectLst/>
                <a:latin typeface="+mj-ea"/>
                <a:ea typeface="+mj-ea"/>
              </a:rPr>
              <a:t>24</a:t>
            </a:r>
            <a:r>
              <a:rPr lang="zh-CN" altLang="zh-CN" sz="2400" b="1" kern="100" dirty="0">
                <a:effectLst/>
                <a:latin typeface="+mj-ea"/>
                <a:ea typeface="+mj-ea"/>
                <a:cs typeface="Times New Roman" panose="02020603050405020304" pitchFamily="18" charset="0"/>
              </a:rPr>
              <a:t>，</a:t>
            </a:r>
            <a:r>
              <a:rPr lang="en-US" altLang="zh-CN" sz="2400" b="1" kern="100" dirty="0">
                <a:effectLst/>
                <a:latin typeface="+mj-ea"/>
                <a:ea typeface="+mj-ea"/>
              </a:rPr>
              <a:t>210</a:t>
            </a:r>
            <a:r>
              <a:rPr lang="zh-CN" altLang="zh-CN" sz="2400" b="1" kern="100" dirty="0">
                <a:effectLst/>
                <a:latin typeface="+mj-ea"/>
                <a:ea typeface="+mj-ea"/>
                <a:cs typeface="Times New Roman" panose="02020603050405020304" pitchFamily="18" charset="0"/>
              </a:rPr>
              <a:t>，</a:t>
            </a:r>
            <a:r>
              <a:rPr lang="en-US" altLang="zh-CN" sz="2400" b="1" kern="100" dirty="0">
                <a:effectLst/>
                <a:latin typeface="+mj-ea"/>
                <a:ea typeface="+mj-ea"/>
                <a:cs typeface="Times New Roman" panose="02020603050405020304" pitchFamily="18" charset="0"/>
              </a:rPr>
              <a:t>137</a:t>
            </a:r>
            <a:r>
              <a:rPr lang="zh-CN" altLang="zh-CN" sz="2400" b="1" kern="100" dirty="0">
                <a:effectLst/>
                <a:latin typeface="+mj-ea"/>
                <a:ea typeface="+mj-ea"/>
                <a:cs typeface="Times New Roman" panose="02020603050405020304" pitchFamily="18" charset="0"/>
              </a:rPr>
              <a:t>）</a:t>
            </a:r>
            <a:endParaRPr lang="zh-CN" altLang="en-US" sz="2400" b="1" dirty="0">
              <a:latin typeface="+mj-ea"/>
              <a:ea typeface="+mj-ea"/>
            </a:endParaRPr>
          </a:p>
        </p:txBody>
      </p:sp>
      <p:graphicFrame>
        <p:nvGraphicFramePr>
          <p:cNvPr id="6" name="表格 6">
            <a:extLst>
              <a:ext uri="{FF2B5EF4-FFF2-40B4-BE49-F238E27FC236}">
                <a16:creationId xmlns:a16="http://schemas.microsoft.com/office/drawing/2014/main" id="{B9220D59-3615-407D-B034-D98F87BFA68E}"/>
              </a:ext>
            </a:extLst>
          </p:cNvPr>
          <p:cNvGraphicFramePr>
            <a:graphicFrameLocks noGrp="1"/>
          </p:cNvGraphicFramePr>
          <p:nvPr>
            <p:extLst>
              <p:ext uri="{D42A27DB-BD31-4B8C-83A1-F6EECF244321}">
                <p14:modId xmlns:p14="http://schemas.microsoft.com/office/powerpoint/2010/main" val="1651516267"/>
              </p:ext>
            </p:extLst>
          </p:nvPr>
        </p:nvGraphicFramePr>
        <p:xfrm>
          <a:off x="683568" y="2759328"/>
          <a:ext cx="7920878" cy="1158240"/>
        </p:xfrm>
        <a:graphic>
          <a:graphicData uri="http://schemas.openxmlformats.org/drawingml/2006/table">
            <a:tbl>
              <a:tblPr firstRow="1" bandRow="1">
                <a:tableStyleId>{5C22544A-7EE6-4342-B048-85BDC9FD1C3A}</a:tableStyleId>
              </a:tblPr>
              <a:tblGrid>
                <a:gridCol w="1131554">
                  <a:extLst>
                    <a:ext uri="{9D8B030D-6E8A-4147-A177-3AD203B41FA5}">
                      <a16:colId xmlns:a16="http://schemas.microsoft.com/office/drawing/2014/main" val="133533057"/>
                    </a:ext>
                  </a:extLst>
                </a:gridCol>
                <a:gridCol w="1131554">
                  <a:extLst>
                    <a:ext uri="{9D8B030D-6E8A-4147-A177-3AD203B41FA5}">
                      <a16:colId xmlns:a16="http://schemas.microsoft.com/office/drawing/2014/main" val="3920500153"/>
                    </a:ext>
                  </a:extLst>
                </a:gridCol>
                <a:gridCol w="1131554">
                  <a:extLst>
                    <a:ext uri="{9D8B030D-6E8A-4147-A177-3AD203B41FA5}">
                      <a16:colId xmlns:a16="http://schemas.microsoft.com/office/drawing/2014/main" val="2389068931"/>
                    </a:ext>
                  </a:extLst>
                </a:gridCol>
                <a:gridCol w="1131554">
                  <a:extLst>
                    <a:ext uri="{9D8B030D-6E8A-4147-A177-3AD203B41FA5}">
                      <a16:colId xmlns:a16="http://schemas.microsoft.com/office/drawing/2014/main" val="470305615"/>
                    </a:ext>
                  </a:extLst>
                </a:gridCol>
                <a:gridCol w="1131554">
                  <a:extLst>
                    <a:ext uri="{9D8B030D-6E8A-4147-A177-3AD203B41FA5}">
                      <a16:colId xmlns:a16="http://schemas.microsoft.com/office/drawing/2014/main" val="2979850522"/>
                    </a:ext>
                  </a:extLst>
                </a:gridCol>
                <a:gridCol w="1131554">
                  <a:extLst>
                    <a:ext uri="{9D8B030D-6E8A-4147-A177-3AD203B41FA5}">
                      <a16:colId xmlns:a16="http://schemas.microsoft.com/office/drawing/2014/main" val="841441983"/>
                    </a:ext>
                  </a:extLst>
                </a:gridCol>
                <a:gridCol w="1131554">
                  <a:extLst>
                    <a:ext uri="{9D8B030D-6E8A-4147-A177-3AD203B41FA5}">
                      <a16:colId xmlns:a16="http://schemas.microsoft.com/office/drawing/2014/main" val="2044094666"/>
                    </a:ext>
                  </a:extLst>
                </a:gridCol>
              </a:tblGrid>
              <a:tr h="370840">
                <a:tc>
                  <a:txBody>
                    <a:bodyPr/>
                    <a:lstStyle/>
                    <a:p>
                      <a:pPr algn="ctr"/>
                      <a:r>
                        <a:rPr lang="en-US" altLang="zh-CN" sz="3200" dirty="0">
                          <a:solidFill>
                            <a:schemeClr val="tx1"/>
                          </a:solidFill>
                          <a:latin typeface="Arial Black" panose="020B0A04020102020204" pitchFamily="34" charset="0"/>
                        </a:rPr>
                        <a:t>0</a:t>
                      </a:r>
                      <a:endParaRPr lang="zh-CN" altLang="en-US" sz="3200" dirty="0">
                        <a:solidFill>
                          <a:schemeClr val="tx1"/>
                        </a:solidFill>
                        <a:latin typeface="Arial Black" panose="020B0A04020102020204" pitchFamily="34" charset="0"/>
                      </a:endParaRPr>
                    </a:p>
                  </a:txBody>
                  <a:tcPr>
                    <a:lnL w="762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76200" cap="flat" cmpd="sng" algn="ctr">
                      <a:no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3200" dirty="0">
                          <a:solidFill>
                            <a:schemeClr val="tx1"/>
                          </a:solidFill>
                          <a:latin typeface="Arial Black" panose="020B0A04020102020204" pitchFamily="34" charset="0"/>
                        </a:rPr>
                        <a:t>1</a:t>
                      </a:r>
                      <a:endParaRPr lang="zh-CN" altLang="en-US" sz="3200" dirty="0">
                        <a:solidFill>
                          <a:schemeClr val="tx1"/>
                        </a:solidFill>
                        <a:latin typeface="Arial Black" panose="020B0A04020102020204" pitchFamily="34" charset="0"/>
                      </a:endParaRPr>
                    </a:p>
                  </a:txBody>
                  <a:tcPr>
                    <a:lnL w="762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76200" cap="flat" cmpd="sng" algn="ctr">
                      <a:no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3200" dirty="0">
                          <a:solidFill>
                            <a:schemeClr val="tx1"/>
                          </a:solidFill>
                          <a:latin typeface="Arial Black" panose="020B0A04020102020204" pitchFamily="34" charset="0"/>
                        </a:rPr>
                        <a:t>2</a:t>
                      </a:r>
                      <a:endParaRPr lang="zh-CN" altLang="en-US" sz="3200" dirty="0">
                        <a:solidFill>
                          <a:schemeClr val="tx1"/>
                        </a:solidFill>
                        <a:latin typeface="Arial Black" panose="020B0A04020102020204" pitchFamily="34" charset="0"/>
                      </a:endParaRPr>
                    </a:p>
                  </a:txBody>
                  <a:tcPr>
                    <a:lnL w="762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76200" cap="flat" cmpd="sng" algn="ctr">
                      <a:no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3200" dirty="0">
                          <a:solidFill>
                            <a:schemeClr val="tx1"/>
                          </a:solidFill>
                          <a:latin typeface="Arial Black" panose="020B0A04020102020204" pitchFamily="34" charset="0"/>
                        </a:rPr>
                        <a:t>3</a:t>
                      </a:r>
                      <a:endParaRPr lang="zh-CN" altLang="en-US" sz="3200" dirty="0">
                        <a:solidFill>
                          <a:schemeClr val="tx1"/>
                        </a:solidFill>
                        <a:latin typeface="Arial Black" panose="020B0A04020102020204" pitchFamily="34" charset="0"/>
                      </a:endParaRPr>
                    </a:p>
                  </a:txBody>
                  <a:tcPr>
                    <a:lnL w="762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76200" cap="flat" cmpd="sng" algn="ctr">
                      <a:no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3200" dirty="0">
                          <a:solidFill>
                            <a:schemeClr val="tx1"/>
                          </a:solidFill>
                          <a:latin typeface="Arial Black" panose="020B0A04020102020204" pitchFamily="34" charset="0"/>
                        </a:rPr>
                        <a:t>4</a:t>
                      </a:r>
                      <a:endParaRPr lang="zh-CN" altLang="en-US" sz="3200" dirty="0">
                        <a:solidFill>
                          <a:schemeClr val="tx1"/>
                        </a:solidFill>
                        <a:latin typeface="Arial Black" panose="020B0A04020102020204" pitchFamily="34" charset="0"/>
                      </a:endParaRPr>
                    </a:p>
                  </a:txBody>
                  <a:tcPr>
                    <a:lnL w="762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76200" cap="flat" cmpd="sng" algn="ctr">
                      <a:no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3200" dirty="0">
                          <a:solidFill>
                            <a:schemeClr val="tx1"/>
                          </a:solidFill>
                          <a:latin typeface="Arial Black" panose="020B0A04020102020204" pitchFamily="34" charset="0"/>
                        </a:rPr>
                        <a:t>5</a:t>
                      </a:r>
                      <a:endParaRPr lang="zh-CN" altLang="en-US" sz="3200" dirty="0">
                        <a:solidFill>
                          <a:schemeClr val="tx1"/>
                        </a:solidFill>
                        <a:latin typeface="Arial Black" panose="020B0A04020102020204" pitchFamily="34" charset="0"/>
                      </a:endParaRPr>
                    </a:p>
                  </a:txBody>
                  <a:tcPr>
                    <a:lnL w="762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76200" cap="flat" cmpd="sng" algn="ctr">
                      <a:no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3200" dirty="0">
                          <a:solidFill>
                            <a:schemeClr val="tx1"/>
                          </a:solidFill>
                          <a:latin typeface="Arial Black" panose="020B0A04020102020204" pitchFamily="34" charset="0"/>
                        </a:rPr>
                        <a:t>6</a:t>
                      </a:r>
                      <a:endParaRPr lang="zh-CN" altLang="en-US" sz="3200" dirty="0">
                        <a:solidFill>
                          <a:schemeClr val="tx1"/>
                        </a:solidFill>
                        <a:latin typeface="Arial Black" panose="020B0A04020102020204" pitchFamily="34" charset="0"/>
                      </a:endParaRPr>
                    </a:p>
                  </a:txBody>
                  <a:tcPr>
                    <a:lnL w="762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76200" cap="flat" cmpd="sng" algn="ctr">
                      <a:no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71784518"/>
                  </a:ext>
                </a:extLst>
              </a:tr>
              <a:tr h="370840">
                <a:tc>
                  <a:txBody>
                    <a:bodyPr/>
                    <a:lstStyle/>
                    <a:p>
                      <a:pPr algn="ctr"/>
                      <a:r>
                        <a:rPr lang="en-US" altLang="zh-CN" sz="3200" dirty="0">
                          <a:solidFill>
                            <a:schemeClr val="tx1"/>
                          </a:solidFill>
                          <a:latin typeface="Arial Black" panose="020B0A04020102020204" pitchFamily="34" charset="0"/>
                        </a:rPr>
                        <a:t>210</a:t>
                      </a:r>
                      <a:endParaRPr lang="zh-CN" altLang="en-US" sz="3200" dirty="0">
                        <a:solidFill>
                          <a:schemeClr val="tx1"/>
                        </a:solidFill>
                        <a:latin typeface="Arial Black" panose="020B0A04020102020204" pitchFamily="34" charset="0"/>
                      </a:endParaRPr>
                    </a:p>
                  </a:txBody>
                  <a:tcPr>
                    <a:lnL w="762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3200" dirty="0">
                          <a:solidFill>
                            <a:schemeClr val="tx1"/>
                          </a:solidFill>
                          <a:latin typeface="Arial Black" panose="020B0A04020102020204" pitchFamily="34" charset="0"/>
                        </a:rPr>
                        <a:t>113</a:t>
                      </a:r>
                      <a:endParaRPr lang="zh-CN" altLang="en-US" sz="3200" dirty="0">
                        <a:solidFill>
                          <a:schemeClr val="tx1"/>
                        </a:solidFill>
                        <a:latin typeface="Arial Black" panose="020B0A04020102020204" pitchFamily="34" charset="0"/>
                      </a:endParaRPr>
                    </a:p>
                  </a:txBody>
                  <a:tcPr>
                    <a:lnL w="762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3200" dirty="0">
                          <a:solidFill>
                            <a:schemeClr val="tx1"/>
                          </a:solidFill>
                          <a:latin typeface="Arial Black" panose="020B0A04020102020204" pitchFamily="34" charset="0"/>
                        </a:rPr>
                        <a:t>149</a:t>
                      </a:r>
                      <a:endParaRPr lang="zh-CN" altLang="en-US" sz="3200" dirty="0">
                        <a:solidFill>
                          <a:schemeClr val="tx1"/>
                        </a:solidFill>
                        <a:latin typeface="Arial Black" panose="020B0A04020102020204" pitchFamily="34" charset="0"/>
                      </a:endParaRPr>
                    </a:p>
                  </a:txBody>
                  <a:tcPr>
                    <a:lnL w="762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3200" dirty="0">
                          <a:solidFill>
                            <a:schemeClr val="tx1"/>
                          </a:solidFill>
                          <a:latin typeface="Arial Black" panose="020B0A04020102020204" pitchFamily="34" charset="0"/>
                        </a:rPr>
                        <a:t>157</a:t>
                      </a:r>
                      <a:endParaRPr lang="zh-CN" altLang="en-US" sz="3200" dirty="0">
                        <a:solidFill>
                          <a:schemeClr val="tx1"/>
                        </a:solidFill>
                        <a:latin typeface="Arial Black" panose="020B0A04020102020204" pitchFamily="34" charset="0"/>
                      </a:endParaRPr>
                    </a:p>
                  </a:txBody>
                  <a:tcPr>
                    <a:lnL w="762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3200" dirty="0">
                          <a:solidFill>
                            <a:schemeClr val="tx1"/>
                          </a:solidFill>
                          <a:latin typeface="Arial Black" panose="020B0A04020102020204" pitchFamily="34" charset="0"/>
                        </a:rPr>
                        <a:t>137</a:t>
                      </a:r>
                      <a:endParaRPr lang="zh-CN" altLang="en-US" sz="3200" dirty="0">
                        <a:solidFill>
                          <a:schemeClr val="tx1"/>
                        </a:solidFill>
                        <a:latin typeface="Arial Black" panose="020B0A04020102020204" pitchFamily="34" charset="0"/>
                      </a:endParaRPr>
                    </a:p>
                  </a:txBody>
                  <a:tcPr>
                    <a:lnL w="762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3200" dirty="0">
                          <a:solidFill>
                            <a:schemeClr val="tx1"/>
                          </a:solidFill>
                          <a:latin typeface="Arial Black" panose="020B0A04020102020204" pitchFamily="34" charset="0"/>
                        </a:rPr>
                        <a:t>124</a:t>
                      </a:r>
                      <a:endParaRPr lang="zh-CN" altLang="en-US" sz="3200" dirty="0">
                        <a:solidFill>
                          <a:schemeClr val="tx1"/>
                        </a:solidFill>
                        <a:latin typeface="Arial Black" panose="020B0A04020102020204" pitchFamily="34" charset="0"/>
                      </a:endParaRPr>
                    </a:p>
                  </a:txBody>
                  <a:tcPr>
                    <a:lnL w="762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3200" dirty="0">
                          <a:solidFill>
                            <a:schemeClr val="tx1"/>
                          </a:solidFill>
                          <a:latin typeface="Arial Black" panose="020B0A04020102020204" pitchFamily="34" charset="0"/>
                        </a:rPr>
                        <a:t>132</a:t>
                      </a:r>
                      <a:endParaRPr lang="zh-CN" altLang="en-US" sz="3200" dirty="0">
                        <a:solidFill>
                          <a:schemeClr val="tx1"/>
                        </a:solidFill>
                        <a:latin typeface="Arial Black" panose="020B0A04020102020204" pitchFamily="34" charset="0"/>
                      </a:endParaRPr>
                    </a:p>
                  </a:txBody>
                  <a:tcPr>
                    <a:lnL w="762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46286862"/>
                  </a:ext>
                </a:extLst>
              </a:tr>
            </a:tbl>
          </a:graphicData>
        </a:graphic>
      </p:graphicFrame>
      <p:graphicFrame>
        <p:nvGraphicFramePr>
          <p:cNvPr id="7" name="表格 6">
            <a:extLst>
              <a:ext uri="{FF2B5EF4-FFF2-40B4-BE49-F238E27FC236}">
                <a16:creationId xmlns:a16="http://schemas.microsoft.com/office/drawing/2014/main" id="{A3E96E4C-CC3F-4D81-B4D9-3A4EEE69AB32}"/>
              </a:ext>
            </a:extLst>
          </p:cNvPr>
          <p:cNvGraphicFramePr>
            <a:graphicFrameLocks noGrp="1"/>
          </p:cNvGraphicFramePr>
          <p:nvPr>
            <p:extLst>
              <p:ext uri="{D42A27DB-BD31-4B8C-83A1-F6EECF244321}">
                <p14:modId xmlns:p14="http://schemas.microsoft.com/office/powerpoint/2010/main" val="959636067"/>
              </p:ext>
            </p:extLst>
          </p:nvPr>
        </p:nvGraphicFramePr>
        <p:xfrm>
          <a:off x="5201055" y="2769140"/>
          <a:ext cx="208280" cy="443836"/>
        </p:xfrm>
        <a:graphic>
          <a:graphicData uri="http://schemas.openxmlformats.org/drawingml/2006/table">
            <a:tbl>
              <a:tblPr/>
              <a:tblGrid>
                <a:gridCol w="208280">
                  <a:extLst>
                    <a:ext uri="{9D8B030D-6E8A-4147-A177-3AD203B41FA5}">
                      <a16:colId xmlns:a16="http://schemas.microsoft.com/office/drawing/2014/main" val="179680375"/>
                    </a:ext>
                  </a:extLst>
                </a:gridCol>
              </a:tblGrid>
              <a:tr h="443836">
                <a:tc>
                  <a:txBody>
                    <a:bodyPr/>
                    <a:lstStyle/>
                    <a:p>
                      <a:endParaRPr lang="zh-CN" altLang="en-US" dirty="0"/>
                    </a:p>
                  </a:txBody>
                  <a:tcPr>
                    <a:lnL w="76200" cmpd="sng">
                      <a:solidFill>
                        <a:schemeClr val="bg1"/>
                      </a:solidFill>
                      <a:prstDash val="solid"/>
                    </a:lnL>
                    <a:lnR w="76200" cmpd="sng">
                      <a:solidFill>
                        <a:schemeClr val="bg1"/>
                      </a:solidFill>
                      <a:prstDash val="solid"/>
                    </a:lnR>
                    <a:lnT w="76200" cmpd="sng">
                      <a:solidFill>
                        <a:schemeClr val="bg1"/>
                      </a:solidFill>
                      <a:prstDash val="solid"/>
                    </a:lnT>
                    <a:lnB w="76200" cmpd="sng">
                      <a:solidFill>
                        <a:schemeClr val="bg1"/>
                      </a:solidFill>
                      <a:prstDash val="solid"/>
                    </a:lnB>
                  </a:tcPr>
                </a:tc>
                <a:extLst>
                  <a:ext uri="{0D108BD9-81ED-4DB2-BD59-A6C34878D82A}">
                    <a16:rowId xmlns:a16="http://schemas.microsoft.com/office/drawing/2014/main" val="113333006"/>
                  </a:ext>
                </a:extLst>
              </a:tr>
            </a:tbl>
          </a:graphicData>
        </a:graphic>
      </p:graphicFrame>
      <p:sp>
        <p:nvSpPr>
          <p:cNvPr id="8" name="矩形 7">
            <a:extLst>
              <a:ext uri="{FF2B5EF4-FFF2-40B4-BE49-F238E27FC236}">
                <a16:creationId xmlns:a16="http://schemas.microsoft.com/office/drawing/2014/main" id="{6A0E1930-5A18-4276-8FC5-E75AC6796B61}"/>
              </a:ext>
            </a:extLst>
          </p:cNvPr>
          <p:cNvSpPr/>
          <p:nvPr/>
        </p:nvSpPr>
        <p:spPr>
          <a:xfrm>
            <a:off x="611560" y="2708920"/>
            <a:ext cx="144016" cy="5760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EE9DD15C-B9AC-4E88-A5F3-D4128A45D276}"/>
              </a:ext>
            </a:extLst>
          </p:cNvPr>
          <p:cNvSpPr/>
          <p:nvPr/>
        </p:nvSpPr>
        <p:spPr>
          <a:xfrm>
            <a:off x="1763688" y="2708920"/>
            <a:ext cx="144016" cy="5760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B741DA2E-51C2-46FC-A89C-EE011E852E72}"/>
              </a:ext>
            </a:extLst>
          </p:cNvPr>
          <p:cNvSpPr/>
          <p:nvPr/>
        </p:nvSpPr>
        <p:spPr>
          <a:xfrm>
            <a:off x="2843808" y="2708920"/>
            <a:ext cx="144016" cy="5760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A2864947-33AD-4223-AF0B-9C8F146A89E6}"/>
              </a:ext>
            </a:extLst>
          </p:cNvPr>
          <p:cNvSpPr/>
          <p:nvPr/>
        </p:nvSpPr>
        <p:spPr>
          <a:xfrm>
            <a:off x="3995936" y="2708920"/>
            <a:ext cx="144016" cy="5760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76EC2D21-5E8C-4BBA-A52A-C8C8628B26E1}"/>
              </a:ext>
            </a:extLst>
          </p:cNvPr>
          <p:cNvSpPr/>
          <p:nvPr/>
        </p:nvSpPr>
        <p:spPr>
          <a:xfrm>
            <a:off x="5148064" y="2708920"/>
            <a:ext cx="144016" cy="5760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C4B9DCAE-319C-4257-8737-F371C03C738E}"/>
              </a:ext>
            </a:extLst>
          </p:cNvPr>
          <p:cNvSpPr/>
          <p:nvPr/>
        </p:nvSpPr>
        <p:spPr>
          <a:xfrm>
            <a:off x="6228184" y="2708920"/>
            <a:ext cx="144016" cy="5760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1D5DC565-D956-40AC-A8EA-70F77233AC48}"/>
              </a:ext>
            </a:extLst>
          </p:cNvPr>
          <p:cNvSpPr/>
          <p:nvPr/>
        </p:nvSpPr>
        <p:spPr>
          <a:xfrm>
            <a:off x="7380312" y="2708920"/>
            <a:ext cx="144016" cy="5760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FEB55217-1715-4CE4-B24D-92EBEFCFC821}"/>
              </a:ext>
            </a:extLst>
          </p:cNvPr>
          <p:cNvSpPr/>
          <p:nvPr/>
        </p:nvSpPr>
        <p:spPr>
          <a:xfrm>
            <a:off x="8532440" y="2708920"/>
            <a:ext cx="144016" cy="5760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A016F28A-5CCF-42CD-B34C-192ED8C4807B}"/>
              </a:ext>
            </a:extLst>
          </p:cNvPr>
          <p:cNvSpPr txBox="1"/>
          <p:nvPr/>
        </p:nvSpPr>
        <p:spPr>
          <a:xfrm>
            <a:off x="899592" y="4365104"/>
            <a:ext cx="6768752" cy="1955215"/>
          </a:xfrm>
          <a:prstGeom prst="rect">
            <a:avLst/>
          </a:prstGeom>
          <a:noFill/>
        </p:spPr>
        <p:txBody>
          <a:bodyPr wrap="square" rtlCol="0">
            <a:spAutoFit/>
          </a:bodyPr>
          <a:lstStyle/>
          <a:p>
            <a:pPr>
              <a:lnSpc>
                <a:spcPct val="150000"/>
              </a:lnSpc>
            </a:pPr>
            <a:r>
              <a:rPr lang="zh-CN" altLang="en-US" sz="2800" b="1" dirty="0">
                <a:latin typeface="+mj-ea"/>
                <a:ea typeface="+mj-ea"/>
              </a:rPr>
              <a:t>这</a:t>
            </a:r>
            <a:r>
              <a:rPr lang="en-US" altLang="zh-CN" sz="2800" b="1" dirty="0">
                <a:latin typeface="+mj-ea"/>
                <a:ea typeface="+mj-ea"/>
              </a:rPr>
              <a:t>7</a:t>
            </a:r>
            <a:r>
              <a:rPr lang="zh-CN" altLang="en-US" sz="2800" b="1" dirty="0">
                <a:latin typeface="+mj-ea"/>
                <a:ea typeface="+mj-ea"/>
              </a:rPr>
              <a:t>个关键字恰好散列在查找表中</a:t>
            </a:r>
            <a:endParaRPr lang="en-US" altLang="zh-CN" sz="2800" b="1" dirty="0">
              <a:latin typeface="+mj-ea"/>
              <a:ea typeface="+mj-ea"/>
            </a:endParaRPr>
          </a:p>
          <a:p>
            <a:pPr>
              <a:lnSpc>
                <a:spcPct val="150000"/>
              </a:lnSpc>
            </a:pPr>
            <a:r>
              <a:rPr lang="zh-CN" altLang="en-US" sz="2800" b="1" dirty="0">
                <a:latin typeface="+mj-ea"/>
                <a:ea typeface="+mj-ea"/>
              </a:rPr>
              <a:t>一般情况是有地址冲突</a:t>
            </a:r>
            <a:endParaRPr lang="en-US" altLang="zh-CN" sz="2800" b="1" dirty="0">
              <a:latin typeface="+mj-ea"/>
              <a:ea typeface="+mj-ea"/>
            </a:endParaRPr>
          </a:p>
          <a:p>
            <a:pPr>
              <a:lnSpc>
                <a:spcPct val="150000"/>
              </a:lnSpc>
            </a:pPr>
            <a:r>
              <a:rPr lang="zh-CN" altLang="en-US" sz="2800" b="1" dirty="0">
                <a:latin typeface="+mj-ea"/>
                <a:ea typeface="+mj-ea"/>
              </a:rPr>
              <a:t>若增加</a:t>
            </a:r>
            <a:r>
              <a:rPr lang="en-US" altLang="zh-CN" sz="2800" b="1" dirty="0">
                <a:latin typeface="+mj-ea"/>
                <a:ea typeface="+mj-ea"/>
              </a:rPr>
              <a:t>151</a:t>
            </a:r>
            <a:r>
              <a:rPr lang="zh-CN" altLang="en-US" sz="2800" b="1" dirty="0">
                <a:latin typeface="+mj-ea"/>
                <a:ea typeface="+mj-ea"/>
              </a:rPr>
              <a:t>，</a:t>
            </a:r>
            <a:r>
              <a:rPr lang="en-US" altLang="zh-CN" sz="2800" b="1" dirty="0">
                <a:latin typeface="+mj-ea"/>
                <a:ea typeface="+mj-ea"/>
              </a:rPr>
              <a:t>151%7=4</a:t>
            </a:r>
            <a:r>
              <a:rPr lang="zh-CN" altLang="en-US" sz="2800" b="1" dirty="0">
                <a:latin typeface="+mj-ea"/>
                <a:ea typeface="+mj-ea"/>
              </a:rPr>
              <a:t>，而</a:t>
            </a:r>
            <a:r>
              <a:rPr lang="en-US" altLang="zh-CN" sz="2800" b="1" dirty="0">
                <a:latin typeface="+mj-ea"/>
                <a:ea typeface="+mj-ea"/>
              </a:rPr>
              <a:t>137%7=4</a:t>
            </a:r>
            <a:endParaRPr lang="zh-CN" altLang="en-US" sz="2800" b="1" dirty="0">
              <a:latin typeface="+mj-ea"/>
              <a:ea typeface="+mj-ea"/>
            </a:endParaRPr>
          </a:p>
        </p:txBody>
      </p:sp>
    </p:spTree>
    <p:extLst>
      <p:ext uri="{BB962C8B-B14F-4D97-AF65-F5344CB8AC3E}">
        <p14:creationId xmlns:p14="http://schemas.microsoft.com/office/powerpoint/2010/main" val="23371752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F777E01-AEAC-4A86-A737-195028E3EC7A}"/>
              </a:ext>
            </a:extLst>
          </p:cNvPr>
          <p:cNvSpPr>
            <a:spLocks noGrp="1"/>
          </p:cNvSpPr>
          <p:nvPr>
            <p:ph type="dt" sz="half" idx="10"/>
          </p:nvPr>
        </p:nvSpPr>
        <p:spPr/>
        <p:txBody>
          <a:bodyPr/>
          <a:lstStyle/>
          <a:p>
            <a:fld id="{9A6B2991-BBE5-4E69-A281-1A8B0AE9CDD7}" type="datetime1">
              <a:rPr lang="zh-CN" altLang="en-US" smtClean="0"/>
              <a:pPr/>
              <a:t>2025/6/3</a:t>
            </a:fld>
            <a:endParaRPr lang="zh-CN" altLang="en-US"/>
          </a:p>
        </p:txBody>
      </p:sp>
      <p:sp>
        <p:nvSpPr>
          <p:cNvPr id="3" name="文本框 2">
            <a:extLst>
              <a:ext uri="{FF2B5EF4-FFF2-40B4-BE49-F238E27FC236}">
                <a16:creationId xmlns:a16="http://schemas.microsoft.com/office/drawing/2014/main" id="{99564CCD-9D6A-4C1B-9526-CE3D5EAE969D}"/>
              </a:ext>
            </a:extLst>
          </p:cNvPr>
          <p:cNvSpPr txBox="1"/>
          <p:nvPr/>
        </p:nvSpPr>
        <p:spPr>
          <a:xfrm>
            <a:off x="107504" y="188640"/>
            <a:ext cx="9036496" cy="6740307"/>
          </a:xfrm>
          <a:prstGeom prst="rect">
            <a:avLst/>
          </a:prstGeom>
          <a:solidFill>
            <a:schemeClr val="accent3">
              <a:lumMod val="40000"/>
              <a:lumOff val="60000"/>
            </a:schemeClr>
          </a:solidFill>
        </p:spPr>
        <p:txBody>
          <a:bodyPr wrap="square" rtlCol="0">
            <a:spAutoFit/>
          </a:bodyPr>
          <a:lstStyle/>
          <a:p>
            <a:r>
              <a:rPr lang="en-US" altLang="zh-CN" dirty="0">
                <a:latin typeface="Arial Black" panose="020B0A04020102020204" pitchFamily="34" charset="0"/>
              </a:rPr>
              <a:t>//</a:t>
            </a:r>
            <a:r>
              <a:rPr lang="zh-CN" altLang="en-US" dirty="0">
                <a:latin typeface="Arial Black" panose="020B0A04020102020204" pitchFamily="34" charset="0"/>
              </a:rPr>
              <a:t>建立哈希表，无冲突</a:t>
            </a:r>
          </a:p>
          <a:p>
            <a:r>
              <a:rPr lang="en-US" altLang="zh-CN" dirty="0">
                <a:latin typeface="Arial Black" panose="020B0A04020102020204" pitchFamily="34" charset="0"/>
              </a:rPr>
              <a:t>template &lt;class </a:t>
            </a:r>
            <a:r>
              <a:rPr lang="en-US" altLang="zh-CN" dirty="0" err="1">
                <a:latin typeface="Arial Black" panose="020B0A04020102020204" pitchFamily="34" charset="0"/>
              </a:rPr>
              <a:t>keytype,class</a:t>
            </a:r>
            <a:r>
              <a:rPr lang="en-US" altLang="zh-CN" dirty="0">
                <a:latin typeface="Arial Black" panose="020B0A04020102020204" pitchFamily="34" charset="0"/>
              </a:rPr>
              <a:t> </a:t>
            </a:r>
            <a:r>
              <a:rPr lang="en-US" altLang="zh-CN" dirty="0" err="1">
                <a:latin typeface="Arial Black" panose="020B0A04020102020204" pitchFamily="34" charset="0"/>
              </a:rPr>
              <a:t>Itemtype</a:t>
            </a:r>
            <a:r>
              <a:rPr lang="en-US" altLang="zh-CN" dirty="0">
                <a:latin typeface="Arial Black" panose="020B0A04020102020204" pitchFamily="34" charset="0"/>
              </a:rPr>
              <a:t>&gt;</a:t>
            </a:r>
          </a:p>
          <a:p>
            <a:r>
              <a:rPr lang="en-US" altLang="zh-CN" dirty="0">
                <a:latin typeface="Arial Black" panose="020B0A04020102020204" pitchFamily="34" charset="0"/>
              </a:rPr>
              <a:t>bool </a:t>
            </a:r>
            <a:r>
              <a:rPr lang="en-US" altLang="zh-CN" dirty="0" err="1">
                <a:latin typeface="Arial Black" panose="020B0A04020102020204" pitchFamily="34" charset="0"/>
              </a:rPr>
              <a:t>recordList</a:t>
            </a:r>
            <a:r>
              <a:rPr lang="en-US" altLang="zh-CN" dirty="0">
                <a:latin typeface="Arial Black" panose="020B0A04020102020204" pitchFamily="34" charset="0"/>
              </a:rPr>
              <a:t>&lt;</a:t>
            </a:r>
            <a:r>
              <a:rPr lang="en-US" altLang="zh-CN" dirty="0" err="1">
                <a:latin typeface="Arial Black" panose="020B0A04020102020204" pitchFamily="34" charset="0"/>
              </a:rPr>
              <a:t>keytype,Itemtype</a:t>
            </a:r>
            <a:r>
              <a:rPr lang="en-US" altLang="zh-CN" dirty="0">
                <a:latin typeface="Arial Black" panose="020B0A04020102020204" pitchFamily="34" charset="0"/>
              </a:rPr>
              <a:t>&gt;::set_hash1(</a:t>
            </a:r>
            <a:r>
              <a:rPr lang="en-US" altLang="zh-CN" dirty="0" err="1">
                <a:latin typeface="Arial Black" panose="020B0A04020102020204" pitchFamily="34" charset="0"/>
              </a:rPr>
              <a:t>keytype</a:t>
            </a:r>
            <a:r>
              <a:rPr lang="en-US" altLang="zh-CN" dirty="0">
                <a:latin typeface="Arial Black" panose="020B0A04020102020204" pitchFamily="34" charset="0"/>
              </a:rPr>
              <a:t> *</a:t>
            </a:r>
            <a:r>
              <a:rPr lang="en-US" altLang="zh-CN" dirty="0" err="1">
                <a:latin typeface="Arial Black" panose="020B0A04020102020204" pitchFamily="34" charset="0"/>
              </a:rPr>
              <a:t>pa,int</a:t>
            </a:r>
            <a:r>
              <a:rPr lang="en-US" altLang="zh-CN" dirty="0">
                <a:latin typeface="Arial Black" panose="020B0A04020102020204" pitchFamily="34" charset="0"/>
              </a:rPr>
              <a:t> n)</a:t>
            </a:r>
          </a:p>
          <a:p>
            <a:r>
              <a:rPr lang="en-US" altLang="zh-CN" dirty="0">
                <a:latin typeface="Arial Black" panose="020B0A04020102020204" pitchFamily="34" charset="0"/>
              </a:rPr>
              <a:t>//n</a:t>
            </a:r>
            <a:r>
              <a:rPr lang="zh-CN" altLang="en-US" dirty="0">
                <a:latin typeface="Arial Black" panose="020B0A04020102020204" pitchFamily="34" charset="0"/>
              </a:rPr>
              <a:t>个数据元素存放在一维数组中，</a:t>
            </a:r>
            <a:r>
              <a:rPr lang="en-US" altLang="zh-CN" dirty="0">
                <a:latin typeface="Arial Black" panose="020B0A04020102020204" pitchFamily="34" charset="0"/>
              </a:rPr>
              <a:t>pa</a:t>
            </a:r>
            <a:r>
              <a:rPr lang="zh-CN" altLang="en-US" dirty="0">
                <a:latin typeface="Arial Black" panose="020B0A04020102020204" pitchFamily="34" charset="0"/>
              </a:rPr>
              <a:t>指向数组的首地址</a:t>
            </a:r>
          </a:p>
          <a:p>
            <a:r>
              <a:rPr lang="en-US" altLang="zh-CN" dirty="0">
                <a:latin typeface="Arial Black" panose="020B0A04020102020204" pitchFamily="34" charset="0"/>
              </a:rPr>
              <a:t>{	int </a:t>
            </a:r>
            <a:r>
              <a:rPr lang="en-US" altLang="zh-CN" dirty="0" err="1">
                <a:latin typeface="Arial Black" panose="020B0A04020102020204" pitchFamily="34" charset="0"/>
              </a:rPr>
              <a:t>addr,new_addr,di</a:t>
            </a:r>
            <a:r>
              <a:rPr lang="en-US" altLang="zh-CN" dirty="0">
                <a:latin typeface="Arial Black" panose="020B0A04020102020204" pitchFamily="34" charset="0"/>
              </a:rPr>
              <a:t>;</a:t>
            </a:r>
          </a:p>
          <a:p>
            <a:r>
              <a:rPr lang="en-US" altLang="zh-CN" dirty="0">
                <a:latin typeface="Arial Black" panose="020B0A04020102020204" pitchFamily="34" charset="0"/>
              </a:rPr>
              <a:t>	if(n&lt;0||n&gt;</a:t>
            </a:r>
            <a:r>
              <a:rPr lang="en-US" altLang="zh-CN" dirty="0" err="1">
                <a:latin typeface="Arial Black" panose="020B0A04020102020204" pitchFamily="34" charset="0"/>
              </a:rPr>
              <a:t>MaxSize</a:t>
            </a:r>
            <a:r>
              <a:rPr lang="en-US" altLang="zh-CN" dirty="0">
                <a:latin typeface="Arial Black" panose="020B0A04020102020204" pitchFamily="34" charset="0"/>
              </a:rPr>
              <a:t>)                     //</a:t>
            </a:r>
            <a:r>
              <a:rPr lang="zh-CN" altLang="en-US" dirty="0">
                <a:latin typeface="Arial Black" panose="020B0A04020102020204" pitchFamily="34" charset="0"/>
              </a:rPr>
              <a:t>检验</a:t>
            </a:r>
            <a:r>
              <a:rPr lang="en-US" altLang="zh-CN" dirty="0">
                <a:latin typeface="Arial Black" panose="020B0A04020102020204" pitchFamily="34" charset="0"/>
              </a:rPr>
              <a:t>n</a:t>
            </a:r>
            <a:r>
              <a:rPr lang="zh-CN" altLang="en-US" dirty="0">
                <a:latin typeface="Arial Black" panose="020B0A04020102020204" pitchFamily="34" charset="0"/>
              </a:rPr>
              <a:t>的合法性</a:t>
            </a:r>
          </a:p>
          <a:p>
            <a:r>
              <a:rPr lang="zh-CN" altLang="en-US" dirty="0">
                <a:latin typeface="Arial Black" panose="020B0A04020102020204" pitchFamily="34" charset="0"/>
              </a:rPr>
              <a:t>	</a:t>
            </a:r>
            <a:r>
              <a:rPr lang="en-US" altLang="zh-CN" dirty="0">
                <a:latin typeface="Arial Black" panose="020B0A04020102020204" pitchFamily="34" charset="0"/>
              </a:rPr>
              <a:t>{	</a:t>
            </a:r>
            <a:r>
              <a:rPr lang="en-US" altLang="zh-CN" dirty="0" err="1">
                <a:latin typeface="Arial Black" panose="020B0A04020102020204" pitchFamily="34" charset="0"/>
              </a:rPr>
              <a:t>printf</a:t>
            </a:r>
            <a:r>
              <a:rPr lang="en-US" altLang="zh-CN" dirty="0">
                <a:latin typeface="Arial Black" panose="020B0A04020102020204" pitchFamily="34" charset="0"/>
              </a:rPr>
              <a:t>("</a:t>
            </a:r>
            <a:r>
              <a:rPr lang="zh-CN" altLang="en-US" dirty="0">
                <a:latin typeface="Arial Black" panose="020B0A04020102020204" pitchFamily="34" charset="0"/>
              </a:rPr>
              <a:t>表长不够，不能创建哈希表！</a:t>
            </a:r>
            <a:r>
              <a:rPr lang="en-US" altLang="zh-CN" dirty="0">
                <a:latin typeface="Arial Black" panose="020B0A04020102020204" pitchFamily="34" charset="0"/>
              </a:rPr>
              <a:t>\n");</a:t>
            </a:r>
          </a:p>
          <a:p>
            <a:r>
              <a:rPr lang="en-US" altLang="zh-CN" dirty="0">
                <a:latin typeface="Arial Black" panose="020B0A04020102020204" pitchFamily="34" charset="0"/>
              </a:rPr>
              <a:t>		return false;	}</a:t>
            </a:r>
          </a:p>
          <a:p>
            <a:r>
              <a:rPr lang="en-US" altLang="zh-CN" dirty="0">
                <a:latin typeface="Arial Black" panose="020B0A04020102020204" pitchFamily="34" charset="0"/>
              </a:rPr>
              <a:t>	</a:t>
            </a:r>
            <a:r>
              <a:rPr lang="en-US" altLang="zh-CN" dirty="0" err="1">
                <a:latin typeface="Arial Black" panose="020B0A04020102020204" pitchFamily="34" charset="0"/>
              </a:rPr>
              <a:t>CurrentSize</a:t>
            </a:r>
            <a:r>
              <a:rPr lang="en-US" altLang="zh-CN" dirty="0">
                <a:latin typeface="Arial Black" panose="020B0A04020102020204" pitchFamily="34" charset="0"/>
              </a:rPr>
              <a:t> = n;           		//</a:t>
            </a:r>
            <a:r>
              <a:rPr lang="zh-CN" altLang="en-US" dirty="0">
                <a:latin typeface="Arial Black" panose="020B0A04020102020204" pitchFamily="34" charset="0"/>
              </a:rPr>
              <a:t>保证哈希表长为</a:t>
            </a:r>
            <a:r>
              <a:rPr lang="en-US" altLang="zh-CN" dirty="0">
                <a:latin typeface="Arial Black" panose="020B0A04020102020204" pitchFamily="34" charset="0"/>
              </a:rPr>
              <a:t>n</a:t>
            </a:r>
          </a:p>
          <a:p>
            <a:r>
              <a:rPr lang="en-US" altLang="zh-CN" dirty="0">
                <a:latin typeface="Arial Black" panose="020B0A04020102020204" pitchFamily="34" charset="0"/>
              </a:rPr>
              <a:t>	for(int </a:t>
            </a:r>
            <a:r>
              <a:rPr lang="en-US" altLang="zh-CN" dirty="0" err="1">
                <a:latin typeface="Arial Black" panose="020B0A04020102020204" pitchFamily="34" charset="0"/>
              </a:rPr>
              <a:t>i</a:t>
            </a:r>
            <a:r>
              <a:rPr lang="en-US" altLang="zh-CN" dirty="0">
                <a:latin typeface="Arial Black" panose="020B0A04020102020204" pitchFamily="34" charset="0"/>
              </a:rPr>
              <a:t>=0;i&lt;</a:t>
            </a:r>
            <a:r>
              <a:rPr lang="en-US" altLang="zh-CN" dirty="0" err="1">
                <a:latin typeface="Arial Black" panose="020B0A04020102020204" pitchFamily="34" charset="0"/>
              </a:rPr>
              <a:t>MaxSize;i</a:t>
            </a:r>
            <a:r>
              <a:rPr lang="en-US" altLang="zh-CN" dirty="0">
                <a:latin typeface="Arial Black" panose="020B0A04020102020204" pitchFamily="34" charset="0"/>
              </a:rPr>
              <a:t>++)    	//</a:t>
            </a:r>
            <a:r>
              <a:rPr lang="zh-CN" altLang="en-US" dirty="0">
                <a:latin typeface="Arial Black" panose="020B0A04020102020204" pitchFamily="34" charset="0"/>
              </a:rPr>
              <a:t>先将哈希表中元素置</a:t>
            </a:r>
            <a:r>
              <a:rPr lang="en-US" altLang="zh-CN" dirty="0">
                <a:latin typeface="Arial Black" panose="020B0A04020102020204" pitchFamily="34" charset="0"/>
              </a:rPr>
              <a:t>-1</a:t>
            </a:r>
            <a:r>
              <a:rPr lang="zh-CN" altLang="en-US" dirty="0">
                <a:latin typeface="Arial Black" panose="020B0A04020102020204" pitchFamily="34" charset="0"/>
              </a:rPr>
              <a:t>和索引下标 </a:t>
            </a:r>
          </a:p>
          <a:p>
            <a:r>
              <a:rPr lang="zh-CN" altLang="en-US" dirty="0">
                <a:latin typeface="Arial Black" panose="020B0A04020102020204" pitchFamily="34" charset="0"/>
              </a:rPr>
              <a:t>	</a:t>
            </a:r>
            <a:r>
              <a:rPr lang="en-US" altLang="zh-CN" dirty="0">
                <a:latin typeface="Arial Black" panose="020B0A04020102020204" pitchFamily="34" charset="0"/>
              </a:rPr>
              <a:t>{	R[</a:t>
            </a:r>
            <a:r>
              <a:rPr lang="en-US" altLang="zh-CN" dirty="0" err="1">
                <a:latin typeface="Arial Black" panose="020B0A04020102020204" pitchFamily="34" charset="0"/>
              </a:rPr>
              <a:t>i</a:t>
            </a:r>
            <a:r>
              <a:rPr lang="en-US" altLang="zh-CN" dirty="0">
                <a:latin typeface="Arial Black" panose="020B0A04020102020204" pitchFamily="34" charset="0"/>
              </a:rPr>
              <a:t>].key=-1;</a:t>
            </a:r>
          </a:p>
          <a:p>
            <a:r>
              <a:rPr lang="en-US" altLang="zh-CN" dirty="0">
                <a:latin typeface="Arial Black" panose="020B0A04020102020204" pitchFamily="34" charset="0"/>
              </a:rPr>
              <a:t>		R[</a:t>
            </a:r>
            <a:r>
              <a:rPr lang="en-US" altLang="zh-CN" dirty="0" err="1">
                <a:latin typeface="Arial Black" panose="020B0A04020102020204" pitchFamily="34" charset="0"/>
              </a:rPr>
              <a:t>i</a:t>
            </a:r>
            <a:r>
              <a:rPr lang="en-US" altLang="zh-CN" dirty="0">
                <a:latin typeface="Arial Black" panose="020B0A04020102020204" pitchFamily="34" charset="0"/>
              </a:rPr>
              <a:t>].</a:t>
            </a:r>
            <a:r>
              <a:rPr lang="en-US" altLang="zh-CN" dirty="0" err="1">
                <a:latin typeface="Arial Black" panose="020B0A04020102020204" pitchFamily="34" charset="0"/>
              </a:rPr>
              <a:t>otherinfo</a:t>
            </a:r>
            <a:r>
              <a:rPr lang="en-US" altLang="zh-CN" dirty="0">
                <a:latin typeface="Arial Black" panose="020B0A04020102020204" pitchFamily="34" charset="0"/>
              </a:rPr>
              <a:t>=</a:t>
            </a:r>
            <a:r>
              <a:rPr lang="en-US" altLang="zh-CN" dirty="0" err="1">
                <a:latin typeface="Arial Black" panose="020B0A04020102020204" pitchFamily="34" charset="0"/>
              </a:rPr>
              <a:t>i</a:t>
            </a:r>
            <a:r>
              <a:rPr lang="en-US" altLang="zh-CN" dirty="0">
                <a:latin typeface="Arial Black" panose="020B0A04020102020204" pitchFamily="34" charset="0"/>
              </a:rPr>
              <a:t>;	}</a:t>
            </a:r>
          </a:p>
          <a:p>
            <a:r>
              <a:rPr lang="en-US" altLang="zh-CN" dirty="0">
                <a:latin typeface="Arial Black" panose="020B0A04020102020204" pitchFamily="34" charset="0"/>
              </a:rPr>
              <a:t>	for(int </a:t>
            </a:r>
            <a:r>
              <a:rPr lang="en-US" altLang="zh-CN" dirty="0" err="1">
                <a:latin typeface="Arial Black" panose="020B0A04020102020204" pitchFamily="34" charset="0"/>
              </a:rPr>
              <a:t>i</a:t>
            </a:r>
            <a:r>
              <a:rPr lang="en-US" altLang="zh-CN" dirty="0">
                <a:latin typeface="Arial Black" panose="020B0A04020102020204" pitchFamily="34" charset="0"/>
              </a:rPr>
              <a:t>=0;i&lt;</a:t>
            </a:r>
            <a:r>
              <a:rPr lang="en-US" altLang="zh-CN" dirty="0" err="1">
                <a:latin typeface="Arial Black" panose="020B0A04020102020204" pitchFamily="34" charset="0"/>
              </a:rPr>
              <a:t>CurrentSize;i</a:t>
            </a:r>
            <a:r>
              <a:rPr lang="en-US" altLang="zh-CN" dirty="0">
                <a:latin typeface="Arial Black" panose="020B0A04020102020204" pitchFamily="34" charset="0"/>
              </a:rPr>
              <a:t>++)</a:t>
            </a:r>
          </a:p>
          <a:p>
            <a:r>
              <a:rPr lang="en-US" altLang="zh-CN" dirty="0">
                <a:latin typeface="Arial Black" panose="020B0A04020102020204" pitchFamily="34" charset="0"/>
              </a:rPr>
              <a:t>	{	</a:t>
            </a:r>
            <a:r>
              <a:rPr lang="en-US" altLang="zh-CN" dirty="0" err="1">
                <a:latin typeface="Arial Black" panose="020B0A04020102020204" pitchFamily="34" charset="0"/>
              </a:rPr>
              <a:t>addr</a:t>
            </a:r>
            <a:r>
              <a:rPr lang="en-US" altLang="zh-CN" dirty="0">
                <a:latin typeface="Arial Black" panose="020B0A04020102020204" pitchFamily="34" charset="0"/>
              </a:rPr>
              <a:t> = pa[</a:t>
            </a:r>
            <a:r>
              <a:rPr lang="en-US" altLang="zh-CN" dirty="0" err="1">
                <a:latin typeface="Arial Black" panose="020B0A04020102020204" pitchFamily="34" charset="0"/>
              </a:rPr>
              <a:t>i</a:t>
            </a:r>
            <a:r>
              <a:rPr lang="en-US" altLang="zh-CN" dirty="0">
                <a:latin typeface="Arial Black" panose="020B0A04020102020204" pitchFamily="34" charset="0"/>
              </a:rPr>
              <a:t>] % </a:t>
            </a:r>
            <a:r>
              <a:rPr lang="en-US" altLang="zh-CN" dirty="0" err="1">
                <a:latin typeface="Arial Black" panose="020B0A04020102020204" pitchFamily="34" charset="0"/>
              </a:rPr>
              <a:t>CurrentSize</a:t>
            </a:r>
            <a:r>
              <a:rPr lang="en-US" altLang="zh-CN" dirty="0">
                <a:latin typeface="Arial Black" panose="020B0A04020102020204" pitchFamily="34" charset="0"/>
              </a:rPr>
              <a:t>;             //</a:t>
            </a:r>
            <a:r>
              <a:rPr lang="zh-CN" altLang="en-US" dirty="0">
                <a:latin typeface="Arial Black" panose="020B0A04020102020204" pitchFamily="34" charset="0"/>
              </a:rPr>
              <a:t>计算哈希地址</a:t>
            </a:r>
          </a:p>
          <a:p>
            <a:r>
              <a:rPr lang="zh-CN" altLang="en-US" dirty="0">
                <a:latin typeface="Arial Black" panose="020B0A04020102020204" pitchFamily="34" charset="0"/>
              </a:rPr>
              <a:t>		</a:t>
            </a:r>
            <a:r>
              <a:rPr lang="en-US" altLang="zh-CN" dirty="0">
                <a:latin typeface="Arial Black" panose="020B0A04020102020204" pitchFamily="34" charset="0"/>
              </a:rPr>
              <a:t>if (R[</a:t>
            </a:r>
            <a:r>
              <a:rPr lang="en-US" altLang="zh-CN" dirty="0" err="1">
                <a:latin typeface="Arial Black" panose="020B0A04020102020204" pitchFamily="34" charset="0"/>
              </a:rPr>
              <a:t>addr</a:t>
            </a:r>
            <a:r>
              <a:rPr lang="en-US" altLang="zh-CN" dirty="0">
                <a:latin typeface="Arial Black" panose="020B0A04020102020204" pitchFamily="34" charset="0"/>
              </a:rPr>
              <a:t>].key==-1)</a:t>
            </a:r>
          </a:p>
          <a:p>
            <a:r>
              <a:rPr lang="en-US" altLang="zh-CN" dirty="0">
                <a:latin typeface="Arial Black" panose="020B0A04020102020204" pitchFamily="34" charset="0"/>
              </a:rPr>
              <a:t>		{	R[</a:t>
            </a:r>
            <a:r>
              <a:rPr lang="en-US" altLang="zh-CN" dirty="0" err="1">
                <a:latin typeface="Arial Black" panose="020B0A04020102020204" pitchFamily="34" charset="0"/>
              </a:rPr>
              <a:t>addr</a:t>
            </a:r>
            <a:r>
              <a:rPr lang="en-US" altLang="zh-CN" dirty="0">
                <a:latin typeface="Arial Black" panose="020B0A04020102020204" pitchFamily="34" charset="0"/>
              </a:rPr>
              <a:t>].key=pa[</a:t>
            </a:r>
            <a:r>
              <a:rPr lang="en-US" altLang="zh-CN" dirty="0" err="1">
                <a:latin typeface="Arial Black" panose="020B0A04020102020204" pitchFamily="34" charset="0"/>
              </a:rPr>
              <a:t>i</a:t>
            </a:r>
            <a:r>
              <a:rPr lang="en-US" altLang="zh-CN" dirty="0">
                <a:latin typeface="Arial Black" panose="020B0A04020102020204" pitchFamily="34" charset="0"/>
              </a:rPr>
              <a:t>];</a:t>
            </a:r>
          </a:p>
          <a:p>
            <a:r>
              <a:rPr lang="en-US" altLang="zh-CN" dirty="0">
                <a:latin typeface="Arial Black" panose="020B0A04020102020204" pitchFamily="34" charset="0"/>
              </a:rPr>
              <a:t>			R[</a:t>
            </a:r>
            <a:r>
              <a:rPr lang="en-US" altLang="zh-CN" dirty="0" err="1">
                <a:latin typeface="Arial Black" panose="020B0A04020102020204" pitchFamily="34" charset="0"/>
              </a:rPr>
              <a:t>addr</a:t>
            </a:r>
            <a:r>
              <a:rPr lang="en-US" altLang="zh-CN" dirty="0">
                <a:latin typeface="Arial Black" panose="020B0A04020102020204" pitchFamily="34" charset="0"/>
              </a:rPr>
              <a:t>].</a:t>
            </a:r>
            <a:r>
              <a:rPr lang="en-US" altLang="zh-CN" dirty="0" err="1">
                <a:latin typeface="Arial Black" panose="020B0A04020102020204" pitchFamily="34" charset="0"/>
              </a:rPr>
              <a:t>otherinfo</a:t>
            </a:r>
            <a:r>
              <a:rPr lang="en-US" altLang="zh-CN" dirty="0">
                <a:latin typeface="Arial Black" panose="020B0A04020102020204" pitchFamily="34" charset="0"/>
              </a:rPr>
              <a:t>=</a:t>
            </a:r>
            <a:r>
              <a:rPr lang="en-US" altLang="zh-CN" dirty="0" err="1">
                <a:latin typeface="Arial Black" panose="020B0A04020102020204" pitchFamily="34" charset="0"/>
              </a:rPr>
              <a:t>addr</a:t>
            </a:r>
            <a:r>
              <a:rPr lang="en-US" altLang="zh-CN" dirty="0">
                <a:latin typeface="Arial Black" panose="020B0A04020102020204" pitchFamily="34" charset="0"/>
              </a:rPr>
              <a:t>;	}</a:t>
            </a:r>
          </a:p>
          <a:p>
            <a:r>
              <a:rPr lang="en-US" altLang="zh-CN" dirty="0">
                <a:latin typeface="Arial Black" panose="020B0A04020102020204" pitchFamily="34" charset="0"/>
              </a:rPr>
              <a:t>		else</a:t>
            </a:r>
          </a:p>
          <a:p>
            <a:r>
              <a:rPr lang="en-US" altLang="zh-CN" dirty="0">
                <a:latin typeface="Arial Black" panose="020B0A04020102020204" pitchFamily="34" charset="0"/>
              </a:rPr>
              <a:t>		{	</a:t>
            </a:r>
            <a:r>
              <a:rPr lang="en-US" altLang="zh-CN" dirty="0" err="1">
                <a:latin typeface="Arial Black" panose="020B0A04020102020204" pitchFamily="34" charset="0"/>
              </a:rPr>
              <a:t>cout</a:t>
            </a:r>
            <a:r>
              <a:rPr lang="en-US" altLang="zh-CN" dirty="0">
                <a:latin typeface="Arial Black" panose="020B0A04020102020204" pitchFamily="34" charset="0"/>
              </a:rPr>
              <a:t>&lt;&lt;"</a:t>
            </a:r>
            <a:r>
              <a:rPr lang="zh-CN" altLang="en-US" dirty="0">
                <a:latin typeface="Arial Black" panose="020B0A04020102020204" pitchFamily="34" charset="0"/>
              </a:rPr>
              <a:t>地址冲突，不能创建哈希表！</a:t>
            </a:r>
            <a:r>
              <a:rPr lang="en-US" altLang="zh-CN" dirty="0">
                <a:latin typeface="Arial Black" panose="020B0A04020102020204" pitchFamily="34" charset="0"/>
              </a:rPr>
              <a:t>"&lt;&lt;</a:t>
            </a:r>
            <a:r>
              <a:rPr lang="en-US" altLang="zh-CN" dirty="0" err="1">
                <a:latin typeface="Arial Black" panose="020B0A04020102020204" pitchFamily="34" charset="0"/>
              </a:rPr>
              <a:t>endl</a:t>
            </a:r>
            <a:r>
              <a:rPr lang="en-US" altLang="zh-CN" dirty="0">
                <a:latin typeface="Arial Black" panose="020B0A04020102020204" pitchFamily="34" charset="0"/>
              </a:rPr>
              <a:t>;</a:t>
            </a:r>
          </a:p>
          <a:p>
            <a:r>
              <a:rPr lang="en-US" altLang="zh-CN" dirty="0">
                <a:latin typeface="Arial Black" panose="020B0A04020102020204" pitchFamily="34" charset="0"/>
              </a:rPr>
              <a:t>			return false;</a:t>
            </a:r>
          </a:p>
          <a:p>
            <a:r>
              <a:rPr lang="en-US" altLang="zh-CN" dirty="0">
                <a:latin typeface="Arial Black" panose="020B0A04020102020204" pitchFamily="34" charset="0"/>
              </a:rPr>
              <a:t>		}</a:t>
            </a:r>
          </a:p>
          <a:p>
            <a:r>
              <a:rPr lang="en-US" altLang="zh-CN" dirty="0">
                <a:latin typeface="Arial Black" panose="020B0A04020102020204" pitchFamily="34" charset="0"/>
              </a:rPr>
              <a:t>	}</a:t>
            </a:r>
          </a:p>
          <a:p>
            <a:r>
              <a:rPr lang="en-US" altLang="zh-CN" dirty="0">
                <a:latin typeface="Arial Black" panose="020B0A04020102020204" pitchFamily="34" charset="0"/>
              </a:rPr>
              <a:t>	return true;</a:t>
            </a:r>
          </a:p>
          <a:p>
            <a:r>
              <a:rPr lang="en-US" altLang="zh-CN" dirty="0">
                <a:latin typeface="Arial Black" panose="020B0A04020102020204" pitchFamily="34" charset="0"/>
              </a:rPr>
              <a:t>}</a:t>
            </a:r>
            <a:endParaRPr lang="zh-CN" altLang="en-US" dirty="0">
              <a:latin typeface="Arial Black" panose="020B0A04020102020204" pitchFamily="34" charset="0"/>
            </a:endParaRPr>
          </a:p>
        </p:txBody>
      </p:sp>
    </p:spTree>
    <p:extLst>
      <p:ext uri="{BB962C8B-B14F-4D97-AF65-F5344CB8AC3E}">
        <p14:creationId xmlns:p14="http://schemas.microsoft.com/office/powerpoint/2010/main" val="41985078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FFF7D66-3070-4E70-A2BF-B28EE23915C2}"/>
              </a:ext>
            </a:extLst>
          </p:cNvPr>
          <p:cNvSpPr>
            <a:spLocks noGrp="1"/>
          </p:cNvSpPr>
          <p:nvPr>
            <p:ph type="dt" sz="half" idx="10"/>
          </p:nvPr>
        </p:nvSpPr>
        <p:spPr/>
        <p:txBody>
          <a:bodyPr/>
          <a:lstStyle/>
          <a:p>
            <a:fld id="{9A6B2991-BBE5-4E69-A281-1A8B0AE9CDD7}" type="datetime1">
              <a:rPr lang="zh-CN" altLang="en-US" smtClean="0"/>
              <a:pPr/>
              <a:t>2025/6/3</a:t>
            </a:fld>
            <a:endParaRPr lang="zh-CN" altLang="en-US"/>
          </a:p>
        </p:txBody>
      </p:sp>
      <p:sp>
        <p:nvSpPr>
          <p:cNvPr id="3" name="文本框 2">
            <a:extLst>
              <a:ext uri="{FF2B5EF4-FFF2-40B4-BE49-F238E27FC236}">
                <a16:creationId xmlns:a16="http://schemas.microsoft.com/office/drawing/2014/main" id="{2505E15B-ED5E-4838-BB3A-9F14268801DE}"/>
              </a:ext>
            </a:extLst>
          </p:cNvPr>
          <p:cNvSpPr txBox="1"/>
          <p:nvPr/>
        </p:nvSpPr>
        <p:spPr>
          <a:xfrm>
            <a:off x="179512" y="188640"/>
            <a:ext cx="8964488" cy="3477875"/>
          </a:xfrm>
          <a:prstGeom prst="rect">
            <a:avLst/>
          </a:prstGeom>
          <a:solidFill>
            <a:schemeClr val="accent3">
              <a:lumMod val="40000"/>
              <a:lumOff val="60000"/>
            </a:schemeClr>
          </a:solidFill>
        </p:spPr>
        <p:txBody>
          <a:bodyPr wrap="square" rtlCol="0">
            <a:spAutoFit/>
          </a:bodyPr>
          <a:lstStyle/>
          <a:p>
            <a:r>
              <a:rPr lang="en-US" altLang="zh-CN" sz="2000" dirty="0">
                <a:latin typeface="Arial Black" panose="020B0A04020102020204" pitchFamily="34" charset="0"/>
              </a:rPr>
              <a:t>//</a:t>
            </a:r>
            <a:r>
              <a:rPr lang="zh-CN" altLang="en-US" sz="2000" dirty="0">
                <a:latin typeface="Arial Black" panose="020B0A04020102020204" pitchFamily="34" charset="0"/>
              </a:rPr>
              <a:t>哈希查找函数，无冲突</a:t>
            </a:r>
          </a:p>
          <a:p>
            <a:r>
              <a:rPr lang="en-US" altLang="zh-CN" sz="2000" dirty="0">
                <a:latin typeface="Arial Black" panose="020B0A04020102020204" pitchFamily="34" charset="0"/>
              </a:rPr>
              <a:t>template &lt;class </a:t>
            </a:r>
            <a:r>
              <a:rPr lang="en-US" altLang="zh-CN" sz="2000" dirty="0" err="1">
                <a:latin typeface="Arial Black" panose="020B0A04020102020204" pitchFamily="34" charset="0"/>
              </a:rPr>
              <a:t>keytype,class</a:t>
            </a:r>
            <a:r>
              <a:rPr lang="en-US" altLang="zh-CN" sz="2000" dirty="0">
                <a:latin typeface="Arial Black" panose="020B0A04020102020204" pitchFamily="34" charset="0"/>
              </a:rPr>
              <a:t> </a:t>
            </a:r>
            <a:r>
              <a:rPr lang="en-US" altLang="zh-CN" sz="2000" dirty="0" err="1">
                <a:latin typeface="Arial Black" panose="020B0A04020102020204" pitchFamily="34" charset="0"/>
              </a:rPr>
              <a:t>Itemtype</a:t>
            </a:r>
            <a:r>
              <a:rPr lang="en-US" altLang="zh-CN" sz="2000" dirty="0">
                <a:latin typeface="Arial Black" panose="020B0A04020102020204" pitchFamily="34" charset="0"/>
              </a:rPr>
              <a:t>&gt;</a:t>
            </a:r>
          </a:p>
          <a:p>
            <a:r>
              <a:rPr lang="en-US" altLang="zh-CN" sz="2000" dirty="0">
                <a:latin typeface="Arial Black" panose="020B0A04020102020204" pitchFamily="34" charset="0"/>
              </a:rPr>
              <a:t>int </a:t>
            </a:r>
            <a:r>
              <a:rPr lang="en-US" altLang="zh-CN" sz="2000" dirty="0" err="1">
                <a:latin typeface="Arial Black" panose="020B0A04020102020204" pitchFamily="34" charset="0"/>
              </a:rPr>
              <a:t>recordList</a:t>
            </a:r>
            <a:r>
              <a:rPr lang="en-US" altLang="zh-CN" sz="2000" dirty="0">
                <a:latin typeface="Arial Black" panose="020B0A04020102020204" pitchFamily="34" charset="0"/>
              </a:rPr>
              <a:t>&lt;</a:t>
            </a:r>
            <a:r>
              <a:rPr lang="en-US" altLang="zh-CN" sz="2000" dirty="0" err="1">
                <a:latin typeface="Arial Black" panose="020B0A04020102020204" pitchFamily="34" charset="0"/>
              </a:rPr>
              <a:t>keytype,Itemtype</a:t>
            </a:r>
            <a:r>
              <a:rPr lang="en-US" altLang="zh-CN" sz="2000" dirty="0">
                <a:latin typeface="Arial Black" panose="020B0A04020102020204" pitchFamily="34" charset="0"/>
              </a:rPr>
              <a:t>&gt;::hash_find1(</a:t>
            </a:r>
            <a:r>
              <a:rPr lang="en-US" altLang="zh-CN" sz="2000" dirty="0" err="1">
                <a:latin typeface="Arial Black" panose="020B0A04020102020204" pitchFamily="34" charset="0"/>
              </a:rPr>
              <a:t>keytype</a:t>
            </a:r>
            <a:r>
              <a:rPr lang="en-US" altLang="zh-CN" sz="2000" dirty="0">
                <a:latin typeface="Arial Black" panose="020B0A04020102020204" pitchFamily="34" charset="0"/>
              </a:rPr>
              <a:t> K)</a:t>
            </a:r>
          </a:p>
          <a:p>
            <a:r>
              <a:rPr lang="en-US" altLang="zh-CN" sz="2000" dirty="0">
                <a:latin typeface="Arial Black" panose="020B0A04020102020204" pitchFamily="34" charset="0"/>
              </a:rPr>
              <a:t>//n</a:t>
            </a:r>
            <a:r>
              <a:rPr lang="zh-CN" altLang="en-US" sz="2000" dirty="0">
                <a:latin typeface="Arial Black" panose="020B0A04020102020204" pitchFamily="34" charset="0"/>
              </a:rPr>
              <a:t>个数据元素存放在一维数组中，</a:t>
            </a:r>
            <a:r>
              <a:rPr lang="en-US" altLang="zh-CN" sz="2000" dirty="0">
                <a:latin typeface="Arial Black" panose="020B0A04020102020204" pitchFamily="34" charset="0"/>
              </a:rPr>
              <a:t>pa</a:t>
            </a:r>
            <a:r>
              <a:rPr lang="zh-CN" altLang="en-US" sz="2000" dirty="0">
                <a:latin typeface="Arial Black" panose="020B0A04020102020204" pitchFamily="34" charset="0"/>
              </a:rPr>
              <a:t>指向数组的首地址</a:t>
            </a:r>
          </a:p>
          <a:p>
            <a:r>
              <a:rPr lang="en-US" altLang="zh-CN" sz="2000" dirty="0">
                <a:latin typeface="Arial Black" panose="020B0A04020102020204" pitchFamily="34" charset="0"/>
              </a:rPr>
              <a:t>{</a:t>
            </a:r>
          </a:p>
          <a:p>
            <a:r>
              <a:rPr lang="en-US" altLang="zh-CN" sz="2000" dirty="0">
                <a:latin typeface="Arial Black" panose="020B0A04020102020204" pitchFamily="34" charset="0"/>
              </a:rPr>
              <a:t>	if(R[</a:t>
            </a:r>
            <a:r>
              <a:rPr lang="en-US" altLang="zh-CN" sz="2000" dirty="0" err="1">
                <a:latin typeface="Arial Black" panose="020B0A04020102020204" pitchFamily="34" charset="0"/>
              </a:rPr>
              <a:t>K%CurrentSize</a:t>
            </a:r>
            <a:r>
              <a:rPr lang="en-US" altLang="zh-CN" sz="2000" dirty="0">
                <a:latin typeface="Arial Black" panose="020B0A04020102020204" pitchFamily="34" charset="0"/>
              </a:rPr>
              <a:t>].key==K)</a:t>
            </a:r>
          </a:p>
          <a:p>
            <a:r>
              <a:rPr lang="en-US" altLang="zh-CN" sz="2000" dirty="0">
                <a:latin typeface="Arial Black" panose="020B0A04020102020204" pitchFamily="34" charset="0"/>
              </a:rPr>
              <a:t>		return </a:t>
            </a:r>
            <a:r>
              <a:rPr lang="en-US" altLang="zh-CN" sz="2000" dirty="0" err="1">
                <a:latin typeface="Arial Black" panose="020B0A04020102020204" pitchFamily="34" charset="0"/>
              </a:rPr>
              <a:t>K%CurrentSize</a:t>
            </a:r>
            <a:r>
              <a:rPr lang="en-US" altLang="zh-CN" sz="2000" dirty="0">
                <a:latin typeface="Arial Black" panose="020B0A04020102020204" pitchFamily="34" charset="0"/>
              </a:rPr>
              <a:t>;	//</a:t>
            </a:r>
            <a:r>
              <a:rPr lang="zh-CN" altLang="en-US" sz="2000" dirty="0">
                <a:latin typeface="Arial Black" panose="020B0A04020102020204" pitchFamily="34" charset="0"/>
              </a:rPr>
              <a:t>找到关键字的数据元素 </a:t>
            </a:r>
          </a:p>
          <a:p>
            <a:r>
              <a:rPr lang="zh-CN" altLang="en-US" sz="2000" dirty="0">
                <a:latin typeface="Arial Black" panose="020B0A04020102020204" pitchFamily="34" charset="0"/>
              </a:rPr>
              <a:t>	</a:t>
            </a:r>
            <a:r>
              <a:rPr lang="en-US" altLang="zh-CN" sz="2000" dirty="0">
                <a:latin typeface="Arial Black" panose="020B0A04020102020204" pitchFamily="34" charset="0"/>
              </a:rPr>
              <a:t>else</a:t>
            </a:r>
          </a:p>
          <a:p>
            <a:r>
              <a:rPr lang="en-US" altLang="zh-CN" sz="2000" dirty="0">
                <a:latin typeface="Arial Black" panose="020B0A04020102020204" pitchFamily="34" charset="0"/>
              </a:rPr>
              <a:t>		return -1;			//</a:t>
            </a:r>
            <a:r>
              <a:rPr lang="zh-CN" altLang="en-US" sz="2000" dirty="0">
                <a:latin typeface="Arial Black" panose="020B0A04020102020204" pitchFamily="34" charset="0"/>
              </a:rPr>
              <a:t>未找到 </a:t>
            </a:r>
          </a:p>
          <a:p>
            <a:r>
              <a:rPr lang="en-US" altLang="zh-CN" sz="2000" dirty="0">
                <a:latin typeface="Arial Black" panose="020B0A04020102020204" pitchFamily="34" charset="0"/>
              </a:rPr>
              <a:t>}</a:t>
            </a:r>
          </a:p>
          <a:p>
            <a:endParaRPr lang="zh-CN" altLang="en-US" sz="2000" dirty="0">
              <a:latin typeface="Arial Black" panose="020B0A04020102020204" pitchFamily="34" charset="0"/>
            </a:endParaRPr>
          </a:p>
        </p:txBody>
      </p:sp>
    </p:spTree>
    <p:extLst>
      <p:ext uri="{BB962C8B-B14F-4D97-AF65-F5344CB8AC3E}">
        <p14:creationId xmlns:p14="http://schemas.microsoft.com/office/powerpoint/2010/main" val="23659714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836712"/>
            <a:ext cx="7848872" cy="5544616"/>
          </a:xfrm>
        </p:spPr>
        <p:txBody>
          <a:bodyPr>
            <a:normAutofit lnSpcReduction="10000"/>
          </a:bodyPr>
          <a:lstStyle/>
          <a:p>
            <a:r>
              <a:rPr lang="en-US" altLang="zh-CN" dirty="0"/>
              <a:t>3</a:t>
            </a:r>
            <a:r>
              <a:rPr lang="zh-CN" altLang="zh-CN" dirty="0"/>
              <a:t>．</a:t>
            </a:r>
            <a:r>
              <a:rPr lang="zh-CN" altLang="zh-CN" dirty="0">
                <a:solidFill>
                  <a:srgbClr val="FF0000"/>
                </a:solidFill>
              </a:rPr>
              <a:t>平方取中法</a:t>
            </a:r>
          </a:p>
          <a:p>
            <a:pPr>
              <a:buFont typeface="Wingdings" panose="05000000000000000000" pitchFamily="2" charset="2"/>
              <a:buChar char="l"/>
            </a:pPr>
            <a:r>
              <a:rPr lang="zh-CN" altLang="zh-CN" dirty="0">
                <a:solidFill>
                  <a:srgbClr val="FF0000"/>
                </a:solidFill>
              </a:rPr>
              <a:t>平方取中法</a:t>
            </a:r>
            <a:r>
              <a:rPr lang="zh-CN" altLang="zh-CN" b="0" dirty="0"/>
              <a:t>首先通过计算关键字的平方值来扩大相近数之间的差别，然后按照哈希表的大小</a:t>
            </a:r>
            <a:r>
              <a:rPr lang="zh-CN" altLang="zh-CN" b="0" dirty="0">
                <a:solidFill>
                  <a:srgbClr val="FF0000"/>
                </a:solidFill>
              </a:rPr>
              <a:t>取中间的几位数</a:t>
            </a:r>
            <a:r>
              <a:rPr lang="zh-CN" altLang="zh-CN" b="0" dirty="0"/>
              <a:t>作为哈希地址。</a:t>
            </a:r>
            <a:endParaRPr lang="en-US" altLang="zh-CN" b="0" dirty="0"/>
          </a:p>
          <a:p>
            <a:pPr>
              <a:buFont typeface="Wingdings" panose="05000000000000000000" pitchFamily="2" charset="2"/>
              <a:buChar char="l"/>
            </a:pPr>
            <a:r>
              <a:rPr lang="zh-CN" altLang="zh-CN" b="0" dirty="0"/>
              <a:t>由于</a:t>
            </a:r>
            <a:r>
              <a:rPr lang="zh-CN" altLang="zh-CN" dirty="0"/>
              <a:t>一个乘积的中间几位数与乘数的每一位都相关</a:t>
            </a:r>
            <a:r>
              <a:rPr lang="zh-CN" altLang="zh-CN" b="0" dirty="0"/>
              <a:t>，从而由此产生的哈希地址比较均匀。</a:t>
            </a:r>
            <a:endParaRPr lang="en-US" altLang="zh-CN" b="0" dirty="0"/>
          </a:p>
          <a:p>
            <a:pPr>
              <a:buFont typeface="Wingdings" panose="05000000000000000000" pitchFamily="2" charset="2"/>
              <a:buChar char="l"/>
            </a:pPr>
            <a:r>
              <a:rPr lang="zh-CN" altLang="zh-CN" b="0" dirty="0"/>
              <a:t>这种方法在词典处理中应用十分广泛。</a:t>
            </a:r>
          </a:p>
          <a:p>
            <a:r>
              <a:rPr lang="zh-CN" altLang="zh-CN" b="0" dirty="0"/>
              <a:t>【例</a:t>
            </a:r>
            <a:r>
              <a:rPr lang="en-US" altLang="zh-CN" b="0" dirty="0"/>
              <a:t>8.3</a:t>
            </a:r>
            <a:r>
              <a:rPr lang="zh-CN" altLang="zh-CN" b="0" dirty="0"/>
              <a:t>】有一组记录元素的关键字集合</a:t>
            </a:r>
            <a:r>
              <a:rPr lang="en-US" altLang="zh-CN" b="0" dirty="0"/>
              <a:t>{0100</a:t>
            </a:r>
            <a:r>
              <a:rPr lang="zh-CN" altLang="zh-CN" b="0" dirty="0"/>
              <a:t>，</a:t>
            </a:r>
            <a:r>
              <a:rPr lang="en-US" altLang="zh-CN" b="0" dirty="0"/>
              <a:t>0110</a:t>
            </a:r>
            <a:r>
              <a:rPr lang="zh-CN" altLang="zh-CN" b="0" dirty="0"/>
              <a:t>，</a:t>
            </a:r>
            <a:r>
              <a:rPr lang="en-US" altLang="zh-CN" b="0" dirty="0"/>
              <a:t>1010</a:t>
            </a:r>
            <a:r>
              <a:rPr lang="zh-CN" altLang="zh-CN" b="0" dirty="0"/>
              <a:t>，</a:t>
            </a:r>
            <a:r>
              <a:rPr lang="en-US" altLang="zh-CN" b="0" dirty="0"/>
              <a:t>1001</a:t>
            </a:r>
            <a:r>
              <a:rPr lang="zh-CN" altLang="zh-CN" b="0" dirty="0"/>
              <a:t>，</a:t>
            </a:r>
            <a:r>
              <a:rPr lang="en-US" altLang="zh-CN" b="0" dirty="0"/>
              <a:t>0111}</a:t>
            </a:r>
            <a:r>
              <a:rPr lang="zh-CN" altLang="zh-CN" b="0" dirty="0"/>
              <a:t>，将每个关键字平方后得到集合</a:t>
            </a:r>
            <a:r>
              <a:rPr lang="en-US" altLang="zh-CN" b="0" dirty="0"/>
              <a:t>{0010000</a:t>
            </a:r>
            <a:r>
              <a:rPr lang="zh-CN" altLang="zh-CN" b="0" dirty="0"/>
              <a:t>，</a:t>
            </a:r>
            <a:r>
              <a:rPr lang="en-US" altLang="zh-CN" b="0" dirty="0"/>
              <a:t>0012100</a:t>
            </a:r>
            <a:r>
              <a:rPr lang="zh-CN" altLang="zh-CN" b="0" dirty="0"/>
              <a:t>，</a:t>
            </a:r>
            <a:r>
              <a:rPr lang="en-US" altLang="zh-CN" b="0" dirty="0"/>
              <a:t>1020100</a:t>
            </a:r>
            <a:r>
              <a:rPr lang="zh-CN" altLang="zh-CN" b="0" dirty="0"/>
              <a:t>，</a:t>
            </a:r>
            <a:r>
              <a:rPr lang="en-US" altLang="zh-CN" b="0" dirty="0"/>
              <a:t>1002001</a:t>
            </a:r>
            <a:r>
              <a:rPr lang="zh-CN" altLang="zh-CN" b="0" dirty="0"/>
              <a:t>，</a:t>
            </a:r>
            <a:r>
              <a:rPr lang="en-US" altLang="zh-CN" b="0" dirty="0"/>
              <a:t>0012321}</a:t>
            </a:r>
            <a:r>
              <a:rPr lang="zh-CN" altLang="zh-CN" b="0" dirty="0"/>
              <a:t>，如果哈希表的长度为</a:t>
            </a:r>
            <a:r>
              <a:rPr lang="en-US" altLang="zh-CN" b="0" dirty="0"/>
              <a:t>1000</a:t>
            </a:r>
            <a:r>
              <a:rPr lang="zh-CN" altLang="zh-CN" b="0" dirty="0"/>
              <a:t>，则可以取第</a:t>
            </a:r>
            <a:r>
              <a:rPr lang="en-US" altLang="zh-CN" b="0" dirty="0"/>
              <a:t>3</a:t>
            </a:r>
            <a:r>
              <a:rPr lang="zh-CN" altLang="zh-CN" b="0" dirty="0"/>
              <a:t>，</a:t>
            </a:r>
            <a:r>
              <a:rPr lang="en-US" altLang="zh-CN" b="0" dirty="0"/>
              <a:t>4</a:t>
            </a:r>
            <a:r>
              <a:rPr lang="zh-CN" altLang="zh-CN" b="0" dirty="0"/>
              <a:t>，</a:t>
            </a:r>
            <a:r>
              <a:rPr lang="en-US" altLang="zh-CN" b="0" dirty="0"/>
              <a:t>5</a:t>
            </a:r>
            <a:r>
              <a:rPr lang="zh-CN" altLang="zh-CN" b="0" dirty="0"/>
              <a:t>位作为哈希地址，分别为</a:t>
            </a:r>
            <a:r>
              <a:rPr lang="en-US" altLang="zh-CN" b="0" dirty="0"/>
              <a:t>{100</a:t>
            </a:r>
            <a:r>
              <a:rPr lang="zh-CN" altLang="zh-CN" b="0" dirty="0"/>
              <a:t>，</a:t>
            </a:r>
            <a:r>
              <a:rPr lang="en-US" altLang="zh-CN" b="0" dirty="0"/>
              <a:t>121</a:t>
            </a:r>
            <a:r>
              <a:rPr lang="zh-CN" altLang="zh-CN" b="0" dirty="0"/>
              <a:t>，</a:t>
            </a:r>
            <a:r>
              <a:rPr lang="en-US" altLang="zh-CN" b="0" dirty="0"/>
              <a:t>201</a:t>
            </a:r>
            <a:r>
              <a:rPr lang="zh-CN" altLang="zh-CN" b="0" dirty="0"/>
              <a:t>，</a:t>
            </a:r>
            <a:r>
              <a:rPr lang="en-US" altLang="zh-CN" b="0" dirty="0"/>
              <a:t>020</a:t>
            </a:r>
            <a:r>
              <a:rPr lang="zh-CN" altLang="zh-CN" b="0" dirty="0"/>
              <a:t>，</a:t>
            </a:r>
            <a:r>
              <a:rPr lang="en-US" altLang="zh-CN" b="0" dirty="0"/>
              <a:t>123}</a:t>
            </a:r>
            <a:r>
              <a:rPr lang="zh-CN" altLang="zh-CN" b="0" dirty="0"/>
              <a:t>。</a:t>
            </a:r>
          </a:p>
          <a:p>
            <a:endParaRPr lang="zh-CN" altLang="en-US" dirty="0"/>
          </a:p>
        </p:txBody>
      </p:sp>
    </p:spTree>
    <p:extLst>
      <p:ext uri="{BB962C8B-B14F-4D97-AF65-F5344CB8AC3E}">
        <p14:creationId xmlns:p14="http://schemas.microsoft.com/office/powerpoint/2010/main" val="3382288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196752"/>
            <a:ext cx="7992888" cy="5256584"/>
          </a:xfrm>
        </p:spPr>
        <p:txBody>
          <a:bodyPr>
            <a:normAutofit/>
          </a:bodyPr>
          <a:lstStyle/>
          <a:p>
            <a:r>
              <a:rPr lang="en-US" altLang="zh-CN" sz="3200" dirty="0"/>
              <a:t>4</a:t>
            </a:r>
            <a:r>
              <a:rPr lang="zh-CN" altLang="zh-CN" sz="3200" dirty="0"/>
              <a:t>．</a:t>
            </a:r>
            <a:r>
              <a:rPr lang="zh-CN" altLang="zh-CN" sz="3200" dirty="0">
                <a:solidFill>
                  <a:srgbClr val="FF0000"/>
                </a:solidFill>
              </a:rPr>
              <a:t>随机数法</a:t>
            </a:r>
          </a:p>
          <a:p>
            <a:pPr>
              <a:buFont typeface="Wingdings" panose="05000000000000000000" pitchFamily="2" charset="2"/>
              <a:buChar char="l"/>
            </a:pPr>
            <a:r>
              <a:rPr lang="zh-CN" altLang="zh-CN" sz="3200" b="0" dirty="0"/>
              <a:t>哈希函数</a:t>
            </a:r>
            <a:r>
              <a:rPr lang="en-US" altLang="zh-CN" sz="3200" b="0" dirty="0">
                <a:solidFill>
                  <a:srgbClr val="FF0000"/>
                </a:solidFill>
              </a:rPr>
              <a:t>Hash(key)=Random(key)</a:t>
            </a:r>
            <a:r>
              <a:rPr lang="zh-CN" altLang="zh-CN" sz="3200" b="0" dirty="0"/>
              <a:t>，即取关键字的随机函数值作为关键字的哈希地址。其中</a:t>
            </a:r>
            <a:r>
              <a:rPr lang="en-US" altLang="zh-CN" sz="3200" b="0" dirty="0">
                <a:solidFill>
                  <a:srgbClr val="FF0000"/>
                </a:solidFill>
              </a:rPr>
              <a:t>Random</a:t>
            </a:r>
            <a:r>
              <a:rPr lang="zh-CN" altLang="zh-CN" sz="3200" b="0" dirty="0">
                <a:solidFill>
                  <a:srgbClr val="FF0000"/>
                </a:solidFill>
              </a:rPr>
              <a:t>为</a:t>
            </a:r>
            <a:r>
              <a:rPr lang="zh-CN" altLang="zh-CN" sz="3200" dirty="0">
                <a:solidFill>
                  <a:srgbClr val="FF0000"/>
                </a:solidFill>
              </a:rPr>
              <a:t>伪随机</a:t>
            </a:r>
            <a:r>
              <a:rPr lang="zh-CN" altLang="zh-CN" sz="3200" b="0" dirty="0">
                <a:solidFill>
                  <a:srgbClr val="FF0000"/>
                </a:solidFill>
              </a:rPr>
              <a:t>函数</a:t>
            </a:r>
            <a:r>
              <a:rPr lang="zh-CN" altLang="zh-CN" sz="3200" b="0" dirty="0"/>
              <a:t>，其取值在</a:t>
            </a:r>
            <a:r>
              <a:rPr lang="en-US" altLang="zh-CN" sz="3200" b="0" dirty="0"/>
              <a:t>0</a:t>
            </a:r>
            <a:r>
              <a:rPr lang="zh-CN" altLang="zh-CN" sz="3200" b="0" dirty="0"/>
              <a:t>到</a:t>
            </a:r>
            <a:r>
              <a:rPr lang="en-US" altLang="zh-CN" sz="3200" b="0" dirty="0"/>
              <a:t>m-1</a:t>
            </a:r>
            <a:r>
              <a:rPr lang="zh-CN" altLang="zh-CN" sz="3200" b="0" dirty="0"/>
              <a:t>之间。</a:t>
            </a:r>
          </a:p>
          <a:p>
            <a:endParaRPr lang="zh-CN" altLang="en-US" sz="3200" dirty="0"/>
          </a:p>
        </p:txBody>
      </p:sp>
    </p:spTree>
    <p:extLst>
      <p:ext uri="{BB962C8B-B14F-4D97-AF65-F5344CB8AC3E}">
        <p14:creationId xmlns:p14="http://schemas.microsoft.com/office/powerpoint/2010/main" val="42370020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EE52239-06F6-47F9-89E9-8304E218475A}"/>
              </a:ext>
            </a:extLst>
          </p:cNvPr>
          <p:cNvSpPr>
            <a:spLocks noGrp="1"/>
          </p:cNvSpPr>
          <p:nvPr>
            <p:ph type="dt" sz="half" idx="10"/>
          </p:nvPr>
        </p:nvSpPr>
        <p:spPr/>
        <p:txBody>
          <a:bodyPr/>
          <a:lstStyle/>
          <a:p>
            <a:fld id="{9A6B2991-BBE5-4E69-A281-1A8B0AE9CDD7}" type="datetime1">
              <a:rPr lang="zh-CN" altLang="en-US" smtClean="0"/>
              <a:pPr/>
              <a:t>2025/6/3</a:t>
            </a:fld>
            <a:endParaRPr lang="zh-CN" altLang="en-US"/>
          </a:p>
        </p:txBody>
      </p:sp>
      <p:sp>
        <p:nvSpPr>
          <p:cNvPr id="3" name="文本框 2">
            <a:extLst>
              <a:ext uri="{FF2B5EF4-FFF2-40B4-BE49-F238E27FC236}">
                <a16:creationId xmlns:a16="http://schemas.microsoft.com/office/drawing/2014/main" id="{DF01297A-C32E-4FF4-87D1-89952BEC1EE1}"/>
              </a:ext>
            </a:extLst>
          </p:cNvPr>
          <p:cNvSpPr txBox="1"/>
          <p:nvPr/>
        </p:nvSpPr>
        <p:spPr>
          <a:xfrm>
            <a:off x="179512" y="44624"/>
            <a:ext cx="8928992" cy="6863417"/>
          </a:xfrm>
          <a:prstGeom prst="rect">
            <a:avLst/>
          </a:prstGeom>
          <a:solidFill>
            <a:schemeClr val="accent3">
              <a:lumMod val="40000"/>
              <a:lumOff val="60000"/>
            </a:schemeClr>
          </a:solidFill>
        </p:spPr>
        <p:txBody>
          <a:bodyPr wrap="square" rtlCol="0">
            <a:spAutoFit/>
          </a:bodyPr>
          <a:lstStyle/>
          <a:p>
            <a:r>
              <a:rPr lang="en-US" altLang="zh-CN" sz="2000" dirty="0">
                <a:latin typeface="Arial Black" panose="020B0A04020102020204" pitchFamily="34" charset="0"/>
              </a:rPr>
              <a:t>#include &lt;iostream&gt;</a:t>
            </a:r>
          </a:p>
          <a:p>
            <a:r>
              <a:rPr lang="en-US" altLang="zh-CN" sz="2000" dirty="0">
                <a:latin typeface="Arial Black" panose="020B0A04020102020204" pitchFamily="34" charset="0"/>
              </a:rPr>
              <a:t>#include &lt;random&gt;</a:t>
            </a:r>
          </a:p>
          <a:p>
            <a:r>
              <a:rPr lang="en-US" altLang="zh-CN" sz="2000" dirty="0">
                <a:latin typeface="Arial Black" panose="020B0A04020102020204" pitchFamily="34" charset="0"/>
              </a:rPr>
              <a:t>#include &lt;functional&gt;</a:t>
            </a:r>
          </a:p>
          <a:p>
            <a:r>
              <a:rPr lang="en-US" altLang="zh-CN" sz="2000" dirty="0">
                <a:latin typeface="Arial Black" panose="020B0A04020102020204" pitchFamily="34" charset="0"/>
              </a:rPr>
              <a:t>using namespace std;</a:t>
            </a:r>
          </a:p>
          <a:p>
            <a:r>
              <a:rPr lang="en-US" altLang="zh-CN" sz="2000" dirty="0">
                <a:latin typeface="Arial Black" panose="020B0A04020102020204" pitchFamily="34" charset="0"/>
              </a:rPr>
              <a:t>int Random(int key, int m) {</a:t>
            </a:r>
          </a:p>
          <a:p>
            <a:r>
              <a:rPr lang="en-US" altLang="zh-CN" sz="2000" dirty="0">
                <a:latin typeface="Arial Black" panose="020B0A04020102020204" pitchFamily="34" charset="0"/>
              </a:rPr>
              <a:t>    // </a:t>
            </a:r>
            <a:r>
              <a:rPr lang="zh-CN" altLang="en-US" sz="2000" dirty="0">
                <a:latin typeface="Arial Black" panose="020B0A04020102020204" pitchFamily="34" charset="0"/>
              </a:rPr>
              <a:t>使用</a:t>
            </a:r>
            <a:r>
              <a:rPr lang="en-US" altLang="zh-CN" sz="2000" dirty="0">
                <a:latin typeface="Arial Black" panose="020B0A04020102020204" pitchFamily="34" charset="0"/>
              </a:rPr>
              <a:t>std::hash&lt;int&gt;</a:t>
            </a:r>
            <a:r>
              <a:rPr lang="zh-CN" altLang="en-US" sz="2000" dirty="0">
                <a:latin typeface="Arial Black" panose="020B0A04020102020204" pitchFamily="34" charset="0"/>
              </a:rPr>
              <a:t>将</a:t>
            </a:r>
            <a:r>
              <a:rPr lang="en-US" altLang="zh-CN" sz="2000" dirty="0">
                <a:latin typeface="Arial Black" panose="020B0A04020102020204" pitchFamily="34" charset="0"/>
              </a:rPr>
              <a:t>key</a:t>
            </a:r>
            <a:r>
              <a:rPr lang="zh-CN" altLang="en-US" sz="2000" dirty="0">
                <a:latin typeface="Arial Black" panose="020B0A04020102020204" pitchFamily="34" charset="0"/>
              </a:rPr>
              <a:t>转换为</a:t>
            </a:r>
            <a:r>
              <a:rPr lang="en-US" altLang="zh-CN" sz="2000" dirty="0" err="1">
                <a:latin typeface="Arial Black" panose="020B0A04020102020204" pitchFamily="34" charset="0"/>
              </a:rPr>
              <a:t>size_t</a:t>
            </a:r>
            <a:r>
              <a:rPr lang="zh-CN" altLang="en-US" sz="2000" dirty="0">
                <a:latin typeface="Arial Black" panose="020B0A04020102020204" pitchFamily="34" charset="0"/>
              </a:rPr>
              <a:t>类型的种子</a:t>
            </a:r>
          </a:p>
          <a:p>
            <a:r>
              <a:rPr lang="zh-CN" altLang="en-US" sz="2000" dirty="0">
                <a:latin typeface="Arial Black" panose="020B0A04020102020204" pitchFamily="34" charset="0"/>
              </a:rPr>
              <a:t>    </a:t>
            </a:r>
            <a:r>
              <a:rPr lang="en-US" altLang="zh-CN" sz="2000" dirty="0" err="1">
                <a:latin typeface="Arial Black" panose="020B0A04020102020204" pitchFamily="34" charset="0"/>
              </a:rPr>
              <a:t>size_t</a:t>
            </a:r>
            <a:r>
              <a:rPr lang="en-US" altLang="zh-CN" sz="2000" dirty="0">
                <a:latin typeface="Arial Black" panose="020B0A04020102020204" pitchFamily="34" charset="0"/>
              </a:rPr>
              <a:t> seed = hash&lt;int&gt;{}(key);</a:t>
            </a:r>
          </a:p>
          <a:p>
            <a:r>
              <a:rPr lang="en-US" altLang="zh-CN" sz="2000" dirty="0">
                <a:latin typeface="Arial Black" panose="020B0A04020102020204" pitchFamily="34" charset="0"/>
              </a:rPr>
              <a:t>    // </a:t>
            </a:r>
            <a:r>
              <a:rPr lang="zh-CN" altLang="en-US" sz="2000" dirty="0">
                <a:latin typeface="Arial Black" panose="020B0A04020102020204" pitchFamily="34" charset="0"/>
              </a:rPr>
              <a:t>创建一个基于</a:t>
            </a:r>
            <a:r>
              <a:rPr lang="en-US" altLang="zh-CN" sz="2000" dirty="0">
                <a:latin typeface="Arial Black" panose="020B0A04020102020204" pitchFamily="34" charset="0"/>
              </a:rPr>
              <a:t>Mersenne Twister</a:t>
            </a:r>
            <a:r>
              <a:rPr lang="zh-CN" altLang="en-US" sz="2000" dirty="0">
                <a:latin typeface="Arial Black" panose="020B0A04020102020204" pitchFamily="34" charset="0"/>
              </a:rPr>
              <a:t>算法的随机数生成器</a:t>
            </a:r>
          </a:p>
          <a:p>
            <a:r>
              <a:rPr lang="zh-CN" altLang="en-US" sz="2000" dirty="0">
                <a:latin typeface="Arial Black" panose="020B0A04020102020204" pitchFamily="34" charset="0"/>
              </a:rPr>
              <a:t>    </a:t>
            </a:r>
            <a:r>
              <a:rPr lang="en-US" altLang="zh-CN" sz="2000" dirty="0">
                <a:latin typeface="Arial Black" panose="020B0A04020102020204" pitchFamily="34" charset="0"/>
              </a:rPr>
              <a:t>mt19937 gen(seed);</a:t>
            </a:r>
          </a:p>
          <a:p>
            <a:r>
              <a:rPr lang="en-US" altLang="zh-CN" sz="2000" dirty="0">
                <a:latin typeface="Arial Black" panose="020B0A04020102020204" pitchFamily="34" charset="0"/>
              </a:rPr>
              <a:t>    // </a:t>
            </a:r>
            <a:r>
              <a:rPr lang="zh-CN" altLang="en-US" sz="2000" dirty="0">
                <a:latin typeface="Arial Black" panose="020B0A04020102020204" pitchFamily="34" charset="0"/>
              </a:rPr>
              <a:t>创建一个在</a:t>
            </a:r>
            <a:r>
              <a:rPr lang="en-US" altLang="zh-CN" sz="2000" dirty="0">
                <a:latin typeface="Arial Black" panose="020B0A04020102020204" pitchFamily="34" charset="0"/>
              </a:rPr>
              <a:t>0</a:t>
            </a:r>
            <a:r>
              <a:rPr lang="zh-CN" altLang="en-US" sz="2000" dirty="0">
                <a:latin typeface="Arial Black" panose="020B0A04020102020204" pitchFamily="34" charset="0"/>
              </a:rPr>
              <a:t>到</a:t>
            </a:r>
            <a:r>
              <a:rPr lang="en-US" altLang="zh-CN" sz="2000" dirty="0">
                <a:latin typeface="Arial Black" panose="020B0A04020102020204" pitchFamily="34" charset="0"/>
              </a:rPr>
              <a:t>m-1</a:t>
            </a:r>
            <a:r>
              <a:rPr lang="zh-CN" altLang="en-US" sz="2000" dirty="0">
                <a:latin typeface="Arial Black" panose="020B0A04020102020204" pitchFamily="34" charset="0"/>
              </a:rPr>
              <a:t>之间的均匀分布的随机数生成器</a:t>
            </a:r>
          </a:p>
          <a:p>
            <a:r>
              <a:rPr lang="zh-CN" altLang="en-US" sz="2000" dirty="0">
                <a:latin typeface="Arial Black" panose="020B0A04020102020204" pitchFamily="34" charset="0"/>
              </a:rPr>
              <a:t>    </a:t>
            </a:r>
            <a:r>
              <a:rPr lang="en-US" altLang="zh-CN" sz="2000" dirty="0" err="1">
                <a:latin typeface="Arial Black" panose="020B0A04020102020204" pitchFamily="34" charset="0"/>
              </a:rPr>
              <a:t>uniform_int_distribution</a:t>
            </a:r>
            <a:r>
              <a:rPr lang="en-US" altLang="zh-CN" sz="2000" dirty="0">
                <a:latin typeface="Arial Black" panose="020B0A04020102020204" pitchFamily="34" charset="0"/>
              </a:rPr>
              <a:t>&lt;int&gt; dis(0, m - 1);</a:t>
            </a:r>
          </a:p>
          <a:p>
            <a:r>
              <a:rPr lang="en-US" altLang="zh-CN" sz="2000" dirty="0">
                <a:latin typeface="Arial Black" panose="020B0A04020102020204" pitchFamily="34" charset="0"/>
              </a:rPr>
              <a:t>    // </a:t>
            </a:r>
            <a:r>
              <a:rPr lang="zh-CN" altLang="en-US" sz="2000" dirty="0">
                <a:latin typeface="Arial Black" panose="020B0A04020102020204" pitchFamily="34" charset="0"/>
              </a:rPr>
              <a:t>生成并返回随机数</a:t>
            </a:r>
          </a:p>
          <a:p>
            <a:r>
              <a:rPr lang="zh-CN" altLang="en-US" sz="2000" dirty="0">
                <a:latin typeface="Arial Black" panose="020B0A04020102020204" pitchFamily="34" charset="0"/>
              </a:rPr>
              <a:t>    </a:t>
            </a:r>
            <a:r>
              <a:rPr lang="en-US" altLang="zh-CN" sz="2000" dirty="0">
                <a:latin typeface="Arial Black" panose="020B0A04020102020204" pitchFamily="34" charset="0"/>
              </a:rPr>
              <a:t>return dis(gen);</a:t>
            </a:r>
          </a:p>
          <a:p>
            <a:r>
              <a:rPr lang="en-US" altLang="zh-CN" sz="2000" dirty="0">
                <a:latin typeface="Arial Black" panose="020B0A04020102020204" pitchFamily="34" charset="0"/>
              </a:rPr>
              <a:t>}</a:t>
            </a:r>
          </a:p>
          <a:p>
            <a:r>
              <a:rPr lang="en-US" altLang="zh-CN" sz="2000" dirty="0">
                <a:latin typeface="Arial Black" panose="020B0A04020102020204" pitchFamily="34" charset="0"/>
              </a:rPr>
              <a:t>int main() {</a:t>
            </a:r>
          </a:p>
          <a:p>
            <a:r>
              <a:rPr lang="en-US" altLang="zh-CN" sz="2000" dirty="0">
                <a:latin typeface="Arial Black" panose="020B0A04020102020204" pitchFamily="34" charset="0"/>
              </a:rPr>
              <a:t>    int key = 123;</a:t>
            </a:r>
          </a:p>
          <a:p>
            <a:r>
              <a:rPr lang="en-US" altLang="zh-CN" sz="2000" dirty="0">
                <a:latin typeface="Arial Black" panose="020B0A04020102020204" pitchFamily="34" charset="0"/>
              </a:rPr>
              <a:t>    int m = 10; // </a:t>
            </a:r>
            <a:r>
              <a:rPr lang="zh-CN" altLang="en-US" sz="2000" dirty="0">
                <a:latin typeface="Arial Black" panose="020B0A04020102020204" pitchFamily="34" charset="0"/>
              </a:rPr>
              <a:t>例如，我们想要生成的随机数在</a:t>
            </a:r>
            <a:r>
              <a:rPr lang="en-US" altLang="zh-CN" sz="2000" dirty="0">
                <a:latin typeface="Arial Black" panose="020B0A04020102020204" pitchFamily="34" charset="0"/>
              </a:rPr>
              <a:t>0</a:t>
            </a:r>
            <a:r>
              <a:rPr lang="zh-CN" altLang="en-US" sz="2000" dirty="0">
                <a:latin typeface="Arial Black" panose="020B0A04020102020204" pitchFamily="34" charset="0"/>
              </a:rPr>
              <a:t>到</a:t>
            </a:r>
            <a:r>
              <a:rPr lang="en-US" altLang="zh-CN" sz="2000" dirty="0">
                <a:latin typeface="Arial Black" panose="020B0A04020102020204" pitchFamily="34" charset="0"/>
              </a:rPr>
              <a:t>9</a:t>
            </a:r>
            <a:r>
              <a:rPr lang="zh-CN" altLang="en-US" sz="2000" dirty="0">
                <a:latin typeface="Arial Black" panose="020B0A04020102020204" pitchFamily="34" charset="0"/>
              </a:rPr>
              <a:t>之间</a:t>
            </a:r>
          </a:p>
          <a:p>
            <a:r>
              <a:rPr lang="zh-CN" altLang="en-US" sz="2000" dirty="0">
                <a:latin typeface="Arial Black" panose="020B0A04020102020204" pitchFamily="34" charset="0"/>
              </a:rPr>
              <a:t>    </a:t>
            </a:r>
            <a:r>
              <a:rPr lang="en-US" altLang="zh-CN" sz="2000" dirty="0" err="1">
                <a:latin typeface="Arial Black" panose="020B0A04020102020204" pitchFamily="34" charset="0"/>
              </a:rPr>
              <a:t>cout</a:t>
            </a:r>
            <a:r>
              <a:rPr lang="en-US" altLang="zh-CN" sz="2000" dirty="0">
                <a:latin typeface="Arial Black" panose="020B0A04020102020204" pitchFamily="34" charset="0"/>
              </a:rPr>
              <a:t> &lt;&lt; "Random number: " &lt;&lt; Random(key, m) &lt;&lt; </a:t>
            </a:r>
            <a:r>
              <a:rPr lang="en-US" altLang="zh-CN" sz="2000" dirty="0" err="1">
                <a:latin typeface="Arial Black" panose="020B0A04020102020204" pitchFamily="34" charset="0"/>
              </a:rPr>
              <a:t>endl</a:t>
            </a:r>
            <a:r>
              <a:rPr lang="en-US" altLang="zh-CN" sz="2000" dirty="0">
                <a:latin typeface="Arial Black" panose="020B0A04020102020204" pitchFamily="34" charset="0"/>
              </a:rPr>
              <a:t>;</a:t>
            </a:r>
          </a:p>
          <a:p>
            <a:r>
              <a:rPr lang="en-US" altLang="zh-CN" sz="2000" dirty="0">
                <a:latin typeface="Arial Black" panose="020B0A04020102020204" pitchFamily="34" charset="0"/>
              </a:rPr>
              <a:t>    </a:t>
            </a:r>
            <a:r>
              <a:rPr lang="en-US" altLang="zh-CN" sz="2000" dirty="0" err="1">
                <a:latin typeface="Arial Black" panose="020B0A04020102020204" pitchFamily="34" charset="0"/>
              </a:rPr>
              <a:t>cout</a:t>
            </a:r>
            <a:r>
              <a:rPr lang="en-US" altLang="zh-CN" sz="2000" dirty="0">
                <a:latin typeface="Arial Black" panose="020B0A04020102020204" pitchFamily="34" charset="0"/>
              </a:rPr>
              <a:t>&lt;&lt;Random(key, m) &lt;&lt; </a:t>
            </a:r>
            <a:r>
              <a:rPr lang="en-US" altLang="zh-CN" sz="2000" dirty="0" err="1">
                <a:latin typeface="Arial Black" panose="020B0A04020102020204" pitchFamily="34" charset="0"/>
              </a:rPr>
              <a:t>endl</a:t>
            </a:r>
            <a:r>
              <a:rPr lang="en-US" altLang="zh-CN" sz="2000" dirty="0">
                <a:latin typeface="Arial Black" panose="020B0A04020102020204" pitchFamily="34" charset="0"/>
              </a:rPr>
              <a:t>;</a:t>
            </a:r>
          </a:p>
          <a:p>
            <a:r>
              <a:rPr lang="en-US" altLang="zh-CN" sz="2000" dirty="0">
                <a:latin typeface="Arial Black" panose="020B0A04020102020204" pitchFamily="34" charset="0"/>
              </a:rPr>
              <a:t>    return 0;</a:t>
            </a:r>
          </a:p>
          <a:p>
            <a:r>
              <a:rPr lang="en-US" altLang="zh-CN" sz="2000" dirty="0">
                <a:latin typeface="Arial Black" panose="020B0A04020102020204" pitchFamily="34" charset="0"/>
              </a:rPr>
              <a:t>}</a:t>
            </a:r>
          </a:p>
          <a:p>
            <a:r>
              <a:rPr lang="en-US" altLang="zh-CN" sz="2000" dirty="0">
                <a:solidFill>
                  <a:srgbClr val="FF0000"/>
                </a:solidFill>
                <a:latin typeface="Arial Black" panose="020B0A04020102020204" pitchFamily="34" charset="0"/>
              </a:rPr>
              <a:t>//</a:t>
            </a:r>
            <a:r>
              <a:rPr lang="zh-CN" altLang="en-US" sz="2000" dirty="0">
                <a:solidFill>
                  <a:srgbClr val="FF0000"/>
                </a:solidFill>
                <a:latin typeface="Arial Black" panose="020B0A04020102020204" pitchFamily="34" charset="0"/>
              </a:rPr>
              <a:t>见备注中程序，结果地址冲突</a:t>
            </a:r>
          </a:p>
        </p:txBody>
      </p:sp>
    </p:spTree>
    <p:extLst>
      <p:ext uri="{BB962C8B-B14F-4D97-AF65-F5344CB8AC3E}">
        <p14:creationId xmlns:p14="http://schemas.microsoft.com/office/powerpoint/2010/main" val="9660225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C0CE107-F0F6-493A-AF61-830E443C4472}"/>
              </a:ext>
            </a:extLst>
          </p:cNvPr>
          <p:cNvSpPr>
            <a:spLocks noGrp="1"/>
          </p:cNvSpPr>
          <p:nvPr>
            <p:ph type="dt" sz="half" idx="10"/>
          </p:nvPr>
        </p:nvSpPr>
        <p:spPr/>
        <p:txBody>
          <a:bodyPr/>
          <a:lstStyle/>
          <a:p>
            <a:fld id="{9A6B2991-BBE5-4E69-A281-1A8B0AE9CDD7}" type="datetime1">
              <a:rPr lang="zh-CN" altLang="en-US" smtClean="0"/>
              <a:pPr/>
              <a:t>2025/6/3</a:t>
            </a:fld>
            <a:endParaRPr lang="zh-CN" altLang="en-US"/>
          </a:p>
        </p:txBody>
      </p:sp>
      <p:sp>
        <p:nvSpPr>
          <p:cNvPr id="3" name="内容占位符 2">
            <a:extLst>
              <a:ext uri="{FF2B5EF4-FFF2-40B4-BE49-F238E27FC236}">
                <a16:creationId xmlns:a16="http://schemas.microsoft.com/office/drawing/2014/main" id="{337CA45A-ADB6-4308-AD29-F2D249F911B4}"/>
              </a:ext>
            </a:extLst>
          </p:cNvPr>
          <p:cNvSpPr txBox="1">
            <a:spLocks/>
          </p:cNvSpPr>
          <p:nvPr/>
        </p:nvSpPr>
        <p:spPr>
          <a:xfrm>
            <a:off x="827584" y="1196752"/>
            <a:ext cx="7992888" cy="5256584"/>
          </a:xfrm>
          <a:prstGeom prst="rect">
            <a:avLst/>
          </a:prstGeom>
        </p:spPr>
        <p:txBody>
          <a:bodyPr>
            <a:normAutofit/>
          </a:bodyPr>
          <a:lstStyle>
            <a:lvl1pPr marL="342900" indent="-342900" algn="l" defTabSz="914400" rtl="0" eaLnBrk="1" latinLnBrk="0" hangingPunct="1">
              <a:spcBef>
                <a:spcPts val="800"/>
              </a:spcBef>
              <a:buFont typeface="Arial" pitchFamily="34" charset="0"/>
              <a:buNone/>
              <a:defRPr sz="1600" b="1" kern="1200">
                <a:solidFill>
                  <a:schemeClr val="tx1"/>
                </a:solidFill>
                <a:latin typeface="+mn-lt"/>
                <a:ea typeface="+mn-ea"/>
                <a:cs typeface="+mn-cs"/>
              </a:defRPr>
            </a:lvl1pPr>
            <a:lvl2pPr marL="1737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2pPr>
            <a:lvl3pPr marL="4023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3pPr>
            <a:lvl4pPr marL="6309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4pPr>
            <a:lvl5pPr marL="8595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a:lstStyle>
          <a:p>
            <a:r>
              <a:rPr lang="en-US" altLang="zh-CN" sz="3200" dirty="0"/>
              <a:t>5</a:t>
            </a:r>
            <a:r>
              <a:rPr lang="zh-CN" altLang="zh-CN" sz="3200" dirty="0"/>
              <a:t>．</a:t>
            </a:r>
            <a:r>
              <a:rPr lang="zh-CN" altLang="zh-CN" sz="3200" dirty="0">
                <a:solidFill>
                  <a:srgbClr val="FF0000"/>
                </a:solidFill>
              </a:rPr>
              <a:t>截断法</a:t>
            </a:r>
          </a:p>
          <a:p>
            <a:pPr>
              <a:buFont typeface="Wingdings" panose="05000000000000000000" pitchFamily="2" charset="2"/>
              <a:buChar char="l"/>
            </a:pPr>
            <a:r>
              <a:rPr lang="zh-CN" altLang="zh-CN" sz="3200" b="0" dirty="0"/>
              <a:t>忽略关键字中的一部分，</a:t>
            </a:r>
            <a:r>
              <a:rPr lang="zh-CN" altLang="en-US" sz="3200" b="0" dirty="0">
                <a:solidFill>
                  <a:srgbClr val="FF0000"/>
                </a:solidFill>
              </a:rPr>
              <a:t>选取</a:t>
            </a:r>
            <a:r>
              <a:rPr lang="zh-CN" altLang="zh-CN" sz="3200" b="0" dirty="0">
                <a:solidFill>
                  <a:srgbClr val="FF0000"/>
                </a:solidFill>
              </a:rPr>
              <a:t>剩余部分作为表的</a:t>
            </a:r>
            <a:r>
              <a:rPr lang="zh-CN" altLang="en-US" sz="3200" b="0" dirty="0">
                <a:solidFill>
                  <a:srgbClr val="FF0000"/>
                </a:solidFill>
              </a:rPr>
              <a:t>哈希</a:t>
            </a:r>
            <a:r>
              <a:rPr lang="zh-CN" altLang="zh-CN" sz="3200" b="0" dirty="0">
                <a:solidFill>
                  <a:srgbClr val="FF0000"/>
                </a:solidFill>
              </a:rPr>
              <a:t>值</a:t>
            </a:r>
            <a:r>
              <a:rPr lang="zh-CN" altLang="zh-CN" sz="3200" b="0" dirty="0"/>
              <a:t>。如</a:t>
            </a:r>
            <a:r>
              <a:rPr lang="en-US" altLang="zh-CN" sz="3200" b="0" dirty="0"/>
              <a:t>key=11516287</a:t>
            </a:r>
            <a:r>
              <a:rPr lang="zh-CN" altLang="zh-CN" sz="3200" b="0" dirty="0"/>
              <a:t>保留第</a:t>
            </a:r>
            <a:r>
              <a:rPr lang="en-US" altLang="zh-CN" sz="3200" b="0" dirty="0"/>
              <a:t>3</a:t>
            </a:r>
            <a:r>
              <a:rPr lang="zh-CN" altLang="zh-CN" sz="3200" b="0" dirty="0"/>
              <a:t>，</a:t>
            </a:r>
            <a:r>
              <a:rPr lang="en-US" altLang="zh-CN" sz="3200" b="0" dirty="0"/>
              <a:t>4</a:t>
            </a:r>
            <a:r>
              <a:rPr lang="zh-CN" altLang="zh-CN" sz="3200" b="0" dirty="0"/>
              <a:t>，</a:t>
            </a:r>
            <a:r>
              <a:rPr lang="en-US" altLang="zh-CN" sz="3200" b="0" dirty="0"/>
              <a:t>8</a:t>
            </a:r>
            <a:r>
              <a:rPr lang="zh-CN" altLang="zh-CN" sz="3200" b="0" dirty="0"/>
              <a:t>位，则哈希地址为</a:t>
            </a:r>
            <a:r>
              <a:rPr lang="en-US" altLang="zh-CN" sz="3200" b="0" dirty="0"/>
              <a:t>517</a:t>
            </a:r>
            <a:r>
              <a:rPr lang="zh-CN" altLang="zh-CN" sz="3200" b="0" dirty="0"/>
              <a:t>。再如学号，采用学号的后三位。即寻找区分性好的段作为哈希地址。</a:t>
            </a:r>
          </a:p>
          <a:p>
            <a:endParaRPr lang="zh-CN" altLang="en-US" sz="3200" dirty="0"/>
          </a:p>
        </p:txBody>
      </p:sp>
    </p:spTree>
    <p:extLst>
      <p:ext uri="{BB962C8B-B14F-4D97-AF65-F5344CB8AC3E}">
        <p14:creationId xmlns:p14="http://schemas.microsoft.com/office/powerpoint/2010/main" val="4012961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052736"/>
            <a:ext cx="7560840" cy="4896544"/>
          </a:xfrm>
        </p:spPr>
        <p:txBody>
          <a:bodyPr>
            <a:normAutofit/>
          </a:bodyPr>
          <a:lstStyle/>
          <a:p>
            <a:r>
              <a:rPr lang="en-US" altLang="zh-CN" dirty="0"/>
              <a:t>6</a:t>
            </a:r>
            <a:r>
              <a:rPr lang="zh-CN" altLang="zh-CN" dirty="0"/>
              <a:t>．</a:t>
            </a:r>
            <a:r>
              <a:rPr lang="zh-CN" altLang="zh-CN" dirty="0">
                <a:solidFill>
                  <a:srgbClr val="FF0000"/>
                </a:solidFill>
              </a:rPr>
              <a:t>折叠法</a:t>
            </a:r>
          </a:p>
          <a:p>
            <a:pPr>
              <a:buFont typeface="Wingdings" panose="05000000000000000000" pitchFamily="2" charset="2"/>
              <a:buChar char="l"/>
            </a:pPr>
            <a:r>
              <a:rPr lang="zh-CN" altLang="zh-CN" dirty="0"/>
              <a:t>把关键字自左到右分成位数相等的几部分</a:t>
            </a:r>
            <a:r>
              <a:rPr lang="zh-CN" altLang="zh-CN" b="0" dirty="0"/>
              <a:t>，每一部分的位数应与哈希表地址位数相同，当关键字位数不能被哈希地址位数整除时，最后一部分的位数短一些。</a:t>
            </a:r>
            <a:r>
              <a:rPr lang="zh-CN" altLang="zh-CN" dirty="0"/>
              <a:t>把这些部分的数据叠加起来</a:t>
            </a:r>
            <a:r>
              <a:rPr lang="zh-CN" altLang="zh-CN" b="0" dirty="0"/>
              <a:t>，就可得到具有该关键字的记录的哈希地址。</a:t>
            </a:r>
            <a:endParaRPr lang="en-US" altLang="zh-CN" b="0" dirty="0"/>
          </a:p>
          <a:p>
            <a:pPr>
              <a:buFont typeface="Wingdings" panose="05000000000000000000" pitchFamily="2" charset="2"/>
              <a:buChar char="l"/>
            </a:pPr>
            <a:r>
              <a:rPr lang="zh-CN" altLang="zh-CN" b="0" dirty="0"/>
              <a:t>折叠法有两种叠加方法：</a:t>
            </a:r>
          </a:p>
          <a:p>
            <a:r>
              <a:rPr lang="zh-CN" altLang="zh-CN" b="0" dirty="0"/>
              <a:t>①</a:t>
            </a:r>
            <a:r>
              <a:rPr lang="zh-CN" altLang="zh-CN" dirty="0">
                <a:solidFill>
                  <a:srgbClr val="FF0000"/>
                </a:solidFill>
              </a:rPr>
              <a:t>移位法</a:t>
            </a:r>
            <a:r>
              <a:rPr lang="zh-CN" altLang="zh-CN" b="0" dirty="0"/>
              <a:t>：</a:t>
            </a:r>
            <a:r>
              <a:rPr lang="zh-CN" altLang="zh-CN" dirty="0"/>
              <a:t>把各部分的最后一位对齐相加；</a:t>
            </a:r>
          </a:p>
          <a:p>
            <a:r>
              <a:rPr lang="zh-CN" altLang="zh-CN" b="0" dirty="0"/>
              <a:t>②</a:t>
            </a:r>
            <a:r>
              <a:rPr lang="zh-CN" altLang="zh-CN" dirty="0">
                <a:solidFill>
                  <a:srgbClr val="FF0000"/>
                </a:solidFill>
              </a:rPr>
              <a:t>分界法</a:t>
            </a:r>
            <a:r>
              <a:rPr lang="zh-CN" altLang="zh-CN" b="0" dirty="0"/>
              <a:t>：</a:t>
            </a:r>
            <a:r>
              <a:rPr lang="zh-CN" altLang="zh-CN" dirty="0"/>
              <a:t>各部分不折断，沿各部分的分界来回折叠，然后对齐相加</a:t>
            </a:r>
            <a:r>
              <a:rPr lang="zh-CN" altLang="zh-CN" b="0" dirty="0"/>
              <a:t>，将相加的结果作为哈希地址。</a:t>
            </a:r>
          </a:p>
          <a:p>
            <a:endParaRPr lang="zh-CN" altLang="en-US" dirty="0"/>
          </a:p>
        </p:txBody>
      </p:sp>
    </p:spTree>
    <p:extLst>
      <p:ext uri="{BB962C8B-B14F-4D97-AF65-F5344CB8AC3E}">
        <p14:creationId xmlns:p14="http://schemas.microsoft.com/office/powerpoint/2010/main" val="2840956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124744"/>
            <a:ext cx="7520940" cy="4083905"/>
          </a:xfrm>
        </p:spPr>
        <p:txBody>
          <a:bodyPr/>
          <a:lstStyle/>
          <a:p>
            <a:r>
              <a:rPr lang="en-US" altLang="zh-CN" b="0" dirty="0"/>
              <a:t>	</a:t>
            </a:r>
            <a:r>
              <a:rPr lang="zh-CN" altLang="zh-CN" b="0" dirty="0"/>
              <a:t>如</a:t>
            </a:r>
            <a:r>
              <a:rPr lang="en-US" altLang="zh-CN" b="0" dirty="0"/>
              <a:t>key=11516287</a:t>
            </a:r>
            <a:r>
              <a:rPr lang="zh-CN" altLang="zh-CN" b="0" dirty="0"/>
              <a:t>，若存储空间限定为</a:t>
            </a:r>
            <a:r>
              <a:rPr lang="en-US" altLang="zh-CN" b="0" dirty="0"/>
              <a:t>3</a:t>
            </a:r>
            <a:r>
              <a:rPr lang="zh-CN" altLang="zh-CN" b="0" dirty="0"/>
              <a:t>位，则划分结果为每段</a:t>
            </a:r>
            <a:r>
              <a:rPr lang="en-US" altLang="zh-CN" b="0" dirty="0"/>
              <a:t>3</a:t>
            </a:r>
            <a:r>
              <a:rPr lang="zh-CN" altLang="zh-CN" b="0" dirty="0"/>
              <a:t>位。将关键字划分为</a:t>
            </a:r>
            <a:r>
              <a:rPr lang="en-US" altLang="zh-CN" b="0" dirty="0"/>
              <a:t>3</a:t>
            </a:r>
            <a:r>
              <a:rPr lang="zh-CN" altLang="zh-CN" b="0" dirty="0"/>
              <a:t>段：</a:t>
            </a:r>
            <a:r>
              <a:rPr lang="en-US" altLang="zh-CN" b="0" dirty="0"/>
              <a:t>[1 1 5]</a:t>
            </a:r>
            <a:r>
              <a:rPr lang="zh-CN" altLang="zh-CN" b="0" dirty="0"/>
              <a:t>，</a:t>
            </a:r>
            <a:r>
              <a:rPr lang="en-US" altLang="zh-CN" b="0" dirty="0"/>
              <a:t>[1 6 2]</a:t>
            </a:r>
            <a:r>
              <a:rPr lang="zh-CN" altLang="zh-CN" b="0" dirty="0"/>
              <a:t>，</a:t>
            </a:r>
            <a:r>
              <a:rPr lang="en-US" altLang="zh-CN" b="0" dirty="0"/>
              <a:t>[8 7]</a:t>
            </a:r>
            <a:r>
              <a:rPr lang="zh-CN" altLang="zh-CN" b="0" dirty="0"/>
              <a:t>，累加结果如果超出地址位数的最高位则删除，仅保留最低的</a:t>
            </a:r>
            <a:r>
              <a:rPr lang="en-US" altLang="zh-CN" b="0" dirty="0"/>
              <a:t>3</a:t>
            </a:r>
            <a:r>
              <a:rPr lang="zh-CN" altLang="zh-CN" b="0" dirty="0"/>
              <a:t>位作为哈希地址，如图</a:t>
            </a:r>
            <a:r>
              <a:rPr lang="en-US" altLang="zh-CN" b="0" dirty="0"/>
              <a:t>8-3</a:t>
            </a:r>
            <a:r>
              <a:rPr lang="zh-CN" altLang="zh-CN" b="0" dirty="0"/>
              <a:t>所示。</a:t>
            </a:r>
          </a:p>
          <a:p>
            <a:r>
              <a:rPr lang="en-US" altLang="zh-CN" b="0" dirty="0"/>
              <a:t>			[1 1 5]</a:t>
            </a:r>
            <a:r>
              <a:rPr lang="zh-CN" altLang="zh-CN" b="0" dirty="0"/>
              <a:t>，</a:t>
            </a:r>
            <a:r>
              <a:rPr lang="en-US" altLang="zh-CN" b="0" dirty="0"/>
              <a:t>[1 6 2]</a:t>
            </a:r>
            <a:r>
              <a:rPr lang="zh-CN" altLang="zh-CN" b="0" dirty="0"/>
              <a:t>，</a:t>
            </a:r>
            <a:r>
              <a:rPr lang="en-US" altLang="zh-CN" b="0" dirty="0"/>
              <a:t>[8 7]</a:t>
            </a:r>
            <a:endParaRPr lang="zh-CN" altLang="zh-CN" b="0" dirty="0"/>
          </a:p>
          <a:p>
            <a:endParaRPr lang="zh-CN" altLang="en-US" dirty="0"/>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19672" y="3810875"/>
            <a:ext cx="5518184" cy="23302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239145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124744"/>
            <a:ext cx="8136904" cy="4968552"/>
          </a:xfrm>
        </p:spPr>
        <p:txBody>
          <a:bodyPr>
            <a:normAutofit/>
          </a:bodyPr>
          <a:lstStyle/>
          <a:p>
            <a:r>
              <a:rPr lang="en-US" altLang="zh-CN" b="0" dirty="0"/>
              <a:t>	</a:t>
            </a:r>
            <a:r>
              <a:rPr lang="zh-CN" altLang="zh-CN" b="0" dirty="0"/>
              <a:t>在实际工作中，需要根据不同的情况来采用不同的哈希函数。通常考虑的因素有：</a:t>
            </a:r>
          </a:p>
          <a:p>
            <a:pPr lvl="3"/>
            <a:r>
              <a:rPr lang="zh-CN" altLang="zh-CN" b="0" dirty="0"/>
              <a:t>计算哈希函数所需的时间；</a:t>
            </a:r>
          </a:p>
          <a:p>
            <a:pPr lvl="3"/>
            <a:r>
              <a:rPr lang="zh-CN" altLang="zh-CN" b="0" dirty="0"/>
              <a:t>关键字的长度；</a:t>
            </a:r>
          </a:p>
          <a:p>
            <a:pPr lvl="3"/>
            <a:r>
              <a:rPr lang="zh-CN" altLang="zh-CN" b="0" dirty="0"/>
              <a:t>哈希表空间的大小；</a:t>
            </a:r>
          </a:p>
          <a:p>
            <a:pPr lvl="3"/>
            <a:r>
              <a:rPr lang="zh-CN" altLang="zh-CN" b="0" dirty="0"/>
              <a:t>关键字的分布情况；</a:t>
            </a:r>
          </a:p>
          <a:p>
            <a:pPr lvl="3"/>
            <a:r>
              <a:rPr lang="zh-CN" altLang="zh-CN" b="0" dirty="0"/>
              <a:t>记录的查找频率。</a:t>
            </a:r>
          </a:p>
          <a:p>
            <a:endParaRPr lang="zh-CN" altLang="en-US" dirty="0"/>
          </a:p>
        </p:txBody>
      </p:sp>
      <p:sp>
        <p:nvSpPr>
          <p:cNvPr id="4" name="矩形 3"/>
          <p:cNvSpPr/>
          <p:nvPr/>
        </p:nvSpPr>
        <p:spPr>
          <a:xfrm>
            <a:off x="1043608" y="5013175"/>
            <a:ext cx="7344816" cy="830997"/>
          </a:xfrm>
          <a:prstGeom prst="rect">
            <a:avLst/>
          </a:prstGeom>
        </p:spPr>
        <p:txBody>
          <a:bodyPr wrap="square">
            <a:spAutoFit/>
          </a:bodyPr>
          <a:lstStyle/>
          <a:p>
            <a:r>
              <a:rPr lang="zh-CN" altLang="zh-CN" sz="2400" dirty="0"/>
              <a:t>★注：哈希函数不是一个完全的随机数，是与关键字的值相关的伪随机数。如此才能将存储与查找相对应。</a:t>
            </a:r>
          </a:p>
        </p:txBody>
      </p:sp>
    </p:spTree>
    <p:extLst>
      <p:ext uri="{BB962C8B-B14F-4D97-AF65-F5344CB8AC3E}">
        <p14:creationId xmlns:p14="http://schemas.microsoft.com/office/powerpoint/2010/main" val="2909255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fade">
                                      <p:cBhvr>
                                        <p:cTn id="3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8.3.2 </a:t>
            </a:r>
            <a:r>
              <a:rPr lang="zh-CN" altLang="zh-CN" b="1" dirty="0"/>
              <a:t>解决冲突的办法</a:t>
            </a:r>
            <a:endParaRPr lang="zh-CN" altLang="en-US" dirty="0"/>
          </a:p>
        </p:txBody>
      </p:sp>
      <p:sp>
        <p:nvSpPr>
          <p:cNvPr id="3" name="内容占位符 2"/>
          <p:cNvSpPr>
            <a:spLocks noGrp="1"/>
          </p:cNvSpPr>
          <p:nvPr>
            <p:ph idx="1"/>
          </p:nvPr>
        </p:nvSpPr>
        <p:spPr>
          <a:xfrm>
            <a:off x="827584" y="1628800"/>
            <a:ext cx="8064896" cy="3672408"/>
          </a:xfrm>
        </p:spPr>
        <p:txBody>
          <a:bodyPr/>
          <a:lstStyle/>
          <a:p>
            <a:pPr marL="0" indent="0">
              <a:spcBef>
                <a:spcPts val="1200"/>
              </a:spcBef>
            </a:pPr>
            <a:r>
              <a:rPr lang="zh-CN" altLang="zh-CN" dirty="0"/>
              <a:t>冲突解决技术可以分为两类：</a:t>
            </a:r>
            <a:r>
              <a:rPr lang="zh-CN" altLang="zh-CN" dirty="0">
                <a:solidFill>
                  <a:srgbClr val="FF0000"/>
                </a:solidFill>
              </a:rPr>
              <a:t>开放哈希和封闭哈希</a:t>
            </a:r>
            <a:endParaRPr lang="en-US" altLang="zh-CN" dirty="0">
              <a:solidFill>
                <a:srgbClr val="FF0000"/>
              </a:solidFill>
            </a:endParaRPr>
          </a:p>
          <a:p>
            <a:pPr marL="0" indent="0">
              <a:spcBef>
                <a:spcPts val="1200"/>
              </a:spcBef>
            </a:pPr>
            <a:r>
              <a:rPr lang="zh-CN" altLang="zh-CN" dirty="0"/>
              <a:t>两种解决冲突的方法的</a:t>
            </a:r>
            <a:r>
              <a:rPr lang="zh-CN" altLang="en-US" dirty="0">
                <a:solidFill>
                  <a:srgbClr val="FF0000"/>
                </a:solidFill>
              </a:rPr>
              <a:t>区别</a:t>
            </a:r>
            <a:r>
              <a:rPr lang="zh-CN" altLang="zh-CN" b="0" dirty="0"/>
              <a:t>：</a:t>
            </a:r>
            <a:endParaRPr lang="en-US" altLang="zh-CN" b="0" dirty="0"/>
          </a:p>
          <a:p>
            <a:pPr lvl="2" indent="-216000">
              <a:spcBef>
                <a:spcPts val="1200"/>
              </a:spcBef>
              <a:buFont typeface="Wingdings" panose="05000000000000000000" pitchFamily="2" charset="2"/>
              <a:buChar char="l"/>
            </a:pPr>
            <a:r>
              <a:rPr lang="zh-CN" altLang="zh-CN" b="0" dirty="0">
                <a:solidFill>
                  <a:srgbClr val="FF0000"/>
                </a:solidFill>
              </a:rPr>
              <a:t>开放哈希法是冲突</a:t>
            </a:r>
            <a:r>
              <a:rPr lang="zh-CN" altLang="en-US" b="0" dirty="0">
                <a:solidFill>
                  <a:srgbClr val="FF0000"/>
                </a:solidFill>
              </a:rPr>
              <a:t>元素</a:t>
            </a:r>
            <a:r>
              <a:rPr lang="zh-CN" altLang="zh-CN" b="0" dirty="0">
                <a:solidFill>
                  <a:srgbClr val="FF0000"/>
                </a:solidFill>
              </a:rPr>
              <a:t>不占哈希表空间</a:t>
            </a:r>
            <a:r>
              <a:rPr lang="zh-CN" altLang="zh-CN" b="0" dirty="0"/>
              <a:t>，即不在哈希表中存放，而是存放到哈希表之外的空间中去；</a:t>
            </a:r>
            <a:endParaRPr lang="en-US" altLang="zh-CN" b="0" dirty="0"/>
          </a:p>
          <a:p>
            <a:pPr lvl="2" indent="-216000">
              <a:spcBef>
                <a:spcPts val="1200"/>
              </a:spcBef>
              <a:buFont typeface="Wingdings" panose="05000000000000000000" pitchFamily="2" charset="2"/>
              <a:buChar char="l"/>
            </a:pPr>
            <a:r>
              <a:rPr lang="zh-CN" altLang="zh-CN" b="0" dirty="0">
                <a:solidFill>
                  <a:srgbClr val="FF0000"/>
                </a:solidFill>
              </a:rPr>
              <a:t>封闭哈希法允许冲突元素存放到哈希表空间中</a:t>
            </a:r>
            <a:r>
              <a:rPr lang="zh-CN" altLang="zh-CN" b="0" dirty="0"/>
              <a:t>，即放到哈希表的空闲区域中。</a:t>
            </a:r>
            <a:endParaRPr lang="zh-CN" altLang="en-US" b="0" dirty="0"/>
          </a:p>
        </p:txBody>
      </p:sp>
      <p:pic>
        <p:nvPicPr>
          <p:cNvPr id="4" name="图片 3"/>
          <p:cNvPicPr/>
          <p:nvPr/>
        </p:nvPicPr>
        <p:blipFill>
          <a:blip r:embed="rId2" cstate="print">
            <a:extLst>
              <a:ext uri="{28A0092B-C50C-407E-A947-70E740481C1C}">
                <a14:useLocalDpi xmlns:a14="http://schemas.microsoft.com/office/drawing/2010/main" val="0"/>
              </a:ext>
            </a:extLst>
          </a:blip>
          <a:stretch>
            <a:fillRect/>
          </a:stretch>
        </p:blipFill>
        <p:spPr>
          <a:xfrm>
            <a:off x="8143900" y="357166"/>
            <a:ext cx="456583" cy="453006"/>
          </a:xfrm>
          <a:prstGeom prst="rect">
            <a:avLst/>
          </a:prstGeom>
        </p:spPr>
      </p:pic>
    </p:spTree>
    <p:extLst>
      <p:ext uri="{BB962C8B-B14F-4D97-AF65-F5344CB8AC3E}">
        <p14:creationId xmlns:p14="http://schemas.microsoft.com/office/powerpoint/2010/main" val="4089000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7632848" cy="4968552"/>
          </a:xfrm>
        </p:spPr>
        <p:txBody>
          <a:bodyPr>
            <a:normAutofit/>
          </a:bodyPr>
          <a:lstStyle/>
          <a:p>
            <a:r>
              <a:rPr lang="en-US" altLang="zh-CN" dirty="0"/>
              <a:t>1</a:t>
            </a:r>
            <a:r>
              <a:rPr lang="zh-CN" altLang="zh-CN" dirty="0"/>
              <a:t>．开放哈希法</a:t>
            </a:r>
          </a:p>
          <a:p>
            <a:r>
              <a:rPr lang="zh-CN" altLang="zh-CN" dirty="0">
                <a:solidFill>
                  <a:srgbClr val="FF0000"/>
                </a:solidFill>
              </a:rPr>
              <a:t>（</a:t>
            </a:r>
            <a:r>
              <a:rPr lang="en-US" altLang="zh-CN" dirty="0">
                <a:solidFill>
                  <a:srgbClr val="FF0000"/>
                </a:solidFill>
              </a:rPr>
              <a:t>1</a:t>
            </a:r>
            <a:r>
              <a:rPr lang="zh-CN" altLang="zh-CN" dirty="0">
                <a:solidFill>
                  <a:srgbClr val="FF0000"/>
                </a:solidFill>
              </a:rPr>
              <a:t>）链地址法</a:t>
            </a:r>
          </a:p>
          <a:p>
            <a:pPr>
              <a:buFont typeface="Wingdings" panose="05000000000000000000" pitchFamily="2" charset="2"/>
              <a:buChar char="u"/>
            </a:pPr>
            <a:r>
              <a:rPr lang="zh-CN" altLang="zh-CN" b="0" dirty="0"/>
              <a:t>链地址法首先对关键字集合用某一个哈希函数计算它们的存放位置。</a:t>
            </a:r>
            <a:endParaRPr lang="en-US" altLang="zh-CN" b="0" dirty="0"/>
          </a:p>
          <a:p>
            <a:pPr>
              <a:buFont typeface="Wingdings" panose="05000000000000000000" pitchFamily="2" charset="2"/>
              <a:buChar char="u"/>
            </a:pPr>
            <a:r>
              <a:rPr lang="zh-CN" altLang="zh-CN" b="0" dirty="0"/>
              <a:t>假设哈希表的地址空间是从</a:t>
            </a:r>
            <a:r>
              <a:rPr lang="en-US" altLang="zh-CN" b="0" dirty="0"/>
              <a:t>0</a:t>
            </a:r>
            <a:r>
              <a:rPr lang="zh-CN" altLang="zh-CN" b="0" dirty="0"/>
              <a:t>到</a:t>
            </a:r>
            <a:r>
              <a:rPr lang="en-US" altLang="zh-CN" b="0" dirty="0"/>
              <a:t>m-1</a:t>
            </a:r>
            <a:r>
              <a:rPr lang="zh-CN" altLang="zh-CN" b="0" dirty="0"/>
              <a:t>，则关键字集合中的所有关键字被划分为</a:t>
            </a:r>
            <a:r>
              <a:rPr lang="en-US" altLang="zh-CN" b="0" dirty="0"/>
              <a:t>m</a:t>
            </a:r>
            <a:r>
              <a:rPr lang="zh-CN" altLang="zh-CN" b="0" dirty="0"/>
              <a:t>个子集，具有相同地址的关键字归于同一子集。</a:t>
            </a:r>
            <a:endParaRPr lang="en-US" altLang="zh-CN" b="0" dirty="0"/>
          </a:p>
          <a:p>
            <a:pPr>
              <a:buFont typeface="Wingdings" panose="05000000000000000000" pitchFamily="2" charset="2"/>
              <a:buChar char="u"/>
            </a:pPr>
            <a:r>
              <a:rPr lang="zh-CN" altLang="zh-CN" b="0" dirty="0"/>
              <a:t>将所有关键字为同一子集的记录存储在同一</a:t>
            </a:r>
            <a:r>
              <a:rPr lang="zh-CN" altLang="en-US" b="0" dirty="0"/>
              <a:t>个</a:t>
            </a:r>
            <a:r>
              <a:rPr lang="zh-CN" altLang="zh-CN" b="0" dirty="0"/>
              <a:t>线性链表中，各个链表的表头结点组成一个向量。</a:t>
            </a:r>
          </a:p>
          <a:p>
            <a:endParaRPr lang="zh-CN" altLang="en-US" dirty="0"/>
          </a:p>
        </p:txBody>
      </p:sp>
    </p:spTree>
    <p:extLst>
      <p:ext uri="{BB962C8B-B14F-4D97-AF65-F5344CB8AC3E}">
        <p14:creationId xmlns:p14="http://schemas.microsoft.com/office/powerpoint/2010/main" val="1676686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1052736"/>
            <a:ext cx="7848872" cy="4968552"/>
          </a:xfrm>
        </p:spPr>
        <p:txBody>
          <a:bodyPr>
            <a:normAutofit/>
          </a:bodyPr>
          <a:lstStyle/>
          <a:p>
            <a:r>
              <a:rPr lang="zh-CN" altLang="zh-CN" b="0" dirty="0"/>
              <a:t>【例</a:t>
            </a:r>
            <a:r>
              <a:rPr lang="en-US" altLang="zh-CN" b="0" dirty="0"/>
              <a:t>8.8</a:t>
            </a:r>
            <a:r>
              <a:rPr lang="zh-CN" altLang="zh-CN" b="0" dirty="0"/>
              <a:t>】将一组记录元素的关键字集合</a:t>
            </a:r>
            <a:r>
              <a:rPr lang="en-US" altLang="zh-CN" b="0" dirty="0"/>
              <a:t>{11</a:t>
            </a:r>
            <a:r>
              <a:rPr lang="zh-CN" altLang="zh-CN" b="0" dirty="0"/>
              <a:t>，</a:t>
            </a:r>
            <a:r>
              <a:rPr lang="en-US" altLang="zh-CN" b="0" dirty="0"/>
              <a:t>21</a:t>
            </a:r>
            <a:r>
              <a:rPr lang="zh-CN" altLang="zh-CN" b="0" dirty="0"/>
              <a:t>，</a:t>
            </a:r>
            <a:r>
              <a:rPr lang="en-US" altLang="zh-CN" b="0" dirty="0"/>
              <a:t>35</a:t>
            </a:r>
            <a:r>
              <a:rPr lang="zh-CN" altLang="zh-CN" b="0" dirty="0"/>
              <a:t>，</a:t>
            </a:r>
            <a:r>
              <a:rPr lang="en-US" altLang="zh-CN" b="0" dirty="0"/>
              <a:t>41</a:t>
            </a:r>
            <a:r>
              <a:rPr lang="zh-CN" altLang="zh-CN" b="0" dirty="0"/>
              <a:t>，</a:t>
            </a:r>
            <a:r>
              <a:rPr lang="en-US" altLang="zh-CN" b="0" dirty="0"/>
              <a:t>43</a:t>
            </a:r>
            <a:r>
              <a:rPr lang="zh-CN" altLang="zh-CN" b="0" dirty="0"/>
              <a:t>，</a:t>
            </a:r>
            <a:r>
              <a:rPr lang="en-US" altLang="zh-CN" b="0" dirty="0"/>
              <a:t>55</a:t>
            </a:r>
            <a:r>
              <a:rPr lang="zh-CN" altLang="zh-CN" b="0" dirty="0"/>
              <a:t>，</a:t>
            </a:r>
            <a:r>
              <a:rPr lang="en-US" altLang="zh-CN" b="0" dirty="0"/>
              <a:t>61</a:t>
            </a:r>
            <a:r>
              <a:rPr lang="zh-CN" altLang="zh-CN" b="0" dirty="0"/>
              <a:t>，</a:t>
            </a:r>
            <a:r>
              <a:rPr lang="en-US" altLang="zh-CN" b="0" dirty="0"/>
              <a:t>66</a:t>
            </a:r>
            <a:r>
              <a:rPr lang="zh-CN" altLang="zh-CN" b="0" dirty="0"/>
              <a:t>，</a:t>
            </a:r>
            <a:r>
              <a:rPr lang="en-US" altLang="zh-CN" b="0" dirty="0"/>
              <a:t>75}</a:t>
            </a:r>
            <a:r>
              <a:rPr lang="zh-CN" altLang="zh-CN" b="0" dirty="0"/>
              <a:t>，按照哈希函数</a:t>
            </a:r>
            <a:r>
              <a:rPr lang="en-US" altLang="zh-CN" dirty="0">
                <a:solidFill>
                  <a:srgbClr val="FF0000"/>
                </a:solidFill>
              </a:rPr>
              <a:t>Hash(x)=x%11</a:t>
            </a:r>
            <a:r>
              <a:rPr lang="zh-CN" altLang="zh-CN" b="0" dirty="0"/>
              <a:t>，采用链地址法表示关键字在哈希表中的位置，如图</a:t>
            </a:r>
            <a:r>
              <a:rPr lang="en-US" altLang="zh-CN" b="0" dirty="0"/>
              <a:t>8-4(a)</a:t>
            </a:r>
            <a:r>
              <a:rPr lang="zh-CN" altLang="zh-CN" b="0" dirty="0"/>
              <a:t>和</a:t>
            </a:r>
            <a:r>
              <a:rPr lang="en-US" altLang="zh-CN" b="0" dirty="0"/>
              <a:t>(b)</a:t>
            </a:r>
            <a:r>
              <a:rPr lang="zh-CN" altLang="zh-CN" b="0" dirty="0"/>
              <a:t>所示。</a:t>
            </a:r>
          </a:p>
          <a:p>
            <a:pPr marL="685800" lvl="4" indent="0">
              <a:buNone/>
            </a:pPr>
            <a:r>
              <a:rPr lang="en-US" altLang="zh-CN" b="0" dirty="0"/>
              <a:t>Hash(11)= Hash(55)= Hash(66)=0</a:t>
            </a:r>
            <a:endParaRPr lang="zh-CN" altLang="zh-CN" b="0" dirty="0"/>
          </a:p>
          <a:p>
            <a:pPr marL="685800" lvl="4" indent="0">
              <a:buNone/>
            </a:pPr>
            <a:r>
              <a:rPr lang="en-US" altLang="zh-CN" b="0" dirty="0"/>
              <a:t>Hash(35)=2</a:t>
            </a:r>
            <a:endParaRPr lang="zh-CN" altLang="zh-CN" b="0" dirty="0"/>
          </a:p>
          <a:p>
            <a:pPr marL="685800" lvl="4" indent="0">
              <a:buNone/>
            </a:pPr>
            <a:r>
              <a:rPr lang="en-US" altLang="zh-CN" b="0" dirty="0"/>
              <a:t>Hash(61)=6</a:t>
            </a:r>
            <a:endParaRPr lang="zh-CN" altLang="zh-CN" b="0" dirty="0"/>
          </a:p>
          <a:p>
            <a:pPr marL="685800" lvl="4" indent="0">
              <a:buNone/>
            </a:pPr>
            <a:r>
              <a:rPr lang="en-US" altLang="zh-CN" b="0" dirty="0"/>
              <a:t>Hash(41)=8 </a:t>
            </a:r>
            <a:endParaRPr lang="zh-CN" altLang="zh-CN" b="0" dirty="0"/>
          </a:p>
          <a:p>
            <a:pPr marL="685800" lvl="4" indent="0">
              <a:buNone/>
            </a:pPr>
            <a:r>
              <a:rPr lang="en-US" altLang="zh-CN" b="0" dirty="0"/>
              <a:t>Hash(75)=9</a:t>
            </a:r>
            <a:endParaRPr lang="zh-CN" altLang="zh-CN" b="0" dirty="0"/>
          </a:p>
          <a:p>
            <a:pPr marL="685800" lvl="4" indent="0">
              <a:buNone/>
            </a:pPr>
            <a:r>
              <a:rPr lang="en-US" altLang="zh-CN" b="0" dirty="0"/>
              <a:t>Hash(21)=Hash(43)=10</a:t>
            </a:r>
            <a:endParaRPr lang="zh-CN" altLang="zh-CN" b="0" dirty="0"/>
          </a:p>
          <a:p>
            <a:endParaRPr lang="zh-CN" altLang="en-US" dirty="0"/>
          </a:p>
        </p:txBody>
      </p:sp>
    </p:spTree>
    <p:extLst>
      <p:ext uri="{BB962C8B-B14F-4D97-AF65-F5344CB8AC3E}">
        <p14:creationId xmlns:p14="http://schemas.microsoft.com/office/powerpoint/2010/main" val="16146902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1520" y="1268760"/>
            <a:ext cx="4617200" cy="3606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04048" y="1268760"/>
            <a:ext cx="4059572" cy="3606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矩形 3"/>
          <p:cNvSpPr/>
          <p:nvPr/>
        </p:nvSpPr>
        <p:spPr>
          <a:xfrm>
            <a:off x="1331640" y="5301208"/>
            <a:ext cx="6336704" cy="369332"/>
          </a:xfrm>
          <a:prstGeom prst="rect">
            <a:avLst/>
          </a:prstGeom>
        </p:spPr>
        <p:txBody>
          <a:bodyPr wrap="square">
            <a:spAutoFit/>
          </a:bodyPr>
          <a:lstStyle/>
          <a:p>
            <a:r>
              <a:rPr lang="zh-CN" altLang="zh-CN" dirty="0">
                <a:latin typeface="Times New Roman" panose="02020603050405020304" pitchFamily="18" charset="0"/>
                <a:ea typeface="楷体" panose="02010609060101010101" pitchFamily="49" charset="-122"/>
                <a:cs typeface="Times New Roman" panose="02020603050405020304" pitchFamily="18" charset="0"/>
              </a:rPr>
              <a:t>图</a:t>
            </a:r>
            <a:r>
              <a:rPr lang="en-US" altLang="zh-CN" dirty="0">
                <a:latin typeface="Times New Roman" panose="02020603050405020304" pitchFamily="18" charset="0"/>
                <a:ea typeface="楷体" panose="02010609060101010101" pitchFamily="49" charset="-122"/>
                <a:cs typeface="Times New Roman" panose="02020603050405020304" pitchFamily="18" charset="0"/>
              </a:rPr>
              <a:t>8-4 </a:t>
            </a:r>
            <a:r>
              <a:rPr lang="zh-CN" altLang="zh-CN" dirty="0">
                <a:latin typeface="Times New Roman" panose="02020603050405020304" pitchFamily="18" charset="0"/>
                <a:ea typeface="楷体" panose="02010609060101010101" pitchFamily="49" charset="-122"/>
                <a:cs typeface="Times New Roman" panose="02020603050405020304" pitchFamily="18" charset="0"/>
              </a:rPr>
              <a:t>用链地址法得到的哈希表结构（表头结点的表示方法）</a:t>
            </a:r>
          </a:p>
        </p:txBody>
      </p:sp>
    </p:spTree>
    <p:extLst>
      <p:ext uri="{BB962C8B-B14F-4D97-AF65-F5344CB8AC3E}">
        <p14:creationId xmlns:p14="http://schemas.microsoft.com/office/powerpoint/2010/main" val="16652699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1124744"/>
            <a:ext cx="7520940" cy="3579849"/>
          </a:xfrm>
        </p:spPr>
        <p:txBody>
          <a:bodyPr/>
          <a:lstStyle/>
          <a:p>
            <a:r>
              <a:rPr lang="en-US" altLang="zh-CN" b="0" dirty="0"/>
              <a:t>	</a:t>
            </a:r>
            <a:r>
              <a:rPr lang="zh-CN" altLang="zh-CN" dirty="0">
                <a:solidFill>
                  <a:srgbClr val="FF0000"/>
                </a:solidFill>
              </a:rPr>
              <a:t>平均搜索长度</a:t>
            </a:r>
            <a:r>
              <a:rPr lang="en-US" altLang="zh-CN" dirty="0">
                <a:solidFill>
                  <a:srgbClr val="FF0000"/>
                </a:solidFill>
              </a:rPr>
              <a:t>ASL</a:t>
            </a:r>
            <a:r>
              <a:rPr lang="zh-CN" altLang="en-US" dirty="0">
                <a:solidFill>
                  <a:srgbClr val="FF0000"/>
                </a:solidFill>
              </a:rPr>
              <a:t>：</a:t>
            </a:r>
            <a:endParaRPr lang="en-US" altLang="zh-CN" dirty="0">
              <a:solidFill>
                <a:srgbClr val="FF0000"/>
              </a:solidFill>
            </a:endParaRPr>
          </a:p>
          <a:p>
            <a:r>
              <a:rPr lang="en-US" altLang="zh-CN" b="0" dirty="0"/>
              <a:t>	</a:t>
            </a:r>
            <a:r>
              <a:rPr lang="zh-CN" altLang="zh-CN" b="0" dirty="0"/>
              <a:t>使用平均搜索长度</a:t>
            </a:r>
            <a:r>
              <a:rPr lang="en-US" altLang="zh-CN" b="0" dirty="0"/>
              <a:t>ASL</a:t>
            </a:r>
            <a:r>
              <a:rPr lang="zh-CN" altLang="zh-CN" b="0" dirty="0"/>
              <a:t>来衡量哈希方法的搜索性能，即用搜索成功情况下的平均比较次数来表示。</a:t>
            </a:r>
            <a:endParaRPr lang="en-US" altLang="zh-CN" b="0" dirty="0"/>
          </a:p>
          <a:p>
            <a:r>
              <a:rPr lang="en-US" altLang="zh-CN" b="0" dirty="0"/>
              <a:t>	</a:t>
            </a:r>
            <a:r>
              <a:rPr lang="zh-CN" altLang="zh-CN" b="0" dirty="0"/>
              <a:t> 【例</a:t>
            </a:r>
            <a:r>
              <a:rPr lang="en-US" altLang="zh-CN" b="0" dirty="0"/>
              <a:t>8.8</a:t>
            </a:r>
            <a:r>
              <a:rPr lang="zh-CN" altLang="zh-CN" b="0" dirty="0"/>
              <a:t>】</a:t>
            </a:r>
            <a:r>
              <a:rPr lang="zh-CN" altLang="zh-CN" dirty="0"/>
              <a:t>搜索</a:t>
            </a:r>
            <a:r>
              <a:rPr lang="zh-CN" altLang="zh-CN" dirty="0">
                <a:solidFill>
                  <a:srgbClr val="FF0000"/>
                </a:solidFill>
              </a:rPr>
              <a:t>成功</a:t>
            </a:r>
            <a:r>
              <a:rPr lang="zh-CN" altLang="zh-CN" dirty="0"/>
              <a:t>的平均查找长度</a:t>
            </a:r>
            <a:r>
              <a:rPr lang="zh-CN" altLang="zh-CN" b="0" dirty="0"/>
              <a:t>为：</a:t>
            </a:r>
          </a:p>
          <a:p>
            <a:endParaRPr lang="zh-CN" altLang="en-US" dirty="0"/>
          </a:p>
        </p:txBody>
      </p:sp>
      <p:pic>
        <p:nvPicPr>
          <p:cNvPr id="27650" name="Picture 2"/>
          <p:cNvPicPr>
            <a:picLocks noChangeAspect="1" noChangeArrowheads="1"/>
          </p:cNvPicPr>
          <p:nvPr/>
        </p:nvPicPr>
        <p:blipFill>
          <a:blip r:embed="rId2" cstate="print"/>
          <a:srcRect/>
          <a:stretch>
            <a:fillRect/>
          </a:stretch>
        </p:blipFill>
        <p:spPr bwMode="auto">
          <a:xfrm>
            <a:off x="1259632" y="3356992"/>
            <a:ext cx="6984776" cy="852855"/>
          </a:xfrm>
          <a:prstGeom prst="rect">
            <a:avLst/>
          </a:prstGeom>
          <a:noFill/>
          <a:ln w="9525">
            <a:noFill/>
            <a:miter lim="800000"/>
            <a:headEnd/>
            <a:tailEnd/>
          </a:ln>
        </p:spPr>
      </p:pic>
    </p:spTree>
    <p:extLst>
      <p:ext uri="{BB962C8B-B14F-4D97-AF65-F5344CB8AC3E}">
        <p14:creationId xmlns:p14="http://schemas.microsoft.com/office/powerpoint/2010/main" val="355926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7650"/>
                                        </p:tgtEl>
                                        <p:attrNameLst>
                                          <p:attrName>style.visibility</p:attrName>
                                        </p:attrNameLst>
                                      </p:cBhvr>
                                      <p:to>
                                        <p:strVal val="visible"/>
                                      </p:to>
                                    </p:set>
                                    <p:animEffect transition="in" filter="fade">
                                      <p:cBhvr>
                                        <p:cTn id="10" dur="500"/>
                                        <p:tgtEl>
                                          <p:spTgt spid="276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15F9BB2-8937-454F-B2FC-B92412A33A28}"/>
              </a:ext>
            </a:extLst>
          </p:cNvPr>
          <p:cNvSpPr>
            <a:spLocks noGrp="1"/>
          </p:cNvSpPr>
          <p:nvPr>
            <p:ph type="dt" sz="half" idx="10"/>
          </p:nvPr>
        </p:nvSpPr>
        <p:spPr/>
        <p:txBody>
          <a:bodyPr/>
          <a:lstStyle/>
          <a:p>
            <a:fld id="{9A6B2991-BBE5-4E69-A281-1A8B0AE9CDD7}" type="datetime1">
              <a:rPr lang="zh-CN" altLang="en-US" smtClean="0"/>
              <a:pPr/>
              <a:t>2025/6/3</a:t>
            </a:fld>
            <a:endParaRPr lang="zh-CN" altLang="en-US"/>
          </a:p>
        </p:txBody>
      </p:sp>
      <p:sp>
        <p:nvSpPr>
          <p:cNvPr id="3" name="文本框 2">
            <a:extLst>
              <a:ext uri="{FF2B5EF4-FFF2-40B4-BE49-F238E27FC236}">
                <a16:creationId xmlns:a16="http://schemas.microsoft.com/office/drawing/2014/main" id="{0E9EB2A8-2DC4-4129-9D8F-9934E0AF0BAD}"/>
              </a:ext>
            </a:extLst>
          </p:cNvPr>
          <p:cNvSpPr txBox="1"/>
          <p:nvPr/>
        </p:nvSpPr>
        <p:spPr>
          <a:xfrm>
            <a:off x="107504" y="-27384"/>
            <a:ext cx="9036496" cy="7294305"/>
          </a:xfrm>
          <a:prstGeom prst="rect">
            <a:avLst/>
          </a:prstGeom>
          <a:solidFill>
            <a:schemeClr val="accent3">
              <a:lumMod val="40000"/>
              <a:lumOff val="60000"/>
            </a:schemeClr>
          </a:solidFill>
        </p:spPr>
        <p:txBody>
          <a:bodyPr wrap="square" rtlCol="0">
            <a:spAutoFit/>
          </a:bodyPr>
          <a:lstStyle/>
          <a:p>
            <a:r>
              <a:rPr lang="en-US" altLang="zh-CN" dirty="0">
                <a:latin typeface="Arial Black" panose="020B0A04020102020204" pitchFamily="34" charset="0"/>
              </a:rPr>
              <a:t>//</a:t>
            </a:r>
            <a:r>
              <a:rPr lang="zh-CN" altLang="en-US" dirty="0">
                <a:latin typeface="Arial Black" panose="020B0A04020102020204" pitchFamily="34" charset="0"/>
              </a:rPr>
              <a:t>创建哈希链表函数</a:t>
            </a:r>
          </a:p>
          <a:p>
            <a:r>
              <a:rPr lang="en-US" altLang="zh-CN" dirty="0">
                <a:latin typeface="Arial Black" panose="020B0A04020102020204" pitchFamily="34" charset="0"/>
              </a:rPr>
              <a:t>template &lt;class </a:t>
            </a:r>
            <a:r>
              <a:rPr lang="en-US" altLang="zh-CN" dirty="0" err="1">
                <a:latin typeface="Arial Black" panose="020B0A04020102020204" pitchFamily="34" charset="0"/>
              </a:rPr>
              <a:t>keytype,class</a:t>
            </a:r>
            <a:r>
              <a:rPr lang="en-US" altLang="zh-CN" dirty="0">
                <a:latin typeface="Arial Black" panose="020B0A04020102020204" pitchFamily="34" charset="0"/>
              </a:rPr>
              <a:t> </a:t>
            </a:r>
            <a:r>
              <a:rPr lang="en-US" altLang="zh-CN" dirty="0" err="1">
                <a:latin typeface="Arial Black" panose="020B0A04020102020204" pitchFamily="34" charset="0"/>
              </a:rPr>
              <a:t>Itemtype</a:t>
            </a:r>
            <a:r>
              <a:rPr lang="en-US" altLang="zh-CN" dirty="0">
                <a:latin typeface="Arial Black" panose="020B0A04020102020204" pitchFamily="34" charset="0"/>
              </a:rPr>
              <a:t>&gt; </a:t>
            </a:r>
          </a:p>
          <a:p>
            <a:r>
              <a:rPr lang="en-US" altLang="zh-CN" dirty="0">
                <a:latin typeface="Arial Black" panose="020B0A04020102020204" pitchFamily="34" charset="0"/>
              </a:rPr>
              <a:t>bool </a:t>
            </a:r>
            <a:r>
              <a:rPr lang="en-US" altLang="zh-CN" dirty="0" err="1">
                <a:latin typeface="Arial Black" panose="020B0A04020102020204" pitchFamily="34" charset="0"/>
              </a:rPr>
              <a:t>recordList</a:t>
            </a:r>
            <a:r>
              <a:rPr lang="en-US" altLang="zh-CN" dirty="0">
                <a:latin typeface="Arial Black" panose="020B0A04020102020204" pitchFamily="34" charset="0"/>
              </a:rPr>
              <a:t>&lt;</a:t>
            </a:r>
            <a:r>
              <a:rPr lang="en-US" altLang="zh-CN" dirty="0" err="1">
                <a:latin typeface="Arial Black" panose="020B0A04020102020204" pitchFamily="34" charset="0"/>
              </a:rPr>
              <a:t>keytype,Itemtype</a:t>
            </a:r>
            <a:r>
              <a:rPr lang="en-US" altLang="zh-CN" dirty="0">
                <a:latin typeface="Arial Black" panose="020B0A04020102020204" pitchFamily="34" charset="0"/>
              </a:rPr>
              <a:t>&gt;::create_hash3(</a:t>
            </a:r>
            <a:r>
              <a:rPr lang="en-US" altLang="zh-CN" dirty="0" err="1">
                <a:latin typeface="Arial Black" panose="020B0A04020102020204" pitchFamily="34" charset="0"/>
              </a:rPr>
              <a:t>keytype</a:t>
            </a:r>
            <a:r>
              <a:rPr lang="en-US" altLang="zh-CN" dirty="0">
                <a:latin typeface="Arial Black" panose="020B0A04020102020204" pitchFamily="34" charset="0"/>
              </a:rPr>
              <a:t> *</a:t>
            </a:r>
            <a:r>
              <a:rPr lang="en-US" altLang="zh-CN" dirty="0" err="1">
                <a:latin typeface="Arial Black" panose="020B0A04020102020204" pitchFamily="34" charset="0"/>
              </a:rPr>
              <a:t>pa,int</a:t>
            </a:r>
            <a:r>
              <a:rPr lang="en-US" altLang="zh-CN" dirty="0">
                <a:latin typeface="Arial Black" panose="020B0A04020102020204" pitchFamily="34" charset="0"/>
              </a:rPr>
              <a:t> n)   </a:t>
            </a:r>
            <a:endParaRPr lang="zh-CN" altLang="en-US" dirty="0">
              <a:latin typeface="Arial Black" panose="020B0A04020102020204" pitchFamily="34" charset="0"/>
            </a:endParaRPr>
          </a:p>
          <a:p>
            <a:r>
              <a:rPr lang="en-US" altLang="zh-CN" dirty="0">
                <a:latin typeface="Arial Black" panose="020B0A04020102020204" pitchFamily="34" charset="0"/>
              </a:rPr>
              <a:t>{	int </a:t>
            </a:r>
            <a:r>
              <a:rPr lang="en-US" altLang="zh-CN" dirty="0" err="1">
                <a:latin typeface="Arial Black" panose="020B0A04020102020204" pitchFamily="34" charset="0"/>
              </a:rPr>
              <a:t>addr</a:t>
            </a:r>
            <a:r>
              <a:rPr lang="en-US" altLang="zh-CN" dirty="0">
                <a:latin typeface="Arial Black" panose="020B0A04020102020204" pitchFamily="34" charset="0"/>
              </a:rPr>
              <a:t>;</a:t>
            </a:r>
          </a:p>
          <a:p>
            <a:r>
              <a:rPr lang="en-US" altLang="zh-CN" dirty="0">
                <a:latin typeface="Arial Black" panose="020B0A04020102020204" pitchFamily="34" charset="0"/>
              </a:rPr>
              <a:t>	if(n&gt;</a:t>
            </a:r>
            <a:r>
              <a:rPr lang="en-US" altLang="zh-CN" dirty="0" err="1">
                <a:latin typeface="Arial Black" panose="020B0A04020102020204" pitchFamily="34" charset="0"/>
              </a:rPr>
              <a:t>MaxSize</a:t>
            </a:r>
            <a:r>
              <a:rPr lang="en-US" altLang="zh-CN" dirty="0">
                <a:latin typeface="Arial Black" panose="020B0A04020102020204" pitchFamily="34" charset="0"/>
              </a:rPr>
              <a:t>)                  //</a:t>
            </a:r>
            <a:r>
              <a:rPr lang="zh-CN" altLang="en-US" dirty="0">
                <a:latin typeface="Arial Black" panose="020B0A04020102020204" pitchFamily="34" charset="0"/>
              </a:rPr>
              <a:t>实际元素个数大于表的最大限度</a:t>
            </a:r>
          </a:p>
          <a:p>
            <a:r>
              <a:rPr lang="zh-CN" altLang="en-US" dirty="0">
                <a:latin typeface="Arial Black" panose="020B0A04020102020204" pitchFamily="34" charset="0"/>
              </a:rPr>
              <a:t>	</a:t>
            </a:r>
            <a:r>
              <a:rPr lang="en-US" altLang="zh-CN" dirty="0">
                <a:latin typeface="Arial Black" panose="020B0A04020102020204" pitchFamily="34" charset="0"/>
              </a:rPr>
              <a:t>{  </a:t>
            </a:r>
            <a:r>
              <a:rPr lang="en-US" altLang="zh-CN" dirty="0" err="1">
                <a:latin typeface="Arial Black" panose="020B0A04020102020204" pitchFamily="34" charset="0"/>
              </a:rPr>
              <a:t>cout</a:t>
            </a:r>
            <a:r>
              <a:rPr lang="en-US" altLang="zh-CN" dirty="0">
                <a:latin typeface="Arial Black" panose="020B0A04020102020204" pitchFamily="34" charset="0"/>
              </a:rPr>
              <a:t>&lt;&lt;"n</a:t>
            </a:r>
            <a:r>
              <a:rPr lang="zh-CN" altLang="en-US" dirty="0">
                <a:latin typeface="Arial Black" panose="020B0A04020102020204" pitchFamily="34" charset="0"/>
              </a:rPr>
              <a:t>的值有错误，不能创建哈希表！</a:t>
            </a:r>
            <a:r>
              <a:rPr lang="en-US" altLang="zh-CN" dirty="0">
                <a:latin typeface="Arial Black" panose="020B0A04020102020204" pitchFamily="34" charset="0"/>
              </a:rPr>
              <a:t>\n"; return false;	}</a:t>
            </a:r>
          </a:p>
          <a:p>
            <a:r>
              <a:rPr lang="en-US" altLang="zh-CN" dirty="0">
                <a:latin typeface="Arial Black" panose="020B0A04020102020204" pitchFamily="34" charset="0"/>
              </a:rPr>
              <a:t>	</a:t>
            </a:r>
            <a:r>
              <a:rPr lang="en-US" altLang="zh-CN" dirty="0" err="1">
                <a:latin typeface="Arial Black" panose="020B0A04020102020204" pitchFamily="34" charset="0"/>
              </a:rPr>
              <a:t>CurrentSize</a:t>
            </a:r>
            <a:r>
              <a:rPr lang="en-US" altLang="zh-CN" dirty="0">
                <a:latin typeface="Arial Black" panose="020B0A04020102020204" pitchFamily="34" charset="0"/>
              </a:rPr>
              <a:t> = n;           		//</a:t>
            </a:r>
            <a:r>
              <a:rPr lang="zh-CN" altLang="en-US" dirty="0">
                <a:latin typeface="Arial Black" panose="020B0A04020102020204" pitchFamily="34" charset="0"/>
              </a:rPr>
              <a:t>保证哈希表长为</a:t>
            </a:r>
            <a:r>
              <a:rPr lang="en-US" altLang="zh-CN" dirty="0">
                <a:latin typeface="Arial Black" panose="020B0A04020102020204" pitchFamily="34" charset="0"/>
              </a:rPr>
              <a:t>n</a:t>
            </a:r>
          </a:p>
          <a:p>
            <a:r>
              <a:rPr lang="en-US" altLang="zh-CN" dirty="0">
                <a:latin typeface="Arial Black" panose="020B0A04020102020204" pitchFamily="34" charset="0"/>
              </a:rPr>
              <a:t>	for(int </a:t>
            </a:r>
            <a:r>
              <a:rPr lang="en-US" altLang="zh-CN" dirty="0" err="1">
                <a:latin typeface="Arial Black" panose="020B0A04020102020204" pitchFamily="34" charset="0"/>
              </a:rPr>
              <a:t>i</a:t>
            </a:r>
            <a:r>
              <a:rPr lang="en-US" altLang="zh-CN" dirty="0">
                <a:latin typeface="Arial Black" panose="020B0A04020102020204" pitchFamily="34" charset="0"/>
              </a:rPr>
              <a:t>=0;i&lt;</a:t>
            </a:r>
            <a:r>
              <a:rPr lang="en-US" altLang="zh-CN" dirty="0" err="1">
                <a:latin typeface="Arial Black" panose="020B0A04020102020204" pitchFamily="34" charset="0"/>
              </a:rPr>
              <a:t>CurrentSize;i</a:t>
            </a:r>
            <a:r>
              <a:rPr lang="en-US" altLang="zh-CN" dirty="0">
                <a:latin typeface="Arial Black" panose="020B0A04020102020204" pitchFamily="34" charset="0"/>
              </a:rPr>
              <a:t>++)           //</a:t>
            </a:r>
            <a:r>
              <a:rPr lang="zh-CN" altLang="en-US" dirty="0">
                <a:latin typeface="Arial Black" panose="020B0A04020102020204" pitchFamily="34" charset="0"/>
              </a:rPr>
              <a:t>循环将表中所有元素置</a:t>
            </a:r>
            <a:r>
              <a:rPr lang="en-US" altLang="zh-CN" dirty="0">
                <a:latin typeface="Arial Black" panose="020B0A04020102020204" pitchFamily="34" charset="0"/>
              </a:rPr>
              <a:t>"</a:t>
            </a:r>
            <a:r>
              <a:rPr lang="zh-CN" altLang="en-US" dirty="0">
                <a:latin typeface="Arial Black" panose="020B0A04020102020204" pitchFamily="34" charset="0"/>
              </a:rPr>
              <a:t>空</a:t>
            </a:r>
            <a:r>
              <a:rPr lang="en-US" altLang="zh-CN" dirty="0">
                <a:latin typeface="Arial Black" panose="020B0A04020102020204" pitchFamily="34" charset="0"/>
              </a:rPr>
              <a:t>"</a:t>
            </a:r>
          </a:p>
          <a:p>
            <a:r>
              <a:rPr lang="en-US" altLang="zh-CN" dirty="0">
                <a:latin typeface="Arial Black" panose="020B0A04020102020204" pitchFamily="34" charset="0"/>
              </a:rPr>
              <a:t>	{	R[</a:t>
            </a:r>
            <a:r>
              <a:rPr lang="en-US" altLang="zh-CN" dirty="0" err="1">
                <a:latin typeface="Arial Black" panose="020B0A04020102020204" pitchFamily="34" charset="0"/>
              </a:rPr>
              <a:t>i</a:t>
            </a:r>
            <a:r>
              <a:rPr lang="en-US" altLang="zh-CN" dirty="0">
                <a:latin typeface="Arial Black" panose="020B0A04020102020204" pitchFamily="34" charset="0"/>
              </a:rPr>
              <a:t>].</a:t>
            </a:r>
            <a:r>
              <a:rPr lang="en-US" altLang="zh-CN" dirty="0" err="1">
                <a:latin typeface="Arial Black" panose="020B0A04020102020204" pitchFamily="34" charset="0"/>
              </a:rPr>
              <a:t>data.key</a:t>
            </a:r>
            <a:r>
              <a:rPr lang="en-US" altLang="zh-CN" dirty="0">
                <a:latin typeface="Arial Black" panose="020B0A04020102020204" pitchFamily="34" charset="0"/>
              </a:rPr>
              <a:t>=-1;         //</a:t>
            </a:r>
            <a:r>
              <a:rPr lang="zh-CN" altLang="en-US" dirty="0">
                <a:latin typeface="Arial Black" panose="020B0A04020102020204" pitchFamily="34" charset="0"/>
              </a:rPr>
              <a:t>数据域的</a:t>
            </a:r>
            <a:r>
              <a:rPr lang="en-US" altLang="zh-CN" dirty="0">
                <a:latin typeface="Arial Black" panose="020B0A04020102020204" pitchFamily="34" charset="0"/>
              </a:rPr>
              <a:t>key</a:t>
            </a:r>
            <a:r>
              <a:rPr lang="zh-CN" altLang="en-US" dirty="0">
                <a:latin typeface="Arial Black" panose="020B0A04020102020204" pitchFamily="34" charset="0"/>
              </a:rPr>
              <a:t>为</a:t>
            </a:r>
            <a:r>
              <a:rPr lang="en-US" altLang="zh-CN" dirty="0">
                <a:latin typeface="Arial Black" panose="020B0A04020102020204" pitchFamily="34" charset="0"/>
              </a:rPr>
              <a:t>-1,</a:t>
            </a:r>
            <a:r>
              <a:rPr lang="zh-CN" altLang="en-US" dirty="0">
                <a:latin typeface="Arial Black" panose="020B0A04020102020204" pitchFamily="34" charset="0"/>
              </a:rPr>
              <a:t>假设关键字均大于</a:t>
            </a:r>
            <a:r>
              <a:rPr lang="en-US" altLang="zh-CN" dirty="0">
                <a:latin typeface="Arial Black" panose="020B0A04020102020204" pitchFamily="34" charset="0"/>
              </a:rPr>
              <a:t>0</a:t>
            </a:r>
          </a:p>
          <a:p>
            <a:r>
              <a:rPr lang="en-US" altLang="zh-CN" dirty="0">
                <a:latin typeface="Arial Black" panose="020B0A04020102020204" pitchFamily="34" charset="0"/>
              </a:rPr>
              <a:t>		R[</a:t>
            </a:r>
            <a:r>
              <a:rPr lang="en-US" altLang="zh-CN" dirty="0" err="1">
                <a:latin typeface="Arial Black" panose="020B0A04020102020204" pitchFamily="34" charset="0"/>
              </a:rPr>
              <a:t>i</a:t>
            </a:r>
            <a:r>
              <a:rPr lang="en-US" altLang="zh-CN" dirty="0">
                <a:latin typeface="Arial Black" panose="020B0A04020102020204" pitchFamily="34" charset="0"/>
              </a:rPr>
              <a:t>].</a:t>
            </a:r>
            <a:r>
              <a:rPr lang="en-US" altLang="zh-CN" dirty="0" err="1">
                <a:latin typeface="Arial Black" panose="020B0A04020102020204" pitchFamily="34" charset="0"/>
              </a:rPr>
              <a:t>data.otherinfo</a:t>
            </a:r>
            <a:r>
              <a:rPr lang="en-US" altLang="zh-CN" dirty="0">
                <a:latin typeface="Arial Black" panose="020B0A04020102020204" pitchFamily="34" charset="0"/>
              </a:rPr>
              <a:t>=</a:t>
            </a:r>
            <a:r>
              <a:rPr lang="en-US" altLang="zh-CN" dirty="0" err="1">
                <a:latin typeface="Arial Black" panose="020B0A04020102020204" pitchFamily="34" charset="0"/>
              </a:rPr>
              <a:t>i</a:t>
            </a:r>
            <a:r>
              <a:rPr lang="en-US" altLang="zh-CN" dirty="0">
                <a:latin typeface="Arial Black" panose="020B0A04020102020204" pitchFamily="34" charset="0"/>
              </a:rPr>
              <a:t>;</a:t>
            </a:r>
          </a:p>
          <a:p>
            <a:r>
              <a:rPr lang="en-US" altLang="zh-CN" dirty="0">
                <a:latin typeface="Arial Black" panose="020B0A04020102020204" pitchFamily="34" charset="0"/>
              </a:rPr>
              <a:t>		R[</a:t>
            </a:r>
            <a:r>
              <a:rPr lang="en-US" altLang="zh-CN" dirty="0" err="1">
                <a:latin typeface="Arial Black" panose="020B0A04020102020204" pitchFamily="34" charset="0"/>
              </a:rPr>
              <a:t>i</a:t>
            </a:r>
            <a:r>
              <a:rPr lang="en-US" altLang="zh-CN" dirty="0">
                <a:latin typeface="Arial Black" panose="020B0A04020102020204" pitchFamily="34" charset="0"/>
              </a:rPr>
              <a:t>].next=NULL; }       //</a:t>
            </a:r>
            <a:r>
              <a:rPr lang="zh-CN" altLang="en-US" dirty="0">
                <a:latin typeface="Arial Black" panose="020B0A04020102020204" pitchFamily="34" charset="0"/>
              </a:rPr>
              <a:t>空指针域</a:t>
            </a:r>
            <a:endParaRPr lang="en-US" altLang="zh-CN" dirty="0">
              <a:latin typeface="Arial Black" panose="020B0A04020102020204" pitchFamily="34" charset="0"/>
            </a:endParaRPr>
          </a:p>
          <a:p>
            <a:r>
              <a:rPr lang="en-US" altLang="zh-CN" dirty="0">
                <a:latin typeface="Arial Black" panose="020B0A04020102020204" pitchFamily="34" charset="0"/>
              </a:rPr>
              <a:t>	for(int </a:t>
            </a:r>
            <a:r>
              <a:rPr lang="en-US" altLang="zh-CN" dirty="0" err="1">
                <a:latin typeface="Arial Black" panose="020B0A04020102020204" pitchFamily="34" charset="0"/>
              </a:rPr>
              <a:t>i</a:t>
            </a:r>
            <a:r>
              <a:rPr lang="en-US" altLang="zh-CN" dirty="0">
                <a:latin typeface="Arial Black" panose="020B0A04020102020204" pitchFamily="34" charset="0"/>
              </a:rPr>
              <a:t>=0;i&lt;</a:t>
            </a:r>
            <a:r>
              <a:rPr lang="en-US" altLang="zh-CN" dirty="0" err="1">
                <a:latin typeface="Arial Black" panose="020B0A04020102020204" pitchFamily="34" charset="0"/>
              </a:rPr>
              <a:t>CurrentSize;i</a:t>
            </a:r>
            <a:r>
              <a:rPr lang="en-US" altLang="zh-CN" dirty="0">
                <a:latin typeface="Arial Black" panose="020B0A04020102020204" pitchFamily="34" charset="0"/>
              </a:rPr>
              <a:t>++)               //</a:t>
            </a:r>
            <a:r>
              <a:rPr lang="zh-CN" altLang="en-US" dirty="0">
                <a:latin typeface="Arial Black" panose="020B0A04020102020204" pitchFamily="34" charset="0"/>
              </a:rPr>
              <a:t>循环取</a:t>
            </a:r>
            <a:r>
              <a:rPr lang="en-US" altLang="zh-CN" dirty="0">
                <a:latin typeface="Arial Black" panose="020B0A04020102020204" pitchFamily="34" charset="0"/>
              </a:rPr>
              <a:t>n</a:t>
            </a:r>
            <a:r>
              <a:rPr lang="zh-CN" altLang="en-US" dirty="0">
                <a:latin typeface="Arial Black" panose="020B0A04020102020204" pitchFamily="34" charset="0"/>
              </a:rPr>
              <a:t>个元素</a:t>
            </a:r>
          </a:p>
          <a:p>
            <a:r>
              <a:rPr lang="zh-CN" altLang="en-US" dirty="0">
                <a:latin typeface="Arial Black" panose="020B0A04020102020204" pitchFamily="34" charset="0"/>
              </a:rPr>
              <a:t>	</a:t>
            </a:r>
            <a:r>
              <a:rPr lang="en-US" altLang="zh-CN" dirty="0">
                <a:latin typeface="Arial Black" panose="020B0A04020102020204" pitchFamily="34" charset="0"/>
              </a:rPr>
              <a:t>{	</a:t>
            </a:r>
            <a:r>
              <a:rPr lang="en-US" altLang="zh-CN" dirty="0" err="1">
                <a:latin typeface="Arial Black" panose="020B0A04020102020204" pitchFamily="34" charset="0"/>
              </a:rPr>
              <a:t>addr</a:t>
            </a:r>
            <a:r>
              <a:rPr lang="en-US" altLang="zh-CN" dirty="0">
                <a:latin typeface="Arial Black" panose="020B0A04020102020204" pitchFamily="34" charset="0"/>
              </a:rPr>
              <a:t> = pa[</a:t>
            </a:r>
            <a:r>
              <a:rPr lang="en-US" altLang="zh-CN" dirty="0" err="1">
                <a:latin typeface="Arial Black" panose="020B0A04020102020204" pitchFamily="34" charset="0"/>
              </a:rPr>
              <a:t>i</a:t>
            </a:r>
            <a:r>
              <a:rPr lang="en-US" altLang="zh-CN" dirty="0">
                <a:latin typeface="Arial Black" panose="020B0A04020102020204" pitchFamily="34" charset="0"/>
              </a:rPr>
              <a:t>] % </a:t>
            </a:r>
            <a:r>
              <a:rPr lang="en-US" altLang="zh-CN" dirty="0" err="1">
                <a:latin typeface="Arial Black" panose="020B0A04020102020204" pitchFamily="34" charset="0"/>
              </a:rPr>
              <a:t>CurrentSize</a:t>
            </a:r>
            <a:r>
              <a:rPr lang="en-US" altLang="zh-CN" dirty="0">
                <a:latin typeface="Arial Black" panose="020B0A04020102020204" pitchFamily="34" charset="0"/>
              </a:rPr>
              <a:t>;                  //</a:t>
            </a:r>
            <a:r>
              <a:rPr lang="zh-CN" altLang="en-US" dirty="0">
                <a:latin typeface="Arial Black" panose="020B0A04020102020204" pitchFamily="34" charset="0"/>
              </a:rPr>
              <a:t>计算哈希地址</a:t>
            </a:r>
          </a:p>
          <a:p>
            <a:r>
              <a:rPr lang="zh-CN" altLang="en-US" dirty="0">
                <a:latin typeface="Arial Black" panose="020B0A04020102020204" pitchFamily="34" charset="0"/>
              </a:rPr>
              <a:t>		</a:t>
            </a:r>
            <a:r>
              <a:rPr lang="en-US" altLang="zh-CN" dirty="0">
                <a:latin typeface="Arial Black" panose="020B0A04020102020204" pitchFamily="34" charset="0"/>
              </a:rPr>
              <a:t>if(R[</a:t>
            </a:r>
            <a:r>
              <a:rPr lang="en-US" altLang="zh-CN" dirty="0" err="1">
                <a:latin typeface="Arial Black" panose="020B0A04020102020204" pitchFamily="34" charset="0"/>
              </a:rPr>
              <a:t>addr</a:t>
            </a:r>
            <a:r>
              <a:rPr lang="en-US" altLang="zh-CN" dirty="0">
                <a:latin typeface="Arial Black" panose="020B0A04020102020204" pitchFamily="34" charset="0"/>
              </a:rPr>
              <a:t>].</a:t>
            </a:r>
            <a:r>
              <a:rPr lang="en-US" altLang="zh-CN" dirty="0" err="1">
                <a:latin typeface="Arial Black" panose="020B0A04020102020204" pitchFamily="34" charset="0"/>
              </a:rPr>
              <a:t>data.key</a:t>
            </a:r>
            <a:r>
              <a:rPr lang="en-US" altLang="zh-CN" dirty="0">
                <a:latin typeface="Arial Black" panose="020B0A04020102020204" pitchFamily="34" charset="0"/>
              </a:rPr>
              <a:t>==-1)                       //</a:t>
            </a:r>
            <a:r>
              <a:rPr lang="zh-CN" altLang="en-US" dirty="0">
                <a:latin typeface="Arial Black" panose="020B0A04020102020204" pitchFamily="34" charset="0"/>
              </a:rPr>
              <a:t>判断数据域为</a:t>
            </a:r>
            <a:r>
              <a:rPr lang="en-US" altLang="zh-CN" dirty="0">
                <a:latin typeface="Arial Black" panose="020B0A04020102020204" pitchFamily="34" charset="0"/>
              </a:rPr>
              <a:t>-1</a:t>
            </a:r>
          </a:p>
          <a:p>
            <a:r>
              <a:rPr lang="en-US" altLang="zh-CN" dirty="0">
                <a:latin typeface="Arial Black" panose="020B0A04020102020204" pitchFamily="34" charset="0"/>
              </a:rPr>
              <a:t>			R[</a:t>
            </a:r>
            <a:r>
              <a:rPr lang="en-US" altLang="zh-CN" dirty="0" err="1">
                <a:latin typeface="Arial Black" panose="020B0A04020102020204" pitchFamily="34" charset="0"/>
              </a:rPr>
              <a:t>addr</a:t>
            </a:r>
            <a:r>
              <a:rPr lang="en-US" altLang="zh-CN" dirty="0">
                <a:latin typeface="Arial Black" panose="020B0A04020102020204" pitchFamily="34" charset="0"/>
              </a:rPr>
              <a:t>].</a:t>
            </a:r>
            <a:r>
              <a:rPr lang="en-US" altLang="zh-CN" dirty="0" err="1">
                <a:latin typeface="Arial Black" panose="020B0A04020102020204" pitchFamily="34" charset="0"/>
              </a:rPr>
              <a:t>data.key</a:t>
            </a:r>
            <a:r>
              <a:rPr lang="en-US" altLang="zh-CN" dirty="0">
                <a:latin typeface="Arial Black" panose="020B0A04020102020204" pitchFamily="34" charset="0"/>
              </a:rPr>
              <a:t>=pa[</a:t>
            </a:r>
            <a:r>
              <a:rPr lang="en-US" altLang="zh-CN" dirty="0" err="1">
                <a:latin typeface="Arial Black" panose="020B0A04020102020204" pitchFamily="34" charset="0"/>
              </a:rPr>
              <a:t>i</a:t>
            </a:r>
            <a:r>
              <a:rPr lang="en-US" altLang="zh-CN" dirty="0">
                <a:latin typeface="Arial Black" panose="020B0A04020102020204" pitchFamily="34" charset="0"/>
              </a:rPr>
              <a:t>];   //</a:t>
            </a:r>
            <a:r>
              <a:rPr lang="zh-CN" altLang="en-US" dirty="0">
                <a:latin typeface="Arial Black" panose="020B0A04020102020204" pitchFamily="34" charset="0"/>
              </a:rPr>
              <a:t>关键字插入表头</a:t>
            </a:r>
          </a:p>
          <a:p>
            <a:r>
              <a:rPr lang="zh-CN" altLang="en-US" dirty="0">
                <a:latin typeface="Arial Black" panose="020B0A04020102020204" pitchFamily="34" charset="0"/>
              </a:rPr>
              <a:t>		</a:t>
            </a:r>
            <a:r>
              <a:rPr lang="en-US" altLang="zh-CN" dirty="0">
                <a:latin typeface="Arial Black" panose="020B0A04020102020204" pitchFamily="34" charset="0"/>
              </a:rPr>
              <a:t>else</a:t>
            </a:r>
          </a:p>
          <a:p>
            <a:r>
              <a:rPr lang="en-US" altLang="zh-CN" dirty="0">
                <a:latin typeface="Arial Black" panose="020B0A04020102020204" pitchFamily="34" charset="0"/>
              </a:rPr>
              <a:t>{	</a:t>
            </a:r>
            <a:r>
              <a:rPr lang="en-US" altLang="zh-CN" dirty="0" err="1">
                <a:latin typeface="Arial Black" panose="020B0A04020102020204" pitchFamily="34" charset="0"/>
              </a:rPr>
              <a:t>Lnode</a:t>
            </a:r>
            <a:r>
              <a:rPr lang="en-US" altLang="zh-CN" dirty="0">
                <a:latin typeface="Arial Black" panose="020B0A04020102020204" pitchFamily="34" charset="0"/>
              </a:rPr>
              <a:t>&lt;</a:t>
            </a:r>
            <a:r>
              <a:rPr lang="en-US" altLang="zh-CN" dirty="0" err="1">
                <a:latin typeface="Arial Black" panose="020B0A04020102020204" pitchFamily="34" charset="0"/>
              </a:rPr>
              <a:t>keytype,Itemtype</a:t>
            </a:r>
            <a:r>
              <a:rPr lang="en-US" altLang="zh-CN" dirty="0">
                <a:latin typeface="Arial Black" panose="020B0A04020102020204" pitchFamily="34" charset="0"/>
              </a:rPr>
              <a:t>&gt; *pp=new </a:t>
            </a:r>
            <a:r>
              <a:rPr lang="en-US" altLang="zh-CN" dirty="0" err="1">
                <a:latin typeface="Arial Black" panose="020B0A04020102020204" pitchFamily="34" charset="0"/>
              </a:rPr>
              <a:t>Lnode</a:t>
            </a:r>
            <a:r>
              <a:rPr lang="en-US" altLang="zh-CN" dirty="0">
                <a:latin typeface="Arial Black" panose="020B0A04020102020204" pitchFamily="34" charset="0"/>
              </a:rPr>
              <a:t>&lt;</a:t>
            </a:r>
            <a:r>
              <a:rPr lang="en-US" altLang="zh-CN" dirty="0" err="1">
                <a:latin typeface="Arial Black" panose="020B0A04020102020204" pitchFamily="34" charset="0"/>
              </a:rPr>
              <a:t>keytype,Itemtype</a:t>
            </a:r>
            <a:r>
              <a:rPr lang="en-US" altLang="zh-CN" dirty="0">
                <a:latin typeface="Arial Black" panose="020B0A04020102020204" pitchFamily="34" charset="0"/>
              </a:rPr>
              <a:t>&gt;;</a:t>
            </a:r>
          </a:p>
          <a:p>
            <a:r>
              <a:rPr lang="en-US" altLang="zh-CN" dirty="0">
                <a:latin typeface="Arial Black" panose="020B0A04020102020204" pitchFamily="34" charset="0"/>
              </a:rPr>
              <a:t>			if (pp==NULL)</a:t>
            </a:r>
          </a:p>
          <a:p>
            <a:r>
              <a:rPr lang="en-US" altLang="zh-CN" dirty="0">
                <a:latin typeface="Arial Black" panose="020B0A04020102020204" pitchFamily="34" charset="0"/>
              </a:rPr>
              <a:t>			{	</a:t>
            </a:r>
            <a:r>
              <a:rPr lang="en-US" altLang="zh-CN" dirty="0" err="1">
                <a:latin typeface="Arial Black" panose="020B0A04020102020204" pitchFamily="34" charset="0"/>
              </a:rPr>
              <a:t>cout</a:t>
            </a:r>
            <a:r>
              <a:rPr lang="en-US" altLang="zh-CN" dirty="0">
                <a:latin typeface="Arial Black" panose="020B0A04020102020204" pitchFamily="34" charset="0"/>
              </a:rPr>
              <a:t>&lt;&lt;"</a:t>
            </a:r>
            <a:r>
              <a:rPr lang="zh-CN" altLang="en-US" dirty="0">
                <a:latin typeface="Arial Black" panose="020B0A04020102020204" pitchFamily="34" charset="0"/>
              </a:rPr>
              <a:t>不能创建哈希链表</a:t>
            </a:r>
            <a:r>
              <a:rPr lang="en-US" altLang="zh-CN" dirty="0">
                <a:latin typeface="Arial Black" panose="020B0A04020102020204" pitchFamily="34" charset="0"/>
              </a:rPr>
              <a:t>"&lt;&lt;</a:t>
            </a:r>
            <a:r>
              <a:rPr lang="en-US" altLang="zh-CN" dirty="0" err="1">
                <a:latin typeface="Arial Black" panose="020B0A04020102020204" pitchFamily="34" charset="0"/>
              </a:rPr>
              <a:t>endl</a:t>
            </a:r>
            <a:r>
              <a:rPr lang="en-US" altLang="zh-CN" dirty="0">
                <a:latin typeface="Arial Black" panose="020B0A04020102020204" pitchFamily="34" charset="0"/>
              </a:rPr>
              <a:t>;</a:t>
            </a:r>
          </a:p>
          <a:p>
            <a:r>
              <a:rPr lang="en-US" altLang="zh-CN" dirty="0">
                <a:latin typeface="Arial Black" panose="020B0A04020102020204" pitchFamily="34" charset="0"/>
              </a:rPr>
              <a:t>				return false;	}</a:t>
            </a:r>
          </a:p>
          <a:p>
            <a:r>
              <a:rPr lang="en-US" altLang="zh-CN" dirty="0">
                <a:latin typeface="Arial Black" panose="020B0A04020102020204" pitchFamily="34" charset="0"/>
              </a:rPr>
              <a:t>			pp-&gt;</a:t>
            </a:r>
            <a:r>
              <a:rPr lang="en-US" altLang="zh-CN" dirty="0" err="1">
                <a:latin typeface="Arial Black" panose="020B0A04020102020204" pitchFamily="34" charset="0"/>
              </a:rPr>
              <a:t>data.key</a:t>
            </a:r>
            <a:r>
              <a:rPr lang="en-US" altLang="zh-CN" dirty="0">
                <a:latin typeface="Arial Black" panose="020B0A04020102020204" pitchFamily="34" charset="0"/>
              </a:rPr>
              <a:t>=pa[</a:t>
            </a:r>
            <a:r>
              <a:rPr lang="en-US" altLang="zh-CN" dirty="0" err="1">
                <a:latin typeface="Arial Black" panose="020B0A04020102020204" pitchFamily="34" charset="0"/>
              </a:rPr>
              <a:t>i</a:t>
            </a:r>
            <a:r>
              <a:rPr lang="en-US" altLang="zh-CN" dirty="0">
                <a:latin typeface="Arial Black" panose="020B0A04020102020204" pitchFamily="34" charset="0"/>
              </a:rPr>
              <a:t>];</a:t>
            </a:r>
          </a:p>
          <a:p>
            <a:r>
              <a:rPr lang="en-US" altLang="zh-CN" dirty="0">
                <a:latin typeface="Arial Black" panose="020B0A04020102020204" pitchFamily="34" charset="0"/>
              </a:rPr>
              <a:t>			pp-&gt;</a:t>
            </a:r>
            <a:r>
              <a:rPr lang="en-US" altLang="zh-CN" dirty="0" err="1">
                <a:latin typeface="Arial Black" panose="020B0A04020102020204" pitchFamily="34" charset="0"/>
              </a:rPr>
              <a:t>data.otherinfo</a:t>
            </a:r>
            <a:r>
              <a:rPr lang="en-US" altLang="zh-CN" dirty="0">
                <a:latin typeface="Arial Black" panose="020B0A04020102020204" pitchFamily="34" charset="0"/>
              </a:rPr>
              <a:t>=R[</a:t>
            </a:r>
            <a:r>
              <a:rPr lang="en-US" altLang="zh-CN" dirty="0" err="1">
                <a:latin typeface="Arial Black" panose="020B0A04020102020204" pitchFamily="34" charset="0"/>
              </a:rPr>
              <a:t>addr</a:t>
            </a:r>
            <a:r>
              <a:rPr lang="en-US" altLang="zh-CN" dirty="0">
                <a:latin typeface="Arial Black" panose="020B0A04020102020204" pitchFamily="34" charset="0"/>
              </a:rPr>
              <a:t>].</a:t>
            </a:r>
            <a:r>
              <a:rPr lang="en-US" altLang="zh-CN" dirty="0" err="1">
                <a:latin typeface="Arial Black" panose="020B0A04020102020204" pitchFamily="34" charset="0"/>
              </a:rPr>
              <a:t>data.otherinfo</a:t>
            </a:r>
            <a:r>
              <a:rPr lang="en-US" altLang="zh-CN" dirty="0">
                <a:latin typeface="Arial Black" panose="020B0A04020102020204" pitchFamily="34" charset="0"/>
              </a:rPr>
              <a:t>;</a:t>
            </a:r>
          </a:p>
          <a:p>
            <a:r>
              <a:rPr lang="en-US" altLang="zh-CN" dirty="0">
                <a:latin typeface="Arial Black" panose="020B0A04020102020204" pitchFamily="34" charset="0"/>
              </a:rPr>
              <a:t>			pp-&gt;next=R[</a:t>
            </a:r>
            <a:r>
              <a:rPr lang="en-US" altLang="zh-CN" dirty="0" err="1">
                <a:latin typeface="Arial Black" panose="020B0A04020102020204" pitchFamily="34" charset="0"/>
              </a:rPr>
              <a:t>addr</a:t>
            </a:r>
            <a:r>
              <a:rPr lang="en-US" altLang="zh-CN" dirty="0">
                <a:latin typeface="Arial Black" panose="020B0A04020102020204" pitchFamily="34" charset="0"/>
              </a:rPr>
              <a:t>].next;</a:t>
            </a:r>
          </a:p>
          <a:p>
            <a:r>
              <a:rPr lang="en-US" altLang="zh-CN" dirty="0">
                <a:latin typeface="Arial Black" panose="020B0A04020102020204" pitchFamily="34" charset="0"/>
              </a:rPr>
              <a:t>			R[</a:t>
            </a:r>
            <a:r>
              <a:rPr lang="en-US" altLang="zh-CN" dirty="0" err="1">
                <a:latin typeface="Arial Black" panose="020B0A04020102020204" pitchFamily="34" charset="0"/>
              </a:rPr>
              <a:t>addr</a:t>
            </a:r>
            <a:r>
              <a:rPr lang="en-US" altLang="zh-CN" dirty="0">
                <a:latin typeface="Arial Black" panose="020B0A04020102020204" pitchFamily="34" charset="0"/>
              </a:rPr>
              <a:t>].next=pp;	}}</a:t>
            </a:r>
          </a:p>
          <a:p>
            <a:r>
              <a:rPr lang="en-US" altLang="zh-CN" dirty="0">
                <a:latin typeface="Arial Black" panose="020B0A04020102020204" pitchFamily="34" charset="0"/>
              </a:rPr>
              <a:t>	return true;}</a:t>
            </a:r>
            <a:endParaRPr lang="zh-CN" altLang="en-US" dirty="0">
              <a:latin typeface="Arial Black" panose="020B0A04020102020204" pitchFamily="34" charset="0"/>
            </a:endParaRPr>
          </a:p>
        </p:txBody>
      </p:sp>
    </p:spTree>
    <p:extLst>
      <p:ext uri="{BB962C8B-B14F-4D97-AF65-F5344CB8AC3E}">
        <p14:creationId xmlns:p14="http://schemas.microsoft.com/office/powerpoint/2010/main" val="379106646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96ED016-B2E6-4C4D-AE66-B19FA6951DB6}"/>
              </a:ext>
            </a:extLst>
          </p:cNvPr>
          <p:cNvSpPr>
            <a:spLocks noGrp="1"/>
          </p:cNvSpPr>
          <p:nvPr>
            <p:ph type="dt" sz="half" idx="10"/>
          </p:nvPr>
        </p:nvSpPr>
        <p:spPr/>
        <p:txBody>
          <a:bodyPr/>
          <a:lstStyle/>
          <a:p>
            <a:fld id="{9A6B2991-BBE5-4E69-A281-1A8B0AE9CDD7}" type="datetime1">
              <a:rPr lang="zh-CN" altLang="en-US" smtClean="0"/>
              <a:pPr/>
              <a:t>2025/6/3</a:t>
            </a:fld>
            <a:endParaRPr lang="zh-CN" altLang="en-US"/>
          </a:p>
        </p:txBody>
      </p:sp>
      <p:sp>
        <p:nvSpPr>
          <p:cNvPr id="3" name="文本框 2">
            <a:extLst>
              <a:ext uri="{FF2B5EF4-FFF2-40B4-BE49-F238E27FC236}">
                <a16:creationId xmlns:a16="http://schemas.microsoft.com/office/drawing/2014/main" id="{3E146AE9-8D27-47C5-97D3-F9F2D8CD3089}"/>
              </a:ext>
            </a:extLst>
          </p:cNvPr>
          <p:cNvSpPr txBox="1"/>
          <p:nvPr/>
        </p:nvSpPr>
        <p:spPr>
          <a:xfrm>
            <a:off x="107504" y="44624"/>
            <a:ext cx="9001000" cy="6555641"/>
          </a:xfrm>
          <a:prstGeom prst="rect">
            <a:avLst/>
          </a:prstGeom>
          <a:solidFill>
            <a:schemeClr val="accent3">
              <a:lumMod val="40000"/>
              <a:lumOff val="60000"/>
            </a:schemeClr>
          </a:solidFill>
        </p:spPr>
        <p:txBody>
          <a:bodyPr wrap="square" rtlCol="0">
            <a:spAutoFit/>
          </a:bodyPr>
          <a:lstStyle/>
          <a:p>
            <a:r>
              <a:rPr lang="en-US" altLang="zh-CN" dirty="0">
                <a:latin typeface="Arial Black" panose="020B0A04020102020204" pitchFamily="34" charset="0"/>
              </a:rPr>
              <a:t>//</a:t>
            </a:r>
            <a:r>
              <a:rPr lang="zh-CN" altLang="en-US" dirty="0">
                <a:latin typeface="Arial Black" panose="020B0A04020102020204" pitchFamily="34" charset="0"/>
              </a:rPr>
              <a:t>哈希链表查找函数</a:t>
            </a:r>
          </a:p>
          <a:p>
            <a:r>
              <a:rPr lang="en-US" altLang="zh-CN" dirty="0">
                <a:latin typeface="Arial Black" panose="020B0A04020102020204" pitchFamily="34" charset="0"/>
              </a:rPr>
              <a:t>template &lt;class </a:t>
            </a:r>
            <a:r>
              <a:rPr lang="en-US" altLang="zh-CN" dirty="0" err="1">
                <a:latin typeface="Arial Black" panose="020B0A04020102020204" pitchFamily="34" charset="0"/>
              </a:rPr>
              <a:t>keytype,class</a:t>
            </a:r>
            <a:r>
              <a:rPr lang="en-US" altLang="zh-CN" dirty="0">
                <a:latin typeface="Arial Black" panose="020B0A04020102020204" pitchFamily="34" charset="0"/>
              </a:rPr>
              <a:t> </a:t>
            </a:r>
            <a:r>
              <a:rPr lang="en-US" altLang="zh-CN" dirty="0" err="1">
                <a:latin typeface="Arial Black" panose="020B0A04020102020204" pitchFamily="34" charset="0"/>
              </a:rPr>
              <a:t>Itemtype</a:t>
            </a:r>
            <a:r>
              <a:rPr lang="en-US" altLang="zh-CN" dirty="0">
                <a:latin typeface="Arial Black" panose="020B0A04020102020204" pitchFamily="34" charset="0"/>
              </a:rPr>
              <a:t>&gt;</a:t>
            </a:r>
          </a:p>
          <a:p>
            <a:r>
              <a:rPr lang="en-US" altLang="zh-CN" dirty="0" err="1">
                <a:latin typeface="Arial Black" panose="020B0A04020102020204" pitchFamily="34" charset="0"/>
              </a:rPr>
              <a:t>keytype</a:t>
            </a:r>
            <a:r>
              <a:rPr lang="en-US" altLang="zh-CN" dirty="0">
                <a:latin typeface="Arial Black" panose="020B0A04020102020204" pitchFamily="34" charset="0"/>
              </a:rPr>
              <a:t> </a:t>
            </a:r>
            <a:r>
              <a:rPr lang="en-US" altLang="zh-CN" dirty="0" err="1">
                <a:latin typeface="Arial Black" panose="020B0A04020102020204" pitchFamily="34" charset="0"/>
              </a:rPr>
              <a:t>recordList</a:t>
            </a:r>
            <a:r>
              <a:rPr lang="en-US" altLang="zh-CN" dirty="0">
                <a:latin typeface="Arial Black" panose="020B0A04020102020204" pitchFamily="34" charset="0"/>
              </a:rPr>
              <a:t>&lt;</a:t>
            </a:r>
            <a:r>
              <a:rPr lang="en-US" altLang="zh-CN" dirty="0" err="1">
                <a:latin typeface="Arial Black" panose="020B0A04020102020204" pitchFamily="34" charset="0"/>
              </a:rPr>
              <a:t>keytype,Itemtype</a:t>
            </a:r>
            <a:r>
              <a:rPr lang="en-US" altLang="zh-CN" dirty="0">
                <a:latin typeface="Arial Black" panose="020B0A04020102020204" pitchFamily="34" charset="0"/>
              </a:rPr>
              <a:t>&gt;::hash_find3(</a:t>
            </a:r>
            <a:r>
              <a:rPr lang="en-US" altLang="zh-CN" dirty="0" err="1">
                <a:latin typeface="Arial Black" panose="020B0A04020102020204" pitchFamily="34" charset="0"/>
              </a:rPr>
              <a:t>keytype</a:t>
            </a:r>
            <a:r>
              <a:rPr lang="en-US" altLang="zh-CN" dirty="0">
                <a:latin typeface="Arial Black" panose="020B0A04020102020204" pitchFamily="34" charset="0"/>
              </a:rPr>
              <a:t> x)  </a:t>
            </a:r>
          </a:p>
          <a:p>
            <a:r>
              <a:rPr lang="en-US" altLang="zh-CN" dirty="0">
                <a:latin typeface="Arial Black" panose="020B0A04020102020204" pitchFamily="34" charset="0"/>
              </a:rPr>
              <a:t>{	int </a:t>
            </a:r>
            <a:r>
              <a:rPr lang="en-US" altLang="zh-CN" dirty="0" err="1">
                <a:latin typeface="Arial Black" panose="020B0A04020102020204" pitchFamily="34" charset="0"/>
              </a:rPr>
              <a:t>addr,i</a:t>
            </a:r>
            <a:r>
              <a:rPr lang="en-US" altLang="zh-CN" dirty="0">
                <a:latin typeface="Arial Black" panose="020B0A04020102020204" pitchFamily="34" charset="0"/>
              </a:rPr>
              <a:t>;</a:t>
            </a:r>
          </a:p>
          <a:p>
            <a:r>
              <a:rPr lang="en-US" altLang="zh-CN" dirty="0">
                <a:latin typeface="Arial Black" panose="020B0A04020102020204" pitchFamily="34" charset="0"/>
              </a:rPr>
              <a:t>	</a:t>
            </a:r>
            <a:r>
              <a:rPr lang="en-US" altLang="zh-CN" dirty="0" err="1">
                <a:latin typeface="Arial Black" panose="020B0A04020102020204" pitchFamily="34" charset="0"/>
              </a:rPr>
              <a:t>addr</a:t>
            </a:r>
            <a:r>
              <a:rPr lang="en-US" altLang="zh-CN" dirty="0">
                <a:latin typeface="Arial Black" panose="020B0A04020102020204" pitchFamily="34" charset="0"/>
              </a:rPr>
              <a:t> = x % </a:t>
            </a:r>
            <a:r>
              <a:rPr lang="en-US" altLang="zh-CN" dirty="0" err="1">
                <a:latin typeface="Arial Black" panose="020B0A04020102020204" pitchFamily="34" charset="0"/>
              </a:rPr>
              <a:t>CurrentSize</a:t>
            </a:r>
            <a:r>
              <a:rPr lang="en-US" altLang="zh-CN" dirty="0">
                <a:latin typeface="Arial Black" panose="020B0A04020102020204" pitchFamily="34" charset="0"/>
              </a:rPr>
              <a:t>;                            //</a:t>
            </a:r>
            <a:r>
              <a:rPr lang="zh-CN" altLang="en-US" dirty="0">
                <a:latin typeface="Arial Black" panose="020B0A04020102020204" pitchFamily="34" charset="0"/>
              </a:rPr>
              <a:t>计算哈希地址</a:t>
            </a:r>
          </a:p>
          <a:p>
            <a:r>
              <a:rPr lang="zh-CN" altLang="en-US" dirty="0">
                <a:latin typeface="Arial Black" panose="020B0A04020102020204" pitchFamily="34" charset="0"/>
              </a:rPr>
              <a:t>	</a:t>
            </a:r>
            <a:r>
              <a:rPr lang="en-US" altLang="zh-CN" dirty="0">
                <a:latin typeface="Arial Black" panose="020B0A04020102020204" pitchFamily="34" charset="0"/>
              </a:rPr>
              <a:t>//</a:t>
            </a:r>
            <a:r>
              <a:rPr lang="zh-CN" altLang="en-US" dirty="0">
                <a:latin typeface="Arial Black" panose="020B0A04020102020204" pitchFamily="34" charset="0"/>
              </a:rPr>
              <a:t>判断元素是否在单链表中</a:t>
            </a:r>
          </a:p>
          <a:p>
            <a:r>
              <a:rPr lang="zh-CN" altLang="en-US" dirty="0">
                <a:latin typeface="Arial Black" panose="020B0A04020102020204" pitchFamily="34" charset="0"/>
              </a:rPr>
              <a:t>	</a:t>
            </a:r>
            <a:r>
              <a:rPr lang="en-US" altLang="zh-CN" dirty="0">
                <a:latin typeface="Arial Black" panose="020B0A04020102020204" pitchFamily="34" charset="0"/>
              </a:rPr>
              <a:t>if((R[</a:t>
            </a:r>
            <a:r>
              <a:rPr lang="en-US" altLang="zh-CN" dirty="0" err="1">
                <a:latin typeface="Arial Black" panose="020B0A04020102020204" pitchFamily="34" charset="0"/>
              </a:rPr>
              <a:t>addr</a:t>
            </a:r>
            <a:r>
              <a:rPr lang="en-US" altLang="zh-CN" dirty="0">
                <a:latin typeface="Arial Black" panose="020B0A04020102020204" pitchFamily="34" charset="0"/>
              </a:rPr>
              <a:t>].</a:t>
            </a:r>
            <a:r>
              <a:rPr lang="en-US" altLang="zh-CN" dirty="0" err="1">
                <a:latin typeface="Arial Black" panose="020B0A04020102020204" pitchFamily="34" charset="0"/>
              </a:rPr>
              <a:t>data.key</a:t>
            </a:r>
            <a:r>
              <a:rPr lang="en-US" altLang="zh-CN" dirty="0">
                <a:latin typeface="Arial Black" panose="020B0A04020102020204" pitchFamily="34" charset="0"/>
              </a:rPr>
              <a:t>!=x)&amp;&amp;(R[</a:t>
            </a:r>
            <a:r>
              <a:rPr lang="en-US" altLang="zh-CN" dirty="0" err="1">
                <a:latin typeface="Arial Black" panose="020B0A04020102020204" pitchFamily="34" charset="0"/>
              </a:rPr>
              <a:t>addr</a:t>
            </a:r>
            <a:r>
              <a:rPr lang="en-US" altLang="zh-CN" dirty="0">
                <a:latin typeface="Arial Black" panose="020B0A04020102020204" pitchFamily="34" charset="0"/>
              </a:rPr>
              <a:t>].</a:t>
            </a:r>
            <a:r>
              <a:rPr lang="en-US" altLang="zh-CN" dirty="0" err="1">
                <a:latin typeface="Arial Black" panose="020B0A04020102020204" pitchFamily="34" charset="0"/>
              </a:rPr>
              <a:t>data.key</a:t>
            </a:r>
            <a:r>
              <a:rPr lang="en-US" altLang="zh-CN" dirty="0">
                <a:latin typeface="Arial Black" panose="020B0A04020102020204" pitchFamily="34" charset="0"/>
              </a:rPr>
              <a:t>!=-1))  </a:t>
            </a:r>
          </a:p>
          <a:p>
            <a:r>
              <a:rPr lang="en-US" altLang="zh-CN" dirty="0">
                <a:latin typeface="Arial Black" panose="020B0A04020102020204" pitchFamily="34" charset="0"/>
              </a:rPr>
              <a:t>    	{    	</a:t>
            </a:r>
            <a:r>
              <a:rPr lang="en-US" altLang="zh-CN" dirty="0" err="1">
                <a:latin typeface="Arial Black" panose="020B0A04020102020204" pitchFamily="34" charset="0"/>
              </a:rPr>
              <a:t>Lnode</a:t>
            </a:r>
            <a:r>
              <a:rPr lang="en-US" altLang="zh-CN" dirty="0">
                <a:latin typeface="Arial Black" panose="020B0A04020102020204" pitchFamily="34" charset="0"/>
              </a:rPr>
              <a:t>&lt;</a:t>
            </a:r>
            <a:r>
              <a:rPr lang="en-US" altLang="zh-CN" dirty="0" err="1">
                <a:latin typeface="Arial Black" panose="020B0A04020102020204" pitchFamily="34" charset="0"/>
              </a:rPr>
              <a:t>keytype,Itemtype</a:t>
            </a:r>
            <a:r>
              <a:rPr lang="en-US" altLang="zh-CN" dirty="0">
                <a:latin typeface="Arial Black" panose="020B0A04020102020204" pitchFamily="34" charset="0"/>
              </a:rPr>
              <a:t>&gt; *pp=R[</a:t>
            </a:r>
            <a:r>
              <a:rPr lang="en-US" altLang="zh-CN" dirty="0" err="1">
                <a:latin typeface="Arial Black" panose="020B0A04020102020204" pitchFamily="34" charset="0"/>
              </a:rPr>
              <a:t>addr</a:t>
            </a:r>
            <a:r>
              <a:rPr lang="en-US" altLang="zh-CN" dirty="0">
                <a:latin typeface="Arial Black" panose="020B0A04020102020204" pitchFamily="34" charset="0"/>
              </a:rPr>
              <a:t>].next;</a:t>
            </a:r>
          </a:p>
          <a:p>
            <a:r>
              <a:rPr lang="en-US" altLang="zh-CN" dirty="0">
                <a:latin typeface="Arial Black" panose="020B0A04020102020204" pitchFamily="34" charset="0"/>
              </a:rPr>
              <a:t>		while(pp!=NULL)</a:t>
            </a:r>
          </a:p>
          <a:p>
            <a:r>
              <a:rPr lang="en-US" altLang="zh-CN" dirty="0">
                <a:latin typeface="Arial Black" panose="020B0A04020102020204" pitchFamily="34" charset="0"/>
              </a:rPr>
              <a:t>		{	if(pp-&gt;</a:t>
            </a:r>
            <a:r>
              <a:rPr lang="en-US" altLang="zh-CN" dirty="0" err="1">
                <a:latin typeface="Arial Black" panose="020B0A04020102020204" pitchFamily="34" charset="0"/>
              </a:rPr>
              <a:t>data.key</a:t>
            </a:r>
            <a:r>
              <a:rPr lang="en-US" altLang="zh-CN" dirty="0">
                <a:latin typeface="Arial Black" panose="020B0A04020102020204" pitchFamily="34" charset="0"/>
              </a:rPr>
              <a:t>==x)	return pp-&gt;</a:t>
            </a:r>
            <a:r>
              <a:rPr lang="en-US" altLang="zh-CN" dirty="0" err="1">
                <a:latin typeface="Arial Black" panose="020B0A04020102020204" pitchFamily="34" charset="0"/>
              </a:rPr>
              <a:t>data.key</a:t>
            </a:r>
            <a:r>
              <a:rPr lang="en-US" altLang="zh-CN" dirty="0">
                <a:latin typeface="Arial Black" panose="020B0A04020102020204" pitchFamily="34" charset="0"/>
              </a:rPr>
              <a:t>;</a:t>
            </a:r>
          </a:p>
          <a:p>
            <a:r>
              <a:rPr lang="en-US" altLang="zh-CN" dirty="0">
                <a:latin typeface="Arial Black" panose="020B0A04020102020204" pitchFamily="34" charset="0"/>
              </a:rPr>
              <a:t>			pp=pp-&gt;next;		}</a:t>
            </a:r>
          </a:p>
          <a:p>
            <a:r>
              <a:rPr lang="en-US" altLang="zh-CN" dirty="0">
                <a:latin typeface="Arial Black" panose="020B0A04020102020204" pitchFamily="34" charset="0"/>
              </a:rPr>
              <a:t>		return -1;	}</a:t>
            </a:r>
          </a:p>
          <a:p>
            <a:r>
              <a:rPr lang="en-US" altLang="zh-CN" dirty="0">
                <a:latin typeface="Arial Black" panose="020B0A04020102020204" pitchFamily="34" charset="0"/>
              </a:rPr>
              <a:t>	else</a:t>
            </a:r>
          </a:p>
          <a:p>
            <a:r>
              <a:rPr lang="en-US" altLang="zh-CN" dirty="0">
                <a:latin typeface="Arial Black" panose="020B0A04020102020204" pitchFamily="34" charset="0"/>
              </a:rPr>
              <a:t>	{</a:t>
            </a:r>
          </a:p>
          <a:p>
            <a:r>
              <a:rPr lang="en-US" altLang="zh-CN" dirty="0">
                <a:latin typeface="Arial Black" panose="020B0A04020102020204" pitchFamily="34" charset="0"/>
              </a:rPr>
              <a:t>		if(R[</a:t>
            </a:r>
            <a:r>
              <a:rPr lang="en-US" altLang="zh-CN" dirty="0" err="1">
                <a:latin typeface="Arial Black" panose="020B0A04020102020204" pitchFamily="34" charset="0"/>
              </a:rPr>
              <a:t>addr</a:t>
            </a:r>
            <a:r>
              <a:rPr lang="en-US" altLang="zh-CN" dirty="0">
                <a:latin typeface="Arial Black" panose="020B0A04020102020204" pitchFamily="34" charset="0"/>
              </a:rPr>
              <a:t>].</a:t>
            </a:r>
            <a:r>
              <a:rPr lang="en-US" altLang="zh-CN" dirty="0" err="1">
                <a:latin typeface="Arial Black" panose="020B0A04020102020204" pitchFamily="34" charset="0"/>
              </a:rPr>
              <a:t>data.key</a:t>
            </a:r>
            <a:r>
              <a:rPr lang="en-US" altLang="zh-CN" dirty="0">
                <a:latin typeface="Arial Black" panose="020B0A04020102020204" pitchFamily="34" charset="0"/>
              </a:rPr>
              <a:t>!=x)          //</a:t>
            </a:r>
            <a:r>
              <a:rPr lang="zh-CN" altLang="en-US" dirty="0">
                <a:latin typeface="Arial Black" panose="020B0A04020102020204" pitchFamily="34" charset="0"/>
              </a:rPr>
              <a:t>顺序表的元素是否相等</a:t>
            </a:r>
          </a:p>
          <a:p>
            <a:r>
              <a:rPr lang="zh-CN" altLang="en-US" dirty="0">
                <a:latin typeface="Arial Black" panose="020B0A04020102020204" pitchFamily="34" charset="0"/>
              </a:rPr>
              <a:t>		</a:t>
            </a:r>
            <a:r>
              <a:rPr lang="en-US" altLang="zh-CN" dirty="0">
                <a:latin typeface="Arial Black" panose="020B0A04020102020204" pitchFamily="34" charset="0"/>
              </a:rPr>
              <a:t>{</a:t>
            </a:r>
          </a:p>
          <a:p>
            <a:r>
              <a:rPr lang="en-US" altLang="zh-CN" dirty="0">
                <a:latin typeface="Arial Black" panose="020B0A04020102020204" pitchFamily="34" charset="0"/>
              </a:rPr>
              <a:t>			</a:t>
            </a:r>
            <a:r>
              <a:rPr lang="en-US" altLang="zh-CN" dirty="0" err="1">
                <a:latin typeface="Arial Black" panose="020B0A04020102020204" pitchFamily="34" charset="0"/>
              </a:rPr>
              <a:t>cout</a:t>
            </a:r>
            <a:r>
              <a:rPr lang="en-US" altLang="zh-CN" dirty="0">
                <a:latin typeface="Arial Black" panose="020B0A04020102020204" pitchFamily="34" charset="0"/>
              </a:rPr>
              <a:t>&lt;&lt;x&lt;&lt;"</a:t>
            </a:r>
            <a:r>
              <a:rPr lang="zh-CN" altLang="en-US" dirty="0">
                <a:latin typeface="Arial Black" panose="020B0A04020102020204" pitchFamily="34" charset="0"/>
              </a:rPr>
              <a:t>查找失败</a:t>
            </a:r>
            <a:r>
              <a:rPr lang="en-US" altLang="zh-CN" dirty="0">
                <a:latin typeface="Arial Black" panose="020B0A04020102020204" pitchFamily="34" charset="0"/>
              </a:rPr>
              <a:t>!\n"&lt;&lt;</a:t>
            </a:r>
            <a:r>
              <a:rPr lang="en-US" altLang="zh-CN" dirty="0" err="1">
                <a:latin typeface="Arial Black" panose="020B0A04020102020204" pitchFamily="34" charset="0"/>
              </a:rPr>
              <a:t>endl</a:t>
            </a:r>
            <a:r>
              <a:rPr lang="en-US" altLang="zh-CN" dirty="0">
                <a:latin typeface="Arial Black" panose="020B0A04020102020204" pitchFamily="34" charset="0"/>
              </a:rPr>
              <a:t>;</a:t>
            </a:r>
          </a:p>
          <a:p>
            <a:r>
              <a:rPr lang="en-US" altLang="zh-CN" dirty="0">
                <a:latin typeface="Arial Black" panose="020B0A04020102020204" pitchFamily="34" charset="0"/>
              </a:rPr>
              <a:t>		    return -1;</a:t>
            </a:r>
          </a:p>
          <a:p>
            <a:r>
              <a:rPr lang="en-US" altLang="zh-CN" dirty="0">
                <a:latin typeface="Arial Black" panose="020B0A04020102020204" pitchFamily="34" charset="0"/>
              </a:rPr>
              <a:t>		}</a:t>
            </a:r>
          </a:p>
          <a:p>
            <a:r>
              <a:rPr lang="en-US" altLang="zh-CN" dirty="0">
                <a:latin typeface="Arial Black" panose="020B0A04020102020204" pitchFamily="34" charset="0"/>
              </a:rPr>
              <a:t>	    else</a:t>
            </a:r>
          </a:p>
          <a:p>
            <a:r>
              <a:rPr lang="en-US" altLang="zh-CN" dirty="0">
                <a:latin typeface="Arial Black" panose="020B0A04020102020204" pitchFamily="34" charset="0"/>
              </a:rPr>
              <a:t>		    return R[</a:t>
            </a:r>
            <a:r>
              <a:rPr lang="en-US" altLang="zh-CN" dirty="0" err="1">
                <a:latin typeface="Arial Black" panose="020B0A04020102020204" pitchFamily="34" charset="0"/>
              </a:rPr>
              <a:t>addr</a:t>
            </a:r>
            <a:r>
              <a:rPr lang="en-US" altLang="zh-CN" dirty="0">
                <a:latin typeface="Arial Black" panose="020B0A04020102020204" pitchFamily="34" charset="0"/>
              </a:rPr>
              <a:t>].</a:t>
            </a:r>
            <a:r>
              <a:rPr lang="en-US" altLang="zh-CN" dirty="0" err="1">
                <a:latin typeface="Arial Black" panose="020B0A04020102020204" pitchFamily="34" charset="0"/>
              </a:rPr>
              <a:t>data.key</a:t>
            </a:r>
            <a:r>
              <a:rPr lang="en-US" altLang="zh-CN" dirty="0">
                <a:latin typeface="Arial Black" panose="020B0A04020102020204" pitchFamily="34" charset="0"/>
              </a:rPr>
              <a:t>;   //</a:t>
            </a:r>
            <a:r>
              <a:rPr lang="zh-CN" altLang="en-US" dirty="0">
                <a:latin typeface="Arial Black" panose="020B0A04020102020204" pitchFamily="34" charset="0"/>
              </a:rPr>
              <a:t>查找成功</a:t>
            </a:r>
          </a:p>
          <a:p>
            <a:r>
              <a:rPr lang="zh-CN" altLang="en-US" dirty="0">
                <a:latin typeface="Arial Black" panose="020B0A04020102020204" pitchFamily="34" charset="0"/>
              </a:rPr>
              <a:t>	</a:t>
            </a:r>
            <a:r>
              <a:rPr lang="en-US" altLang="zh-CN" dirty="0">
                <a:latin typeface="Arial Black" panose="020B0A04020102020204" pitchFamily="34" charset="0"/>
              </a:rPr>
              <a:t>}</a:t>
            </a:r>
          </a:p>
          <a:p>
            <a:r>
              <a:rPr lang="en-US" altLang="zh-CN" dirty="0">
                <a:latin typeface="Arial Black" panose="020B0A04020102020204" pitchFamily="34" charset="0"/>
              </a:rPr>
              <a:t>}</a:t>
            </a:r>
            <a:r>
              <a:rPr lang="en-US" altLang="zh-CN" sz="2800" b="1" dirty="0">
                <a:solidFill>
                  <a:srgbClr val="FF0000"/>
                </a:solidFill>
                <a:latin typeface="Arial Black" panose="020B0A04020102020204" pitchFamily="34" charset="0"/>
              </a:rPr>
              <a:t>//</a:t>
            </a:r>
            <a:r>
              <a:rPr lang="zh-CN" altLang="en-US" sz="2800" b="1" dirty="0">
                <a:solidFill>
                  <a:srgbClr val="FF0000"/>
                </a:solidFill>
                <a:latin typeface="Arial Black" panose="020B0A04020102020204" pitchFamily="34" charset="0"/>
              </a:rPr>
              <a:t>有无问题</a:t>
            </a:r>
            <a:endParaRPr lang="en-US" altLang="zh-CN" b="1" dirty="0">
              <a:solidFill>
                <a:srgbClr val="FF0000"/>
              </a:solidFill>
              <a:latin typeface="Arial Black" panose="020B0A04020102020204" pitchFamily="34" charset="0"/>
            </a:endParaRPr>
          </a:p>
        </p:txBody>
      </p:sp>
    </p:spTree>
    <p:extLst>
      <p:ext uri="{BB962C8B-B14F-4D97-AF65-F5344CB8AC3E}">
        <p14:creationId xmlns:p14="http://schemas.microsoft.com/office/powerpoint/2010/main" val="27763061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980728"/>
            <a:ext cx="4464496" cy="4176464"/>
          </a:xfrm>
        </p:spPr>
        <p:txBody>
          <a:bodyPr>
            <a:normAutofit/>
          </a:bodyPr>
          <a:lstStyle/>
          <a:p>
            <a:pPr>
              <a:spcBef>
                <a:spcPts val="1200"/>
              </a:spcBef>
            </a:pPr>
            <a:r>
              <a:rPr lang="zh-CN" altLang="zh-CN" sz="2800" dirty="0">
                <a:solidFill>
                  <a:srgbClr val="FF0000"/>
                </a:solidFill>
              </a:rPr>
              <a:t>（</a:t>
            </a:r>
            <a:r>
              <a:rPr lang="en-US" altLang="zh-CN" sz="2800" dirty="0">
                <a:solidFill>
                  <a:srgbClr val="FF0000"/>
                </a:solidFill>
              </a:rPr>
              <a:t>2</a:t>
            </a:r>
            <a:r>
              <a:rPr lang="zh-CN" altLang="zh-CN" sz="2800" dirty="0">
                <a:solidFill>
                  <a:srgbClr val="FF0000"/>
                </a:solidFill>
              </a:rPr>
              <a:t>）公共溢出区</a:t>
            </a:r>
            <a:r>
              <a:rPr lang="zh-CN" altLang="en-US" sz="2800" dirty="0">
                <a:solidFill>
                  <a:srgbClr val="FF0000"/>
                </a:solidFill>
              </a:rPr>
              <a:t>法</a:t>
            </a:r>
            <a:endParaRPr lang="zh-CN" altLang="zh-CN" sz="2800" dirty="0">
              <a:solidFill>
                <a:srgbClr val="FF0000"/>
              </a:solidFill>
            </a:endParaRPr>
          </a:p>
          <a:p>
            <a:pPr>
              <a:spcBef>
                <a:spcPts val="1200"/>
              </a:spcBef>
              <a:buFont typeface="Wingdings" panose="05000000000000000000" pitchFamily="2" charset="2"/>
              <a:buChar char="n"/>
            </a:pPr>
            <a:r>
              <a:rPr lang="zh-CN" altLang="zh-CN" sz="2000" dirty="0"/>
              <a:t>通过使用</a:t>
            </a:r>
            <a:r>
              <a:rPr lang="zh-CN" altLang="en-US" sz="2000" dirty="0"/>
              <a:t>另外的</a:t>
            </a:r>
            <a:r>
              <a:rPr lang="zh-CN" altLang="zh-CN" sz="2000" dirty="0"/>
              <a:t>一维数组来存储发生冲突的元素，</a:t>
            </a:r>
            <a:r>
              <a:rPr lang="zh-CN" altLang="zh-CN" sz="2000" dirty="0">
                <a:solidFill>
                  <a:srgbClr val="FF0000"/>
                </a:solidFill>
              </a:rPr>
              <a:t>发生冲突的元素在溢出区内依次顺序存放</a:t>
            </a:r>
            <a:r>
              <a:rPr lang="zh-CN" altLang="zh-CN" sz="2000" dirty="0"/>
              <a:t>。</a:t>
            </a:r>
          </a:p>
          <a:p>
            <a:pPr>
              <a:spcBef>
                <a:spcPts val="1200"/>
              </a:spcBef>
              <a:buFont typeface="Wingdings" panose="05000000000000000000" pitchFamily="2" charset="2"/>
              <a:buChar char="n"/>
            </a:pPr>
            <a:r>
              <a:rPr lang="zh-CN" altLang="zh-CN" sz="2000" b="0" dirty="0"/>
              <a:t>假设使用的哈希函数为</a:t>
            </a:r>
            <a:r>
              <a:rPr lang="en-US" altLang="zh-CN" sz="2000" b="0" dirty="0"/>
              <a:t>H(key)=key%7</a:t>
            </a:r>
            <a:r>
              <a:rPr lang="zh-CN" altLang="zh-CN" sz="2000" b="0" dirty="0"/>
              <a:t>，需要插入的元素为</a:t>
            </a:r>
            <a:r>
              <a:rPr lang="en-US" altLang="zh-CN" sz="2000" b="0" dirty="0"/>
              <a:t>8</a:t>
            </a:r>
            <a:r>
              <a:rPr lang="zh-CN" altLang="zh-CN" sz="2000" b="0" dirty="0"/>
              <a:t>，</a:t>
            </a:r>
            <a:r>
              <a:rPr lang="en-US" altLang="zh-CN" sz="2000" b="0" dirty="0"/>
              <a:t>12</a:t>
            </a:r>
            <a:r>
              <a:rPr lang="zh-CN" altLang="zh-CN" sz="2000" b="0" dirty="0"/>
              <a:t>，</a:t>
            </a:r>
            <a:r>
              <a:rPr lang="en-US" altLang="zh-CN" sz="2000" b="0" dirty="0"/>
              <a:t>6</a:t>
            </a:r>
            <a:r>
              <a:rPr lang="zh-CN" altLang="zh-CN" sz="2000" b="0" dirty="0"/>
              <a:t>，</a:t>
            </a:r>
            <a:r>
              <a:rPr lang="en-US" altLang="zh-CN" sz="2000" b="0" dirty="0"/>
              <a:t>10</a:t>
            </a:r>
            <a:r>
              <a:rPr lang="zh-CN" altLang="zh-CN" sz="2000" b="0" dirty="0"/>
              <a:t>，</a:t>
            </a:r>
            <a:r>
              <a:rPr lang="en-US" altLang="zh-CN" sz="2000" b="0" dirty="0"/>
              <a:t>16</a:t>
            </a:r>
            <a:r>
              <a:rPr lang="zh-CN" altLang="zh-CN" sz="2000" b="0" dirty="0"/>
              <a:t>，</a:t>
            </a:r>
            <a:r>
              <a:rPr lang="en-US" altLang="zh-CN" sz="2000" b="0" dirty="0"/>
              <a:t>23</a:t>
            </a:r>
            <a:r>
              <a:rPr lang="zh-CN" altLang="zh-CN" sz="2000" b="0" dirty="0"/>
              <a:t>，</a:t>
            </a:r>
            <a:r>
              <a:rPr lang="en-US" altLang="zh-CN" sz="2000" b="0" dirty="0"/>
              <a:t>36</a:t>
            </a:r>
            <a:r>
              <a:rPr lang="zh-CN" altLang="zh-CN" sz="2000" b="0" dirty="0"/>
              <a:t>，</a:t>
            </a:r>
            <a:r>
              <a:rPr lang="en-US" altLang="zh-CN" sz="2000" b="0" dirty="0"/>
              <a:t>29</a:t>
            </a:r>
            <a:r>
              <a:rPr lang="zh-CN" altLang="zh-CN" sz="2000" b="0" dirty="0"/>
              <a:t>，存储结果如图</a:t>
            </a:r>
            <a:r>
              <a:rPr lang="en-US" altLang="zh-CN" sz="2000" b="0" dirty="0"/>
              <a:t>8-5</a:t>
            </a:r>
            <a:r>
              <a:rPr lang="zh-CN" altLang="zh-CN" sz="2000" b="0" dirty="0"/>
              <a:t>所示。</a:t>
            </a:r>
          </a:p>
          <a:p>
            <a:pPr>
              <a:spcBef>
                <a:spcPts val="1200"/>
              </a:spcBef>
            </a:pPr>
            <a:endParaRPr lang="zh-CN" altLang="en-US" sz="2000" dirty="0"/>
          </a:p>
        </p:txBody>
      </p:sp>
      <p:pic>
        <p:nvPicPr>
          <p:cNvPr id="409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76056" y="1124744"/>
            <a:ext cx="3991719" cy="41891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89548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098"/>
                                        </p:tgtEl>
                                        <p:attrNameLst>
                                          <p:attrName>style.visibility</p:attrName>
                                        </p:attrNameLst>
                                      </p:cBhvr>
                                      <p:to>
                                        <p:strVal val="visible"/>
                                      </p:to>
                                    </p:set>
                                    <p:animEffect transition="in" filter="fade">
                                      <p:cBhvr>
                                        <p:cTn id="10" dur="500"/>
                                        <p:tgtEl>
                                          <p:spTgt spid="4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400" dirty="0"/>
              <a:t>2</a:t>
            </a:r>
            <a:r>
              <a:rPr lang="zh-CN" altLang="zh-CN" sz="2400" dirty="0"/>
              <a:t>．</a:t>
            </a:r>
            <a:r>
              <a:rPr lang="zh-CN" altLang="zh-CN" sz="2400" b="1" dirty="0">
                <a:solidFill>
                  <a:srgbClr val="FF0000"/>
                </a:solidFill>
              </a:rPr>
              <a:t>封闭哈希</a:t>
            </a:r>
            <a:endParaRPr lang="zh-CN" altLang="en-US" sz="2400" b="1" dirty="0">
              <a:solidFill>
                <a:srgbClr val="FF0000"/>
              </a:solidFill>
            </a:endParaRPr>
          </a:p>
        </p:txBody>
      </p:sp>
      <p:sp>
        <p:nvSpPr>
          <p:cNvPr id="3" name="内容占位符 2"/>
          <p:cNvSpPr>
            <a:spLocks noGrp="1"/>
          </p:cNvSpPr>
          <p:nvPr>
            <p:ph idx="1"/>
          </p:nvPr>
        </p:nvSpPr>
        <p:spPr>
          <a:xfrm>
            <a:off x="827584" y="1628800"/>
            <a:ext cx="7488832" cy="3384375"/>
          </a:xfrm>
        </p:spPr>
        <p:txBody>
          <a:bodyPr/>
          <a:lstStyle/>
          <a:p>
            <a:r>
              <a:rPr lang="zh-CN" altLang="zh-CN" dirty="0">
                <a:solidFill>
                  <a:srgbClr val="FF0000"/>
                </a:solidFill>
              </a:rPr>
              <a:t>（</a:t>
            </a:r>
            <a:r>
              <a:rPr lang="en-US" altLang="zh-CN" dirty="0">
                <a:solidFill>
                  <a:srgbClr val="FF0000"/>
                </a:solidFill>
              </a:rPr>
              <a:t>1</a:t>
            </a:r>
            <a:r>
              <a:rPr lang="zh-CN" altLang="zh-CN" dirty="0">
                <a:solidFill>
                  <a:srgbClr val="FF0000"/>
                </a:solidFill>
              </a:rPr>
              <a:t>）线性探测法</a:t>
            </a:r>
            <a:r>
              <a:rPr lang="zh-CN" altLang="zh-CN" dirty="0"/>
              <a:t>（</a:t>
            </a:r>
            <a:r>
              <a:rPr lang="en-US" altLang="zh-CN" dirty="0"/>
              <a:t>linear probing</a:t>
            </a:r>
            <a:r>
              <a:rPr lang="zh-CN" altLang="zh-CN" dirty="0"/>
              <a:t>）</a:t>
            </a:r>
          </a:p>
          <a:p>
            <a:pPr>
              <a:spcBef>
                <a:spcPts val="1200"/>
              </a:spcBef>
              <a:buFont typeface="Wingdings" panose="05000000000000000000" pitchFamily="2" charset="2"/>
              <a:buChar char="u"/>
            </a:pPr>
            <a:r>
              <a:rPr lang="zh-CN" altLang="zh-CN" dirty="0"/>
              <a:t>线性探测法从发生冲突的地址单元开始，依次探测下一个地址单元</a:t>
            </a:r>
            <a:r>
              <a:rPr lang="zh-CN" altLang="zh-CN" b="0" dirty="0"/>
              <a:t>（把哈希表看成循环表，用表空</a:t>
            </a:r>
            <a:r>
              <a:rPr lang="zh-CN" altLang="en-US" b="0" dirty="0"/>
              <a:t>地址</a:t>
            </a:r>
            <a:r>
              <a:rPr lang="zh-CN" altLang="zh-CN" b="0" dirty="0"/>
              <a:t>间加</a:t>
            </a:r>
            <a:r>
              <a:rPr lang="en-US" altLang="zh-CN" b="0" dirty="0"/>
              <a:t>1</a:t>
            </a:r>
            <a:r>
              <a:rPr lang="zh-CN" altLang="zh-CN" b="0" dirty="0"/>
              <a:t>取模实现），直到遇到一个空闲单元或探测完所有地址单元时为止。</a:t>
            </a:r>
          </a:p>
          <a:p>
            <a:pPr>
              <a:spcBef>
                <a:spcPts val="1200"/>
              </a:spcBef>
              <a:buFont typeface="Wingdings" panose="05000000000000000000" pitchFamily="2" charset="2"/>
              <a:buChar char="u"/>
            </a:pPr>
            <a:r>
              <a:rPr lang="zh-CN" altLang="zh-CN" b="0" dirty="0"/>
              <a:t>线性探查法用递推公式表示为：</a:t>
            </a:r>
          </a:p>
          <a:p>
            <a:endParaRPr lang="zh-CN" altLang="en-US" dirty="0"/>
          </a:p>
        </p:txBody>
      </p:sp>
      <p:pic>
        <p:nvPicPr>
          <p:cNvPr id="512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31640" y="4869160"/>
            <a:ext cx="4619625" cy="1133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35689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122"/>
                                        </p:tgtEl>
                                        <p:attrNameLst>
                                          <p:attrName>style.visibility</p:attrName>
                                        </p:attrNameLst>
                                      </p:cBhvr>
                                      <p:to>
                                        <p:strVal val="visible"/>
                                      </p:to>
                                    </p:set>
                                    <p:animEffect transition="in" filter="fade">
                                      <p:cBhvr>
                                        <p:cTn id="10" dur="500"/>
                                        <p:tgtEl>
                                          <p:spTgt spid="5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55576" y="836712"/>
            <a:ext cx="7992888" cy="3168352"/>
          </a:xfrm>
        </p:spPr>
        <p:txBody>
          <a:bodyPr>
            <a:noAutofit/>
          </a:bodyPr>
          <a:lstStyle/>
          <a:p>
            <a:r>
              <a:rPr lang="zh-CN" altLang="zh-CN" sz="2000" b="0" dirty="0"/>
              <a:t>【例</a:t>
            </a:r>
            <a:r>
              <a:rPr lang="en-US" altLang="zh-CN" sz="2000" b="0" dirty="0"/>
              <a:t>8.3</a:t>
            </a:r>
            <a:r>
              <a:rPr lang="zh-CN" altLang="zh-CN" sz="2000" b="0" dirty="0"/>
              <a:t>】给出一组关键字集合</a:t>
            </a:r>
            <a:r>
              <a:rPr lang="en-US" altLang="zh-CN" sz="2000" b="0" dirty="0"/>
              <a:t>{28</a:t>
            </a:r>
            <a:r>
              <a:rPr lang="zh-CN" altLang="zh-CN" sz="2000" b="0" dirty="0"/>
              <a:t>，</a:t>
            </a:r>
            <a:r>
              <a:rPr lang="en-US" altLang="zh-CN" sz="2000" b="0" dirty="0"/>
              <a:t>8</a:t>
            </a:r>
            <a:r>
              <a:rPr lang="zh-CN" altLang="zh-CN" sz="2000" b="0" dirty="0"/>
              <a:t>，</a:t>
            </a:r>
            <a:r>
              <a:rPr lang="en-US" altLang="zh-CN" sz="2000" b="0" dirty="0"/>
              <a:t>21</a:t>
            </a:r>
            <a:r>
              <a:rPr lang="zh-CN" altLang="zh-CN" sz="2000" b="0" dirty="0"/>
              <a:t>，</a:t>
            </a:r>
            <a:r>
              <a:rPr lang="en-US" altLang="zh-CN" sz="2000" b="0" dirty="0"/>
              <a:t>22</a:t>
            </a:r>
            <a:r>
              <a:rPr lang="zh-CN" altLang="zh-CN" sz="2000" b="0" dirty="0"/>
              <a:t>，</a:t>
            </a:r>
            <a:r>
              <a:rPr lang="en-US" altLang="zh-CN" sz="2000" b="0" dirty="0"/>
              <a:t>6</a:t>
            </a:r>
            <a:r>
              <a:rPr lang="zh-CN" altLang="zh-CN" sz="2000" b="0" dirty="0"/>
              <a:t>，</a:t>
            </a:r>
            <a:r>
              <a:rPr lang="en-US" altLang="zh-CN" sz="2000" b="0" dirty="0"/>
              <a:t>27}</a:t>
            </a:r>
            <a:r>
              <a:rPr lang="zh-CN" altLang="zh-CN" sz="2000" b="0" dirty="0"/>
              <a:t>，已知哈希表的地址空间为</a:t>
            </a:r>
            <a:r>
              <a:rPr lang="en-US" altLang="zh-CN" sz="2000" b="0" dirty="0"/>
              <a:t>[0..6]</a:t>
            </a:r>
            <a:r>
              <a:rPr lang="zh-CN" altLang="zh-CN" sz="2000" b="0" dirty="0"/>
              <a:t>，采用哈希函数</a:t>
            </a:r>
            <a:r>
              <a:rPr lang="en-US" altLang="zh-CN" sz="2000" b="0" dirty="0"/>
              <a:t>Hash(key)=key%7</a:t>
            </a:r>
            <a:r>
              <a:rPr lang="zh-CN" altLang="zh-CN" sz="2000" b="0" dirty="0"/>
              <a:t>，线性探测法处理冲突，将关键字依次映射到哈希表中</a:t>
            </a:r>
            <a:r>
              <a:rPr lang="zh-CN" altLang="en-US" sz="2000" b="0" dirty="0"/>
              <a:t>。</a:t>
            </a:r>
            <a:endParaRPr lang="en-US" altLang="zh-CN" sz="2000" b="0" dirty="0"/>
          </a:p>
          <a:p>
            <a:pPr algn="just"/>
            <a:r>
              <a:rPr lang="zh-CN" altLang="en-US" sz="2000" b="0" dirty="0"/>
              <a:t>其中：</a:t>
            </a:r>
            <a:endParaRPr lang="en-US" altLang="zh-CN" sz="2000" b="0" dirty="0"/>
          </a:p>
          <a:p>
            <a:pPr algn="just"/>
            <a:r>
              <a:rPr lang="en-US" altLang="zh-CN" sz="2000" b="0" dirty="0"/>
              <a:t>Hash(28)=Hash(21)=0</a:t>
            </a:r>
          </a:p>
          <a:p>
            <a:pPr algn="just"/>
            <a:r>
              <a:rPr lang="en-US" altLang="zh-CN" sz="2000" b="0" dirty="0"/>
              <a:t>Hash(8)=Hash(22)=1</a:t>
            </a:r>
          </a:p>
          <a:p>
            <a:pPr algn="just"/>
            <a:r>
              <a:rPr lang="en-US" altLang="zh-CN" sz="2000" b="0" dirty="0"/>
              <a:t>Hash(6)=Hash(27)=6</a:t>
            </a:r>
            <a:endParaRPr lang="zh-CN" altLang="zh-CN" sz="2000" b="0" dirty="0"/>
          </a:p>
        </p:txBody>
      </p:sp>
      <p:pic>
        <p:nvPicPr>
          <p:cNvPr id="5"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60032" y="2370073"/>
            <a:ext cx="4032448" cy="39392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矩形 5"/>
          <p:cNvSpPr/>
          <p:nvPr/>
        </p:nvSpPr>
        <p:spPr>
          <a:xfrm>
            <a:off x="467544" y="4725144"/>
            <a:ext cx="3960440" cy="830997"/>
          </a:xfrm>
          <a:prstGeom prst="rect">
            <a:avLst/>
          </a:prstGeom>
        </p:spPr>
        <p:txBody>
          <a:bodyPr wrap="square">
            <a:spAutoFit/>
          </a:bodyPr>
          <a:lstStyle/>
          <a:p>
            <a:r>
              <a:rPr lang="zh-CN" altLang="en-US" sz="2400" dirty="0">
                <a:solidFill>
                  <a:srgbClr val="FF0000"/>
                </a:solidFill>
                <a:latin typeface="Times New Roman" pitchFamily="18" charset="0"/>
                <a:ea typeface="楷体" panose="02010609060101010101" pitchFamily="49" charset="-122"/>
                <a:cs typeface="Times New Roman" pitchFamily="18" charset="0"/>
              </a:rPr>
              <a:t>注：</a:t>
            </a:r>
            <a:r>
              <a:rPr lang="zh-CN" altLang="zh-CN" sz="2400" b="1" dirty="0">
                <a:solidFill>
                  <a:srgbClr val="FF0000"/>
                </a:solidFill>
                <a:latin typeface="Times New Roman" pitchFamily="18" charset="0"/>
                <a:ea typeface="楷体" panose="02010609060101010101" pitchFamily="49" charset="-122"/>
                <a:cs typeface="Times New Roman" pitchFamily="18" charset="0"/>
              </a:rPr>
              <a:t>用线性探测法解决冲突时，容易产生“堆积”现象。</a:t>
            </a:r>
            <a:endParaRPr lang="zh-CN" altLang="en-US" sz="2400" b="1" dirty="0">
              <a:solidFill>
                <a:srgbClr val="FF0000"/>
              </a:solidFill>
              <a:latin typeface="Times New Roman" pitchFamily="18" charset="0"/>
              <a:ea typeface="楷体" panose="02010609060101010101" pitchFamily="49" charset="-122"/>
              <a:cs typeface="Times New Roman" pitchFamily="18" charset="0"/>
            </a:endParaRPr>
          </a:p>
        </p:txBody>
      </p:sp>
    </p:spTree>
    <p:extLst>
      <p:ext uri="{BB962C8B-B14F-4D97-AF65-F5344CB8AC3E}">
        <p14:creationId xmlns:p14="http://schemas.microsoft.com/office/powerpoint/2010/main" val="3015418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187624" y="2743572"/>
            <a:ext cx="6496050" cy="1333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矩形 3"/>
          <p:cNvSpPr/>
          <p:nvPr/>
        </p:nvSpPr>
        <p:spPr>
          <a:xfrm>
            <a:off x="1403648" y="4341862"/>
            <a:ext cx="4968552" cy="461665"/>
          </a:xfrm>
          <a:prstGeom prst="rect">
            <a:avLst/>
          </a:prstGeom>
        </p:spPr>
        <p:txBody>
          <a:bodyPr wrap="square">
            <a:spAutoFit/>
          </a:bodyPr>
          <a:lstStyle/>
          <a:p>
            <a:r>
              <a:rPr lang="zh-CN" altLang="zh-CN" sz="2400" dirty="0">
                <a:latin typeface="楷体" panose="02010609060101010101" pitchFamily="49" charset="-122"/>
                <a:ea typeface="楷体" panose="02010609060101010101" pitchFamily="49" charset="-122"/>
                <a:cs typeface="Times New Roman" panose="02020603050405020304" pitchFamily="18" charset="0"/>
              </a:rPr>
              <a:t>所对应</a:t>
            </a:r>
            <a:r>
              <a:rPr lang="zh-CN" altLang="en-US" sz="2400" b="1" dirty="0">
                <a:solidFill>
                  <a:srgbClr val="FF0000"/>
                </a:solidFill>
                <a:latin typeface="楷体" panose="02010609060101010101" pitchFamily="49" charset="-122"/>
                <a:ea typeface="楷体" panose="02010609060101010101" pitchFamily="49" charset="-122"/>
                <a:cs typeface="Times New Roman" panose="02020603050405020304" pitchFamily="18" charset="0"/>
              </a:rPr>
              <a:t>查找成功的</a:t>
            </a:r>
            <a:r>
              <a:rPr lang="zh-CN" altLang="zh-CN" sz="2400" b="1" dirty="0">
                <a:solidFill>
                  <a:srgbClr val="FF0000"/>
                </a:solidFill>
                <a:latin typeface="楷体" panose="02010609060101010101" pitchFamily="49" charset="-122"/>
                <a:ea typeface="楷体" panose="02010609060101010101" pitchFamily="49" charset="-122"/>
                <a:cs typeface="Times New Roman" panose="02020603050405020304" pitchFamily="18" charset="0"/>
              </a:rPr>
              <a:t>平均查找长度</a:t>
            </a:r>
            <a:r>
              <a:rPr lang="zh-CN" altLang="zh-CN" sz="2400" dirty="0">
                <a:latin typeface="楷体" panose="02010609060101010101" pitchFamily="49" charset="-122"/>
                <a:ea typeface="楷体" panose="02010609060101010101" pitchFamily="49" charset="-122"/>
                <a:cs typeface="Times New Roman" panose="02020603050405020304" pitchFamily="18" charset="0"/>
              </a:rPr>
              <a:t>为：</a:t>
            </a:r>
          </a:p>
        </p:txBody>
      </p:sp>
      <p:pic>
        <p:nvPicPr>
          <p:cNvPr id="7171"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19322" y="4917926"/>
            <a:ext cx="5920135" cy="10313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矩形 4"/>
          <p:cNvSpPr/>
          <p:nvPr/>
        </p:nvSpPr>
        <p:spPr>
          <a:xfrm>
            <a:off x="827584" y="1124744"/>
            <a:ext cx="8136904" cy="1421928"/>
          </a:xfrm>
          <a:prstGeom prst="rect">
            <a:avLst/>
          </a:prstGeom>
        </p:spPr>
        <p:txBody>
          <a:bodyPr wrap="square">
            <a:spAutoFit/>
          </a:bodyPr>
          <a:lstStyle/>
          <a:p>
            <a:pPr>
              <a:lnSpc>
                <a:spcPct val="120000"/>
              </a:lnSpc>
              <a:spcBef>
                <a:spcPts val="600"/>
              </a:spcBef>
            </a:pPr>
            <a:r>
              <a:rPr lang="zh-CN" altLang="en-US"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堆积现象</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将造成不是同一子集的结点也处在同一个探测序列之中，</a:t>
            </a:r>
            <a:r>
              <a:rPr lang="zh-CN" altLang="en-US"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产生冲突叠加效应</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从而增加了探测序列的长度，即增加了查找时间。</a:t>
            </a:r>
            <a:endParaRPr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33229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170"/>
                                        </p:tgtEl>
                                        <p:attrNameLst>
                                          <p:attrName>style.visibility</p:attrName>
                                        </p:attrNameLst>
                                      </p:cBhvr>
                                      <p:to>
                                        <p:strVal val="visible"/>
                                      </p:to>
                                    </p:set>
                                    <p:animEffect transition="in" filter="fade">
                                      <p:cBhvr>
                                        <p:cTn id="7" dur="500"/>
                                        <p:tgtEl>
                                          <p:spTgt spid="717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0" presetClass="entr" presetSubtype="0" fill="hold" nodeType="withEffect">
                                  <p:stCondLst>
                                    <p:cond delay="0"/>
                                  </p:stCondLst>
                                  <p:childTnLst>
                                    <p:set>
                                      <p:cBhvr>
                                        <p:cTn id="14" dur="1" fill="hold">
                                          <p:stCondLst>
                                            <p:cond delay="0"/>
                                          </p:stCondLst>
                                        </p:cTn>
                                        <p:tgtEl>
                                          <p:spTgt spid="7171"/>
                                        </p:tgtEl>
                                        <p:attrNameLst>
                                          <p:attrName>style.visibility</p:attrName>
                                        </p:attrNameLst>
                                      </p:cBhvr>
                                      <p:to>
                                        <p:strVal val="visible"/>
                                      </p:to>
                                    </p:set>
                                    <p:animEffect transition="in" filter="fade">
                                      <p:cBhvr>
                                        <p:cTn id="15" dur="500"/>
                                        <p:tgtEl>
                                          <p:spTgt spid="71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43608" y="548680"/>
            <a:ext cx="7520940" cy="548640"/>
          </a:xfrm>
        </p:spPr>
        <p:txBody>
          <a:bodyPr/>
          <a:lstStyle/>
          <a:p>
            <a:r>
              <a:rPr lang="en-US" altLang="zh-CN" b="1" dirty="0"/>
              <a:t>8.3.3 </a:t>
            </a:r>
            <a:r>
              <a:rPr lang="zh-CN" altLang="zh-CN" b="1" dirty="0"/>
              <a:t>哈希表的实现</a:t>
            </a:r>
            <a:endParaRPr lang="zh-CN" altLang="en-US" dirty="0"/>
          </a:p>
        </p:txBody>
      </p:sp>
      <p:sp>
        <p:nvSpPr>
          <p:cNvPr id="3" name="内容占位符 2"/>
          <p:cNvSpPr>
            <a:spLocks noGrp="1"/>
          </p:cNvSpPr>
          <p:nvPr>
            <p:ph idx="1"/>
          </p:nvPr>
        </p:nvSpPr>
        <p:spPr>
          <a:xfrm>
            <a:off x="251520" y="1052736"/>
            <a:ext cx="8640960" cy="6120680"/>
          </a:xfrm>
          <a:solidFill>
            <a:schemeClr val="bg1"/>
          </a:solidFill>
        </p:spPr>
        <p:txBody>
          <a:bodyPr>
            <a:noAutofit/>
          </a:bodyPr>
          <a:lstStyle/>
          <a:p>
            <a:pPr>
              <a:spcBef>
                <a:spcPts val="0"/>
              </a:spcBef>
            </a:pPr>
            <a:r>
              <a:rPr lang="zh-CN" altLang="zh-CN" sz="1800" dirty="0"/>
              <a:t>算法</a:t>
            </a:r>
            <a:r>
              <a:rPr lang="en-US" altLang="zh-CN" sz="1800" dirty="0"/>
              <a:t>8.6</a:t>
            </a:r>
            <a:r>
              <a:rPr lang="zh-CN" altLang="zh-CN" sz="1800" dirty="0"/>
              <a:t>： </a:t>
            </a:r>
            <a:r>
              <a:rPr lang="zh-CN" altLang="zh-CN" sz="1800" dirty="0">
                <a:solidFill>
                  <a:srgbClr val="FF0000"/>
                </a:solidFill>
              </a:rPr>
              <a:t>哈希表的类的声明以及部分函数实现</a:t>
            </a:r>
          </a:p>
          <a:p>
            <a:pPr>
              <a:spcBef>
                <a:spcPts val="0"/>
              </a:spcBef>
            </a:pPr>
            <a:r>
              <a:rPr lang="en-US" altLang="zh-CN" sz="1800" dirty="0" err="1"/>
              <a:t>struct</a:t>
            </a:r>
            <a:r>
              <a:rPr lang="en-US" altLang="zh-CN" sz="1800" dirty="0"/>
              <a:t> Element {                //</a:t>
            </a:r>
            <a:r>
              <a:rPr lang="zh-CN" altLang="zh-CN" sz="1800" dirty="0"/>
              <a:t>记录的定义</a:t>
            </a:r>
          </a:p>
          <a:p>
            <a:pPr>
              <a:spcBef>
                <a:spcPts val="0"/>
              </a:spcBef>
            </a:pPr>
            <a:r>
              <a:rPr lang="en-US" altLang="zh-CN" sz="1800" dirty="0"/>
              <a:t>	</a:t>
            </a:r>
            <a:r>
              <a:rPr lang="en-US" altLang="zh-CN" sz="1800" dirty="0" err="1"/>
              <a:t>KeyType</a:t>
            </a:r>
            <a:r>
              <a:rPr lang="en-US" altLang="zh-CN" sz="1800" dirty="0"/>
              <a:t> key;             //</a:t>
            </a:r>
            <a:r>
              <a:rPr lang="zh-CN" altLang="zh-CN" sz="1800" dirty="0"/>
              <a:t>关键字</a:t>
            </a:r>
          </a:p>
          <a:p>
            <a:pPr>
              <a:spcBef>
                <a:spcPts val="0"/>
              </a:spcBef>
            </a:pPr>
            <a:r>
              <a:rPr lang="en-US" altLang="zh-CN" sz="1800" dirty="0"/>
              <a:t>	field </a:t>
            </a:r>
            <a:r>
              <a:rPr lang="en-US" altLang="zh-CN" sz="1800" dirty="0" err="1"/>
              <a:t>otherdata</a:t>
            </a:r>
            <a:r>
              <a:rPr lang="en-US" altLang="zh-CN" sz="1800" dirty="0"/>
              <a:t>;           //</a:t>
            </a:r>
            <a:r>
              <a:rPr lang="zh-CN" altLang="zh-CN" sz="1800" dirty="0"/>
              <a:t>其他域</a:t>
            </a:r>
          </a:p>
          <a:p>
            <a:pPr>
              <a:spcBef>
                <a:spcPts val="0"/>
              </a:spcBef>
            </a:pPr>
            <a:r>
              <a:rPr lang="en-US" altLang="zh-CN" sz="1800" dirty="0"/>
              <a:t>};</a:t>
            </a:r>
            <a:endParaRPr lang="zh-CN" altLang="zh-CN" sz="1800" dirty="0"/>
          </a:p>
          <a:p>
            <a:pPr>
              <a:spcBef>
                <a:spcPts val="0"/>
              </a:spcBef>
            </a:pPr>
            <a:r>
              <a:rPr lang="en-US" altLang="zh-CN" sz="1800" dirty="0"/>
              <a:t>class </a:t>
            </a:r>
            <a:r>
              <a:rPr lang="en-US" altLang="zh-CN" sz="1800" dirty="0" err="1"/>
              <a:t>HashList</a:t>
            </a:r>
            <a:r>
              <a:rPr lang="en-US" altLang="zh-CN" sz="1800" dirty="0"/>
              <a:t>{                 //</a:t>
            </a:r>
            <a:r>
              <a:rPr lang="zh-CN" altLang="zh-CN" sz="1800" dirty="0"/>
              <a:t>用线性探查法处理冲突时哈希表类型的定义</a:t>
            </a:r>
          </a:p>
          <a:p>
            <a:pPr>
              <a:spcBef>
                <a:spcPts val="0"/>
              </a:spcBef>
            </a:pPr>
            <a:r>
              <a:rPr lang="en-US" altLang="zh-CN" sz="1800" dirty="0"/>
              <a:t>private:</a:t>
            </a:r>
            <a:endParaRPr lang="zh-CN" altLang="zh-CN" sz="1800" dirty="0"/>
          </a:p>
          <a:p>
            <a:pPr>
              <a:spcBef>
                <a:spcPts val="0"/>
              </a:spcBef>
            </a:pPr>
            <a:r>
              <a:rPr lang="en-US" altLang="zh-CN" sz="1800" dirty="0"/>
              <a:t>      Element *HT;             //</a:t>
            </a:r>
            <a:r>
              <a:rPr lang="zh-CN" altLang="zh-CN" sz="1800" dirty="0"/>
              <a:t>哈希表存储数组</a:t>
            </a:r>
          </a:p>
          <a:p>
            <a:pPr>
              <a:spcBef>
                <a:spcPts val="0"/>
              </a:spcBef>
            </a:pPr>
            <a:r>
              <a:rPr lang="en-US" altLang="zh-CN" sz="1800" dirty="0"/>
              <a:t>      </a:t>
            </a:r>
            <a:r>
              <a:rPr lang="en-US" altLang="zh-CN" sz="1800" dirty="0" err="1"/>
              <a:t>int</a:t>
            </a:r>
            <a:r>
              <a:rPr lang="en-US" altLang="zh-CN" sz="1800" dirty="0"/>
              <a:t>  </a:t>
            </a:r>
            <a:r>
              <a:rPr lang="en-US" altLang="zh-CN" sz="1800" dirty="0" err="1"/>
              <a:t>CurrentSize</a:t>
            </a:r>
            <a:r>
              <a:rPr lang="en-US" altLang="zh-CN" sz="1800" dirty="0"/>
              <a:t>, </a:t>
            </a:r>
            <a:r>
              <a:rPr lang="en-US" altLang="zh-CN" sz="1800" dirty="0" err="1"/>
              <a:t>MaxSize</a:t>
            </a:r>
            <a:r>
              <a:rPr lang="en-US" altLang="zh-CN" sz="1800" dirty="0"/>
              <a:t>;        //</a:t>
            </a:r>
            <a:r>
              <a:rPr lang="zh-CN" altLang="zh-CN" sz="1800" dirty="0"/>
              <a:t>当前哈希地址数及最大地址数</a:t>
            </a:r>
          </a:p>
          <a:p>
            <a:pPr>
              <a:spcBef>
                <a:spcPts val="0"/>
              </a:spcBef>
            </a:pPr>
            <a:r>
              <a:rPr lang="en-US" altLang="zh-CN" sz="1800" dirty="0"/>
              <a:t>public:</a:t>
            </a:r>
            <a:endParaRPr lang="zh-CN" altLang="zh-CN" sz="1800" dirty="0"/>
          </a:p>
          <a:p>
            <a:pPr>
              <a:spcBef>
                <a:spcPts val="0"/>
              </a:spcBef>
            </a:pPr>
            <a:r>
              <a:rPr lang="en-US" altLang="zh-CN" sz="1800" dirty="0"/>
              <a:t>      </a:t>
            </a:r>
            <a:r>
              <a:rPr lang="en-US" altLang="zh-CN" sz="1800" dirty="0" err="1"/>
              <a:t>HashList</a:t>
            </a:r>
            <a:r>
              <a:rPr lang="en-US" altLang="zh-CN" sz="1800" dirty="0"/>
              <a:t>(</a:t>
            </a:r>
            <a:r>
              <a:rPr lang="en-US" altLang="zh-CN" sz="1800" dirty="0" err="1"/>
              <a:t>int</a:t>
            </a:r>
            <a:r>
              <a:rPr lang="en-US" altLang="zh-CN" sz="1800" dirty="0"/>
              <a:t> </a:t>
            </a:r>
            <a:r>
              <a:rPr lang="en-US" altLang="zh-CN" sz="1800" dirty="0" err="1"/>
              <a:t>MaxSz</a:t>
            </a:r>
            <a:r>
              <a:rPr lang="en-US" altLang="zh-CN" sz="1800" dirty="0"/>
              <a:t>=</a:t>
            </a:r>
            <a:r>
              <a:rPr lang="en-US" altLang="zh-CN" sz="1800" dirty="0" err="1"/>
              <a:t>DefaultSize</a:t>
            </a:r>
            <a:r>
              <a:rPr lang="en-US" altLang="zh-CN" sz="1800" dirty="0"/>
              <a:t>); //</a:t>
            </a:r>
            <a:r>
              <a:rPr lang="zh-CN" altLang="zh-CN" sz="1800" dirty="0"/>
              <a:t>构造函数</a:t>
            </a:r>
          </a:p>
          <a:p>
            <a:pPr>
              <a:spcBef>
                <a:spcPts val="0"/>
              </a:spcBef>
            </a:pPr>
            <a:r>
              <a:rPr lang="en-US" altLang="zh-CN" sz="1800" dirty="0"/>
              <a:t>      ~</a:t>
            </a:r>
            <a:r>
              <a:rPr lang="en-US" altLang="zh-CN" sz="1800" dirty="0" err="1"/>
              <a:t>HashList</a:t>
            </a:r>
            <a:r>
              <a:rPr lang="en-US" altLang="zh-CN" sz="1800" dirty="0"/>
              <a:t>(){ delete [] HT; }	 //</a:t>
            </a:r>
            <a:r>
              <a:rPr lang="zh-CN" altLang="en-US" sz="1800" dirty="0"/>
              <a:t>析构</a:t>
            </a:r>
            <a:r>
              <a:rPr lang="zh-CN" altLang="zh-CN" sz="1800" dirty="0"/>
              <a:t>函数</a:t>
            </a:r>
          </a:p>
          <a:p>
            <a:pPr>
              <a:spcBef>
                <a:spcPts val="0"/>
              </a:spcBef>
            </a:pPr>
            <a:r>
              <a:rPr lang="en-US" altLang="zh-CN" sz="1800" dirty="0"/>
              <a:t>      void </a:t>
            </a:r>
            <a:r>
              <a:rPr lang="en-US" altLang="zh-CN" sz="1800" dirty="0" err="1"/>
              <a:t>ClearHashList</a:t>
            </a:r>
            <a:r>
              <a:rPr lang="en-US" altLang="zh-CN" sz="1800" dirty="0"/>
              <a:t>();            	//</a:t>
            </a:r>
            <a:r>
              <a:rPr lang="zh-CN" altLang="zh-CN" sz="1800" dirty="0"/>
              <a:t>清空哈希表的函数</a:t>
            </a:r>
          </a:p>
          <a:p>
            <a:pPr>
              <a:spcBef>
                <a:spcPts val="0"/>
              </a:spcBef>
            </a:pPr>
            <a:r>
              <a:rPr lang="en-US" altLang="zh-CN" sz="1800" dirty="0"/>
              <a:t>      bool Insert(Element item);     //</a:t>
            </a:r>
            <a:r>
              <a:rPr lang="zh-CN" altLang="zh-CN" sz="1800" dirty="0"/>
              <a:t>哈希表</a:t>
            </a:r>
            <a:r>
              <a:rPr lang="en-US" altLang="zh-CN" sz="1800" dirty="0"/>
              <a:t>HT</a:t>
            </a:r>
            <a:r>
              <a:rPr lang="zh-CN" altLang="zh-CN" sz="1800" dirty="0"/>
              <a:t>中插入一个元素</a:t>
            </a:r>
            <a:r>
              <a:rPr lang="en-US" altLang="zh-CN" sz="1800" dirty="0"/>
              <a:t>item</a:t>
            </a:r>
            <a:endParaRPr lang="zh-CN" altLang="zh-CN" sz="1800" dirty="0"/>
          </a:p>
          <a:p>
            <a:pPr>
              <a:spcBef>
                <a:spcPts val="0"/>
              </a:spcBef>
            </a:pPr>
            <a:r>
              <a:rPr lang="en-US" altLang="zh-CN" sz="1800" dirty="0"/>
              <a:t>      </a:t>
            </a:r>
            <a:r>
              <a:rPr lang="en-US" altLang="zh-CN" sz="1800" dirty="0" err="1"/>
              <a:t>int</a:t>
            </a:r>
            <a:r>
              <a:rPr lang="en-US" altLang="zh-CN" sz="1800" dirty="0"/>
              <a:t> Search(</a:t>
            </a:r>
            <a:r>
              <a:rPr lang="en-US" altLang="zh-CN" sz="1800" dirty="0" err="1"/>
              <a:t>KeyType</a:t>
            </a:r>
            <a:r>
              <a:rPr lang="en-US" altLang="zh-CN" sz="1800" dirty="0"/>
              <a:t> x);      //</a:t>
            </a:r>
            <a:r>
              <a:rPr lang="zh-CN" altLang="zh-CN" sz="1800" dirty="0"/>
              <a:t>从哈希表</a:t>
            </a:r>
            <a:r>
              <a:rPr lang="en-US" altLang="zh-CN" sz="1800" dirty="0"/>
              <a:t>HT</a:t>
            </a:r>
            <a:r>
              <a:rPr lang="zh-CN" altLang="zh-CN" sz="1800" dirty="0"/>
              <a:t>中查找元素，返回该元素的下标位置</a:t>
            </a:r>
          </a:p>
          <a:p>
            <a:pPr>
              <a:spcBef>
                <a:spcPts val="0"/>
              </a:spcBef>
            </a:pPr>
            <a:r>
              <a:rPr lang="en-US" altLang="zh-CN" sz="1800" dirty="0"/>
              <a:t>      bool Delete(</a:t>
            </a:r>
            <a:r>
              <a:rPr lang="en-US" altLang="zh-CN" sz="1800" dirty="0" err="1"/>
              <a:t>KeyType</a:t>
            </a:r>
            <a:r>
              <a:rPr lang="en-US" altLang="zh-CN" sz="1800" dirty="0"/>
              <a:t> x);      //</a:t>
            </a:r>
            <a:r>
              <a:rPr lang="zh-CN" altLang="zh-CN" sz="1800" dirty="0"/>
              <a:t>从哈希表</a:t>
            </a:r>
            <a:r>
              <a:rPr lang="en-US" altLang="zh-CN" sz="1800" dirty="0"/>
              <a:t>HT</a:t>
            </a:r>
            <a:r>
              <a:rPr lang="zh-CN" altLang="zh-CN" sz="1800" dirty="0"/>
              <a:t>中删除元素</a:t>
            </a:r>
          </a:p>
          <a:p>
            <a:pPr>
              <a:spcBef>
                <a:spcPts val="0"/>
              </a:spcBef>
            </a:pPr>
            <a:r>
              <a:rPr lang="en-US" altLang="zh-CN" sz="1800" dirty="0"/>
              <a:t>      void Create(</a:t>
            </a:r>
            <a:r>
              <a:rPr lang="en-US" altLang="zh-CN" sz="1800" dirty="0" err="1"/>
              <a:t>int</a:t>
            </a:r>
            <a:r>
              <a:rPr lang="en-US" altLang="zh-CN" sz="1800" dirty="0"/>
              <a:t> </a:t>
            </a:r>
            <a:r>
              <a:rPr lang="en-US" altLang="zh-CN" sz="1800" dirty="0" err="1"/>
              <a:t>num</a:t>
            </a:r>
            <a:r>
              <a:rPr lang="en-US" altLang="zh-CN" sz="1800" dirty="0"/>
              <a:t>);            //</a:t>
            </a:r>
            <a:r>
              <a:rPr lang="zh-CN" altLang="zh-CN" sz="1800" dirty="0"/>
              <a:t>建立哈希表</a:t>
            </a:r>
            <a:r>
              <a:rPr lang="en-US" altLang="zh-CN" sz="1800" dirty="0"/>
              <a:t>HT</a:t>
            </a:r>
            <a:endParaRPr lang="zh-CN" altLang="zh-CN" sz="1800" dirty="0"/>
          </a:p>
          <a:p>
            <a:pPr>
              <a:spcBef>
                <a:spcPts val="0"/>
              </a:spcBef>
            </a:pPr>
            <a:r>
              <a:rPr lang="en-US" altLang="zh-CN" sz="1800" dirty="0"/>
              <a:t>}</a:t>
            </a:r>
            <a:r>
              <a:rPr lang="zh-CN" altLang="zh-CN" sz="1800" dirty="0"/>
              <a:t>；</a:t>
            </a:r>
          </a:p>
          <a:p>
            <a:pPr>
              <a:spcBef>
                <a:spcPts val="0"/>
              </a:spcBef>
            </a:pPr>
            <a:endParaRPr lang="zh-CN" altLang="en-US" sz="1800" dirty="0"/>
          </a:p>
        </p:txBody>
      </p:sp>
    </p:spTree>
    <p:extLst>
      <p:ext uri="{BB962C8B-B14F-4D97-AF65-F5344CB8AC3E}">
        <p14:creationId xmlns:p14="http://schemas.microsoft.com/office/powerpoint/2010/main" val="324474524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836712"/>
            <a:ext cx="8241020" cy="5760640"/>
          </a:xfrm>
          <a:solidFill>
            <a:schemeClr val="bg1"/>
          </a:solidFill>
        </p:spPr>
        <p:txBody>
          <a:bodyPr>
            <a:normAutofit lnSpcReduction="10000"/>
          </a:bodyPr>
          <a:lstStyle/>
          <a:p>
            <a:pPr>
              <a:spcBef>
                <a:spcPts val="0"/>
              </a:spcBef>
            </a:pPr>
            <a:r>
              <a:rPr lang="en-US" altLang="zh-CN" dirty="0" err="1"/>
              <a:t>HashList</a:t>
            </a:r>
            <a:r>
              <a:rPr lang="en-US" altLang="zh-CN" dirty="0"/>
              <a:t> :: </a:t>
            </a:r>
            <a:r>
              <a:rPr lang="en-US" altLang="zh-CN" dirty="0" err="1"/>
              <a:t>HashList</a:t>
            </a:r>
            <a:r>
              <a:rPr lang="en-US" altLang="zh-CN" dirty="0"/>
              <a:t>(</a:t>
            </a:r>
            <a:r>
              <a:rPr lang="en-US" altLang="zh-CN" dirty="0" err="1"/>
              <a:t>int</a:t>
            </a:r>
            <a:r>
              <a:rPr lang="en-US" altLang="zh-CN" dirty="0"/>
              <a:t> </a:t>
            </a:r>
            <a:r>
              <a:rPr lang="en-US" altLang="zh-CN" dirty="0" err="1"/>
              <a:t>MaxSz</a:t>
            </a:r>
            <a:r>
              <a:rPr lang="en-US" altLang="zh-CN" dirty="0"/>
              <a:t>){    </a:t>
            </a:r>
            <a:r>
              <a:rPr lang="en-US" altLang="zh-CN" dirty="0">
                <a:solidFill>
                  <a:srgbClr val="FF0000"/>
                </a:solidFill>
              </a:rPr>
              <a:t>//</a:t>
            </a:r>
            <a:r>
              <a:rPr lang="zh-CN" altLang="zh-CN" dirty="0">
                <a:solidFill>
                  <a:srgbClr val="FF0000"/>
                </a:solidFill>
              </a:rPr>
              <a:t>构造函数</a:t>
            </a:r>
          </a:p>
          <a:p>
            <a:pPr>
              <a:spcBef>
                <a:spcPts val="0"/>
              </a:spcBef>
            </a:pPr>
            <a:r>
              <a:rPr lang="en-US" altLang="zh-CN" dirty="0"/>
              <a:t>      HT=new Element[</a:t>
            </a:r>
            <a:r>
              <a:rPr lang="en-US" altLang="zh-CN" dirty="0" err="1"/>
              <a:t>MaxSz</a:t>
            </a:r>
            <a:r>
              <a:rPr lang="en-US" altLang="zh-CN" dirty="0"/>
              <a:t>];</a:t>
            </a:r>
            <a:endParaRPr lang="zh-CN" altLang="zh-CN" dirty="0"/>
          </a:p>
          <a:p>
            <a:pPr>
              <a:spcBef>
                <a:spcPts val="0"/>
              </a:spcBef>
            </a:pPr>
            <a:r>
              <a:rPr lang="en-US" altLang="zh-CN" dirty="0"/>
              <a:t>      </a:t>
            </a:r>
            <a:r>
              <a:rPr lang="en-US" altLang="zh-CN" dirty="0" err="1"/>
              <a:t>MaxSize</a:t>
            </a:r>
            <a:r>
              <a:rPr lang="en-US" altLang="zh-CN" dirty="0"/>
              <a:t>=</a:t>
            </a:r>
            <a:r>
              <a:rPr lang="en-US" altLang="zh-CN" dirty="0" err="1"/>
              <a:t>MaxSz</a:t>
            </a:r>
            <a:r>
              <a:rPr lang="en-US" altLang="zh-CN" dirty="0"/>
              <a:t>;</a:t>
            </a:r>
            <a:endParaRPr lang="zh-CN" altLang="zh-CN" dirty="0"/>
          </a:p>
          <a:p>
            <a:pPr>
              <a:spcBef>
                <a:spcPts val="0"/>
              </a:spcBef>
            </a:pPr>
            <a:r>
              <a:rPr lang="en-US" altLang="zh-CN" dirty="0"/>
              <a:t>      </a:t>
            </a:r>
            <a:r>
              <a:rPr lang="en-US" altLang="zh-CN" dirty="0" err="1"/>
              <a:t>CurrentSize</a:t>
            </a:r>
            <a:r>
              <a:rPr lang="en-US" altLang="zh-CN" dirty="0"/>
              <a:t>=0;</a:t>
            </a:r>
          </a:p>
          <a:p>
            <a:pPr>
              <a:spcBef>
                <a:spcPts val="0"/>
              </a:spcBef>
            </a:pPr>
            <a:r>
              <a:rPr lang="en-US" altLang="zh-CN" dirty="0"/>
              <a:t>	//</a:t>
            </a:r>
            <a:r>
              <a:rPr lang="zh-CN" altLang="zh-CN" dirty="0"/>
              <a:t>将哈希表</a:t>
            </a:r>
            <a:r>
              <a:rPr lang="en-US" altLang="zh-CN" dirty="0"/>
              <a:t>HT</a:t>
            </a:r>
            <a:r>
              <a:rPr lang="zh-CN" altLang="zh-CN" dirty="0"/>
              <a:t>中每一单元的关键字</a:t>
            </a:r>
            <a:r>
              <a:rPr lang="en-US" altLang="zh-CN" dirty="0"/>
              <a:t>Key</a:t>
            </a:r>
            <a:r>
              <a:rPr lang="zh-CN" altLang="zh-CN" dirty="0"/>
              <a:t>域都设为空标志</a:t>
            </a:r>
          </a:p>
          <a:p>
            <a:pPr>
              <a:spcBef>
                <a:spcPts val="0"/>
              </a:spcBef>
            </a:pPr>
            <a:r>
              <a:rPr lang="en-US" altLang="zh-CN" dirty="0"/>
              <a:t>      for(</a:t>
            </a:r>
            <a:r>
              <a:rPr lang="en-US" altLang="zh-CN" dirty="0" err="1"/>
              <a:t>int</a:t>
            </a:r>
            <a:r>
              <a:rPr lang="en-US" altLang="zh-CN" dirty="0"/>
              <a:t> </a:t>
            </a:r>
            <a:r>
              <a:rPr lang="en-US" altLang="zh-CN" dirty="0" err="1"/>
              <a:t>i</a:t>
            </a:r>
            <a:r>
              <a:rPr lang="en-US" altLang="zh-CN" dirty="0"/>
              <a:t>=0; </a:t>
            </a:r>
            <a:r>
              <a:rPr lang="en-US" altLang="zh-CN" dirty="0" err="1"/>
              <a:t>i</a:t>
            </a:r>
            <a:r>
              <a:rPr lang="en-US" altLang="zh-CN" dirty="0"/>
              <a:t>&lt;</a:t>
            </a:r>
            <a:r>
              <a:rPr lang="en-US" altLang="zh-CN" dirty="0" err="1"/>
              <a:t>MaxSize</a:t>
            </a:r>
            <a:r>
              <a:rPr lang="en-US" altLang="zh-CN" dirty="0"/>
              <a:t>; </a:t>
            </a:r>
            <a:r>
              <a:rPr lang="en-US" altLang="zh-CN" dirty="0" err="1"/>
              <a:t>i</a:t>
            </a:r>
            <a:r>
              <a:rPr lang="en-US" altLang="zh-CN" dirty="0"/>
              <a:t>++)</a:t>
            </a:r>
            <a:endParaRPr lang="zh-CN" altLang="zh-CN" dirty="0"/>
          </a:p>
          <a:p>
            <a:pPr>
              <a:spcBef>
                <a:spcPts val="0"/>
              </a:spcBef>
            </a:pPr>
            <a:r>
              <a:rPr lang="en-US" altLang="zh-CN" dirty="0"/>
              <a:t>          HT[</a:t>
            </a:r>
            <a:r>
              <a:rPr lang="en-US" altLang="zh-CN" dirty="0" err="1"/>
              <a:t>i</a:t>
            </a:r>
            <a:r>
              <a:rPr lang="en-US" altLang="zh-CN" dirty="0"/>
              <a:t>].key=</a:t>
            </a:r>
            <a:r>
              <a:rPr lang="en-US" altLang="zh-CN" dirty="0" err="1"/>
              <a:t>NullTag</a:t>
            </a:r>
            <a:r>
              <a:rPr lang="en-US" altLang="zh-CN" dirty="0"/>
              <a:t>;</a:t>
            </a:r>
          </a:p>
          <a:p>
            <a:pPr>
              <a:spcBef>
                <a:spcPts val="0"/>
              </a:spcBef>
            </a:pPr>
            <a:r>
              <a:rPr lang="en-US" altLang="zh-CN" dirty="0"/>
              <a:t>}</a:t>
            </a:r>
            <a:endParaRPr lang="zh-CN" altLang="zh-CN" dirty="0"/>
          </a:p>
          <a:p>
            <a:pPr>
              <a:spcBef>
                <a:spcPts val="0"/>
              </a:spcBef>
            </a:pPr>
            <a:r>
              <a:rPr lang="en-US" altLang="zh-CN" dirty="0"/>
              <a:t>  </a:t>
            </a:r>
            <a:endParaRPr lang="zh-CN" altLang="zh-CN" dirty="0"/>
          </a:p>
          <a:p>
            <a:pPr>
              <a:spcBef>
                <a:spcPts val="0"/>
              </a:spcBef>
            </a:pPr>
            <a:r>
              <a:rPr lang="en-US" altLang="zh-CN" dirty="0"/>
              <a:t>void </a:t>
            </a:r>
            <a:r>
              <a:rPr lang="en-US" altLang="zh-CN" dirty="0" err="1"/>
              <a:t>HashList</a:t>
            </a:r>
            <a:r>
              <a:rPr lang="en-US" altLang="zh-CN" dirty="0"/>
              <a:t>::</a:t>
            </a:r>
            <a:r>
              <a:rPr lang="en-US" altLang="zh-CN" dirty="0" err="1"/>
              <a:t>ClearHashList</a:t>
            </a:r>
            <a:r>
              <a:rPr lang="en-US" altLang="zh-CN" dirty="0"/>
              <a:t>(){    </a:t>
            </a:r>
            <a:r>
              <a:rPr lang="en-US" altLang="zh-CN" dirty="0">
                <a:solidFill>
                  <a:srgbClr val="FF0000"/>
                </a:solidFill>
              </a:rPr>
              <a:t>//</a:t>
            </a:r>
            <a:r>
              <a:rPr lang="zh-CN" altLang="zh-CN" dirty="0">
                <a:solidFill>
                  <a:srgbClr val="FF0000"/>
                </a:solidFill>
              </a:rPr>
              <a:t>清空哈希表的函数</a:t>
            </a:r>
          </a:p>
          <a:p>
            <a:pPr>
              <a:spcBef>
                <a:spcPts val="0"/>
              </a:spcBef>
            </a:pPr>
            <a:r>
              <a:rPr lang="en-US" altLang="zh-CN" dirty="0"/>
              <a:t>  	//</a:t>
            </a:r>
            <a:r>
              <a:rPr lang="zh-CN" altLang="zh-CN" dirty="0"/>
              <a:t>将哈希表</a:t>
            </a:r>
            <a:r>
              <a:rPr lang="en-US" altLang="zh-CN" dirty="0"/>
              <a:t>HT</a:t>
            </a:r>
            <a:r>
              <a:rPr lang="zh-CN" altLang="zh-CN" dirty="0"/>
              <a:t>中每一单元的关键字</a:t>
            </a:r>
            <a:r>
              <a:rPr lang="en-US" altLang="zh-CN" dirty="0"/>
              <a:t>key</a:t>
            </a:r>
            <a:r>
              <a:rPr lang="zh-CN" altLang="zh-CN" dirty="0"/>
              <a:t>域都设置为空标志</a:t>
            </a:r>
          </a:p>
          <a:p>
            <a:pPr>
              <a:spcBef>
                <a:spcPts val="0"/>
              </a:spcBef>
            </a:pPr>
            <a:r>
              <a:rPr lang="en-US" altLang="zh-CN" dirty="0"/>
              <a:t>	for(</a:t>
            </a:r>
            <a:r>
              <a:rPr lang="en-US" altLang="zh-CN" dirty="0" err="1"/>
              <a:t>int</a:t>
            </a:r>
            <a:r>
              <a:rPr lang="en-US" altLang="zh-CN" dirty="0"/>
              <a:t> </a:t>
            </a:r>
            <a:r>
              <a:rPr lang="en-US" altLang="zh-CN" dirty="0" err="1"/>
              <a:t>i</a:t>
            </a:r>
            <a:r>
              <a:rPr lang="en-US" altLang="zh-CN" dirty="0"/>
              <a:t>=0; </a:t>
            </a:r>
            <a:r>
              <a:rPr lang="en-US" altLang="zh-CN" dirty="0" err="1"/>
              <a:t>i</a:t>
            </a:r>
            <a:r>
              <a:rPr lang="en-US" altLang="zh-CN" dirty="0"/>
              <a:t>&lt;</a:t>
            </a:r>
            <a:r>
              <a:rPr lang="en-US" altLang="zh-CN" dirty="0" err="1"/>
              <a:t>MaxSize</a:t>
            </a:r>
            <a:r>
              <a:rPr lang="en-US" altLang="zh-CN" dirty="0"/>
              <a:t>; </a:t>
            </a:r>
            <a:r>
              <a:rPr lang="en-US" altLang="zh-CN" dirty="0" err="1"/>
              <a:t>i</a:t>
            </a:r>
            <a:r>
              <a:rPr lang="en-US" altLang="zh-CN" dirty="0"/>
              <a:t>++)</a:t>
            </a:r>
            <a:endParaRPr lang="zh-CN" altLang="zh-CN" dirty="0"/>
          </a:p>
          <a:p>
            <a:pPr>
              <a:spcBef>
                <a:spcPts val="0"/>
              </a:spcBef>
            </a:pPr>
            <a:r>
              <a:rPr lang="en-US" altLang="zh-CN" dirty="0"/>
              <a:t>         HT[</a:t>
            </a:r>
            <a:r>
              <a:rPr lang="en-US" altLang="zh-CN" dirty="0" err="1"/>
              <a:t>i</a:t>
            </a:r>
            <a:r>
              <a:rPr lang="en-US" altLang="zh-CN" dirty="0"/>
              <a:t>].key=</a:t>
            </a:r>
            <a:r>
              <a:rPr lang="en-US" altLang="zh-CN" dirty="0" err="1"/>
              <a:t>NullTag</a:t>
            </a:r>
            <a:r>
              <a:rPr lang="en-US" altLang="zh-CN" dirty="0"/>
              <a:t>;</a:t>
            </a:r>
            <a:endParaRPr lang="zh-CN" altLang="zh-CN" dirty="0"/>
          </a:p>
          <a:p>
            <a:pPr>
              <a:spcBef>
                <a:spcPts val="0"/>
              </a:spcBef>
            </a:pPr>
            <a:r>
              <a:rPr lang="en-US" altLang="zh-CN" dirty="0"/>
              <a:t>}</a:t>
            </a:r>
            <a:endParaRPr lang="zh-CN" altLang="zh-CN" dirty="0"/>
          </a:p>
          <a:p>
            <a:pPr>
              <a:spcBef>
                <a:spcPts val="0"/>
              </a:spcBef>
            </a:pPr>
            <a:endParaRPr lang="zh-CN" altLang="en-US" dirty="0"/>
          </a:p>
        </p:txBody>
      </p:sp>
    </p:spTree>
    <p:extLst>
      <p:ext uri="{BB962C8B-B14F-4D97-AF65-F5344CB8AC3E}">
        <p14:creationId xmlns:p14="http://schemas.microsoft.com/office/powerpoint/2010/main" val="312631487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030742C-162B-4599-B4B1-08179CF232C1}"/>
              </a:ext>
            </a:extLst>
          </p:cNvPr>
          <p:cNvSpPr>
            <a:spLocks noGrp="1"/>
          </p:cNvSpPr>
          <p:nvPr>
            <p:ph type="dt" sz="half" idx="10"/>
          </p:nvPr>
        </p:nvSpPr>
        <p:spPr/>
        <p:txBody>
          <a:bodyPr/>
          <a:lstStyle/>
          <a:p>
            <a:fld id="{9A6B2991-BBE5-4E69-A281-1A8B0AE9CDD7}" type="datetime1">
              <a:rPr lang="zh-CN" altLang="en-US" smtClean="0"/>
              <a:pPr/>
              <a:t>2025/6/3</a:t>
            </a:fld>
            <a:endParaRPr lang="zh-CN" altLang="en-US"/>
          </a:p>
        </p:txBody>
      </p:sp>
      <p:sp>
        <p:nvSpPr>
          <p:cNvPr id="3" name="文本框 2">
            <a:extLst>
              <a:ext uri="{FF2B5EF4-FFF2-40B4-BE49-F238E27FC236}">
                <a16:creationId xmlns:a16="http://schemas.microsoft.com/office/drawing/2014/main" id="{6A5B324E-D8CF-47C9-8511-1718E578B475}"/>
              </a:ext>
            </a:extLst>
          </p:cNvPr>
          <p:cNvSpPr txBox="1"/>
          <p:nvPr/>
        </p:nvSpPr>
        <p:spPr>
          <a:xfrm>
            <a:off x="251520" y="44624"/>
            <a:ext cx="8892480" cy="6986528"/>
          </a:xfrm>
          <a:prstGeom prst="rect">
            <a:avLst/>
          </a:prstGeom>
          <a:solidFill>
            <a:schemeClr val="accent3">
              <a:lumMod val="40000"/>
              <a:lumOff val="60000"/>
            </a:schemeClr>
          </a:solidFill>
        </p:spPr>
        <p:txBody>
          <a:bodyPr wrap="square" rtlCol="0">
            <a:spAutoFit/>
          </a:bodyPr>
          <a:lstStyle/>
          <a:p>
            <a:r>
              <a:rPr lang="en-US" altLang="zh-CN" sz="2800" b="1" dirty="0">
                <a:solidFill>
                  <a:srgbClr val="FF0000"/>
                </a:solidFill>
                <a:latin typeface="Arial Black" panose="020B0A04020102020204" pitchFamily="34" charset="0"/>
              </a:rPr>
              <a:t>//</a:t>
            </a:r>
            <a:r>
              <a:rPr lang="zh-CN" altLang="en-US" sz="2800" b="1" dirty="0">
                <a:solidFill>
                  <a:srgbClr val="FF0000"/>
                </a:solidFill>
                <a:latin typeface="Arial Black" panose="020B0A04020102020204" pitchFamily="34" charset="0"/>
              </a:rPr>
              <a:t>打印输出线性表中所有元素的函数</a:t>
            </a:r>
            <a:r>
              <a:rPr lang="zh-CN" altLang="en-US" sz="2800" dirty="0">
                <a:latin typeface="Arial Black" panose="020B0A04020102020204" pitchFamily="34" charset="0"/>
              </a:rPr>
              <a:t> </a:t>
            </a:r>
          </a:p>
          <a:p>
            <a:r>
              <a:rPr lang="en-US" altLang="zh-CN" sz="2800" dirty="0">
                <a:latin typeface="Arial Black" panose="020B0A04020102020204" pitchFamily="34" charset="0"/>
              </a:rPr>
              <a:t>template &lt;class </a:t>
            </a:r>
            <a:r>
              <a:rPr lang="en-US" altLang="zh-CN" sz="2800" dirty="0" err="1">
                <a:latin typeface="Arial Black" panose="020B0A04020102020204" pitchFamily="34" charset="0"/>
              </a:rPr>
              <a:t>keytype,class</a:t>
            </a:r>
            <a:r>
              <a:rPr lang="en-US" altLang="zh-CN" sz="2800" dirty="0">
                <a:latin typeface="Arial Black" panose="020B0A04020102020204" pitchFamily="34" charset="0"/>
              </a:rPr>
              <a:t> field&gt;</a:t>
            </a:r>
          </a:p>
          <a:p>
            <a:r>
              <a:rPr lang="en-US" altLang="zh-CN" sz="2800" dirty="0">
                <a:latin typeface="Arial Black" panose="020B0A04020102020204" pitchFamily="34" charset="0"/>
              </a:rPr>
              <a:t>void </a:t>
            </a:r>
            <a:r>
              <a:rPr lang="en-US" altLang="zh-CN" sz="2800" dirty="0" err="1">
                <a:latin typeface="Arial Black" panose="020B0A04020102020204" pitchFamily="34" charset="0"/>
              </a:rPr>
              <a:t>HashList</a:t>
            </a:r>
            <a:r>
              <a:rPr lang="en-US" altLang="zh-CN" sz="2800" dirty="0">
                <a:latin typeface="Arial Black" panose="020B0A04020102020204" pitchFamily="34" charset="0"/>
              </a:rPr>
              <a:t>&lt;</a:t>
            </a:r>
            <a:r>
              <a:rPr lang="en-US" altLang="zh-CN" sz="2800" dirty="0" err="1">
                <a:latin typeface="Arial Black" panose="020B0A04020102020204" pitchFamily="34" charset="0"/>
              </a:rPr>
              <a:t>keytype,field</a:t>
            </a:r>
            <a:r>
              <a:rPr lang="en-US" altLang="zh-CN" sz="2800" dirty="0">
                <a:latin typeface="Arial Black" panose="020B0A04020102020204" pitchFamily="34" charset="0"/>
              </a:rPr>
              <a:t>&gt;::print()         </a:t>
            </a:r>
          </a:p>
          <a:p>
            <a:r>
              <a:rPr lang="en-US" altLang="zh-CN" sz="2800" dirty="0">
                <a:latin typeface="Arial Black" panose="020B0A04020102020204" pitchFamily="34" charset="0"/>
              </a:rPr>
              <a:t>{  //</a:t>
            </a:r>
            <a:r>
              <a:rPr lang="zh-CN" altLang="en-US" sz="2800" dirty="0">
                <a:latin typeface="Arial Black" panose="020B0A04020102020204" pitchFamily="34" charset="0"/>
              </a:rPr>
              <a:t>打印输出线性表中所有元素</a:t>
            </a:r>
            <a:endParaRPr lang="en-US" altLang="zh-CN" sz="2800" dirty="0">
              <a:latin typeface="Arial Black" panose="020B0A04020102020204" pitchFamily="34" charset="0"/>
            </a:endParaRPr>
          </a:p>
          <a:p>
            <a:r>
              <a:rPr lang="en-US" altLang="zh-CN" sz="2800" dirty="0">
                <a:latin typeface="Arial Black" panose="020B0A04020102020204" pitchFamily="34" charset="0"/>
              </a:rPr>
              <a:t>	</a:t>
            </a:r>
            <a:r>
              <a:rPr lang="en-US" altLang="zh-CN" sz="2800" dirty="0" err="1">
                <a:latin typeface="Arial Black" panose="020B0A04020102020204" pitchFamily="34" charset="0"/>
              </a:rPr>
              <a:t>cout</a:t>
            </a:r>
            <a:r>
              <a:rPr lang="en-US" altLang="zh-CN" sz="2800" dirty="0">
                <a:latin typeface="Arial Black" panose="020B0A04020102020204" pitchFamily="34" charset="0"/>
              </a:rPr>
              <a:t>&lt;&lt;</a:t>
            </a:r>
            <a:r>
              <a:rPr lang="en-US" altLang="zh-CN" sz="2800" dirty="0" err="1">
                <a:latin typeface="Arial Black" panose="020B0A04020102020204" pitchFamily="34" charset="0"/>
              </a:rPr>
              <a:t>endl</a:t>
            </a:r>
            <a:r>
              <a:rPr lang="en-US" altLang="zh-CN" sz="2800" dirty="0">
                <a:latin typeface="Arial Black" panose="020B0A04020102020204" pitchFamily="34" charset="0"/>
              </a:rPr>
              <a:t>;  </a:t>
            </a:r>
          </a:p>
          <a:p>
            <a:r>
              <a:rPr lang="en-US" altLang="zh-CN" sz="2800" dirty="0">
                <a:latin typeface="Arial Black" panose="020B0A04020102020204" pitchFamily="34" charset="0"/>
              </a:rPr>
              <a:t>    for(int </a:t>
            </a:r>
            <a:r>
              <a:rPr lang="en-US" altLang="zh-CN" sz="2800" dirty="0" err="1">
                <a:latin typeface="Arial Black" panose="020B0A04020102020204" pitchFamily="34" charset="0"/>
              </a:rPr>
              <a:t>i</a:t>
            </a:r>
            <a:r>
              <a:rPr lang="en-US" altLang="zh-CN" sz="2800" dirty="0">
                <a:latin typeface="Arial Black" panose="020B0A04020102020204" pitchFamily="34" charset="0"/>
              </a:rPr>
              <a:t>=0;i&lt;=MaxSize-1;i++) </a:t>
            </a:r>
          </a:p>
          <a:p>
            <a:r>
              <a:rPr lang="en-US" altLang="zh-CN" sz="2800" dirty="0">
                <a:latin typeface="Arial Black" panose="020B0A04020102020204" pitchFamily="34" charset="0"/>
              </a:rPr>
              <a:t>    {  </a:t>
            </a:r>
          </a:p>
          <a:p>
            <a:r>
              <a:rPr lang="en-US" altLang="zh-CN" sz="2800" dirty="0">
                <a:latin typeface="Arial Black" panose="020B0A04020102020204" pitchFamily="34" charset="0"/>
              </a:rPr>
              <a:t>	    </a:t>
            </a:r>
            <a:r>
              <a:rPr lang="en-US" altLang="zh-CN" sz="2800" dirty="0" err="1">
                <a:latin typeface="Arial Black" panose="020B0A04020102020204" pitchFamily="34" charset="0"/>
              </a:rPr>
              <a:t>cout</a:t>
            </a:r>
            <a:r>
              <a:rPr lang="en-US" altLang="zh-CN" sz="2800" dirty="0">
                <a:latin typeface="Arial Black" panose="020B0A04020102020204" pitchFamily="34" charset="0"/>
              </a:rPr>
              <a:t>&lt;&lt;HT[</a:t>
            </a:r>
            <a:r>
              <a:rPr lang="en-US" altLang="zh-CN" sz="2800" dirty="0" err="1">
                <a:latin typeface="Arial Black" panose="020B0A04020102020204" pitchFamily="34" charset="0"/>
              </a:rPr>
              <a:t>i</a:t>
            </a:r>
            <a:r>
              <a:rPr lang="en-US" altLang="zh-CN" sz="2800" dirty="0">
                <a:latin typeface="Arial Black" panose="020B0A04020102020204" pitchFamily="34" charset="0"/>
              </a:rPr>
              <a:t>].</a:t>
            </a:r>
            <a:r>
              <a:rPr lang="en-US" altLang="zh-CN" sz="2800" dirty="0" err="1">
                <a:latin typeface="Arial Black" panose="020B0A04020102020204" pitchFamily="34" charset="0"/>
              </a:rPr>
              <a:t>otherdata</a:t>
            </a:r>
            <a:r>
              <a:rPr lang="en-US" altLang="zh-CN" sz="2800" dirty="0">
                <a:latin typeface="Arial Black" panose="020B0A04020102020204" pitchFamily="34" charset="0"/>
              </a:rPr>
              <a:t>&lt;&lt;"\t";</a:t>
            </a:r>
          </a:p>
          <a:p>
            <a:r>
              <a:rPr lang="en-US" altLang="zh-CN" sz="2800" dirty="0">
                <a:latin typeface="Arial Black" panose="020B0A04020102020204" pitchFamily="34" charset="0"/>
              </a:rPr>
              <a:t>    }</a:t>
            </a:r>
          </a:p>
          <a:p>
            <a:r>
              <a:rPr lang="en-US" altLang="zh-CN" sz="2800" dirty="0">
                <a:latin typeface="Arial Black" panose="020B0A04020102020204" pitchFamily="34" charset="0"/>
              </a:rPr>
              <a:t>    </a:t>
            </a:r>
            <a:r>
              <a:rPr lang="en-US" altLang="zh-CN" sz="2800" dirty="0" err="1">
                <a:latin typeface="Arial Black" panose="020B0A04020102020204" pitchFamily="34" charset="0"/>
              </a:rPr>
              <a:t>cout</a:t>
            </a:r>
            <a:r>
              <a:rPr lang="en-US" altLang="zh-CN" sz="2800" dirty="0">
                <a:latin typeface="Arial Black" panose="020B0A04020102020204" pitchFamily="34" charset="0"/>
              </a:rPr>
              <a:t>&lt;&lt;</a:t>
            </a:r>
            <a:r>
              <a:rPr lang="en-US" altLang="zh-CN" sz="2800" dirty="0" err="1">
                <a:latin typeface="Arial Black" panose="020B0A04020102020204" pitchFamily="34" charset="0"/>
              </a:rPr>
              <a:t>endl</a:t>
            </a:r>
            <a:r>
              <a:rPr lang="en-US" altLang="zh-CN" sz="2800" dirty="0">
                <a:latin typeface="Arial Black" panose="020B0A04020102020204" pitchFamily="34" charset="0"/>
              </a:rPr>
              <a:t>;</a:t>
            </a:r>
          </a:p>
          <a:p>
            <a:r>
              <a:rPr lang="en-US" altLang="zh-CN" sz="2800" dirty="0">
                <a:latin typeface="Arial Black" panose="020B0A04020102020204" pitchFamily="34" charset="0"/>
              </a:rPr>
              <a:t>    for(int </a:t>
            </a:r>
            <a:r>
              <a:rPr lang="en-US" altLang="zh-CN" sz="2800" dirty="0" err="1">
                <a:latin typeface="Arial Black" panose="020B0A04020102020204" pitchFamily="34" charset="0"/>
              </a:rPr>
              <a:t>i</a:t>
            </a:r>
            <a:r>
              <a:rPr lang="en-US" altLang="zh-CN" sz="2800" dirty="0">
                <a:latin typeface="Arial Black" panose="020B0A04020102020204" pitchFamily="34" charset="0"/>
              </a:rPr>
              <a:t>=0;i&lt;=MaxSize-1;i++) </a:t>
            </a:r>
          </a:p>
          <a:p>
            <a:r>
              <a:rPr lang="en-US" altLang="zh-CN" sz="2800" dirty="0">
                <a:latin typeface="Arial Black" panose="020B0A04020102020204" pitchFamily="34" charset="0"/>
              </a:rPr>
              <a:t>    {  </a:t>
            </a:r>
          </a:p>
          <a:p>
            <a:r>
              <a:rPr lang="en-US" altLang="zh-CN" sz="2800" dirty="0">
                <a:latin typeface="Arial Black" panose="020B0A04020102020204" pitchFamily="34" charset="0"/>
              </a:rPr>
              <a:t>	    </a:t>
            </a:r>
            <a:r>
              <a:rPr lang="en-US" altLang="zh-CN" sz="2800" dirty="0" err="1">
                <a:latin typeface="Arial Black" panose="020B0A04020102020204" pitchFamily="34" charset="0"/>
              </a:rPr>
              <a:t>cout</a:t>
            </a:r>
            <a:r>
              <a:rPr lang="en-US" altLang="zh-CN" sz="2800" dirty="0">
                <a:latin typeface="Arial Black" panose="020B0A04020102020204" pitchFamily="34" charset="0"/>
              </a:rPr>
              <a:t>&lt;&lt;HT[</a:t>
            </a:r>
            <a:r>
              <a:rPr lang="en-US" altLang="zh-CN" sz="2800" dirty="0" err="1">
                <a:latin typeface="Arial Black" panose="020B0A04020102020204" pitchFamily="34" charset="0"/>
              </a:rPr>
              <a:t>i</a:t>
            </a:r>
            <a:r>
              <a:rPr lang="en-US" altLang="zh-CN" sz="2800" dirty="0">
                <a:latin typeface="Arial Black" panose="020B0A04020102020204" pitchFamily="34" charset="0"/>
              </a:rPr>
              <a:t>].key&lt;&lt;"\t";</a:t>
            </a:r>
          </a:p>
          <a:p>
            <a:r>
              <a:rPr lang="en-US" altLang="zh-CN" sz="2800" dirty="0">
                <a:latin typeface="Arial Black" panose="020B0A04020102020204" pitchFamily="34" charset="0"/>
              </a:rPr>
              <a:t>    }</a:t>
            </a:r>
          </a:p>
          <a:p>
            <a:r>
              <a:rPr lang="en-US" altLang="zh-CN" sz="2800" dirty="0">
                <a:latin typeface="Arial Black" panose="020B0A04020102020204" pitchFamily="34" charset="0"/>
              </a:rPr>
              <a:t>    </a:t>
            </a:r>
            <a:r>
              <a:rPr lang="en-US" altLang="zh-CN" sz="2800" dirty="0" err="1">
                <a:latin typeface="Arial Black" panose="020B0A04020102020204" pitchFamily="34" charset="0"/>
              </a:rPr>
              <a:t>cout</a:t>
            </a:r>
            <a:r>
              <a:rPr lang="en-US" altLang="zh-CN" sz="2800" dirty="0">
                <a:latin typeface="Arial Black" panose="020B0A04020102020204" pitchFamily="34" charset="0"/>
              </a:rPr>
              <a:t>&lt;&lt;</a:t>
            </a:r>
            <a:r>
              <a:rPr lang="en-US" altLang="zh-CN" sz="2800" dirty="0" err="1">
                <a:latin typeface="Arial Black" panose="020B0A04020102020204" pitchFamily="34" charset="0"/>
              </a:rPr>
              <a:t>endl</a:t>
            </a:r>
            <a:r>
              <a:rPr lang="en-US" altLang="zh-CN" sz="2800" dirty="0">
                <a:latin typeface="Arial Black" panose="020B0A04020102020204" pitchFamily="34" charset="0"/>
              </a:rPr>
              <a:t>;</a:t>
            </a:r>
          </a:p>
          <a:p>
            <a:r>
              <a:rPr lang="en-US" altLang="zh-CN" sz="2800" dirty="0">
                <a:latin typeface="Arial Black" panose="020B0A04020102020204" pitchFamily="34" charset="0"/>
              </a:rPr>
              <a:t>}</a:t>
            </a:r>
            <a:endParaRPr lang="zh-CN" altLang="en-US" sz="2800" dirty="0">
              <a:latin typeface="Arial Black" panose="020B0A04020102020204" pitchFamily="34" charset="0"/>
            </a:endParaRPr>
          </a:p>
        </p:txBody>
      </p:sp>
    </p:spTree>
    <p:extLst>
      <p:ext uri="{BB962C8B-B14F-4D97-AF65-F5344CB8AC3E}">
        <p14:creationId xmlns:p14="http://schemas.microsoft.com/office/powerpoint/2010/main" val="283883539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5496" y="1052736"/>
            <a:ext cx="9145016" cy="5616624"/>
          </a:xfrm>
          <a:solidFill>
            <a:schemeClr val="bg1"/>
          </a:solidFill>
        </p:spPr>
        <p:txBody>
          <a:bodyPr>
            <a:normAutofit/>
          </a:bodyPr>
          <a:lstStyle/>
          <a:p>
            <a:pPr>
              <a:spcBef>
                <a:spcPts val="0"/>
              </a:spcBef>
            </a:pPr>
            <a:r>
              <a:rPr lang="en-US" altLang="zh-CN" dirty="0"/>
              <a:t>bool </a:t>
            </a:r>
            <a:r>
              <a:rPr lang="en-US" altLang="zh-CN" dirty="0" err="1"/>
              <a:t>HashList</a:t>
            </a:r>
            <a:r>
              <a:rPr lang="en-US" altLang="zh-CN" dirty="0"/>
              <a:t>::Insert(Element item){//</a:t>
            </a:r>
            <a:r>
              <a:rPr lang="zh-CN" altLang="zh-CN" dirty="0">
                <a:solidFill>
                  <a:srgbClr val="FF0000"/>
                </a:solidFill>
              </a:rPr>
              <a:t>向哈希表</a:t>
            </a:r>
            <a:r>
              <a:rPr lang="en-US" altLang="zh-CN" dirty="0">
                <a:solidFill>
                  <a:srgbClr val="FF0000"/>
                </a:solidFill>
              </a:rPr>
              <a:t>HT</a:t>
            </a:r>
            <a:r>
              <a:rPr lang="zh-CN" altLang="zh-CN" dirty="0">
                <a:solidFill>
                  <a:srgbClr val="FF0000"/>
                </a:solidFill>
              </a:rPr>
              <a:t>中插入元素</a:t>
            </a:r>
            <a:r>
              <a:rPr lang="en-US" altLang="zh-CN" dirty="0">
                <a:solidFill>
                  <a:srgbClr val="FF0000"/>
                </a:solidFill>
              </a:rPr>
              <a:t>item</a:t>
            </a:r>
            <a:endParaRPr lang="zh-CN" altLang="zh-CN" dirty="0">
              <a:solidFill>
                <a:srgbClr val="FF0000"/>
              </a:solidFill>
            </a:endParaRPr>
          </a:p>
          <a:p>
            <a:pPr>
              <a:spcBef>
                <a:spcPts val="0"/>
              </a:spcBef>
            </a:pPr>
            <a:r>
              <a:rPr lang="en-US" altLang="zh-CN" dirty="0"/>
              <a:t>      </a:t>
            </a:r>
            <a:r>
              <a:rPr lang="en-US" altLang="zh-CN" dirty="0" err="1"/>
              <a:t>int</a:t>
            </a:r>
            <a:r>
              <a:rPr lang="en-US" altLang="zh-CN" dirty="0"/>
              <a:t> d=H(</a:t>
            </a:r>
            <a:r>
              <a:rPr lang="en-US" altLang="zh-CN" dirty="0" err="1"/>
              <a:t>item.key</a:t>
            </a:r>
            <a:r>
              <a:rPr lang="en-US" altLang="zh-CN" dirty="0"/>
              <a:t>);      //</a:t>
            </a:r>
            <a:r>
              <a:rPr lang="zh-CN" altLang="zh-CN" dirty="0"/>
              <a:t>用哈希函数计算哈希地址</a:t>
            </a:r>
          </a:p>
          <a:p>
            <a:pPr>
              <a:spcBef>
                <a:spcPts val="0"/>
              </a:spcBef>
            </a:pPr>
            <a:r>
              <a:rPr lang="en-US" altLang="zh-CN" dirty="0"/>
              <a:t>      </a:t>
            </a:r>
            <a:r>
              <a:rPr lang="en-US" altLang="zh-CN" dirty="0" err="1"/>
              <a:t>int</a:t>
            </a:r>
            <a:r>
              <a:rPr lang="en-US" altLang="zh-CN" dirty="0"/>
              <a:t> temp=d;                 //</a:t>
            </a:r>
            <a:r>
              <a:rPr lang="zh-CN" altLang="zh-CN" dirty="0"/>
              <a:t>用</a:t>
            </a:r>
            <a:r>
              <a:rPr lang="en-US" altLang="zh-CN" dirty="0"/>
              <a:t>temp</a:t>
            </a:r>
            <a:r>
              <a:rPr lang="zh-CN" altLang="zh-CN" dirty="0"/>
              <a:t>变量暂存哈希地址</a:t>
            </a:r>
            <a:r>
              <a:rPr lang="en-US" altLang="zh-CN" dirty="0"/>
              <a:t>d</a:t>
            </a:r>
            <a:endParaRPr lang="zh-CN" altLang="zh-CN" dirty="0"/>
          </a:p>
          <a:p>
            <a:pPr>
              <a:spcBef>
                <a:spcPts val="0"/>
              </a:spcBef>
            </a:pPr>
            <a:r>
              <a:rPr lang="en-US" altLang="zh-CN" dirty="0"/>
              <a:t>	 while(HT[d].key != </a:t>
            </a:r>
            <a:r>
              <a:rPr lang="en-US" altLang="zh-CN" dirty="0" err="1"/>
              <a:t>NullTag</a:t>
            </a:r>
            <a:r>
              <a:rPr lang="en-US" altLang="zh-CN" dirty="0"/>
              <a:t> &amp;&amp; HT[d].key != </a:t>
            </a:r>
            <a:r>
              <a:rPr lang="en-US" altLang="zh-CN" dirty="0" err="1"/>
              <a:t>DeleteTag</a:t>
            </a:r>
            <a:r>
              <a:rPr lang="en-US" altLang="zh-CN" dirty="0"/>
              <a:t>){</a:t>
            </a:r>
          </a:p>
          <a:p>
            <a:pPr>
              <a:spcBef>
                <a:spcPts val="0"/>
              </a:spcBef>
            </a:pPr>
            <a:r>
              <a:rPr lang="en-US" altLang="zh-CN" dirty="0"/>
              <a:t>           	//</a:t>
            </a:r>
            <a:r>
              <a:rPr lang="zh-CN" altLang="zh-CN" dirty="0"/>
              <a:t>继续向后查找空元素位置或者被删除元素的位置</a:t>
            </a:r>
          </a:p>
          <a:p>
            <a:pPr>
              <a:spcBef>
                <a:spcPts val="0"/>
              </a:spcBef>
            </a:pPr>
            <a:r>
              <a:rPr lang="en-US" altLang="zh-CN" dirty="0"/>
              <a:t>         	d = (d+1) % </a:t>
            </a:r>
            <a:r>
              <a:rPr lang="en-US" altLang="zh-CN" dirty="0" err="1"/>
              <a:t>MaxSize</a:t>
            </a:r>
            <a:r>
              <a:rPr lang="en-US" altLang="zh-CN" dirty="0"/>
              <a:t>;      //</a:t>
            </a:r>
            <a:r>
              <a:rPr lang="zh-CN" altLang="zh-CN" dirty="0"/>
              <a:t>假定采用线性探查法处理冲突</a:t>
            </a:r>
          </a:p>
          <a:p>
            <a:pPr>
              <a:spcBef>
                <a:spcPts val="0"/>
              </a:spcBef>
            </a:pPr>
            <a:r>
              <a:rPr lang="en-US" altLang="zh-CN" dirty="0"/>
              <a:t>         	if (d == temp) return false;  //</a:t>
            </a:r>
            <a:r>
              <a:rPr lang="zh-CN" altLang="zh-CN" dirty="0"/>
              <a:t>查找完所有位置后表示无法插入</a:t>
            </a:r>
          </a:p>
          <a:p>
            <a:pPr>
              <a:spcBef>
                <a:spcPts val="0"/>
              </a:spcBef>
            </a:pPr>
            <a:r>
              <a:rPr lang="en-US" altLang="zh-CN" dirty="0"/>
              <a:t>      }</a:t>
            </a:r>
            <a:endParaRPr lang="zh-CN" altLang="zh-CN" dirty="0"/>
          </a:p>
          <a:p>
            <a:pPr>
              <a:spcBef>
                <a:spcPts val="0"/>
              </a:spcBef>
            </a:pPr>
            <a:r>
              <a:rPr lang="en-US" altLang="zh-CN" dirty="0"/>
              <a:t>      HT[d] = item;     //</a:t>
            </a:r>
            <a:r>
              <a:rPr lang="zh-CN" altLang="zh-CN" dirty="0"/>
              <a:t>将新元素插入到下标为</a:t>
            </a:r>
            <a:r>
              <a:rPr lang="en-US" altLang="zh-CN" dirty="0"/>
              <a:t>d</a:t>
            </a:r>
            <a:r>
              <a:rPr lang="zh-CN" altLang="zh-CN" dirty="0"/>
              <a:t>的位置</a:t>
            </a:r>
          </a:p>
          <a:p>
            <a:pPr>
              <a:spcBef>
                <a:spcPts val="0"/>
              </a:spcBef>
            </a:pPr>
            <a:r>
              <a:rPr lang="en-US" altLang="zh-CN" dirty="0"/>
              <a:t>      return true;         //</a:t>
            </a:r>
            <a:r>
              <a:rPr lang="zh-CN" altLang="zh-CN" dirty="0"/>
              <a:t>插入成功，返回真</a:t>
            </a:r>
          </a:p>
          <a:p>
            <a:pPr>
              <a:spcBef>
                <a:spcPts val="0"/>
              </a:spcBef>
            </a:pPr>
            <a:r>
              <a:rPr lang="en-US" altLang="zh-CN" dirty="0"/>
              <a:t>}</a:t>
            </a:r>
            <a:endParaRPr lang="zh-CN" altLang="zh-CN" dirty="0"/>
          </a:p>
        </p:txBody>
      </p:sp>
    </p:spTree>
    <p:extLst>
      <p:ext uri="{BB962C8B-B14F-4D97-AF65-F5344CB8AC3E}">
        <p14:creationId xmlns:p14="http://schemas.microsoft.com/office/powerpoint/2010/main" val="388254024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9512" y="908720"/>
            <a:ext cx="8856984" cy="5616624"/>
          </a:xfrm>
          <a:solidFill>
            <a:schemeClr val="bg1"/>
          </a:solidFill>
        </p:spPr>
        <p:txBody>
          <a:bodyPr>
            <a:normAutofit/>
          </a:bodyPr>
          <a:lstStyle/>
          <a:p>
            <a:pPr>
              <a:spcBef>
                <a:spcPts val="0"/>
              </a:spcBef>
            </a:pPr>
            <a:r>
              <a:rPr lang="zh-CN" altLang="zh-CN" dirty="0"/>
              <a:t>算法</a:t>
            </a:r>
            <a:r>
              <a:rPr lang="en-US" altLang="zh-CN" dirty="0"/>
              <a:t>8.7</a:t>
            </a:r>
            <a:r>
              <a:rPr lang="zh-CN" altLang="zh-CN" dirty="0"/>
              <a:t>：</a:t>
            </a:r>
            <a:r>
              <a:rPr lang="zh-CN" altLang="zh-CN" dirty="0">
                <a:solidFill>
                  <a:srgbClr val="FF0000"/>
                </a:solidFill>
              </a:rPr>
              <a:t>从哈希表</a:t>
            </a:r>
            <a:r>
              <a:rPr lang="en-US" altLang="zh-CN" dirty="0">
                <a:solidFill>
                  <a:srgbClr val="FF0000"/>
                </a:solidFill>
              </a:rPr>
              <a:t>HT</a:t>
            </a:r>
            <a:r>
              <a:rPr lang="zh-CN" altLang="zh-CN" dirty="0">
                <a:solidFill>
                  <a:srgbClr val="FF0000"/>
                </a:solidFill>
              </a:rPr>
              <a:t>中查找元素</a:t>
            </a:r>
            <a:r>
              <a:rPr lang="zh-CN" altLang="zh-CN" dirty="0"/>
              <a:t>，返回该元素的下标位置</a:t>
            </a:r>
          </a:p>
          <a:p>
            <a:pPr>
              <a:spcBef>
                <a:spcPts val="0"/>
              </a:spcBef>
            </a:pPr>
            <a:r>
              <a:rPr lang="en-US" altLang="zh-CN" dirty="0" err="1"/>
              <a:t>int</a:t>
            </a:r>
            <a:r>
              <a:rPr lang="en-US" altLang="zh-CN" dirty="0"/>
              <a:t> </a:t>
            </a:r>
            <a:r>
              <a:rPr lang="en-US" altLang="zh-CN" dirty="0" err="1"/>
              <a:t>HashList</a:t>
            </a:r>
            <a:r>
              <a:rPr lang="en-US" altLang="zh-CN" dirty="0"/>
              <a:t> :: Search(</a:t>
            </a:r>
            <a:r>
              <a:rPr lang="en-US" altLang="zh-CN" dirty="0" err="1"/>
              <a:t>KeyType</a:t>
            </a:r>
            <a:r>
              <a:rPr lang="en-US" altLang="zh-CN" dirty="0"/>
              <a:t> x) {</a:t>
            </a:r>
            <a:endParaRPr lang="zh-CN" altLang="zh-CN" dirty="0"/>
          </a:p>
          <a:p>
            <a:pPr>
              <a:spcBef>
                <a:spcPts val="0"/>
              </a:spcBef>
            </a:pPr>
            <a:r>
              <a:rPr lang="en-US" altLang="zh-CN" dirty="0"/>
              <a:t>      </a:t>
            </a:r>
            <a:r>
              <a:rPr lang="en-US" altLang="zh-CN" dirty="0" err="1"/>
              <a:t>int</a:t>
            </a:r>
            <a:r>
              <a:rPr lang="en-US" altLang="zh-CN" dirty="0"/>
              <a:t> d=H(x);       //</a:t>
            </a:r>
            <a:r>
              <a:rPr lang="zh-CN" altLang="zh-CN" dirty="0"/>
              <a:t>计算哈希地址</a:t>
            </a:r>
          </a:p>
          <a:p>
            <a:pPr>
              <a:spcBef>
                <a:spcPts val="0"/>
              </a:spcBef>
            </a:pPr>
            <a:r>
              <a:rPr lang="en-US" altLang="zh-CN" dirty="0"/>
              <a:t>      </a:t>
            </a:r>
            <a:r>
              <a:rPr lang="en-US" altLang="zh-CN" dirty="0" err="1"/>
              <a:t>int</a:t>
            </a:r>
            <a:r>
              <a:rPr lang="en-US" altLang="zh-CN" dirty="0"/>
              <a:t> temp=d;      //</a:t>
            </a:r>
            <a:r>
              <a:rPr lang="zh-CN" altLang="zh-CN" dirty="0"/>
              <a:t>保存初始哈希地址到</a:t>
            </a:r>
            <a:r>
              <a:rPr lang="en-US" altLang="zh-CN" dirty="0"/>
              <a:t>temp</a:t>
            </a:r>
            <a:endParaRPr lang="zh-CN" altLang="zh-CN" dirty="0"/>
          </a:p>
          <a:p>
            <a:pPr>
              <a:spcBef>
                <a:spcPts val="0"/>
              </a:spcBef>
            </a:pPr>
            <a:r>
              <a:rPr lang="en-US" altLang="zh-CN" dirty="0"/>
              <a:t>	 while(HT[d].key != </a:t>
            </a:r>
            <a:r>
              <a:rPr lang="en-US" altLang="zh-CN" dirty="0" err="1"/>
              <a:t>NullTag</a:t>
            </a:r>
            <a:r>
              <a:rPr lang="en-US" altLang="zh-CN" dirty="0"/>
              <a:t>) { </a:t>
            </a:r>
          </a:p>
          <a:p>
            <a:pPr>
              <a:spcBef>
                <a:spcPts val="0"/>
              </a:spcBef>
            </a:pPr>
            <a:r>
              <a:rPr lang="en-US" altLang="zh-CN" dirty="0"/>
              <a:t>		//</a:t>
            </a:r>
            <a:r>
              <a:rPr lang="zh-CN" altLang="zh-CN" dirty="0"/>
              <a:t>当哈希地址中的关键字域不为空则循环</a:t>
            </a:r>
          </a:p>
          <a:p>
            <a:pPr>
              <a:spcBef>
                <a:spcPts val="0"/>
              </a:spcBef>
            </a:pPr>
            <a:r>
              <a:rPr lang="en-US" altLang="zh-CN" dirty="0"/>
              <a:t>         	if(HT[d].key == x) return d; //</a:t>
            </a:r>
            <a:r>
              <a:rPr lang="zh-CN" altLang="zh-CN" dirty="0"/>
              <a:t>查找成功返回下标</a:t>
            </a:r>
            <a:r>
              <a:rPr lang="en-US" altLang="zh-CN" dirty="0"/>
              <a:t>d</a:t>
            </a:r>
            <a:endParaRPr lang="zh-CN" altLang="zh-CN" dirty="0"/>
          </a:p>
          <a:p>
            <a:pPr>
              <a:spcBef>
                <a:spcPts val="0"/>
              </a:spcBef>
            </a:pPr>
            <a:r>
              <a:rPr lang="en-US" altLang="zh-CN" dirty="0"/>
              <a:t>		else d = (d+1) % </a:t>
            </a:r>
            <a:r>
              <a:rPr lang="en-US" altLang="zh-CN" dirty="0" err="1"/>
              <a:t>MaxSize</a:t>
            </a:r>
            <a:r>
              <a:rPr lang="en-US" altLang="zh-CN" dirty="0"/>
              <a:t>;</a:t>
            </a:r>
            <a:endParaRPr lang="zh-CN" altLang="zh-CN" dirty="0"/>
          </a:p>
          <a:p>
            <a:pPr>
              <a:spcBef>
                <a:spcPts val="0"/>
              </a:spcBef>
            </a:pPr>
            <a:r>
              <a:rPr lang="en-US" altLang="zh-CN" dirty="0"/>
              <a:t>         	if(d==temp) return -1;    //</a:t>
            </a:r>
            <a:r>
              <a:rPr lang="zh-CN" altLang="zh-CN" dirty="0"/>
              <a:t>查找失败返回</a:t>
            </a:r>
            <a:r>
              <a:rPr lang="zh-CN" altLang="en-US" dirty="0"/>
              <a:t>“</a:t>
            </a:r>
            <a:r>
              <a:rPr lang="en-US" altLang="zh-CN" dirty="0"/>
              <a:t>-1</a:t>
            </a:r>
            <a:r>
              <a:rPr lang="zh-CN" altLang="en-US" dirty="0"/>
              <a:t>”</a:t>
            </a:r>
            <a:endParaRPr lang="zh-CN" altLang="zh-CN" dirty="0"/>
          </a:p>
          <a:p>
            <a:pPr>
              <a:spcBef>
                <a:spcPts val="0"/>
              </a:spcBef>
            </a:pPr>
            <a:r>
              <a:rPr lang="en-US" altLang="zh-CN" dirty="0"/>
              <a:t>      }</a:t>
            </a:r>
            <a:endParaRPr lang="zh-CN" altLang="zh-CN" dirty="0"/>
          </a:p>
          <a:p>
            <a:pPr>
              <a:spcBef>
                <a:spcPts val="0"/>
              </a:spcBef>
            </a:pPr>
            <a:r>
              <a:rPr lang="en-US" altLang="zh-CN" dirty="0"/>
              <a:t>      return -1</a:t>
            </a:r>
            <a:r>
              <a:rPr lang="zh-CN" altLang="zh-CN" dirty="0"/>
              <a:t>；</a:t>
            </a:r>
            <a:r>
              <a:rPr lang="en-US" altLang="zh-CN" dirty="0"/>
              <a:t>   //</a:t>
            </a:r>
            <a:r>
              <a:rPr lang="zh-CN" altLang="en-US" dirty="0"/>
              <a:t>遇到关键字为空，</a:t>
            </a:r>
            <a:r>
              <a:rPr lang="zh-CN" altLang="zh-CN" dirty="0"/>
              <a:t>查找失败返回</a:t>
            </a:r>
            <a:r>
              <a:rPr lang="zh-CN" altLang="en-US" dirty="0"/>
              <a:t>“</a:t>
            </a:r>
            <a:r>
              <a:rPr lang="en-US" altLang="zh-CN" dirty="0"/>
              <a:t>-1</a:t>
            </a:r>
            <a:r>
              <a:rPr lang="zh-CN" altLang="en-US" dirty="0"/>
              <a:t>”</a:t>
            </a:r>
            <a:endParaRPr lang="en-US" altLang="zh-CN" dirty="0"/>
          </a:p>
          <a:p>
            <a:pPr>
              <a:spcBef>
                <a:spcPts val="0"/>
              </a:spcBef>
            </a:pPr>
            <a:r>
              <a:rPr lang="en-US" altLang="zh-CN" dirty="0"/>
              <a:t>}</a:t>
            </a:r>
            <a:endParaRPr lang="zh-CN" altLang="zh-CN" dirty="0"/>
          </a:p>
          <a:p>
            <a:pPr>
              <a:spcBef>
                <a:spcPts val="0"/>
              </a:spcBef>
            </a:pPr>
            <a:endParaRPr lang="zh-CN" altLang="en-US" dirty="0"/>
          </a:p>
        </p:txBody>
      </p:sp>
    </p:spTree>
    <p:extLst>
      <p:ext uri="{BB962C8B-B14F-4D97-AF65-F5344CB8AC3E}">
        <p14:creationId xmlns:p14="http://schemas.microsoft.com/office/powerpoint/2010/main" val="82781051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836712"/>
            <a:ext cx="8064896" cy="5472608"/>
          </a:xfrm>
        </p:spPr>
        <p:txBody>
          <a:bodyPr>
            <a:normAutofit fontScale="85000" lnSpcReduction="10000"/>
          </a:bodyPr>
          <a:lstStyle/>
          <a:p>
            <a:pPr>
              <a:lnSpc>
                <a:spcPct val="140000"/>
              </a:lnSpc>
              <a:spcBef>
                <a:spcPts val="0"/>
              </a:spcBef>
            </a:pPr>
            <a:r>
              <a:rPr lang="zh-CN" altLang="zh-CN" dirty="0"/>
              <a:t>算法</a:t>
            </a:r>
            <a:r>
              <a:rPr lang="en-US" altLang="zh-CN" dirty="0"/>
              <a:t>8.8</a:t>
            </a:r>
            <a:r>
              <a:rPr lang="zh-CN" altLang="zh-CN" dirty="0"/>
              <a:t>：</a:t>
            </a:r>
            <a:r>
              <a:rPr lang="zh-CN" altLang="zh-CN" dirty="0">
                <a:solidFill>
                  <a:srgbClr val="FF0000"/>
                </a:solidFill>
              </a:rPr>
              <a:t>从哈希表</a:t>
            </a:r>
            <a:r>
              <a:rPr lang="en-US" altLang="zh-CN" dirty="0">
                <a:solidFill>
                  <a:srgbClr val="FF0000"/>
                </a:solidFill>
              </a:rPr>
              <a:t>HT</a:t>
            </a:r>
            <a:r>
              <a:rPr lang="zh-CN" altLang="zh-CN" dirty="0">
                <a:solidFill>
                  <a:srgbClr val="FF0000"/>
                </a:solidFill>
              </a:rPr>
              <a:t>中删除元素</a:t>
            </a:r>
          </a:p>
          <a:p>
            <a:pPr>
              <a:lnSpc>
                <a:spcPct val="140000"/>
              </a:lnSpc>
              <a:spcBef>
                <a:spcPts val="0"/>
              </a:spcBef>
            </a:pPr>
            <a:r>
              <a:rPr lang="en-US" altLang="zh-CN" b="0" dirty="0" err="1"/>
              <a:t>bool</a:t>
            </a:r>
            <a:r>
              <a:rPr lang="en-US" altLang="zh-CN" b="0" dirty="0"/>
              <a:t> </a:t>
            </a:r>
            <a:r>
              <a:rPr lang="en-US" altLang="zh-CN" b="0" dirty="0" err="1"/>
              <a:t>HashList</a:t>
            </a:r>
            <a:r>
              <a:rPr lang="en-US" altLang="zh-CN" b="0" dirty="0"/>
              <a:t> :: Delete(</a:t>
            </a:r>
            <a:r>
              <a:rPr lang="en-US" altLang="zh-CN" b="0" dirty="0" err="1"/>
              <a:t>KeyType</a:t>
            </a:r>
            <a:r>
              <a:rPr lang="en-US" altLang="zh-CN" b="0" dirty="0"/>
              <a:t> x) {</a:t>
            </a:r>
            <a:endParaRPr lang="zh-CN" altLang="zh-CN" b="0" dirty="0"/>
          </a:p>
          <a:p>
            <a:pPr>
              <a:lnSpc>
                <a:spcPct val="140000"/>
              </a:lnSpc>
              <a:spcBef>
                <a:spcPts val="0"/>
              </a:spcBef>
            </a:pPr>
            <a:r>
              <a:rPr lang="en-US" altLang="zh-CN" b="0" dirty="0"/>
              <a:t>     </a:t>
            </a:r>
            <a:r>
              <a:rPr lang="en-US" altLang="zh-CN" b="0" dirty="0" err="1"/>
              <a:t>int</a:t>
            </a:r>
            <a:r>
              <a:rPr lang="en-US" altLang="zh-CN" b="0" dirty="0"/>
              <a:t> d = H(x);     //</a:t>
            </a:r>
            <a:r>
              <a:rPr lang="zh-CN" altLang="zh-CN" b="0" dirty="0"/>
              <a:t>计算哈希地址</a:t>
            </a:r>
          </a:p>
          <a:p>
            <a:pPr>
              <a:lnSpc>
                <a:spcPct val="140000"/>
              </a:lnSpc>
              <a:spcBef>
                <a:spcPts val="0"/>
              </a:spcBef>
            </a:pPr>
            <a:r>
              <a:rPr lang="en-US" altLang="zh-CN" b="0" dirty="0"/>
              <a:t>     </a:t>
            </a:r>
            <a:r>
              <a:rPr lang="en-US" altLang="zh-CN" b="0" dirty="0" err="1"/>
              <a:t>int</a:t>
            </a:r>
            <a:r>
              <a:rPr lang="en-US" altLang="zh-CN" b="0" dirty="0"/>
              <a:t> temp = d;    //</a:t>
            </a:r>
            <a:r>
              <a:rPr lang="zh-CN" altLang="zh-CN" b="0" dirty="0"/>
              <a:t>保存哈希地址的初始值</a:t>
            </a:r>
          </a:p>
          <a:p>
            <a:pPr>
              <a:lnSpc>
                <a:spcPct val="140000"/>
              </a:lnSpc>
              <a:spcBef>
                <a:spcPts val="0"/>
              </a:spcBef>
            </a:pPr>
            <a:r>
              <a:rPr lang="en-US" altLang="zh-CN" b="0" dirty="0"/>
              <a:t>	while(HT[d].key != </a:t>
            </a:r>
            <a:r>
              <a:rPr lang="en-US" altLang="zh-CN" b="0" dirty="0" err="1"/>
              <a:t>NullTag</a:t>
            </a:r>
            <a:r>
              <a:rPr lang="en-US" altLang="zh-CN" b="0" dirty="0"/>
              <a:t>) {	 //</a:t>
            </a:r>
            <a:r>
              <a:rPr lang="zh-CN" altLang="zh-CN" b="0" dirty="0"/>
              <a:t>不为空记录则循环</a:t>
            </a:r>
          </a:p>
          <a:p>
            <a:pPr>
              <a:lnSpc>
                <a:spcPct val="140000"/>
              </a:lnSpc>
              <a:spcBef>
                <a:spcPts val="0"/>
              </a:spcBef>
            </a:pPr>
            <a:r>
              <a:rPr lang="en-US" altLang="zh-CN" b="0" dirty="0"/>
              <a:t>		if(HT[d].key == x) {</a:t>
            </a:r>
            <a:endParaRPr lang="zh-CN" altLang="zh-CN" b="0" dirty="0"/>
          </a:p>
          <a:p>
            <a:pPr>
              <a:lnSpc>
                <a:spcPct val="140000"/>
              </a:lnSpc>
              <a:spcBef>
                <a:spcPts val="0"/>
              </a:spcBef>
            </a:pPr>
            <a:r>
              <a:rPr lang="en-US" altLang="zh-CN" b="0" dirty="0"/>
              <a:t>			HT[d].key = </a:t>
            </a:r>
            <a:r>
              <a:rPr lang="en-US" altLang="zh-CN" b="0" dirty="0" err="1"/>
              <a:t>DeleteTag</a:t>
            </a:r>
            <a:r>
              <a:rPr lang="en-US" altLang="zh-CN" b="0" dirty="0"/>
              <a:t>;   //</a:t>
            </a:r>
            <a:r>
              <a:rPr lang="zh-CN" altLang="zh-CN" b="0" dirty="0"/>
              <a:t>设置删除标记</a:t>
            </a:r>
          </a:p>
          <a:p>
            <a:pPr>
              <a:lnSpc>
                <a:spcPct val="140000"/>
              </a:lnSpc>
              <a:spcBef>
                <a:spcPts val="0"/>
              </a:spcBef>
            </a:pPr>
            <a:r>
              <a:rPr lang="en-US" altLang="zh-CN" b="0" dirty="0"/>
              <a:t>		  	return true;</a:t>
            </a:r>
            <a:endParaRPr lang="zh-CN" altLang="zh-CN" b="0" dirty="0"/>
          </a:p>
          <a:p>
            <a:pPr>
              <a:lnSpc>
                <a:spcPct val="140000"/>
              </a:lnSpc>
              <a:spcBef>
                <a:spcPts val="0"/>
              </a:spcBef>
            </a:pPr>
            <a:r>
              <a:rPr lang="en-US" altLang="zh-CN" b="0" dirty="0"/>
              <a:t>        	} else d = (d+1)%</a:t>
            </a:r>
            <a:r>
              <a:rPr lang="en-US" altLang="zh-CN" b="0" dirty="0" err="1"/>
              <a:t>MaxSize</a:t>
            </a:r>
            <a:r>
              <a:rPr lang="en-US" altLang="zh-CN" b="0" dirty="0"/>
              <a:t>;  //</a:t>
            </a:r>
            <a:r>
              <a:rPr lang="zh-CN" altLang="zh-CN" b="0" dirty="0"/>
              <a:t>继续向后查找被删除的元素</a:t>
            </a:r>
          </a:p>
          <a:p>
            <a:pPr>
              <a:lnSpc>
                <a:spcPct val="140000"/>
              </a:lnSpc>
              <a:spcBef>
                <a:spcPts val="0"/>
              </a:spcBef>
            </a:pPr>
            <a:r>
              <a:rPr lang="en-US" altLang="zh-CN" b="0" dirty="0"/>
              <a:t>        	if(d==temp) return false;   //</a:t>
            </a:r>
            <a:r>
              <a:rPr lang="zh-CN" altLang="zh-CN" b="0" dirty="0"/>
              <a:t>循环</a:t>
            </a:r>
            <a:r>
              <a:rPr lang="zh-CN" altLang="en-US" b="0" dirty="0"/>
              <a:t>一圈</a:t>
            </a:r>
            <a:r>
              <a:rPr lang="zh-CN" altLang="zh-CN" b="0" dirty="0"/>
              <a:t>后返回假，删除失败</a:t>
            </a:r>
          </a:p>
          <a:p>
            <a:pPr>
              <a:lnSpc>
                <a:spcPct val="140000"/>
              </a:lnSpc>
              <a:spcBef>
                <a:spcPts val="0"/>
              </a:spcBef>
            </a:pPr>
            <a:r>
              <a:rPr lang="en-US" altLang="zh-CN" b="0" dirty="0"/>
              <a:t>     }</a:t>
            </a:r>
            <a:endParaRPr lang="zh-CN" altLang="zh-CN" b="0" dirty="0"/>
          </a:p>
          <a:p>
            <a:pPr>
              <a:lnSpc>
                <a:spcPct val="140000"/>
              </a:lnSpc>
              <a:spcBef>
                <a:spcPts val="0"/>
              </a:spcBef>
            </a:pPr>
            <a:r>
              <a:rPr lang="en-US" altLang="zh-CN" b="0" dirty="0"/>
              <a:t>     return false;    //</a:t>
            </a:r>
            <a:r>
              <a:rPr lang="zh-CN" altLang="en-US" b="0" dirty="0"/>
              <a:t>遇到空关键字，</a:t>
            </a:r>
            <a:r>
              <a:rPr lang="zh-CN" altLang="zh-CN" b="0" dirty="0"/>
              <a:t>没有找到被删除元素，删除失败</a:t>
            </a:r>
          </a:p>
          <a:p>
            <a:pPr>
              <a:lnSpc>
                <a:spcPct val="140000"/>
              </a:lnSpc>
              <a:spcBef>
                <a:spcPts val="0"/>
              </a:spcBef>
            </a:pPr>
            <a:r>
              <a:rPr lang="en-US" altLang="zh-CN" b="0" dirty="0"/>
              <a:t>}</a:t>
            </a:r>
            <a:endParaRPr lang="zh-CN" altLang="zh-CN" b="0" dirty="0"/>
          </a:p>
          <a:p>
            <a:pPr>
              <a:lnSpc>
                <a:spcPct val="140000"/>
              </a:lnSpc>
              <a:spcBef>
                <a:spcPts val="0"/>
              </a:spcBef>
            </a:pPr>
            <a:endParaRPr lang="zh-CN" altLang="en-US" dirty="0"/>
          </a:p>
        </p:txBody>
      </p:sp>
    </p:spTree>
    <p:extLst>
      <p:ext uri="{BB962C8B-B14F-4D97-AF65-F5344CB8AC3E}">
        <p14:creationId xmlns:p14="http://schemas.microsoft.com/office/powerpoint/2010/main" val="24016534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CA846B5-47F7-4459-8B39-33D640063AC6}"/>
              </a:ext>
            </a:extLst>
          </p:cNvPr>
          <p:cNvSpPr>
            <a:spLocks noGrp="1"/>
          </p:cNvSpPr>
          <p:nvPr>
            <p:ph type="dt" sz="half" idx="10"/>
          </p:nvPr>
        </p:nvSpPr>
        <p:spPr/>
        <p:txBody>
          <a:bodyPr/>
          <a:lstStyle/>
          <a:p>
            <a:fld id="{9A6B2991-BBE5-4E69-A281-1A8B0AE9CDD7}" type="datetime1">
              <a:rPr lang="zh-CN" altLang="en-US" smtClean="0"/>
              <a:pPr/>
              <a:t>2025/6/3</a:t>
            </a:fld>
            <a:endParaRPr lang="zh-CN" altLang="en-US"/>
          </a:p>
        </p:txBody>
      </p:sp>
      <p:sp>
        <p:nvSpPr>
          <p:cNvPr id="3" name="文本框 2">
            <a:extLst>
              <a:ext uri="{FF2B5EF4-FFF2-40B4-BE49-F238E27FC236}">
                <a16:creationId xmlns:a16="http://schemas.microsoft.com/office/drawing/2014/main" id="{0ACC44B7-5F53-4CAD-A33D-B7AF88A00D75}"/>
              </a:ext>
            </a:extLst>
          </p:cNvPr>
          <p:cNvSpPr txBox="1"/>
          <p:nvPr/>
        </p:nvSpPr>
        <p:spPr>
          <a:xfrm>
            <a:off x="107504" y="260648"/>
            <a:ext cx="9036496" cy="6740307"/>
          </a:xfrm>
          <a:prstGeom prst="rect">
            <a:avLst/>
          </a:prstGeom>
          <a:solidFill>
            <a:schemeClr val="accent3">
              <a:lumMod val="40000"/>
              <a:lumOff val="60000"/>
            </a:schemeClr>
          </a:solidFill>
        </p:spPr>
        <p:txBody>
          <a:bodyPr wrap="square" rtlCol="0">
            <a:spAutoFit/>
          </a:bodyPr>
          <a:lstStyle/>
          <a:p>
            <a:r>
              <a:rPr lang="en-US" altLang="zh-CN" dirty="0">
                <a:latin typeface="Arial Black" panose="020B0A04020102020204" pitchFamily="34" charset="0"/>
              </a:rPr>
              <a:t>int main()</a:t>
            </a:r>
          </a:p>
          <a:p>
            <a:r>
              <a:rPr lang="en-US" altLang="zh-CN" dirty="0">
                <a:latin typeface="Arial Black" panose="020B0A04020102020204" pitchFamily="34" charset="0"/>
              </a:rPr>
              <a:t>{	</a:t>
            </a:r>
            <a:r>
              <a:rPr lang="en-US" altLang="zh-CN" dirty="0" err="1">
                <a:latin typeface="Arial Black" panose="020B0A04020102020204" pitchFamily="34" charset="0"/>
              </a:rPr>
              <a:t>HashList</a:t>
            </a:r>
            <a:r>
              <a:rPr lang="en-US" altLang="zh-CN" dirty="0">
                <a:latin typeface="Arial Black" panose="020B0A04020102020204" pitchFamily="34" charset="0"/>
              </a:rPr>
              <a:t>&lt;</a:t>
            </a:r>
            <a:r>
              <a:rPr lang="en-US" altLang="zh-CN" dirty="0" err="1">
                <a:latin typeface="Arial Black" panose="020B0A04020102020204" pitchFamily="34" charset="0"/>
              </a:rPr>
              <a:t>int,int</a:t>
            </a:r>
            <a:r>
              <a:rPr lang="en-US" altLang="zh-CN" dirty="0">
                <a:latin typeface="Arial Black" panose="020B0A04020102020204" pitchFamily="34" charset="0"/>
              </a:rPr>
              <a:t>&gt; </a:t>
            </a:r>
            <a:r>
              <a:rPr lang="en-US" altLang="zh-CN" dirty="0" err="1">
                <a:latin typeface="Arial Black" panose="020B0A04020102020204" pitchFamily="34" charset="0"/>
              </a:rPr>
              <a:t>fh</a:t>
            </a:r>
            <a:r>
              <a:rPr lang="en-US" altLang="zh-CN" dirty="0">
                <a:latin typeface="Arial Black" panose="020B0A04020102020204" pitchFamily="34" charset="0"/>
              </a:rPr>
              <a:t>(5);</a:t>
            </a:r>
          </a:p>
          <a:p>
            <a:r>
              <a:rPr lang="en-US" altLang="zh-CN" dirty="0">
                <a:latin typeface="Arial Black" panose="020B0A04020102020204" pitchFamily="34" charset="0"/>
              </a:rPr>
              <a:t>	int key1[5]={28,18,23,8,38};</a:t>
            </a:r>
          </a:p>
          <a:p>
            <a:r>
              <a:rPr lang="en-US" altLang="zh-CN" dirty="0">
                <a:latin typeface="Arial Black" panose="020B0A04020102020204" pitchFamily="34" charset="0"/>
              </a:rPr>
              <a:t>	for(int </a:t>
            </a:r>
            <a:r>
              <a:rPr lang="en-US" altLang="zh-CN" dirty="0" err="1">
                <a:latin typeface="Arial Black" panose="020B0A04020102020204" pitchFamily="34" charset="0"/>
              </a:rPr>
              <a:t>i</a:t>
            </a:r>
            <a:r>
              <a:rPr lang="en-US" altLang="zh-CN" dirty="0">
                <a:latin typeface="Arial Black" panose="020B0A04020102020204" pitchFamily="34" charset="0"/>
              </a:rPr>
              <a:t>=0;i&lt;5;i++)	//</a:t>
            </a:r>
            <a:r>
              <a:rPr lang="zh-CN" altLang="en-US" dirty="0">
                <a:latin typeface="Arial Black" panose="020B0A04020102020204" pitchFamily="34" charset="0"/>
              </a:rPr>
              <a:t>创建哈希表 </a:t>
            </a:r>
          </a:p>
          <a:p>
            <a:r>
              <a:rPr lang="zh-CN" altLang="en-US" dirty="0">
                <a:latin typeface="Arial Black" panose="020B0A04020102020204" pitchFamily="34" charset="0"/>
              </a:rPr>
              <a:t>	</a:t>
            </a:r>
            <a:r>
              <a:rPr lang="en-US" altLang="zh-CN" dirty="0">
                <a:latin typeface="Arial Black" panose="020B0A04020102020204" pitchFamily="34" charset="0"/>
              </a:rPr>
              <a:t>{	Element&lt;</a:t>
            </a:r>
            <a:r>
              <a:rPr lang="en-US" altLang="zh-CN" dirty="0" err="1">
                <a:latin typeface="Arial Black" panose="020B0A04020102020204" pitchFamily="34" charset="0"/>
              </a:rPr>
              <a:t>int,int</a:t>
            </a:r>
            <a:r>
              <a:rPr lang="en-US" altLang="zh-CN" dirty="0">
                <a:latin typeface="Arial Black" panose="020B0A04020102020204" pitchFamily="34" charset="0"/>
              </a:rPr>
              <a:t>&gt; </a:t>
            </a:r>
            <a:r>
              <a:rPr lang="en-US" altLang="zh-CN" dirty="0" err="1">
                <a:latin typeface="Arial Black" panose="020B0A04020102020204" pitchFamily="34" charset="0"/>
              </a:rPr>
              <a:t>tt</a:t>
            </a:r>
            <a:r>
              <a:rPr lang="en-US" altLang="zh-CN" dirty="0">
                <a:latin typeface="Arial Black" panose="020B0A04020102020204" pitchFamily="34" charset="0"/>
              </a:rPr>
              <a:t>;	</a:t>
            </a:r>
            <a:r>
              <a:rPr lang="en-US" altLang="zh-CN" dirty="0" err="1">
                <a:latin typeface="Arial Black" panose="020B0A04020102020204" pitchFamily="34" charset="0"/>
              </a:rPr>
              <a:t>tt.key</a:t>
            </a:r>
            <a:r>
              <a:rPr lang="en-US" altLang="zh-CN" dirty="0">
                <a:latin typeface="Arial Black" panose="020B0A04020102020204" pitchFamily="34" charset="0"/>
              </a:rPr>
              <a:t>=key1[</a:t>
            </a:r>
            <a:r>
              <a:rPr lang="en-US" altLang="zh-CN" dirty="0" err="1">
                <a:latin typeface="Arial Black" panose="020B0A04020102020204" pitchFamily="34" charset="0"/>
              </a:rPr>
              <a:t>i</a:t>
            </a:r>
            <a:r>
              <a:rPr lang="en-US" altLang="zh-CN" dirty="0">
                <a:latin typeface="Arial Black" panose="020B0A04020102020204" pitchFamily="34" charset="0"/>
              </a:rPr>
              <a:t>];	</a:t>
            </a:r>
            <a:r>
              <a:rPr lang="en-US" altLang="zh-CN" dirty="0" err="1">
                <a:latin typeface="Arial Black" panose="020B0A04020102020204" pitchFamily="34" charset="0"/>
              </a:rPr>
              <a:t>tt.otherdata</a:t>
            </a:r>
            <a:r>
              <a:rPr lang="en-US" altLang="zh-CN" dirty="0">
                <a:latin typeface="Arial Black" panose="020B0A04020102020204" pitchFamily="34" charset="0"/>
              </a:rPr>
              <a:t>=-1;</a:t>
            </a:r>
          </a:p>
          <a:p>
            <a:r>
              <a:rPr lang="en-US" altLang="zh-CN" dirty="0">
                <a:latin typeface="Arial Black" panose="020B0A04020102020204" pitchFamily="34" charset="0"/>
              </a:rPr>
              <a:t>		</a:t>
            </a:r>
            <a:r>
              <a:rPr lang="en-US" altLang="zh-CN" dirty="0" err="1">
                <a:latin typeface="Arial Black" panose="020B0A04020102020204" pitchFamily="34" charset="0"/>
              </a:rPr>
              <a:t>cout</a:t>
            </a:r>
            <a:r>
              <a:rPr lang="en-US" altLang="zh-CN" dirty="0">
                <a:latin typeface="Arial Black" panose="020B0A04020102020204" pitchFamily="34" charset="0"/>
              </a:rPr>
              <a:t>&lt;&lt;</a:t>
            </a:r>
            <a:r>
              <a:rPr lang="en-US" altLang="zh-CN" dirty="0" err="1">
                <a:latin typeface="Arial Black" panose="020B0A04020102020204" pitchFamily="34" charset="0"/>
              </a:rPr>
              <a:t>fh.Insert</a:t>
            </a:r>
            <a:r>
              <a:rPr lang="en-US" altLang="zh-CN" dirty="0">
                <a:latin typeface="Arial Black" panose="020B0A04020102020204" pitchFamily="34" charset="0"/>
              </a:rPr>
              <a:t>(</a:t>
            </a:r>
            <a:r>
              <a:rPr lang="en-US" altLang="zh-CN" dirty="0" err="1">
                <a:latin typeface="Arial Black" panose="020B0A04020102020204" pitchFamily="34" charset="0"/>
              </a:rPr>
              <a:t>tt</a:t>
            </a:r>
            <a:r>
              <a:rPr lang="en-US" altLang="zh-CN" dirty="0">
                <a:latin typeface="Arial Black" panose="020B0A04020102020204" pitchFamily="34" charset="0"/>
              </a:rPr>
              <a:t>);	}</a:t>
            </a:r>
          </a:p>
          <a:p>
            <a:r>
              <a:rPr lang="en-US" altLang="zh-CN" dirty="0">
                <a:latin typeface="Arial Black" panose="020B0A04020102020204" pitchFamily="34" charset="0"/>
              </a:rPr>
              <a:t>	</a:t>
            </a:r>
            <a:r>
              <a:rPr lang="en-US" altLang="zh-CN" dirty="0" err="1">
                <a:latin typeface="Arial Black" panose="020B0A04020102020204" pitchFamily="34" charset="0"/>
              </a:rPr>
              <a:t>fh.print</a:t>
            </a:r>
            <a:r>
              <a:rPr lang="en-US" altLang="zh-CN" dirty="0">
                <a:latin typeface="Arial Black" panose="020B0A04020102020204" pitchFamily="34" charset="0"/>
              </a:rPr>
              <a:t>();	//</a:t>
            </a:r>
            <a:r>
              <a:rPr lang="zh-CN" altLang="en-US" dirty="0">
                <a:latin typeface="Arial Black" panose="020B0A04020102020204" pitchFamily="34" charset="0"/>
              </a:rPr>
              <a:t>输出整个哈希表</a:t>
            </a:r>
          </a:p>
          <a:p>
            <a:r>
              <a:rPr lang="zh-CN" altLang="en-US" dirty="0">
                <a:latin typeface="Arial Black" panose="020B0A04020102020204" pitchFamily="34" charset="0"/>
              </a:rPr>
              <a:t>	</a:t>
            </a:r>
            <a:r>
              <a:rPr lang="en-US" altLang="zh-CN" dirty="0">
                <a:latin typeface="Arial Black" panose="020B0A04020102020204" pitchFamily="34" charset="0"/>
              </a:rPr>
              <a:t>//</a:t>
            </a:r>
            <a:r>
              <a:rPr lang="zh-CN" altLang="en-US" dirty="0">
                <a:latin typeface="Arial Black" panose="020B0A04020102020204" pitchFamily="34" charset="0"/>
              </a:rPr>
              <a:t>测试插入元素失败	 </a:t>
            </a:r>
          </a:p>
          <a:p>
            <a:r>
              <a:rPr lang="zh-CN" altLang="en-US" dirty="0">
                <a:latin typeface="Arial Black" panose="020B0A04020102020204" pitchFamily="34" charset="0"/>
              </a:rPr>
              <a:t>	</a:t>
            </a:r>
            <a:r>
              <a:rPr lang="en-US" altLang="zh-CN" dirty="0">
                <a:latin typeface="Arial Black" panose="020B0A04020102020204" pitchFamily="34" charset="0"/>
              </a:rPr>
              <a:t>Element&lt;</a:t>
            </a:r>
            <a:r>
              <a:rPr lang="en-US" altLang="zh-CN" dirty="0" err="1">
                <a:latin typeface="Arial Black" panose="020B0A04020102020204" pitchFamily="34" charset="0"/>
              </a:rPr>
              <a:t>int,int</a:t>
            </a:r>
            <a:r>
              <a:rPr lang="en-US" altLang="zh-CN" dirty="0">
                <a:latin typeface="Arial Black" panose="020B0A04020102020204" pitchFamily="34" charset="0"/>
              </a:rPr>
              <a:t>&gt; </a:t>
            </a:r>
            <a:r>
              <a:rPr lang="en-US" altLang="zh-CN" dirty="0" err="1">
                <a:latin typeface="Arial Black" panose="020B0A04020102020204" pitchFamily="34" charset="0"/>
              </a:rPr>
              <a:t>ttt</a:t>
            </a:r>
            <a:r>
              <a:rPr lang="en-US" altLang="zh-CN" dirty="0">
                <a:latin typeface="Arial Black" panose="020B0A04020102020204" pitchFamily="34" charset="0"/>
              </a:rPr>
              <a:t>;</a:t>
            </a:r>
          </a:p>
          <a:p>
            <a:r>
              <a:rPr lang="en-US" altLang="zh-CN" dirty="0">
                <a:latin typeface="Arial Black" panose="020B0A04020102020204" pitchFamily="34" charset="0"/>
              </a:rPr>
              <a:t>	</a:t>
            </a:r>
            <a:r>
              <a:rPr lang="en-US" altLang="zh-CN" dirty="0" err="1">
                <a:latin typeface="Arial Black" panose="020B0A04020102020204" pitchFamily="34" charset="0"/>
              </a:rPr>
              <a:t>ttt.key</a:t>
            </a:r>
            <a:r>
              <a:rPr lang="en-US" altLang="zh-CN" dirty="0">
                <a:latin typeface="Arial Black" panose="020B0A04020102020204" pitchFamily="34" charset="0"/>
              </a:rPr>
              <a:t>=46;</a:t>
            </a:r>
          </a:p>
          <a:p>
            <a:r>
              <a:rPr lang="en-US" altLang="zh-CN" dirty="0">
                <a:latin typeface="Arial Black" panose="020B0A04020102020204" pitchFamily="34" charset="0"/>
              </a:rPr>
              <a:t>	</a:t>
            </a:r>
            <a:r>
              <a:rPr lang="en-US" altLang="zh-CN" dirty="0" err="1">
                <a:latin typeface="Arial Black" panose="020B0A04020102020204" pitchFamily="34" charset="0"/>
              </a:rPr>
              <a:t>ttt.otherdata</a:t>
            </a:r>
            <a:r>
              <a:rPr lang="en-US" altLang="zh-CN" dirty="0">
                <a:latin typeface="Arial Black" panose="020B0A04020102020204" pitchFamily="34" charset="0"/>
              </a:rPr>
              <a:t>=-1;</a:t>
            </a:r>
          </a:p>
          <a:p>
            <a:r>
              <a:rPr lang="en-US" altLang="zh-CN" dirty="0">
                <a:latin typeface="Arial Black" panose="020B0A04020102020204" pitchFamily="34" charset="0"/>
              </a:rPr>
              <a:t>	</a:t>
            </a:r>
            <a:r>
              <a:rPr lang="en-US" altLang="zh-CN" dirty="0" err="1">
                <a:latin typeface="Arial Black" panose="020B0A04020102020204" pitchFamily="34" charset="0"/>
              </a:rPr>
              <a:t>cout</a:t>
            </a:r>
            <a:r>
              <a:rPr lang="en-US" altLang="zh-CN" dirty="0">
                <a:latin typeface="Arial Black" panose="020B0A04020102020204" pitchFamily="34" charset="0"/>
              </a:rPr>
              <a:t>&lt;&lt;</a:t>
            </a:r>
            <a:r>
              <a:rPr lang="en-US" altLang="zh-CN" dirty="0" err="1">
                <a:latin typeface="Arial Black" panose="020B0A04020102020204" pitchFamily="34" charset="0"/>
              </a:rPr>
              <a:t>fh.Insert</a:t>
            </a:r>
            <a:r>
              <a:rPr lang="en-US" altLang="zh-CN" dirty="0">
                <a:latin typeface="Arial Black" panose="020B0A04020102020204" pitchFamily="34" charset="0"/>
              </a:rPr>
              <a:t>(</a:t>
            </a:r>
            <a:r>
              <a:rPr lang="en-US" altLang="zh-CN" dirty="0" err="1">
                <a:latin typeface="Arial Black" panose="020B0A04020102020204" pitchFamily="34" charset="0"/>
              </a:rPr>
              <a:t>ttt</a:t>
            </a:r>
            <a:r>
              <a:rPr lang="en-US" altLang="zh-CN" dirty="0">
                <a:latin typeface="Arial Black" panose="020B0A04020102020204" pitchFamily="34" charset="0"/>
              </a:rPr>
              <a:t>);</a:t>
            </a:r>
          </a:p>
          <a:p>
            <a:r>
              <a:rPr lang="en-US" altLang="zh-CN" dirty="0">
                <a:latin typeface="Arial Black" panose="020B0A04020102020204" pitchFamily="34" charset="0"/>
              </a:rPr>
              <a:t>	//</a:t>
            </a:r>
            <a:r>
              <a:rPr lang="zh-CN" altLang="en-US" dirty="0">
                <a:latin typeface="Arial Black" panose="020B0A04020102020204" pitchFamily="34" charset="0"/>
              </a:rPr>
              <a:t>测试查找元素</a:t>
            </a:r>
            <a:r>
              <a:rPr lang="en-US" altLang="zh-CN" dirty="0">
                <a:latin typeface="Arial Black" panose="020B0A04020102020204" pitchFamily="34" charset="0"/>
              </a:rPr>
              <a:t>x</a:t>
            </a:r>
          </a:p>
          <a:p>
            <a:r>
              <a:rPr lang="en-US" altLang="zh-CN" dirty="0">
                <a:latin typeface="Arial Black" panose="020B0A04020102020204" pitchFamily="34" charset="0"/>
              </a:rPr>
              <a:t>	int </a:t>
            </a:r>
            <a:r>
              <a:rPr lang="en-US" altLang="zh-CN" dirty="0" err="1">
                <a:latin typeface="Arial Black" panose="020B0A04020102020204" pitchFamily="34" charset="0"/>
              </a:rPr>
              <a:t>kd</a:t>
            </a:r>
            <a:r>
              <a:rPr lang="en-US" altLang="zh-CN" dirty="0">
                <a:latin typeface="Arial Black" panose="020B0A04020102020204" pitchFamily="34" charset="0"/>
              </a:rPr>
              <a:t>=</a:t>
            </a:r>
            <a:r>
              <a:rPr lang="en-US" altLang="zh-CN" dirty="0" err="1">
                <a:latin typeface="Arial Black" panose="020B0A04020102020204" pitchFamily="34" charset="0"/>
              </a:rPr>
              <a:t>fh.Search</a:t>
            </a:r>
            <a:r>
              <a:rPr lang="en-US" altLang="zh-CN" dirty="0">
                <a:latin typeface="Arial Black" panose="020B0A04020102020204" pitchFamily="34" charset="0"/>
              </a:rPr>
              <a:t>(48);</a:t>
            </a:r>
          </a:p>
          <a:p>
            <a:r>
              <a:rPr lang="en-US" altLang="zh-CN" dirty="0">
                <a:latin typeface="Arial Black" panose="020B0A04020102020204" pitchFamily="34" charset="0"/>
              </a:rPr>
              <a:t>	if (</a:t>
            </a:r>
            <a:r>
              <a:rPr lang="en-US" altLang="zh-CN" dirty="0" err="1">
                <a:latin typeface="Arial Black" panose="020B0A04020102020204" pitchFamily="34" charset="0"/>
              </a:rPr>
              <a:t>kd</a:t>
            </a:r>
            <a:r>
              <a:rPr lang="en-US" altLang="zh-CN" dirty="0">
                <a:latin typeface="Arial Black" panose="020B0A04020102020204" pitchFamily="34" charset="0"/>
              </a:rPr>
              <a:t>!=-1)	</a:t>
            </a:r>
            <a:r>
              <a:rPr lang="en-US" altLang="zh-CN" dirty="0" err="1">
                <a:latin typeface="Arial Black" panose="020B0A04020102020204" pitchFamily="34" charset="0"/>
              </a:rPr>
              <a:t>cout</a:t>
            </a:r>
            <a:r>
              <a:rPr lang="en-US" altLang="zh-CN" dirty="0">
                <a:latin typeface="Arial Black" panose="020B0A04020102020204" pitchFamily="34" charset="0"/>
              </a:rPr>
              <a:t>&lt;&lt;48&lt;&lt;"</a:t>
            </a:r>
            <a:r>
              <a:rPr lang="zh-CN" altLang="en-US" dirty="0">
                <a:latin typeface="Arial Black" panose="020B0A04020102020204" pitchFamily="34" charset="0"/>
              </a:rPr>
              <a:t>查找成功</a:t>
            </a:r>
            <a:r>
              <a:rPr lang="en-US" altLang="zh-CN" dirty="0">
                <a:latin typeface="Arial Black" panose="020B0A04020102020204" pitchFamily="34" charset="0"/>
              </a:rPr>
              <a:t>"&lt;&lt;</a:t>
            </a:r>
            <a:r>
              <a:rPr lang="en-US" altLang="zh-CN" dirty="0" err="1">
                <a:latin typeface="Arial Black" panose="020B0A04020102020204" pitchFamily="34" charset="0"/>
              </a:rPr>
              <a:t>endl</a:t>
            </a:r>
            <a:r>
              <a:rPr lang="en-US" altLang="zh-CN" dirty="0">
                <a:latin typeface="Arial Black" panose="020B0A04020102020204" pitchFamily="34" charset="0"/>
              </a:rPr>
              <a:t>;</a:t>
            </a:r>
          </a:p>
          <a:p>
            <a:r>
              <a:rPr lang="en-US" altLang="zh-CN" dirty="0">
                <a:latin typeface="Arial Black" panose="020B0A04020102020204" pitchFamily="34" charset="0"/>
              </a:rPr>
              <a:t>	else	</a:t>
            </a:r>
            <a:r>
              <a:rPr lang="en-US" altLang="zh-CN" dirty="0" err="1">
                <a:latin typeface="Arial Black" panose="020B0A04020102020204" pitchFamily="34" charset="0"/>
              </a:rPr>
              <a:t>cout</a:t>
            </a:r>
            <a:r>
              <a:rPr lang="en-US" altLang="zh-CN" dirty="0">
                <a:latin typeface="Arial Black" panose="020B0A04020102020204" pitchFamily="34" charset="0"/>
              </a:rPr>
              <a:t>&lt;&lt;48&lt;&lt;"</a:t>
            </a:r>
            <a:r>
              <a:rPr lang="zh-CN" altLang="en-US" dirty="0">
                <a:latin typeface="Arial Black" panose="020B0A04020102020204" pitchFamily="34" charset="0"/>
              </a:rPr>
              <a:t>查找不成功</a:t>
            </a:r>
            <a:r>
              <a:rPr lang="en-US" altLang="zh-CN" dirty="0">
                <a:latin typeface="Arial Black" panose="020B0A04020102020204" pitchFamily="34" charset="0"/>
              </a:rPr>
              <a:t>"&lt;&lt;</a:t>
            </a:r>
            <a:r>
              <a:rPr lang="en-US" altLang="zh-CN" dirty="0" err="1">
                <a:latin typeface="Arial Black" panose="020B0A04020102020204" pitchFamily="34" charset="0"/>
              </a:rPr>
              <a:t>endl</a:t>
            </a:r>
            <a:r>
              <a:rPr lang="en-US" altLang="zh-CN" dirty="0">
                <a:latin typeface="Arial Black" panose="020B0A04020102020204" pitchFamily="34" charset="0"/>
              </a:rPr>
              <a:t>;</a:t>
            </a:r>
          </a:p>
          <a:p>
            <a:r>
              <a:rPr lang="en-US" altLang="zh-CN" dirty="0">
                <a:latin typeface="Arial Black" panose="020B0A04020102020204" pitchFamily="34" charset="0"/>
              </a:rPr>
              <a:t>	//</a:t>
            </a:r>
            <a:r>
              <a:rPr lang="zh-CN" altLang="en-US" dirty="0">
                <a:latin typeface="Arial Black" panose="020B0A04020102020204" pitchFamily="34" charset="0"/>
              </a:rPr>
              <a:t>测试删除元素</a:t>
            </a:r>
            <a:r>
              <a:rPr lang="en-US" altLang="zh-CN" dirty="0">
                <a:latin typeface="Arial Black" panose="020B0A04020102020204" pitchFamily="34" charset="0"/>
              </a:rPr>
              <a:t>x</a:t>
            </a:r>
          </a:p>
          <a:p>
            <a:r>
              <a:rPr lang="en-US" altLang="zh-CN" dirty="0">
                <a:latin typeface="Arial Black" panose="020B0A04020102020204" pitchFamily="34" charset="0"/>
              </a:rPr>
              <a:t>	</a:t>
            </a:r>
            <a:r>
              <a:rPr lang="en-US" altLang="zh-CN" dirty="0" err="1">
                <a:latin typeface="Arial Black" panose="020B0A04020102020204" pitchFamily="34" charset="0"/>
              </a:rPr>
              <a:t>cout</a:t>
            </a:r>
            <a:r>
              <a:rPr lang="en-US" altLang="zh-CN" dirty="0">
                <a:latin typeface="Arial Black" panose="020B0A04020102020204" pitchFamily="34" charset="0"/>
              </a:rPr>
              <a:t>&lt;&lt;</a:t>
            </a:r>
            <a:r>
              <a:rPr lang="en-US" altLang="zh-CN" dirty="0" err="1">
                <a:latin typeface="Arial Black" panose="020B0A04020102020204" pitchFamily="34" charset="0"/>
              </a:rPr>
              <a:t>fh.Delete</a:t>
            </a:r>
            <a:r>
              <a:rPr lang="en-US" altLang="zh-CN" dirty="0">
                <a:latin typeface="Arial Black" panose="020B0A04020102020204" pitchFamily="34" charset="0"/>
              </a:rPr>
              <a:t>(48)&lt;&lt;</a:t>
            </a:r>
            <a:r>
              <a:rPr lang="en-US" altLang="zh-CN" dirty="0" err="1">
                <a:latin typeface="Arial Black" panose="020B0A04020102020204" pitchFamily="34" charset="0"/>
              </a:rPr>
              <a:t>endl</a:t>
            </a:r>
            <a:r>
              <a:rPr lang="en-US" altLang="zh-CN" dirty="0">
                <a:latin typeface="Arial Black" panose="020B0A04020102020204" pitchFamily="34" charset="0"/>
              </a:rPr>
              <a:t>;</a:t>
            </a:r>
          </a:p>
          <a:p>
            <a:r>
              <a:rPr lang="en-US" altLang="zh-CN" dirty="0">
                <a:latin typeface="Arial Black" panose="020B0A04020102020204" pitchFamily="34" charset="0"/>
              </a:rPr>
              <a:t>	</a:t>
            </a:r>
            <a:r>
              <a:rPr lang="en-US" altLang="zh-CN" dirty="0" err="1">
                <a:latin typeface="Arial Black" panose="020B0A04020102020204" pitchFamily="34" charset="0"/>
              </a:rPr>
              <a:t>cout</a:t>
            </a:r>
            <a:r>
              <a:rPr lang="en-US" altLang="zh-CN" dirty="0">
                <a:latin typeface="Arial Black" panose="020B0A04020102020204" pitchFamily="34" charset="0"/>
              </a:rPr>
              <a:t>&lt;&lt;</a:t>
            </a:r>
            <a:r>
              <a:rPr lang="en-US" altLang="zh-CN" dirty="0" err="1">
                <a:latin typeface="Arial Black" panose="020B0A04020102020204" pitchFamily="34" charset="0"/>
              </a:rPr>
              <a:t>fh.Delete</a:t>
            </a:r>
            <a:r>
              <a:rPr lang="en-US" altLang="zh-CN" dirty="0">
                <a:latin typeface="Arial Black" panose="020B0A04020102020204" pitchFamily="34" charset="0"/>
              </a:rPr>
              <a:t>(key1[2])&lt;&lt;</a:t>
            </a:r>
            <a:r>
              <a:rPr lang="en-US" altLang="zh-CN" dirty="0" err="1">
                <a:latin typeface="Arial Black" panose="020B0A04020102020204" pitchFamily="34" charset="0"/>
              </a:rPr>
              <a:t>endl</a:t>
            </a:r>
            <a:r>
              <a:rPr lang="en-US" altLang="zh-CN" dirty="0">
                <a:latin typeface="Arial Black" panose="020B0A04020102020204" pitchFamily="34" charset="0"/>
              </a:rPr>
              <a:t>;</a:t>
            </a:r>
          </a:p>
          <a:p>
            <a:r>
              <a:rPr lang="en-US" altLang="zh-CN" dirty="0">
                <a:latin typeface="Arial Black" panose="020B0A04020102020204" pitchFamily="34" charset="0"/>
              </a:rPr>
              <a:t>	</a:t>
            </a:r>
            <a:r>
              <a:rPr lang="en-US" altLang="zh-CN" dirty="0" err="1">
                <a:latin typeface="Arial Black" panose="020B0A04020102020204" pitchFamily="34" charset="0"/>
              </a:rPr>
              <a:t>fh.print</a:t>
            </a:r>
            <a:r>
              <a:rPr lang="en-US" altLang="zh-CN" dirty="0">
                <a:latin typeface="Arial Black" panose="020B0A04020102020204" pitchFamily="34" charset="0"/>
              </a:rPr>
              <a:t>();</a:t>
            </a:r>
          </a:p>
          <a:p>
            <a:r>
              <a:rPr lang="en-US" altLang="zh-CN" dirty="0">
                <a:latin typeface="Arial Black" panose="020B0A04020102020204" pitchFamily="34" charset="0"/>
              </a:rPr>
              <a:t>	</a:t>
            </a:r>
            <a:r>
              <a:rPr lang="en-US" altLang="zh-CN" dirty="0" err="1">
                <a:latin typeface="Arial Black" panose="020B0A04020102020204" pitchFamily="34" charset="0"/>
              </a:rPr>
              <a:t>cout</a:t>
            </a:r>
            <a:r>
              <a:rPr lang="en-US" altLang="zh-CN" dirty="0">
                <a:latin typeface="Arial Black" panose="020B0A04020102020204" pitchFamily="34" charset="0"/>
              </a:rPr>
              <a:t>&lt;&lt;</a:t>
            </a:r>
            <a:r>
              <a:rPr lang="en-US" altLang="zh-CN" dirty="0" err="1">
                <a:latin typeface="Arial Black" panose="020B0A04020102020204" pitchFamily="34" charset="0"/>
              </a:rPr>
              <a:t>fh.Insert</a:t>
            </a:r>
            <a:r>
              <a:rPr lang="en-US" altLang="zh-CN" dirty="0">
                <a:latin typeface="Arial Black" panose="020B0A04020102020204" pitchFamily="34" charset="0"/>
              </a:rPr>
              <a:t>(</a:t>
            </a:r>
            <a:r>
              <a:rPr lang="en-US" altLang="zh-CN" dirty="0" err="1">
                <a:latin typeface="Arial Black" panose="020B0A04020102020204" pitchFamily="34" charset="0"/>
              </a:rPr>
              <a:t>ttt</a:t>
            </a:r>
            <a:r>
              <a:rPr lang="en-US" altLang="zh-CN" dirty="0">
                <a:latin typeface="Arial Black" panose="020B0A04020102020204" pitchFamily="34" charset="0"/>
              </a:rPr>
              <a:t>)&lt;&lt;</a:t>
            </a:r>
            <a:r>
              <a:rPr lang="en-US" altLang="zh-CN" dirty="0" err="1">
                <a:latin typeface="Arial Black" panose="020B0A04020102020204" pitchFamily="34" charset="0"/>
              </a:rPr>
              <a:t>endl</a:t>
            </a:r>
            <a:r>
              <a:rPr lang="en-US" altLang="zh-CN" dirty="0">
                <a:latin typeface="Arial Black" panose="020B0A04020102020204" pitchFamily="34" charset="0"/>
              </a:rPr>
              <a:t>;</a:t>
            </a:r>
          </a:p>
          <a:p>
            <a:r>
              <a:rPr lang="en-US" altLang="zh-CN" dirty="0">
                <a:latin typeface="Arial Black" panose="020B0A04020102020204" pitchFamily="34" charset="0"/>
              </a:rPr>
              <a:t>	</a:t>
            </a:r>
            <a:r>
              <a:rPr lang="en-US" altLang="zh-CN" dirty="0" err="1">
                <a:latin typeface="Arial Black" panose="020B0A04020102020204" pitchFamily="34" charset="0"/>
              </a:rPr>
              <a:t>fh.print</a:t>
            </a:r>
            <a:r>
              <a:rPr lang="en-US" altLang="zh-CN" dirty="0">
                <a:latin typeface="Arial Black" panose="020B0A04020102020204" pitchFamily="34" charset="0"/>
              </a:rPr>
              <a:t>(); </a:t>
            </a:r>
          </a:p>
          <a:p>
            <a:r>
              <a:rPr lang="en-US" altLang="zh-CN" dirty="0">
                <a:latin typeface="Arial Black" panose="020B0A04020102020204" pitchFamily="34" charset="0"/>
              </a:rPr>
              <a:t>	return 0;</a:t>
            </a:r>
          </a:p>
          <a:p>
            <a:r>
              <a:rPr lang="en-US" altLang="zh-CN" dirty="0">
                <a:latin typeface="Arial Black" panose="020B0A04020102020204" pitchFamily="34" charset="0"/>
              </a:rPr>
              <a:t>}</a:t>
            </a:r>
            <a:endParaRPr lang="zh-CN" altLang="en-US" dirty="0">
              <a:latin typeface="Arial Black" panose="020B0A04020102020204" pitchFamily="34" charset="0"/>
            </a:endParaRPr>
          </a:p>
        </p:txBody>
      </p:sp>
    </p:spTree>
    <p:extLst>
      <p:ext uri="{BB962C8B-B14F-4D97-AF65-F5344CB8AC3E}">
        <p14:creationId xmlns:p14="http://schemas.microsoft.com/office/powerpoint/2010/main" val="234509556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4B30707-CB1F-4357-8E3B-EE97F4A876DD}"/>
              </a:ext>
            </a:extLst>
          </p:cNvPr>
          <p:cNvSpPr>
            <a:spLocks noGrp="1"/>
          </p:cNvSpPr>
          <p:nvPr>
            <p:ph type="dt" sz="half" idx="10"/>
          </p:nvPr>
        </p:nvSpPr>
        <p:spPr/>
        <p:txBody>
          <a:bodyPr/>
          <a:lstStyle/>
          <a:p>
            <a:fld id="{9A6B2991-BBE5-4E69-A281-1A8B0AE9CDD7}" type="datetime1">
              <a:rPr lang="zh-CN" altLang="en-US" smtClean="0"/>
              <a:pPr/>
              <a:t>2025/6/3</a:t>
            </a:fld>
            <a:endParaRPr lang="zh-CN" altLang="en-US"/>
          </a:p>
        </p:txBody>
      </p:sp>
      <p:sp>
        <p:nvSpPr>
          <p:cNvPr id="4" name="文本框 3">
            <a:extLst>
              <a:ext uri="{FF2B5EF4-FFF2-40B4-BE49-F238E27FC236}">
                <a16:creationId xmlns:a16="http://schemas.microsoft.com/office/drawing/2014/main" id="{260712DD-5E52-49C9-9134-30B63C4CB906}"/>
              </a:ext>
            </a:extLst>
          </p:cNvPr>
          <p:cNvSpPr txBox="1"/>
          <p:nvPr/>
        </p:nvSpPr>
        <p:spPr>
          <a:xfrm>
            <a:off x="971600" y="1484784"/>
            <a:ext cx="7344816" cy="400110"/>
          </a:xfrm>
          <a:prstGeom prst="rect">
            <a:avLst/>
          </a:prstGeom>
          <a:noFill/>
        </p:spPr>
        <p:txBody>
          <a:bodyPr wrap="square">
            <a:spAutoFit/>
          </a:bodyPr>
          <a:lstStyle/>
          <a:p>
            <a:r>
              <a:rPr lang="zh-CN" altLang="en-US" sz="2000" dirty="0">
                <a:latin typeface="Arial Black" panose="020B0A04020102020204" pitchFamily="34" charset="0"/>
              </a:rPr>
              <a:t>0      1      2      3       4      5      6       7       8      </a:t>
            </a:r>
          </a:p>
        </p:txBody>
      </p:sp>
      <p:graphicFrame>
        <p:nvGraphicFramePr>
          <p:cNvPr id="5" name="表格 5">
            <a:extLst>
              <a:ext uri="{FF2B5EF4-FFF2-40B4-BE49-F238E27FC236}">
                <a16:creationId xmlns:a16="http://schemas.microsoft.com/office/drawing/2014/main" id="{B98ED105-4F09-468D-8AE1-6C7E438F0511}"/>
              </a:ext>
            </a:extLst>
          </p:cNvPr>
          <p:cNvGraphicFramePr>
            <a:graphicFrameLocks noGrp="1"/>
          </p:cNvGraphicFramePr>
          <p:nvPr>
            <p:extLst>
              <p:ext uri="{D42A27DB-BD31-4B8C-83A1-F6EECF244321}">
                <p14:modId xmlns:p14="http://schemas.microsoft.com/office/powerpoint/2010/main" val="1352176016"/>
              </p:ext>
            </p:extLst>
          </p:nvPr>
        </p:nvGraphicFramePr>
        <p:xfrm>
          <a:off x="827584" y="1897088"/>
          <a:ext cx="6351102" cy="707886"/>
        </p:xfrm>
        <a:graphic>
          <a:graphicData uri="http://schemas.openxmlformats.org/drawingml/2006/table">
            <a:tbl>
              <a:tblPr firstRow="1" bandRow="1">
                <a:tableStyleId>{5C22544A-7EE6-4342-B048-85BDC9FD1C3A}</a:tableStyleId>
              </a:tblPr>
              <a:tblGrid>
                <a:gridCol w="705678">
                  <a:extLst>
                    <a:ext uri="{9D8B030D-6E8A-4147-A177-3AD203B41FA5}">
                      <a16:colId xmlns:a16="http://schemas.microsoft.com/office/drawing/2014/main" val="1171980984"/>
                    </a:ext>
                  </a:extLst>
                </a:gridCol>
                <a:gridCol w="705678">
                  <a:extLst>
                    <a:ext uri="{9D8B030D-6E8A-4147-A177-3AD203B41FA5}">
                      <a16:colId xmlns:a16="http://schemas.microsoft.com/office/drawing/2014/main" val="2503194978"/>
                    </a:ext>
                  </a:extLst>
                </a:gridCol>
                <a:gridCol w="705678">
                  <a:extLst>
                    <a:ext uri="{9D8B030D-6E8A-4147-A177-3AD203B41FA5}">
                      <a16:colId xmlns:a16="http://schemas.microsoft.com/office/drawing/2014/main" val="939977632"/>
                    </a:ext>
                  </a:extLst>
                </a:gridCol>
                <a:gridCol w="705678">
                  <a:extLst>
                    <a:ext uri="{9D8B030D-6E8A-4147-A177-3AD203B41FA5}">
                      <a16:colId xmlns:a16="http://schemas.microsoft.com/office/drawing/2014/main" val="3229396349"/>
                    </a:ext>
                  </a:extLst>
                </a:gridCol>
                <a:gridCol w="705678">
                  <a:extLst>
                    <a:ext uri="{9D8B030D-6E8A-4147-A177-3AD203B41FA5}">
                      <a16:colId xmlns:a16="http://schemas.microsoft.com/office/drawing/2014/main" val="3596236929"/>
                    </a:ext>
                  </a:extLst>
                </a:gridCol>
                <a:gridCol w="705678">
                  <a:extLst>
                    <a:ext uri="{9D8B030D-6E8A-4147-A177-3AD203B41FA5}">
                      <a16:colId xmlns:a16="http://schemas.microsoft.com/office/drawing/2014/main" val="1995735317"/>
                    </a:ext>
                  </a:extLst>
                </a:gridCol>
                <a:gridCol w="705678">
                  <a:extLst>
                    <a:ext uri="{9D8B030D-6E8A-4147-A177-3AD203B41FA5}">
                      <a16:colId xmlns:a16="http://schemas.microsoft.com/office/drawing/2014/main" val="489352475"/>
                    </a:ext>
                  </a:extLst>
                </a:gridCol>
                <a:gridCol w="705678">
                  <a:extLst>
                    <a:ext uri="{9D8B030D-6E8A-4147-A177-3AD203B41FA5}">
                      <a16:colId xmlns:a16="http://schemas.microsoft.com/office/drawing/2014/main" val="4098136232"/>
                    </a:ext>
                  </a:extLst>
                </a:gridCol>
                <a:gridCol w="705678">
                  <a:extLst>
                    <a:ext uri="{9D8B030D-6E8A-4147-A177-3AD203B41FA5}">
                      <a16:colId xmlns:a16="http://schemas.microsoft.com/office/drawing/2014/main" val="2864950872"/>
                    </a:ext>
                  </a:extLst>
                </a:gridCol>
              </a:tblGrid>
              <a:tr h="707886">
                <a:tc>
                  <a:txBody>
                    <a:bodyPr/>
                    <a:lstStyle/>
                    <a:p>
                      <a:pPr algn="ctr"/>
                      <a:r>
                        <a:rPr lang="en-US" altLang="zh-CN" sz="2800" dirty="0">
                          <a:solidFill>
                            <a:schemeClr val="tx1"/>
                          </a:solidFill>
                          <a:latin typeface="Arial Black" panose="020B0A04020102020204" pitchFamily="34" charset="0"/>
                        </a:rPr>
                        <a:t>63</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35</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11</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57</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21</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59</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87</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43</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78</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extLst>
                  <a:ext uri="{0D108BD9-81ED-4DB2-BD59-A6C34878D82A}">
                    <a16:rowId xmlns:a16="http://schemas.microsoft.com/office/drawing/2014/main" val="3289424096"/>
                  </a:ext>
                </a:extLst>
              </a:tr>
            </a:tbl>
          </a:graphicData>
        </a:graphic>
      </p:graphicFrame>
      <p:graphicFrame>
        <p:nvGraphicFramePr>
          <p:cNvPr id="7" name="表格 5">
            <a:extLst>
              <a:ext uri="{FF2B5EF4-FFF2-40B4-BE49-F238E27FC236}">
                <a16:creationId xmlns:a16="http://schemas.microsoft.com/office/drawing/2014/main" id="{19DEDAF3-7826-4EEF-853E-62EFAD1FF01C}"/>
              </a:ext>
            </a:extLst>
          </p:cNvPr>
          <p:cNvGraphicFramePr>
            <a:graphicFrameLocks noGrp="1"/>
          </p:cNvGraphicFramePr>
          <p:nvPr>
            <p:extLst>
              <p:ext uri="{D42A27DB-BD31-4B8C-83A1-F6EECF244321}">
                <p14:modId xmlns:p14="http://schemas.microsoft.com/office/powerpoint/2010/main" val="362633524"/>
              </p:ext>
            </p:extLst>
          </p:nvPr>
        </p:nvGraphicFramePr>
        <p:xfrm>
          <a:off x="827584" y="4881354"/>
          <a:ext cx="6351102" cy="707886"/>
        </p:xfrm>
        <a:graphic>
          <a:graphicData uri="http://schemas.openxmlformats.org/drawingml/2006/table">
            <a:tbl>
              <a:tblPr firstRow="1" bandRow="1">
                <a:tableStyleId>{5C22544A-7EE6-4342-B048-85BDC9FD1C3A}</a:tableStyleId>
              </a:tblPr>
              <a:tblGrid>
                <a:gridCol w="705678">
                  <a:extLst>
                    <a:ext uri="{9D8B030D-6E8A-4147-A177-3AD203B41FA5}">
                      <a16:colId xmlns:a16="http://schemas.microsoft.com/office/drawing/2014/main" val="1171980984"/>
                    </a:ext>
                  </a:extLst>
                </a:gridCol>
                <a:gridCol w="705678">
                  <a:extLst>
                    <a:ext uri="{9D8B030D-6E8A-4147-A177-3AD203B41FA5}">
                      <a16:colId xmlns:a16="http://schemas.microsoft.com/office/drawing/2014/main" val="2503194978"/>
                    </a:ext>
                  </a:extLst>
                </a:gridCol>
                <a:gridCol w="705678">
                  <a:extLst>
                    <a:ext uri="{9D8B030D-6E8A-4147-A177-3AD203B41FA5}">
                      <a16:colId xmlns:a16="http://schemas.microsoft.com/office/drawing/2014/main" val="939977632"/>
                    </a:ext>
                  </a:extLst>
                </a:gridCol>
                <a:gridCol w="705678">
                  <a:extLst>
                    <a:ext uri="{9D8B030D-6E8A-4147-A177-3AD203B41FA5}">
                      <a16:colId xmlns:a16="http://schemas.microsoft.com/office/drawing/2014/main" val="3229396349"/>
                    </a:ext>
                  </a:extLst>
                </a:gridCol>
                <a:gridCol w="705678">
                  <a:extLst>
                    <a:ext uri="{9D8B030D-6E8A-4147-A177-3AD203B41FA5}">
                      <a16:colId xmlns:a16="http://schemas.microsoft.com/office/drawing/2014/main" val="3596236929"/>
                    </a:ext>
                  </a:extLst>
                </a:gridCol>
                <a:gridCol w="705678">
                  <a:extLst>
                    <a:ext uri="{9D8B030D-6E8A-4147-A177-3AD203B41FA5}">
                      <a16:colId xmlns:a16="http://schemas.microsoft.com/office/drawing/2014/main" val="1995735317"/>
                    </a:ext>
                  </a:extLst>
                </a:gridCol>
                <a:gridCol w="705678">
                  <a:extLst>
                    <a:ext uri="{9D8B030D-6E8A-4147-A177-3AD203B41FA5}">
                      <a16:colId xmlns:a16="http://schemas.microsoft.com/office/drawing/2014/main" val="489352475"/>
                    </a:ext>
                  </a:extLst>
                </a:gridCol>
                <a:gridCol w="705678">
                  <a:extLst>
                    <a:ext uri="{9D8B030D-6E8A-4147-A177-3AD203B41FA5}">
                      <a16:colId xmlns:a16="http://schemas.microsoft.com/office/drawing/2014/main" val="4098136232"/>
                    </a:ext>
                  </a:extLst>
                </a:gridCol>
                <a:gridCol w="705678">
                  <a:extLst>
                    <a:ext uri="{9D8B030D-6E8A-4147-A177-3AD203B41FA5}">
                      <a16:colId xmlns:a16="http://schemas.microsoft.com/office/drawing/2014/main" val="2864950872"/>
                    </a:ext>
                  </a:extLst>
                </a:gridCol>
              </a:tblGrid>
              <a:tr h="707886">
                <a:tc>
                  <a:txBody>
                    <a:bodyPr/>
                    <a:lstStyle/>
                    <a:p>
                      <a:pPr algn="ctr"/>
                      <a:r>
                        <a:rPr lang="en-US" altLang="zh-CN" sz="2800" dirty="0">
                          <a:solidFill>
                            <a:schemeClr val="tx1"/>
                          </a:solidFill>
                          <a:latin typeface="Arial Black" panose="020B0A04020102020204" pitchFamily="34" charset="0"/>
                        </a:rPr>
                        <a:t>63</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35</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11</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57</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21</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59</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87</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43</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78</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extLst>
                  <a:ext uri="{0D108BD9-81ED-4DB2-BD59-A6C34878D82A}">
                    <a16:rowId xmlns:a16="http://schemas.microsoft.com/office/drawing/2014/main" val="3289424096"/>
                  </a:ext>
                </a:extLst>
              </a:tr>
            </a:tbl>
          </a:graphicData>
        </a:graphic>
      </p:graphicFrame>
      <p:sp>
        <p:nvSpPr>
          <p:cNvPr id="8" name="文本框 7">
            <a:extLst>
              <a:ext uri="{FF2B5EF4-FFF2-40B4-BE49-F238E27FC236}">
                <a16:creationId xmlns:a16="http://schemas.microsoft.com/office/drawing/2014/main" id="{D85C8AA0-EF35-4BEF-84BA-46BE4F24F338}"/>
              </a:ext>
            </a:extLst>
          </p:cNvPr>
          <p:cNvSpPr txBox="1"/>
          <p:nvPr/>
        </p:nvSpPr>
        <p:spPr>
          <a:xfrm>
            <a:off x="899592" y="836712"/>
            <a:ext cx="5904656" cy="523220"/>
          </a:xfrm>
          <a:prstGeom prst="rect">
            <a:avLst/>
          </a:prstGeom>
          <a:noFill/>
        </p:spPr>
        <p:txBody>
          <a:bodyPr wrap="square" rtlCol="0">
            <a:spAutoFit/>
          </a:bodyPr>
          <a:lstStyle/>
          <a:p>
            <a:r>
              <a:rPr lang="zh-CN" altLang="en-US" sz="2800" b="1" dirty="0">
                <a:solidFill>
                  <a:srgbClr val="FF0000"/>
                </a:solidFill>
              </a:rPr>
              <a:t>单向线性探测再散列，创建哈希表</a:t>
            </a:r>
          </a:p>
        </p:txBody>
      </p:sp>
      <p:sp>
        <p:nvSpPr>
          <p:cNvPr id="9" name="文本框 8">
            <a:extLst>
              <a:ext uri="{FF2B5EF4-FFF2-40B4-BE49-F238E27FC236}">
                <a16:creationId xmlns:a16="http://schemas.microsoft.com/office/drawing/2014/main" id="{26E8507A-178C-45F0-BA2C-3F516DDF6125}"/>
              </a:ext>
            </a:extLst>
          </p:cNvPr>
          <p:cNvSpPr txBox="1"/>
          <p:nvPr/>
        </p:nvSpPr>
        <p:spPr>
          <a:xfrm>
            <a:off x="971600" y="4469050"/>
            <a:ext cx="7344816" cy="400110"/>
          </a:xfrm>
          <a:prstGeom prst="rect">
            <a:avLst/>
          </a:prstGeom>
          <a:noFill/>
        </p:spPr>
        <p:txBody>
          <a:bodyPr wrap="square">
            <a:spAutoFit/>
          </a:bodyPr>
          <a:lstStyle/>
          <a:p>
            <a:r>
              <a:rPr lang="zh-CN" altLang="en-US" sz="2000" dirty="0">
                <a:latin typeface="Arial Black" panose="020B0A04020102020204" pitchFamily="34" charset="0"/>
              </a:rPr>
              <a:t>0      1      2      3       4      5      6       7       8</a:t>
            </a:r>
          </a:p>
        </p:txBody>
      </p:sp>
      <p:sp>
        <p:nvSpPr>
          <p:cNvPr id="10" name="文本框 9">
            <a:extLst>
              <a:ext uri="{FF2B5EF4-FFF2-40B4-BE49-F238E27FC236}">
                <a16:creationId xmlns:a16="http://schemas.microsoft.com/office/drawing/2014/main" id="{FF5652A9-634E-4D9E-B4C0-F2ACBEE3C3A6}"/>
              </a:ext>
            </a:extLst>
          </p:cNvPr>
          <p:cNvSpPr txBox="1"/>
          <p:nvPr/>
        </p:nvSpPr>
        <p:spPr>
          <a:xfrm>
            <a:off x="899592" y="3697868"/>
            <a:ext cx="5904656" cy="523220"/>
          </a:xfrm>
          <a:prstGeom prst="rect">
            <a:avLst/>
          </a:prstGeom>
          <a:noFill/>
        </p:spPr>
        <p:txBody>
          <a:bodyPr wrap="square" rtlCol="0">
            <a:spAutoFit/>
          </a:bodyPr>
          <a:lstStyle/>
          <a:p>
            <a:r>
              <a:rPr lang="zh-CN" altLang="en-US" sz="2800" b="1" dirty="0">
                <a:solidFill>
                  <a:srgbClr val="FF0000"/>
                </a:solidFill>
              </a:rPr>
              <a:t>双向线性探测再散列，创建哈希表</a:t>
            </a:r>
          </a:p>
        </p:txBody>
      </p:sp>
      <p:sp>
        <p:nvSpPr>
          <p:cNvPr id="11" name="文本框 10">
            <a:extLst>
              <a:ext uri="{FF2B5EF4-FFF2-40B4-BE49-F238E27FC236}">
                <a16:creationId xmlns:a16="http://schemas.microsoft.com/office/drawing/2014/main" id="{FB97F6CB-1DF8-4775-9DA2-492702B560DD}"/>
              </a:ext>
            </a:extLst>
          </p:cNvPr>
          <p:cNvSpPr txBox="1"/>
          <p:nvPr/>
        </p:nvSpPr>
        <p:spPr>
          <a:xfrm>
            <a:off x="899592" y="2852936"/>
            <a:ext cx="6192688" cy="461665"/>
          </a:xfrm>
          <a:prstGeom prst="rect">
            <a:avLst/>
          </a:prstGeom>
          <a:noFill/>
        </p:spPr>
        <p:txBody>
          <a:bodyPr wrap="square" rtlCol="0">
            <a:spAutoFit/>
          </a:bodyPr>
          <a:lstStyle/>
          <a:p>
            <a:r>
              <a:rPr lang="en-US" altLang="zh-CN" sz="2400" dirty="0">
                <a:latin typeface="Arial Black" panose="020B0A04020102020204" pitchFamily="34" charset="0"/>
              </a:rPr>
              <a:t>ASL=(1+3+1+1+2+1+1+1+3)/9=14/9</a:t>
            </a:r>
            <a:endParaRPr lang="zh-CN" altLang="en-US" sz="2400" dirty="0">
              <a:latin typeface="Arial Black" panose="020B0A04020102020204" pitchFamily="34" charset="0"/>
            </a:endParaRPr>
          </a:p>
        </p:txBody>
      </p:sp>
      <p:sp>
        <p:nvSpPr>
          <p:cNvPr id="12" name="文本框 11">
            <a:extLst>
              <a:ext uri="{FF2B5EF4-FFF2-40B4-BE49-F238E27FC236}">
                <a16:creationId xmlns:a16="http://schemas.microsoft.com/office/drawing/2014/main" id="{AE375697-BBE4-46B5-B6C3-87AC28F2DB57}"/>
              </a:ext>
            </a:extLst>
          </p:cNvPr>
          <p:cNvSpPr txBox="1"/>
          <p:nvPr/>
        </p:nvSpPr>
        <p:spPr>
          <a:xfrm>
            <a:off x="899592" y="5847655"/>
            <a:ext cx="6192688" cy="461665"/>
          </a:xfrm>
          <a:prstGeom prst="rect">
            <a:avLst/>
          </a:prstGeom>
          <a:noFill/>
        </p:spPr>
        <p:txBody>
          <a:bodyPr wrap="square" rtlCol="0">
            <a:spAutoFit/>
          </a:bodyPr>
          <a:lstStyle/>
          <a:p>
            <a:r>
              <a:rPr lang="en-US" altLang="zh-CN" sz="2400" dirty="0">
                <a:latin typeface="Arial Black" panose="020B0A04020102020204" pitchFamily="34" charset="0"/>
              </a:rPr>
              <a:t>ASL=(1+4+1+1+2+1+1+1+4)/9=16/9</a:t>
            </a:r>
            <a:endParaRPr lang="zh-CN" altLang="en-US" sz="2400" dirty="0">
              <a:latin typeface="Arial Black" panose="020B0A04020102020204" pitchFamily="34" charset="0"/>
            </a:endParaRPr>
          </a:p>
        </p:txBody>
      </p:sp>
      <p:sp>
        <p:nvSpPr>
          <p:cNvPr id="14" name="文本框 13">
            <a:extLst>
              <a:ext uri="{FF2B5EF4-FFF2-40B4-BE49-F238E27FC236}">
                <a16:creationId xmlns:a16="http://schemas.microsoft.com/office/drawing/2014/main" id="{CC83DB60-FB1C-4FCF-84B4-79331EE2FD02}"/>
              </a:ext>
            </a:extLst>
          </p:cNvPr>
          <p:cNvSpPr txBox="1"/>
          <p:nvPr/>
        </p:nvSpPr>
        <p:spPr>
          <a:xfrm>
            <a:off x="611560" y="260648"/>
            <a:ext cx="7992888" cy="461665"/>
          </a:xfrm>
          <a:prstGeom prst="rect">
            <a:avLst/>
          </a:prstGeom>
          <a:noFill/>
        </p:spPr>
        <p:txBody>
          <a:bodyPr wrap="square">
            <a:spAutoFit/>
          </a:bodyPr>
          <a:lstStyle/>
          <a:p>
            <a:r>
              <a:rPr lang="zh-CN" altLang="en-US" sz="2400" b="1" dirty="0">
                <a:latin typeface="Arial Black" panose="020B0A04020102020204" pitchFamily="34" charset="0"/>
              </a:rPr>
              <a:t>假设关键字序列：</a:t>
            </a:r>
            <a:r>
              <a:rPr lang="en-US" altLang="zh-CN" sz="2400" b="1" dirty="0">
                <a:latin typeface="Arial Black" panose="020B0A04020102020204" pitchFamily="34" charset="0"/>
              </a:rPr>
              <a:t>{63,87,59,43,57,11,78,21,35}</a:t>
            </a:r>
            <a:endParaRPr lang="zh-CN" altLang="en-US" sz="2400" b="1" dirty="0">
              <a:latin typeface="Arial Black" panose="020B0A04020102020204" pitchFamily="34" charset="0"/>
            </a:endParaRPr>
          </a:p>
        </p:txBody>
      </p:sp>
    </p:spTree>
    <p:extLst>
      <p:ext uri="{BB962C8B-B14F-4D97-AF65-F5344CB8AC3E}">
        <p14:creationId xmlns:p14="http://schemas.microsoft.com/office/powerpoint/2010/main" val="392827891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89B8C80-81F0-43DD-997C-59CBCEA8D205}"/>
              </a:ext>
            </a:extLst>
          </p:cNvPr>
          <p:cNvSpPr>
            <a:spLocks noGrp="1"/>
          </p:cNvSpPr>
          <p:nvPr>
            <p:ph type="dt" sz="half" idx="10"/>
          </p:nvPr>
        </p:nvSpPr>
        <p:spPr/>
        <p:txBody>
          <a:bodyPr/>
          <a:lstStyle/>
          <a:p>
            <a:fld id="{9A6B2991-BBE5-4E69-A281-1A8B0AE9CDD7}" type="datetime1">
              <a:rPr lang="zh-CN" altLang="en-US" smtClean="0"/>
              <a:pPr/>
              <a:t>2025/6/3</a:t>
            </a:fld>
            <a:endParaRPr lang="zh-CN" altLang="en-US"/>
          </a:p>
        </p:txBody>
      </p:sp>
      <p:sp>
        <p:nvSpPr>
          <p:cNvPr id="3" name="文本框 2">
            <a:extLst>
              <a:ext uri="{FF2B5EF4-FFF2-40B4-BE49-F238E27FC236}">
                <a16:creationId xmlns:a16="http://schemas.microsoft.com/office/drawing/2014/main" id="{50E4D88A-45FE-47C3-A6B7-070B09F19C9E}"/>
              </a:ext>
            </a:extLst>
          </p:cNvPr>
          <p:cNvSpPr txBox="1"/>
          <p:nvPr/>
        </p:nvSpPr>
        <p:spPr>
          <a:xfrm>
            <a:off x="107504" y="116632"/>
            <a:ext cx="8784976" cy="6555641"/>
          </a:xfrm>
          <a:prstGeom prst="rect">
            <a:avLst/>
          </a:prstGeom>
          <a:solidFill>
            <a:schemeClr val="accent3">
              <a:lumMod val="40000"/>
              <a:lumOff val="60000"/>
            </a:schemeClr>
          </a:solidFill>
        </p:spPr>
        <p:txBody>
          <a:bodyPr wrap="square" rtlCol="0">
            <a:spAutoFit/>
          </a:bodyPr>
          <a:lstStyle/>
          <a:p>
            <a:r>
              <a:rPr lang="en-US" altLang="zh-CN" sz="2800" b="1" dirty="0">
                <a:solidFill>
                  <a:srgbClr val="FF0000"/>
                </a:solidFill>
                <a:latin typeface="Arial Black" panose="020B0A04020102020204" pitchFamily="34" charset="0"/>
              </a:rPr>
              <a:t>//</a:t>
            </a:r>
            <a:r>
              <a:rPr lang="zh-CN" altLang="en-US" sz="2800" b="1" dirty="0">
                <a:solidFill>
                  <a:srgbClr val="FF0000"/>
                </a:solidFill>
                <a:latin typeface="Arial Black" panose="020B0A04020102020204" pitchFamily="34" charset="0"/>
              </a:rPr>
              <a:t>双向线性探测再散列</a:t>
            </a:r>
            <a:r>
              <a:rPr lang="en-US" altLang="zh-CN" sz="2800" b="1" dirty="0">
                <a:solidFill>
                  <a:srgbClr val="FF0000"/>
                </a:solidFill>
                <a:latin typeface="Arial Black" panose="020B0A04020102020204" pitchFamily="34" charset="0"/>
              </a:rPr>
              <a:t>1,-1,2,-2,......</a:t>
            </a:r>
            <a:r>
              <a:rPr lang="zh-CN" altLang="en-US" sz="2800" b="1" dirty="0">
                <a:solidFill>
                  <a:srgbClr val="FF0000"/>
                </a:solidFill>
                <a:latin typeface="Arial Black" panose="020B0A04020102020204" pitchFamily="34" charset="0"/>
              </a:rPr>
              <a:t>，建立哈希表</a:t>
            </a:r>
          </a:p>
          <a:p>
            <a:r>
              <a:rPr lang="en-US" altLang="zh-CN" dirty="0">
                <a:latin typeface="Arial Black" panose="020B0A04020102020204" pitchFamily="34" charset="0"/>
              </a:rPr>
              <a:t>template &lt;class </a:t>
            </a:r>
            <a:r>
              <a:rPr lang="en-US" altLang="zh-CN" dirty="0" err="1">
                <a:latin typeface="Arial Black" panose="020B0A04020102020204" pitchFamily="34" charset="0"/>
              </a:rPr>
              <a:t>keytype,class</a:t>
            </a:r>
            <a:r>
              <a:rPr lang="en-US" altLang="zh-CN" dirty="0">
                <a:latin typeface="Arial Black" panose="020B0A04020102020204" pitchFamily="34" charset="0"/>
              </a:rPr>
              <a:t> </a:t>
            </a:r>
            <a:r>
              <a:rPr lang="en-US" altLang="zh-CN" dirty="0" err="1">
                <a:latin typeface="Arial Black" panose="020B0A04020102020204" pitchFamily="34" charset="0"/>
              </a:rPr>
              <a:t>Itemtype</a:t>
            </a:r>
            <a:r>
              <a:rPr lang="en-US" altLang="zh-CN" dirty="0">
                <a:latin typeface="Arial Black" panose="020B0A04020102020204" pitchFamily="34" charset="0"/>
              </a:rPr>
              <a:t>&gt;</a:t>
            </a:r>
          </a:p>
          <a:p>
            <a:r>
              <a:rPr lang="en-US" altLang="zh-CN" dirty="0">
                <a:latin typeface="Arial Black" panose="020B0A04020102020204" pitchFamily="34" charset="0"/>
              </a:rPr>
              <a:t>bool </a:t>
            </a:r>
            <a:r>
              <a:rPr lang="en-US" altLang="zh-CN" dirty="0" err="1">
                <a:latin typeface="Arial Black" panose="020B0A04020102020204" pitchFamily="34" charset="0"/>
              </a:rPr>
              <a:t>recordList</a:t>
            </a:r>
            <a:r>
              <a:rPr lang="en-US" altLang="zh-CN" dirty="0">
                <a:latin typeface="Arial Black" panose="020B0A04020102020204" pitchFamily="34" charset="0"/>
              </a:rPr>
              <a:t>&lt;</a:t>
            </a:r>
            <a:r>
              <a:rPr lang="en-US" altLang="zh-CN" dirty="0" err="1">
                <a:latin typeface="Arial Black" panose="020B0A04020102020204" pitchFamily="34" charset="0"/>
              </a:rPr>
              <a:t>keytype,Itemtype</a:t>
            </a:r>
            <a:r>
              <a:rPr lang="en-US" altLang="zh-CN" dirty="0">
                <a:latin typeface="Arial Black" panose="020B0A04020102020204" pitchFamily="34" charset="0"/>
              </a:rPr>
              <a:t>&gt;::set_hash3(</a:t>
            </a:r>
            <a:r>
              <a:rPr lang="en-US" altLang="zh-CN" dirty="0" err="1">
                <a:latin typeface="Arial Black" panose="020B0A04020102020204" pitchFamily="34" charset="0"/>
              </a:rPr>
              <a:t>keytype</a:t>
            </a:r>
            <a:r>
              <a:rPr lang="en-US" altLang="zh-CN" dirty="0">
                <a:latin typeface="Arial Black" panose="020B0A04020102020204" pitchFamily="34" charset="0"/>
              </a:rPr>
              <a:t> *</a:t>
            </a:r>
            <a:r>
              <a:rPr lang="en-US" altLang="zh-CN" dirty="0" err="1">
                <a:latin typeface="Arial Black" panose="020B0A04020102020204" pitchFamily="34" charset="0"/>
              </a:rPr>
              <a:t>pa,int</a:t>
            </a:r>
            <a:r>
              <a:rPr lang="en-US" altLang="zh-CN" dirty="0">
                <a:latin typeface="Arial Black" panose="020B0A04020102020204" pitchFamily="34" charset="0"/>
              </a:rPr>
              <a:t> n)</a:t>
            </a:r>
          </a:p>
          <a:p>
            <a:r>
              <a:rPr lang="en-US" altLang="zh-CN" dirty="0">
                <a:latin typeface="Arial Black" panose="020B0A04020102020204" pitchFamily="34" charset="0"/>
              </a:rPr>
              <a:t>//n</a:t>
            </a:r>
            <a:r>
              <a:rPr lang="zh-CN" altLang="en-US" dirty="0">
                <a:latin typeface="Arial Black" panose="020B0A04020102020204" pitchFamily="34" charset="0"/>
              </a:rPr>
              <a:t>个数据元素存放在一维数组中，</a:t>
            </a:r>
            <a:r>
              <a:rPr lang="en-US" altLang="zh-CN" dirty="0">
                <a:latin typeface="Arial Black" panose="020B0A04020102020204" pitchFamily="34" charset="0"/>
              </a:rPr>
              <a:t>pa</a:t>
            </a:r>
            <a:r>
              <a:rPr lang="zh-CN" altLang="en-US" dirty="0">
                <a:latin typeface="Arial Black" panose="020B0A04020102020204" pitchFamily="34" charset="0"/>
              </a:rPr>
              <a:t>指向数组的首地址</a:t>
            </a:r>
          </a:p>
          <a:p>
            <a:r>
              <a:rPr lang="en-US" altLang="zh-CN" dirty="0">
                <a:latin typeface="Arial Black" panose="020B0A04020102020204" pitchFamily="34" charset="0"/>
              </a:rPr>
              <a:t>{	int </a:t>
            </a:r>
            <a:r>
              <a:rPr lang="en-US" altLang="zh-CN" dirty="0" err="1">
                <a:latin typeface="Arial Black" panose="020B0A04020102020204" pitchFamily="34" charset="0"/>
              </a:rPr>
              <a:t>addr,new_addr,di,j,temp</a:t>
            </a:r>
            <a:r>
              <a:rPr lang="en-US" altLang="zh-CN" dirty="0">
                <a:latin typeface="Arial Black" panose="020B0A04020102020204" pitchFamily="34" charset="0"/>
              </a:rPr>
              <a:t>;	bool flag;</a:t>
            </a:r>
          </a:p>
          <a:p>
            <a:r>
              <a:rPr lang="en-US" altLang="zh-CN" dirty="0">
                <a:latin typeface="Arial Black" panose="020B0A04020102020204" pitchFamily="34" charset="0"/>
              </a:rPr>
              <a:t>	for(int </a:t>
            </a:r>
            <a:r>
              <a:rPr lang="en-US" altLang="zh-CN" dirty="0" err="1">
                <a:latin typeface="Arial Black" panose="020B0A04020102020204" pitchFamily="34" charset="0"/>
              </a:rPr>
              <a:t>i</a:t>
            </a:r>
            <a:r>
              <a:rPr lang="en-US" altLang="zh-CN" dirty="0">
                <a:latin typeface="Arial Black" panose="020B0A04020102020204" pitchFamily="34" charset="0"/>
              </a:rPr>
              <a:t>=0;i&lt;</a:t>
            </a:r>
            <a:r>
              <a:rPr lang="en-US" altLang="zh-CN" dirty="0" err="1">
                <a:latin typeface="Arial Black" panose="020B0A04020102020204" pitchFamily="34" charset="0"/>
              </a:rPr>
              <a:t>MaxSize;i</a:t>
            </a:r>
            <a:r>
              <a:rPr lang="en-US" altLang="zh-CN" dirty="0">
                <a:latin typeface="Arial Black" panose="020B0A04020102020204" pitchFamily="34" charset="0"/>
              </a:rPr>
              <a:t>++)    	//</a:t>
            </a:r>
            <a:r>
              <a:rPr lang="zh-CN" altLang="en-US" dirty="0">
                <a:latin typeface="Arial Black" panose="020B0A04020102020204" pitchFamily="34" charset="0"/>
              </a:rPr>
              <a:t>先将哈希表中元素置</a:t>
            </a:r>
            <a:r>
              <a:rPr lang="en-US" altLang="zh-CN" dirty="0">
                <a:latin typeface="Arial Black" panose="020B0A04020102020204" pitchFamily="34" charset="0"/>
              </a:rPr>
              <a:t>-1</a:t>
            </a:r>
            <a:r>
              <a:rPr lang="zh-CN" altLang="en-US" dirty="0">
                <a:latin typeface="Arial Black" panose="020B0A04020102020204" pitchFamily="34" charset="0"/>
              </a:rPr>
              <a:t>和索引下标 </a:t>
            </a:r>
          </a:p>
          <a:p>
            <a:r>
              <a:rPr lang="zh-CN" altLang="en-US" dirty="0">
                <a:latin typeface="Arial Black" panose="020B0A04020102020204" pitchFamily="34" charset="0"/>
              </a:rPr>
              <a:t>	</a:t>
            </a:r>
            <a:r>
              <a:rPr lang="en-US" altLang="zh-CN" dirty="0">
                <a:latin typeface="Arial Black" panose="020B0A04020102020204" pitchFamily="34" charset="0"/>
              </a:rPr>
              <a:t>{	R[</a:t>
            </a:r>
            <a:r>
              <a:rPr lang="en-US" altLang="zh-CN" dirty="0" err="1">
                <a:latin typeface="Arial Black" panose="020B0A04020102020204" pitchFamily="34" charset="0"/>
              </a:rPr>
              <a:t>i</a:t>
            </a:r>
            <a:r>
              <a:rPr lang="en-US" altLang="zh-CN" dirty="0">
                <a:latin typeface="Arial Black" panose="020B0A04020102020204" pitchFamily="34" charset="0"/>
              </a:rPr>
              <a:t>].key=-1;	R[</a:t>
            </a:r>
            <a:r>
              <a:rPr lang="en-US" altLang="zh-CN" dirty="0" err="1">
                <a:latin typeface="Arial Black" panose="020B0A04020102020204" pitchFamily="34" charset="0"/>
              </a:rPr>
              <a:t>i</a:t>
            </a:r>
            <a:r>
              <a:rPr lang="en-US" altLang="zh-CN" dirty="0">
                <a:latin typeface="Arial Black" panose="020B0A04020102020204" pitchFamily="34" charset="0"/>
              </a:rPr>
              <a:t>].</a:t>
            </a:r>
            <a:r>
              <a:rPr lang="en-US" altLang="zh-CN" dirty="0" err="1">
                <a:latin typeface="Arial Black" panose="020B0A04020102020204" pitchFamily="34" charset="0"/>
              </a:rPr>
              <a:t>otherinfo</a:t>
            </a:r>
            <a:r>
              <a:rPr lang="en-US" altLang="zh-CN" dirty="0">
                <a:latin typeface="Arial Black" panose="020B0A04020102020204" pitchFamily="34" charset="0"/>
              </a:rPr>
              <a:t>=</a:t>
            </a:r>
            <a:r>
              <a:rPr lang="en-US" altLang="zh-CN" dirty="0" err="1">
                <a:latin typeface="Arial Black" panose="020B0A04020102020204" pitchFamily="34" charset="0"/>
              </a:rPr>
              <a:t>i</a:t>
            </a:r>
            <a:r>
              <a:rPr lang="en-US" altLang="zh-CN" dirty="0">
                <a:latin typeface="Arial Black" panose="020B0A04020102020204" pitchFamily="34" charset="0"/>
              </a:rPr>
              <a:t>;	}	</a:t>
            </a:r>
          </a:p>
          <a:p>
            <a:r>
              <a:rPr lang="en-US" altLang="zh-CN" dirty="0">
                <a:latin typeface="Arial Black" panose="020B0A04020102020204" pitchFamily="34" charset="0"/>
              </a:rPr>
              <a:t>	for(int </a:t>
            </a:r>
            <a:r>
              <a:rPr lang="en-US" altLang="zh-CN" dirty="0" err="1">
                <a:latin typeface="Arial Black" panose="020B0A04020102020204" pitchFamily="34" charset="0"/>
              </a:rPr>
              <a:t>i</a:t>
            </a:r>
            <a:r>
              <a:rPr lang="en-US" altLang="zh-CN" dirty="0">
                <a:latin typeface="Arial Black" panose="020B0A04020102020204" pitchFamily="34" charset="0"/>
              </a:rPr>
              <a:t>=0;i&lt;</a:t>
            </a:r>
            <a:r>
              <a:rPr lang="en-US" altLang="zh-CN" dirty="0" err="1">
                <a:latin typeface="Arial Black" panose="020B0A04020102020204" pitchFamily="34" charset="0"/>
              </a:rPr>
              <a:t>n;i</a:t>
            </a:r>
            <a:r>
              <a:rPr lang="en-US" altLang="zh-CN" dirty="0">
                <a:latin typeface="Arial Black" panose="020B0A04020102020204" pitchFamily="34" charset="0"/>
              </a:rPr>
              <a:t>++)</a:t>
            </a:r>
          </a:p>
          <a:p>
            <a:r>
              <a:rPr lang="en-US" altLang="zh-CN" dirty="0">
                <a:latin typeface="Arial Black" panose="020B0A04020102020204" pitchFamily="34" charset="0"/>
              </a:rPr>
              <a:t>	{	</a:t>
            </a:r>
            <a:r>
              <a:rPr lang="en-US" altLang="zh-CN" dirty="0" err="1">
                <a:latin typeface="Arial Black" panose="020B0A04020102020204" pitchFamily="34" charset="0"/>
              </a:rPr>
              <a:t>addr</a:t>
            </a:r>
            <a:r>
              <a:rPr lang="en-US" altLang="zh-CN" dirty="0">
                <a:latin typeface="Arial Black" panose="020B0A04020102020204" pitchFamily="34" charset="0"/>
              </a:rPr>
              <a:t> = pa[</a:t>
            </a:r>
            <a:r>
              <a:rPr lang="en-US" altLang="zh-CN" dirty="0" err="1">
                <a:latin typeface="Arial Black" panose="020B0A04020102020204" pitchFamily="34" charset="0"/>
              </a:rPr>
              <a:t>i</a:t>
            </a:r>
            <a:r>
              <a:rPr lang="en-US" altLang="zh-CN" dirty="0">
                <a:latin typeface="Arial Black" panose="020B0A04020102020204" pitchFamily="34" charset="0"/>
              </a:rPr>
              <a:t>] % </a:t>
            </a:r>
            <a:r>
              <a:rPr lang="en-US" altLang="zh-CN" dirty="0" err="1">
                <a:latin typeface="Arial Black" panose="020B0A04020102020204" pitchFamily="34" charset="0"/>
              </a:rPr>
              <a:t>MaxSize</a:t>
            </a:r>
            <a:r>
              <a:rPr lang="en-US" altLang="zh-CN" dirty="0">
                <a:latin typeface="Arial Black" panose="020B0A04020102020204" pitchFamily="34" charset="0"/>
              </a:rPr>
              <a:t>;      //</a:t>
            </a:r>
            <a:r>
              <a:rPr lang="zh-CN" altLang="en-US" dirty="0">
                <a:latin typeface="Arial Black" panose="020B0A04020102020204" pitchFamily="34" charset="0"/>
              </a:rPr>
              <a:t>计算哈希地址</a:t>
            </a:r>
          </a:p>
          <a:p>
            <a:r>
              <a:rPr lang="zh-CN" altLang="en-US" dirty="0">
                <a:latin typeface="Arial Black" panose="020B0A04020102020204" pitchFamily="34" charset="0"/>
              </a:rPr>
              <a:t>		</a:t>
            </a:r>
            <a:r>
              <a:rPr lang="en-US" altLang="zh-CN" dirty="0" err="1">
                <a:latin typeface="Arial Black" panose="020B0A04020102020204" pitchFamily="34" charset="0"/>
              </a:rPr>
              <a:t>new_addr</a:t>
            </a:r>
            <a:r>
              <a:rPr lang="en-US" altLang="zh-CN" dirty="0">
                <a:latin typeface="Arial Black" panose="020B0A04020102020204" pitchFamily="34" charset="0"/>
              </a:rPr>
              <a:t> = </a:t>
            </a:r>
            <a:r>
              <a:rPr lang="en-US" altLang="zh-CN" dirty="0" err="1">
                <a:latin typeface="Arial Black" panose="020B0A04020102020204" pitchFamily="34" charset="0"/>
              </a:rPr>
              <a:t>addr</a:t>
            </a:r>
            <a:r>
              <a:rPr lang="en-US" altLang="zh-CN" dirty="0">
                <a:latin typeface="Arial Black" panose="020B0A04020102020204" pitchFamily="34" charset="0"/>
              </a:rPr>
              <a:t>;                 //</a:t>
            </a:r>
            <a:r>
              <a:rPr lang="zh-CN" altLang="en-US" dirty="0">
                <a:latin typeface="Arial Black" panose="020B0A04020102020204" pitchFamily="34" charset="0"/>
              </a:rPr>
              <a:t>又假设为新地址</a:t>
            </a:r>
          </a:p>
          <a:p>
            <a:r>
              <a:rPr lang="zh-CN" altLang="en-US" dirty="0">
                <a:latin typeface="Arial Black" panose="020B0A04020102020204" pitchFamily="34" charset="0"/>
              </a:rPr>
              <a:t>		</a:t>
            </a:r>
            <a:r>
              <a:rPr lang="en-US" altLang="zh-CN" dirty="0">
                <a:latin typeface="Arial Black" panose="020B0A04020102020204" pitchFamily="34" charset="0"/>
              </a:rPr>
              <a:t>flag=true;   j = 1;                    //flag</a:t>
            </a:r>
            <a:r>
              <a:rPr lang="zh-CN" altLang="en-US" dirty="0">
                <a:latin typeface="Arial Black" panose="020B0A04020102020204" pitchFamily="34" charset="0"/>
              </a:rPr>
              <a:t>为标志位</a:t>
            </a:r>
          </a:p>
          <a:p>
            <a:r>
              <a:rPr lang="zh-CN" altLang="en-US" dirty="0">
                <a:latin typeface="Arial Black" panose="020B0A04020102020204" pitchFamily="34" charset="0"/>
              </a:rPr>
              <a:t>		</a:t>
            </a:r>
            <a:r>
              <a:rPr lang="en-US" altLang="zh-CN" dirty="0">
                <a:latin typeface="Arial Black" panose="020B0A04020102020204" pitchFamily="34" charset="0"/>
              </a:rPr>
              <a:t>temp=</a:t>
            </a:r>
            <a:r>
              <a:rPr lang="en-US" altLang="zh-CN" dirty="0" err="1">
                <a:latin typeface="Arial Black" panose="020B0A04020102020204" pitchFamily="34" charset="0"/>
              </a:rPr>
              <a:t>new_addr</a:t>
            </a:r>
            <a:r>
              <a:rPr lang="en-US" altLang="zh-CN" dirty="0">
                <a:latin typeface="Arial Black" panose="020B0A04020102020204" pitchFamily="34" charset="0"/>
              </a:rPr>
              <a:t>;</a:t>
            </a:r>
          </a:p>
          <a:p>
            <a:r>
              <a:rPr lang="en-US" altLang="zh-CN" dirty="0">
                <a:latin typeface="Arial Black" panose="020B0A04020102020204" pitchFamily="34" charset="0"/>
              </a:rPr>
              <a:t>		while(R[</a:t>
            </a:r>
            <a:r>
              <a:rPr lang="en-US" altLang="zh-CN" dirty="0" err="1">
                <a:latin typeface="Arial Black" panose="020B0A04020102020204" pitchFamily="34" charset="0"/>
              </a:rPr>
              <a:t>new_addr</a:t>
            </a:r>
            <a:r>
              <a:rPr lang="en-US" altLang="zh-CN" dirty="0">
                <a:latin typeface="Arial Black" panose="020B0A04020102020204" pitchFamily="34" charset="0"/>
              </a:rPr>
              <a:t>].key!=-1)       //</a:t>
            </a:r>
            <a:r>
              <a:rPr lang="zh-CN" altLang="en-US" dirty="0">
                <a:latin typeface="Arial Black" panose="020B0A04020102020204" pitchFamily="34" charset="0"/>
              </a:rPr>
              <a:t>循环搜索表中空闲单元</a:t>
            </a:r>
          </a:p>
          <a:p>
            <a:r>
              <a:rPr lang="zh-CN" altLang="en-US" dirty="0">
                <a:latin typeface="Arial Black" panose="020B0A04020102020204" pitchFamily="34" charset="0"/>
              </a:rPr>
              <a:t>        </a:t>
            </a:r>
            <a:r>
              <a:rPr lang="en-US" altLang="zh-CN" dirty="0">
                <a:latin typeface="Arial Black" panose="020B0A04020102020204" pitchFamily="34" charset="0"/>
              </a:rPr>
              <a:t>		{	if (flag)		di=j;	else</a:t>
            </a:r>
          </a:p>
          <a:p>
            <a:r>
              <a:rPr lang="en-US" altLang="zh-CN" dirty="0">
                <a:latin typeface="Arial Black" panose="020B0A04020102020204" pitchFamily="34" charset="0"/>
              </a:rPr>
              <a:t>			{	di=</a:t>
            </a:r>
            <a:r>
              <a:rPr lang="en-US" altLang="zh-CN" dirty="0" err="1">
                <a:latin typeface="Arial Black" panose="020B0A04020102020204" pitchFamily="34" charset="0"/>
              </a:rPr>
              <a:t>MaxSize</a:t>
            </a:r>
            <a:r>
              <a:rPr lang="en-US" altLang="zh-CN" dirty="0">
                <a:latin typeface="Arial Black" panose="020B0A04020102020204" pitchFamily="34" charset="0"/>
              </a:rPr>
              <a:t>-(</a:t>
            </a:r>
            <a:r>
              <a:rPr lang="en-US" altLang="zh-CN" dirty="0" err="1">
                <a:latin typeface="Arial Black" panose="020B0A04020102020204" pitchFamily="34" charset="0"/>
              </a:rPr>
              <a:t>j%MaxSize</a:t>
            </a:r>
            <a:r>
              <a:rPr lang="en-US" altLang="zh-CN" dirty="0">
                <a:latin typeface="Arial Black" panose="020B0A04020102020204" pitchFamily="34" charset="0"/>
              </a:rPr>
              <a:t>);	</a:t>
            </a:r>
            <a:r>
              <a:rPr lang="en-US" altLang="zh-CN" dirty="0" err="1">
                <a:latin typeface="Arial Black" panose="020B0A04020102020204" pitchFamily="34" charset="0"/>
              </a:rPr>
              <a:t>j++</a:t>
            </a:r>
            <a:r>
              <a:rPr lang="en-US" altLang="zh-CN" dirty="0">
                <a:latin typeface="Arial Black" panose="020B0A04020102020204" pitchFamily="34" charset="0"/>
              </a:rPr>
              <a:t>;	}</a:t>
            </a:r>
          </a:p>
          <a:p>
            <a:r>
              <a:rPr lang="en-US" altLang="zh-CN" dirty="0">
                <a:latin typeface="Arial Black" panose="020B0A04020102020204" pitchFamily="34" charset="0"/>
              </a:rPr>
              <a:t>			</a:t>
            </a:r>
            <a:r>
              <a:rPr lang="en-US" altLang="zh-CN" dirty="0" err="1">
                <a:latin typeface="Arial Black" panose="020B0A04020102020204" pitchFamily="34" charset="0"/>
              </a:rPr>
              <a:t>new_addr</a:t>
            </a:r>
            <a:r>
              <a:rPr lang="en-US" altLang="zh-CN" dirty="0">
                <a:latin typeface="Arial Black" panose="020B0A04020102020204" pitchFamily="34" charset="0"/>
              </a:rPr>
              <a:t> = (</a:t>
            </a:r>
            <a:r>
              <a:rPr lang="en-US" altLang="zh-CN" dirty="0" err="1">
                <a:latin typeface="Arial Black" panose="020B0A04020102020204" pitchFamily="34" charset="0"/>
              </a:rPr>
              <a:t>addr+di</a:t>
            </a:r>
            <a:r>
              <a:rPr lang="en-US" altLang="zh-CN" dirty="0">
                <a:latin typeface="Arial Black" panose="020B0A04020102020204" pitchFamily="34" charset="0"/>
              </a:rPr>
              <a:t>) % </a:t>
            </a:r>
            <a:r>
              <a:rPr lang="en-US" altLang="zh-CN" dirty="0" err="1">
                <a:latin typeface="Arial Black" panose="020B0A04020102020204" pitchFamily="34" charset="0"/>
              </a:rPr>
              <a:t>MaxSize</a:t>
            </a:r>
            <a:r>
              <a:rPr lang="en-US" altLang="zh-CN" dirty="0">
                <a:latin typeface="Arial Black" panose="020B0A04020102020204" pitchFamily="34" charset="0"/>
              </a:rPr>
              <a:t>;  //</a:t>
            </a:r>
            <a:r>
              <a:rPr lang="zh-CN" altLang="en-US" dirty="0">
                <a:latin typeface="Arial Black" panose="020B0A04020102020204" pitchFamily="34" charset="0"/>
              </a:rPr>
              <a:t>计算新地址</a:t>
            </a:r>
          </a:p>
          <a:p>
            <a:r>
              <a:rPr lang="zh-CN" altLang="en-US" dirty="0">
                <a:latin typeface="Arial Black" panose="020B0A04020102020204" pitchFamily="34" charset="0"/>
              </a:rPr>
              <a:t>			</a:t>
            </a:r>
            <a:r>
              <a:rPr lang="en-US" altLang="zh-CN" dirty="0">
                <a:latin typeface="Arial Black" panose="020B0A04020102020204" pitchFamily="34" charset="0"/>
              </a:rPr>
              <a:t>if (</a:t>
            </a:r>
            <a:r>
              <a:rPr lang="en-US" altLang="zh-CN" dirty="0" err="1">
                <a:latin typeface="Arial Black" panose="020B0A04020102020204" pitchFamily="34" charset="0"/>
              </a:rPr>
              <a:t>new_addr</a:t>
            </a:r>
            <a:r>
              <a:rPr lang="en-US" altLang="zh-CN" dirty="0">
                <a:latin typeface="Arial Black" panose="020B0A04020102020204" pitchFamily="34" charset="0"/>
              </a:rPr>
              <a:t> == temp) return false;  	//</a:t>
            </a:r>
            <a:r>
              <a:rPr lang="zh-CN" altLang="en-US" dirty="0">
                <a:latin typeface="Arial Black" panose="020B0A04020102020204" pitchFamily="34" charset="0"/>
              </a:rPr>
              <a:t>查找完所有位置后表示无法插入</a:t>
            </a:r>
          </a:p>
          <a:p>
            <a:r>
              <a:rPr lang="zh-CN" altLang="en-US" dirty="0">
                <a:latin typeface="Arial Black" panose="020B0A04020102020204" pitchFamily="34" charset="0"/>
              </a:rPr>
              <a:t>			</a:t>
            </a:r>
            <a:r>
              <a:rPr lang="en-US" altLang="zh-CN" dirty="0">
                <a:latin typeface="Arial Black" panose="020B0A04020102020204" pitchFamily="34" charset="0"/>
              </a:rPr>
              <a:t>flag=!flag;	}</a:t>
            </a:r>
          </a:p>
          <a:p>
            <a:r>
              <a:rPr lang="en-US" altLang="zh-CN" dirty="0">
                <a:latin typeface="Arial Black" panose="020B0A04020102020204" pitchFamily="34" charset="0"/>
              </a:rPr>
              <a:t>		R[</a:t>
            </a:r>
            <a:r>
              <a:rPr lang="en-US" altLang="zh-CN" dirty="0" err="1">
                <a:latin typeface="Arial Black" panose="020B0A04020102020204" pitchFamily="34" charset="0"/>
              </a:rPr>
              <a:t>new_addr</a:t>
            </a:r>
            <a:r>
              <a:rPr lang="en-US" altLang="zh-CN" dirty="0">
                <a:latin typeface="Arial Black" panose="020B0A04020102020204" pitchFamily="34" charset="0"/>
              </a:rPr>
              <a:t>].</a:t>
            </a:r>
            <a:r>
              <a:rPr lang="en-US" altLang="zh-CN" dirty="0" err="1">
                <a:latin typeface="Arial Black" panose="020B0A04020102020204" pitchFamily="34" charset="0"/>
              </a:rPr>
              <a:t>otherinfo</a:t>
            </a:r>
            <a:r>
              <a:rPr lang="en-US" altLang="zh-CN" dirty="0">
                <a:latin typeface="Arial Black" panose="020B0A04020102020204" pitchFamily="34" charset="0"/>
              </a:rPr>
              <a:t> = </a:t>
            </a:r>
            <a:r>
              <a:rPr lang="en-US" altLang="zh-CN" dirty="0" err="1">
                <a:latin typeface="Arial Black" panose="020B0A04020102020204" pitchFamily="34" charset="0"/>
              </a:rPr>
              <a:t>new_addr</a:t>
            </a:r>
            <a:r>
              <a:rPr lang="en-US" altLang="zh-CN" dirty="0">
                <a:latin typeface="Arial Black" panose="020B0A04020102020204" pitchFamily="34" charset="0"/>
              </a:rPr>
              <a:t>;</a:t>
            </a:r>
          </a:p>
          <a:p>
            <a:r>
              <a:rPr lang="en-US" altLang="zh-CN" dirty="0">
                <a:latin typeface="Arial Black" panose="020B0A04020102020204" pitchFamily="34" charset="0"/>
              </a:rPr>
              <a:t>		R[</a:t>
            </a:r>
            <a:r>
              <a:rPr lang="en-US" altLang="zh-CN" dirty="0" err="1">
                <a:latin typeface="Arial Black" panose="020B0A04020102020204" pitchFamily="34" charset="0"/>
              </a:rPr>
              <a:t>new_addr</a:t>
            </a:r>
            <a:r>
              <a:rPr lang="en-US" altLang="zh-CN" dirty="0">
                <a:latin typeface="Arial Black" panose="020B0A04020102020204" pitchFamily="34" charset="0"/>
              </a:rPr>
              <a:t>].key = pa[</a:t>
            </a:r>
            <a:r>
              <a:rPr lang="en-US" altLang="zh-CN" dirty="0" err="1">
                <a:latin typeface="Arial Black" panose="020B0A04020102020204" pitchFamily="34" charset="0"/>
              </a:rPr>
              <a:t>i</a:t>
            </a:r>
            <a:r>
              <a:rPr lang="en-US" altLang="zh-CN" dirty="0">
                <a:latin typeface="Arial Black" panose="020B0A04020102020204" pitchFamily="34" charset="0"/>
              </a:rPr>
              <a:t>];</a:t>
            </a:r>
          </a:p>
          <a:p>
            <a:r>
              <a:rPr lang="en-US" altLang="zh-CN" dirty="0">
                <a:latin typeface="Arial Black" panose="020B0A04020102020204" pitchFamily="34" charset="0"/>
              </a:rPr>
              <a:t>		</a:t>
            </a:r>
            <a:r>
              <a:rPr lang="en-US" altLang="zh-CN" dirty="0" err="1">
                <a:latin typeface="Arial Black" panose="020B0A04020102020204" pitchFamily="34" charset="0"/>
              </a:rPr>
              <a:t>CurrentSize</a:t>
            </a:r>
            <a:r>
              <a:rPr lang="en-US" altLang="zh-CN" dirty="0">
                <a:latin typeface="Arial Black" panose="020B0A04020102020204" pitchFamily="34" charset="0"/>
              </a:rPr>
              <a:t>++;	}</a:t>
            </a:r>
          </a:p>
          <a:p>
            <a:r>
              <a:rPr lang="en-US" altLang="zh-CN" dirty="0">
                <a:latin typeface="Arial Black" panose="020B0A04020102020204" pitchFamily="34" charset="0"/>
              </a:rPr>
              <a:t>	return true;}</a:t>
            </a:r>
            <a:endParaRPr lang="zh-CN" altLang="en-US" dirty="0">
              <a:latin typeface="Arial Black" panose="020B0A04020102020204" pitchFamily="34" charset="0"/>
            </a:endParaRPr>
          </a:p>
        </p:txBody>
      </p:sp>
    </p:spTree>
    <p:extLst>
      <p:ext uri="{BB962C8B-B14F-4D97-AF65-F5344CB8AC3E}">
        <p14:creationId xmlns:p14="http://schemas.microsoft.com/office/powerpoint/2010/main" val="79656879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2327222-02BB-4892-A688-EC20559A239A}"/>
              </a:ext>
            </a:extLst>
          </p:cNvPr>
          <p:cNvSpPr>
            <a:spLocks noGrp="1"/>
          </p:cNvSpPr>
          <p:nvPr>
            <p:ph type="dt" sz="half" idx="10"/>
          </p:nvPr>
        </p:nvSpPr>
        <p:spPr/>
        <p:txBody>
          <a:bodyPr/>
          <a:lstStyle/>
          <a:p>
            <a:fld id="{9A6B2991-BBE5-4E69-A281-1A8B0AE9CDD7}" type="datetime1">
              <a:rPr lang="zh-CN" altLang="en-US" smtClean="0"/>
              <a:pPr/>
              <a:t>2025/6/3</a:t>
            </a:fld>
            <a:endParaRPr lang="zh-CN" altLang="en-US"/>
          </a:p>
        </p:txBody>
      </p:sp>
      <p:sp>
        <p:nvSpPr>
          <p:cNvPr id="3" name="文本框 2">
            <a:extLst>
              <a:ext uri="{FF2B5EF4-FFF2-40B4-BE49-F238E27FC236}">
                <a16:creationId xmlns:a16="http://schemas.microsoft.com/office/drawing/2014/main" id="{28AFBD0E-4E15-4270-81E3-EA5381E59A89}"/>
              </a:ext>
            </a:extLst>
          </p:cNvPr>
          <p:cNvSpPr txBox="1"/>
          <p:nvPr/>
        </p:nvSpPr>
        <p:spPr>
          <a:xfrm>
            <a:off x="179512" y="260648"/>
            <a:ext cx="8964488" cy="6340197"/>
          </a:xfrm>
          <a:prstGeom prst="rect">
            <a:avLst/>
          </a:prstGeom>
          <a:solidFill>
            <a:schemeClr val="accent3">
              <a:lumMod val="40000"/>
              <a:lumOff val="60000"/>
            </a:schemeClr>
          </a:solidFill>
        </p:spPr>
        <p:txBody>
          <a:bodyPr wrap="square" rtlCol="0">
            <a:spAutoFit/>
          </a:bodyPr>
          <a:lstStyle/>
          <a:p>
            <a:r>
              <a:rPr lang="en-US" altLang="zh-CN" sz="2800" b="1" dirty="0">
                <a:solidFill>
                  <a:srgbClr val="FF0000"/>
                </a:solidFill>
                <a:latin typeface="Arial Black" panose="020B0A04020102020204" pitchFamily="34" charset="0"/>
              </a:rPr>
              <a:t>//</a:t>
            </a:r>
            <a:r>
              <a:rPr lang="zh-CN" altLang="en-US" sz="2800" b="1" dirty="0">
                <a:solidFill>
                  <a:srgbClr val="FF0000"/>
                </a:solidFill>
                <a:latin typeface="Arial Black" panose="020B0A04020102020204" pitchFamily="34" charset="0"/>
              </a:rPr>
              <a:t>哈希查找函数，双向线性探测再散列</a:t>
            </a:r>
            <a:endParaRPr lang="zh-CN" altLang="en-US" b="1" dirty="0">
              <a:solidFill>
                <a:srgbClr val="FF0000"/>
              </a:solidFill>
              <a:latin typeface="Arial Black" panose="020B0A04020102020204" pitchFamily="34" charset="0"/>
            </a:endParaRPr>
          </a:p>
          <a:p>
            <a:r>
              <a:rPr lang="en-US" altLang="zh-CN" dirty="0">
                <a:latin typeface="Arial Black" panose="020B0A04020102020204" pitchFamily="34" charset="0"/>
              </a:rPr>
              <a:t>template &lt;class </a:t>
            </a:r>
            <a:r>
              <a:rPr lang="en-US" altLang="zh-CN" dirty="0" err="1">
                <a:latin typeface="Arial Black" panose="020B0A04020102020204" pitchFamily="34" charset="0"/>
              </a:rPr>
              <a:t>keytype,class</a:t>
            </a:r>
            <a:r>
              <a:rPr lang="en-US" altLang="zh-CN" dirty="0">
                <a:latin typeface="Arial Black" panose="020B0A04020102020204" pitchFamily="34" charset="0"/>
              </a:rPr>
              <a:t> </a:t>
            </a:r>
            <a:r>
              <a:rPr lang="en-US" altLang="zh-CN" dirty="0" err="1">
                <a:latin typeface="Arial Black" panose="020B0A04020102020204" pitchFamily="34" charset="0"/>
              </a:rPr>
              <a:t>Itemtype</a:t>
            </a:r>
            <a:r>
              <a:rPr lang="en-US" altLang="zh-CN" dirty="0">
                <a:latin typeface="Arial Black" panose="020B0A04020102020204" pitchFamily="34" charset="0"/>
              </a:rPr>
              <a:t>&gt;</a:t>
            </a:r>
          </a:p>
          <a:p>
            <a:r>
              <a:rPr lang="en-US" altLang="zh-CN" dirty="0">
                <a:latin typeface="Arial Black" panose="020B0A04020102020204" pitchFamily="34" charset="0"/>
              </a:rPr>
              <a:t>int </a:t>
            </a:r>
            <a:r>
              <a:rPr lang="en-US" altLang="zh-CN" dirty="0" err="1">
                <a:latin typeface="Arial Black" panose="020B0A04020102020204" pitchFamily="34" charset="0"/>
              </a:rPr>
              <a:t>recordList</a:t>
            </a:r>
            <a:r>
              <a:rPr lang="en-US" altLang="zh-CN" dirty="0">
                <a:latin typeface="Arial Black" panose="020B0A04020102020204" pitchFamily="34" charset="0"/>
              </a:rPr>
              <a:t>&lt;</a:t>
            </a:r>
            <a:r>
              <a:rPr lang="en-US" altLang="zh-CN" dirty="0" err="1">
                <a:latin typeface="Arial Black" panose="020B0A04020102020204" pitchFamily="34" charset="0"/>
              </a:rPr>
              <a:t>keytype,Itemtype</a:t>
            </a:r>
            <a:r>
              <a:rPr lang="en-US" altLang="zh-CN" dirty="0">
                <a:latin typeface="Arial Black" panose="020B0A04020102020204" pitchFamily="34" charset="0"/>
              </a:rPr>
              <a:t>&gt;::hash_find3(</a:t>
            </a:r>
            <a:r>
              <a:rPr lang="en-US" altLang="zh-CN" dirty="0" err="1">
                <a:latin typeface="Arial Black" panose="020B0A04020102020204" pitchFamily="34" charset="0"/>
              </a:rPr>
              <a:t>keytype</a:t>
            </a:r>
            <a:r>
              <a:rPr lang="en-US" altLang="zh-CN" dirty="0">
                <a:latin typeface="Arial Black" panose="020B0A04020102020204" pitchFamily="34" charset="0"/>
              </a:rPr>
              <a:t> x)</a:t>
            </a:r>
          </a:p>
          <a:p>
            <a:r>
              <a:rPr lang="en-US" altLang="zh-CN" dirty="0">
                <a:latin typeface="Arial Black" panose="020B0A04020102020204" pitchFamily="34" charset="0"/>
              </a:rPr>
              <a:t>{	int </a:t>
            </a:r>
            <a:r>
              <a:rPr lang="en-US" altLang="zh-CN" dirty="0" err="1">
                <a:latin typeface="Arial Black" panose="020B0A04020102020204" pitchFamily="34" charset="0"/>
              </a:rPr>
              <a:t>addr,new_addr,di,j,temp</a:t>
            </a:r>
            <a:r>
              <a:rPr lang="en-US" altLang="zh-CN" dirty="0">
                <a:latin typeface="Arial Black" panose="020B0A04020102020204" pitchFamily="34" charset="0"/>
              </a:rPr>
              <a:t>;	bool flag;</a:t>
            </a:r>
          </a:p>
          <a:p>
            <a:r>
              <a:rPr lang="en-US" altLang="zh-CN" dirty="0">
                <a:latin typeface="Arial Black" panose="020B0A04020102020204" pitchFamily="34" charset="0"/>
              </a:rPr>
              <a:t>	</a:t>
            </a:r>
            <a:r>
              <a:rPr lang="en-US" altLang="zh-CN" dirty="0" err="1">
                <a:latin typeface="Arial Black" panose="020B0A04020102020204" pitchFamily="34" charset="0"/>
              </a:rPr>
              <a:t>addr</a:t>
            </a:r>
            <a:r>
              <a:rPr lang="en-US" altLang="zh-CN" dirty="0">
                <a:latin typeface="Arial Black" panose="020B0A04020102020204" pitchFamily="34" charset="0"/>
              </a:rPr>
              <a:t>=</a:t>
            </a:r>
            <a:r>
              <a:rPr lang="en-US" altLang="zh-CN" dirty="0" err="1">
                <a:latin typeface="Arial Black" panose="020B0A04020102020204" pitchFamily="34" charset="0"/>
              </a:rPr>
              <a:t>x%MaxSize</a:t>
            </a:r>
            <a:r>
              <a:rPr lang="en-US" altLang="zh-CN" dirty="0">
                <a:latin typeface="Arial Black" panose="020B0A04020102020204" pitchFamily="34" charset="0"/>
              </a:rPr>
              <a:t>;               //</a:t>
            </a:r>
            <a:r>
              <a:rPr lang="zh-CN" altLang="en-US" dirty="0">
                <a:latin typeface="Arial Black" panose="020B0A04020102020204" pitchFamily="34" charset="0"/>
              </a:rPr>
              <a:t>计算哈希地址</a:t>
            </a:r>
          </a:p>
          <a:p>
            <a:r>
              <a:rPr lang="zh-CN" altLang="en-US" dirty="0">
                <a:latin typeface="Arial Black" panose="020B0A04020102020204" pitchFamily="34" charset="0"/>
              </a:rPr>
              <a:t>	</a:t>
            </a:r>
            <a:r>
              <a:rPr lang="en-US" altLang="zh-CN" dirty="0" err="1">
                <a:latin typeface="Arial Black" panose="020B0A04020102020204" pitchFamily="34" charset="0"/>
              </a:rPr>
              <a:t>new_addr</a:t>
            </a:r>
            <a:r>
              <a:rPr lang="en-US" altLang="zh-CN" dirty="0">
                <a:latin typeface="Arial Black" panose="020B0A04020102020204" pitchFamily="34" charset="0"/>
              </a:rPr>
              <a:t>=</a:t>
            </a:r>
            <a:r>
              <a:rPr lang="en-US" altLang="zh-CN" dirty="0" err="1">
                <a:latin typeface="Arial Black" panose="020B0A04020102020204" pitchFamily="34" charset="0"/>
              </a:rPr>
              <a:t>addr</a:t>
            </a:r>
            <a:r>
              <a:rPr lang="en-US" altLang="zh-CN" dirty="0">
                <a:latin typeface="Arial Black" panose="020B0A04020102020204" pitchFamily="34" charset="0"/>
              </a:rPr>
              <a:t>;</a:t>
            </a:r>
          </a:p>
          <a:p>
            <a:r>
              <a:rPr lang="en-US" altLang="zh-CN" dirty="0">
                <a:latin typeface="Arial Black" panose="020B0A04020102020204" pitchFamily="34" charset="0"/>
              </a:rPr>
              <a:t>	flag=true;           </a:t>
            </a:r>
          </a:p>
          <a:p>
            <a:r>
              <a:rPr lang="en-US" altLang="zh-CN" dirty="0">
                <a:latin typeface="Arial Black" panose="020B0A04020102020204" pitchFamily="34" charset="0"/>
              </a:rPr>
              <a:t>	j=1;</a:t>
            </a:r>
          </a:p>
          <a:p>
            <a:r>
              <a:rPr lang="en-US" altLang="zh-CN" dirty="0">
                <a:latin typeface="Arial Black" panose="020B0A04020102020204" pitchFamily="34" charset="0"/>
              </a:rPr>
              <a:t>	temp=</a:t>
            </a:r>
            <a:r>
              <a:rPr lang="en-US" altLang="zh-CN" dirty="0" err="1">
                <a:latin typeface="Arial Black" panose="020B0A04020102020204" pitchFamily="34" charset="0"/>
              </a:rPr>
              <a:t>new_addr</a:t>
            </a:r>
            <a:r>
              <a:rPr lang="en-US" altLang="zh-CN" dirty="0">
                <a:latin typeface="Arial Black" panose="020B0A04020102020204" pitchFamily="34" charset="0"/>
              </a:rPr>
              <a:t>;                                 //</a:t>
            </a:r>
            <a:r>
              <a:rPr lang="zh-CN" altLang="en-US" dirty="0">
                <a:latin typeface="Arial Black" panose="020B0A04020102020204" pitchFamily="34" charset="0"/>
              </a:rPr>
              <a:t>分量从</a:t>
            </a:r>
            <a:r>
              <a:rPr lang="en-US" altLang="zh-CN" dirty="0">
                <a:latin typeface="Arial Black" panose="020B0A04020102020204" pitchFamily="34" charset="0"/>
              </a:rPr>
              <a:t>1</a:t>
            </a:r>
            <a:r>
              <a:rPr lang="zh-CN" altLang="en-US" dirty="0">
                <a:latin typeface="Arial Black" panose="020B0A04020102020204" pitchFamily="34" charset="0"/>
              </a:rPr>
              <a:t>开始</a:t>
            </a:r>
          </a:p>
          <a:p>
            <a:r>
              <a:rPr lang="zh-CN" altLang="en-US" dirty="0">
                <a:latin typeface="Arial Black" panose="020B0A04020102020204" pitchFamily="34" charset="0"/>
              </a:rPr>
              <a:t>	</a:t>
            </a:r>
            <a:r>
              <a:rPr lang="en-US" altLang="zh-CN" dirty="0">
                <a:latin typeface="Arial Black" panose="020B0A04020102020204" pitchFamily="34" charset="0"/>
              </a:rPr>
              <a:t>while ((R[</a:t>
            </a:r>
            <a:r>
              <a:rPr lang="en-US" altLang="zh-CN" dirty="0" err="1">
                <a:latin typeface="Arial Black" panose="020B0A04020102020204" pitchFamily="34" charset="0"/>
              </a:rPr>
              <a:t>new_addr</a:t>
            </a:r>
            <a:r>
              <a:rPr lang="en-US" altLang="zh-CN" dirty="0">
                <a:latin typeface="Arial Black" panose="020B0A04020102020204" pitchFamily="34" charset="0"/>
              </a:rPr>
              <a:t>].key!=x)&amp;&amp;(R[</a:t>
            </a:r>
            <a:r>
              <a:rPr lang="en-US" altLang="zh-CN" dirty="0" err="1">
                <a:latin typeface="Arial Black" panose="020B0A04020102020204" pitchFamily="34" charset="0"/>
              </a:rPr>
              <a:t>new_addr</a:t>
            </a:r>
            <a:r>
              <a:rPr lang="en-US" altLang="zh-CN" dirty="0">
                <a:latin typeface="Arial Black" panose="020B0A04020102020204" pitchFamily="34" charset="0"/>
              </a:rPr>
              <a:t>].key!=-1))</a:t>
            </a:r>
          </a:p>
          <a:p>
            <a:r>
              <a:rPr lang="en-US" altLang="zh-CN" dirty="0">
                <a:latin typeface="Arial Black" panose="020B0A04020102020204" pitchFamily="34" charset="0"/>
              </a:rPr>
              <a:t>    //</a:t>
            </a:r>
            <a:r>
              <a:rPr lang="zh-CN" altLang="en-US" dirty="0">
                <a:latin typeface="Arial Black" panose="020B0A04020102020204" pitchFamily="34" charset="0"/>
              </a:rPr>
              <a:t>当表中元素不等于</a:t>
            </a:r>
            <a:r>
              <a:rPr lang="en-US" altLang="zh-CN" dirty="0">
                <a:latin typeface="Arial Black" panose="020B0A04020102020204" pitchFamily="34" charset="0"/>
              </a:rPr>
              <a:t>x</a:t>
            </a:r>
            <a:r>
              <a:rPr lang="zh-CN" altLang="en-US" dirty="0">
                <a:latin typeface="Arial Black" panose="020B0A04020102020204" pitchFamily="34" charset="0"/>
              </a:rPr>
              <a:t>，并且不等于</a:t>
            </a:r>
            <a:r>
              <a:rPr lang="en-US" altLang="zh-CN" dirty="0">
                <a:latin typeface="Arial Black" panose="020B0A04020102020204" pitchFamily="34" charset="0"/>
              </a:rPr>
              <a:t>-1</a:t>
            </a:r>
            <a:r>
              <a:rPr lang="zh-CN" altLang="en-US" dirty="0">
                <a:latin typeface="Arial Black" panose="020B0A04020102020204" pitchFamily="34" charset="0"/>
              </a:rPr>
              <a:t>，则计算出新地址再比较</a:t>
            </a:r>
          </a:p>
          <a:p>
            <a:r>
              <a:rPr lang="zh-CN" altLang="en-US" dirty="0">
                <a:latin typeface="Arial Black" panose="020B0A04020102020204" pitchFamily="34" charset="0"/>
              </a:rPr>
              <a:t>    </a:t>
            </a:r>
            <a:r>
              <a:rPr lang="en-US" altLang="zh-CN" dirty="0">
                <a:latin typeface="Arial Black" panose="020B0A04020102020204" pitchFamily="34" charset="0"/>
              </a:rPr>
              <a:t>	{	if (flag)		di=j;		else</a:t>
            </a:r>
          </a:p>
          <a:p>
            <a:r>
              <a:rPr lang="en-US" altLang="zh-CN" dirty="0">
                <a:latin typeface="Arial Black" panose="020B0A04020102020204" pitchFamily="34" charset="0"/>
              </a:rPr>
              <a:t>		{	di=</a:t>
            </a:r>
            <a:r>
              <a:rPr lang="en-US" altLang="zh-CN" dirty="0" err="1">
                <a:latin typeface="Arial Black" panose="020B0A04020102020204" pitchFamily="34" charset="0"/>
              </a:rPr>
              <a:t>MaxSize</a:t>
            </a:r>
            <a:r>
              <a:rPr lang="en-US" altLang="zh-CN" dirty="0">
                <a:latin typeface="Arial Black" panose="020B0A04020102020204" pitchFamily="34" charset="0"/>
              </a:rPr>
              <a:t>-(</a:t>
            </a:r>
            <a:r>
              <a:rPr lang="en-US" altLang="zh-CN" dirty="0" err="1">
                <a:latin typeface="Arial Black" panose="020B0A04020102020204" pitchFamily="34" charset="0"/>
              </a:rPr>
              <a:t>j%MaxSize</a:t>
            </a:r>
            <a:r>
              <a:rPr lang="en-US" altLang="zh-CN" dirty="0">
                <a:latin typeface="Arial Black" panose="020B0A04020102020204" pitchFamily="34" charset="0"/>
              </a:rPr>
              <a:t>);</a:t>
            </a:r>
          </a:p>
          <a:p>
            <a:r>
              <a:rPr lang="en-US" altLang="zh-CN" dirty="0">
                <a:latin typeface="Arial Black" panose="020B0A04020102020204" pitchFamily="34" charset="0"/>
              </a:rPr>
              <a:t>			</a:t>
            </a:r>
            <a:r>
              <a:rPr lang="en-US" altLang="zh-CN" dirty="0" err="1">
                <a:latin typeface="Arial Black" panose="020B0A04020102020204" pitchFamily="34" charset="0"/>
              </a:rPr>
              <a:t>j++</a:t>
            </a:r>
            <a:r>
              <a:rPr lang="en-US" altLang="zh-CN" dirty="0">
                <a:latin typeface="Arial Black" panose="020B0A04020102020204" pitchFamily="34" charset="0"/>
              </a:rPr>
              <a:t>;	}</a:t>
            </a:r>
          </a:p>
          <a:p>
            <a:r>
              <a:rPr lang="en-US" altLang="zh-CN" dirty="0">
                <a:latin typeface="Arial Black" panose="020B0A04020102020204" pitchFamily="34" charset="0"/>
              </a:rPr>
              <a:t>		</a:t>
            </a:r>
            <a:r>
              <a:rPr lang="en-US" altLang="zh-CN" dirty="0" err="1">
                <a:latin typeface="Arial Black" panose="020B0A04020102020204" pitchFamily="34" charset="0"/>
              </a:rPr>
              <a:t>new_addr</a:t>
            </a:r>
            <a:r>
              <a:rPr lang="en-US" altLang="zh-CN" dirty="0">
                <a:latin typeface="Arial Black" panose="020B0A04020102020204" pitchFamily="34" charset="0"/>
              </a:rPr>
              <a:t>=(</a:t>
            </a:r>
            <a:r>
              <a:rPr lang="en-US" altLang="zh-CN" dirty="0" err="1">
                <a:latin typeface="Arial Black" panose="020B0A04020102020204" pitchFamily="34" charset="0"/>
              </a:rPr>
              <a:t>addr+di</a:t>
            </a:r>
            <a:r>
              <a:rPr lang="en-US" altLang="zh-CN" dirty="0">
                <a:latin typeface="Arial Black" panose="020B0A04020102020204" pitchFamily="34" charset="0"/>
              </a:rPr>
              <a:t>)%</a:t>
            </a:r>
            <a:r>
              <a:rPr lang="en-US" altLang="zh-CN" dirty="0" err="1">
                <a:latin typeface="Arial Black" panose="020B0A04020102020204" pitchFamily="34" charset="0"/>
              </a:rPr>
              <a:t>MaxSize</a:t>
            </a:r>
            <a:r>
              <a:rPr lang="en-US" altLang="zh-CN" dirty="0">
                <a:latin typeface="Arial Black" panose="020B0A04020102020204" pitchFamily="34" charset="0"/>
              </a:rPr>
              <a:t>;</a:t>
            </a:r>
          </a:p>
          <a:p>
            <a:r>
              <a:rPr lang="en-US" altLang="zh-CN" dirty="0">
                <a:latin typeface="Arial Black" panose="020B0A04020102020204" pitchFamily="34" charset="0"/>
              </a:rPr>
              <a:t>		if (</a:t>
            </a:r>
            <a:r>
              <a:rPr lang="en-US" altLang="zh-CN" dirty="0" err="1">
                <a:latin typeface="Arial Black" panose="020B0A04020102020204" pitchFamily="34" charset="0"/>
              </a:rPr>
              <a:t>new_addr</a:t>
            </a:r>
            <a:r>
              <a:rPr lang="en-US" altLang="zh-CN" dirty="0">
                <a:latin typeface="Arial Black" panose="020B0A04020102020204" pitchFamily="34" charset="0"/>
              </a:rPr>
              <a:t> == temp) return -1;   //</a:t>
            </a:r>
            <a:r>
              <a:rPr lang="zh-CN" altLang="en-US" dirty="0">
                <a:latin typeface="Arial Black" panose="020B0A04020102020204" pitchFamily="34" charset="0"/>
              </a:rPr>
              <a:t>查找不成功，返回</a:t>
            </a:r>
            <a:r>
              <a:rPr lang="en-US" altLang="zh-CN" dirty="0">
                <a:latin typeface="Arial Black" panose="020B0A04020102020204" pitchFamily="34" charset="0"/>
              </a:rPr>
              <a:t>-1</a:t>
            </a:r>
            <a:r>
              <a:rPr lang="zh-CN" altLang="en-US" dirty="0">
                <a:latin typeface="Arial Black" panose="020B0A04020102020204" pitchFamily="34" charset="0"/>
              </a:rPr>
              <a:t>值</a:t>
            </a:r>
          </a:p>
          <a:p>
            <a:r>
              <a:rPr lang="zh-CN" altLang="en-US" dirty="0">
                <a:latin typeface="Arial Black" panose="020B0A04020102020204" pitchFamily="34" charset="0"/>
              </a:rPr>
              <a:t>		</a:t>
            </a:r>
            <a:r>
              <a:rPr lang="en-US" altLang="zh-CN" dirty="0">
                <a:latin typeface="Arial Black" panose="020B0A04020102020204" pitchFamily="34" charset="0"/>
              </a:rPr>
              <a:t>flag=!flag;	}</a:t>
            </a:r>
          </a:p>
          <a:p>
            <a:r>
              <a:rPr lang="en-US" altLang="zh-CN" dirty="0">
                <a:latin typeface="Arial Black" panose="020B0A04020102020204" pitchFamily="34" charset="0"/>
              </a:rPr>
              <a:t>	if(R[</a:t>
            </a:r>
            <a:r>
              <a:rPr lang="en-US" altLang="zh-CN" dirty="0" err="1">
                <a:latin typeface="Arial Black" panose="020B0A04020102020204" pitchFamily="34" charset="0"/>
              </a:rPr>
              <a:t>new_addr</a:t>
            </a:r>
            <a:r>
              <a:rPr lang="en-US" altLang="zh-CN" dirty="0">
                <a:latin typeface="Arial Black" panose="020B0A04020102020204" pitchFamily="34" charset="0"/>
              </a:rPr>
              <a:t>].key==x)</a:t>
            </a:r>
          </a:p>
          <a:p>
            <a:r>
              <a:rPr lang="en-US" altLang="zh-CN" dirty="0">
                <a:latin typeface="Arial Black" panose="020B0A04020102020204" pitchFamily="34" charset="0"/>
              </a:rPr>
              <a:t>		return </a:t>
            </a:r>
            <a:r>
              <a:rPr lang="en-US" altLang="zh-CN" dirty="0" err="1">
                <a:latin typeface="Arial Black" panose="020B0A04020102020204" pitchFamily="34" charset="0"/>
              </a:rPr>
              <a:t>new_addr</a:t>
            </a:r>
            <a:r>
              <a:rPr lang="en-US" altLang="zh-CN" dirty="0">
                <a:latin typeface="Arial Black" panose="020B0A04020102020204" pitchFamily="34" charset="0"/>
              </a:rPr>
              <a:t>;                    //</a:t>
            </a:r>
            <a:r>
              <a:rPr lang="zh-CN" altLang="en-US" dirty="0">
                <a:latin typeface="Arial Black" panose="020B0A04020102020204" pitchFamily="34" charset="0"/>
              </a:rPr>
              <a:t>查找成功，返回表中位置</a:t>
            </a:r>
          </a:p>
          <a:p>
            <a:r>
              <a:rPr lang="zh-CN" altLang="en-US" dirty="0">
                <a:latin typeface="Arial Black" panose="020B0A04020102020204" pitchFamily="34" charset="0"/>
              </a:rPr>
              <a:t>	</a:t>
            </a:r>
            <a:r>
              <a:rPr lang="en-US" altLang="zh-CN" dirty="0">
                <a:latin typeface="Arial Black" panose="020B0A04020102020204" pitchFamily="34" charset="0"/>
              </a:rPr>
              <a:t>else</a:t>
            </a:r>
          </a:p>
          <a:p>
            <a:r>
              <a:rPr lang="en-US" altLang="zh-CN" dirty="0">
                <a:latin typeface="Arial Black" panose="020B0A04020102020204" pitchFamily="34" charset="0"/>
              </a:rPr>
              <a:t>		return -1;                            //</a:t>
            </a:r>
            <a:r>
              <a:rPr lang="zh-CN" altLang="en-US" dirty="0">
                <a:latin typeface="Arial Black" panose="020B0A04020102020204" pitchFamily="34" charset="0"/>
              </a:rPr>
              <a:t>查找不成功，返回</a:t>
            </a:r>
            <a:r>
              <a:rPr lang="en-US" altLang="zh-CN" dirty="0">
                <a:latin typeface="Arial Black" panose="020B0A04020102020204" pitchFamily="34" charset="0"/>
              </a:rPr>
              <a:t>-1</a:t>
            </a:r>
            <a:r>
              <a:rPr lang="zh-CN" altLang="en-US" dirty="0">
                <a:latin typeface="Arial Black" panose="020B0A04020102020204" pitchFamily="34" charset="0"/>
              </a:rPr>
              <a:t>值</a:t>
            </a:r>
          </a:p>
          <a:p>
            <a:r>
              <a:rPr lang="en-US" altLang="zh-CN" dirty="0">
                <a:latin typeface="Arial Black" panose="020B0A04020102020204" pitchFamily="34" charset="0"/>
              </a:rPr>
              <a:t>}</a:t>
            </a:r>
            <a:endParaRPr lang="zh-CN" altLang="en-US" dirty="0">
              <a:latin typeface="Arial Black" panose="020B0A04020102020204" pitchFamily="34" charset="0"/>
            </a:endParaRPr>
          </a:p>
        </p:txBody>
      </p:sp>
    </p:spTree>
    <p:extLst>
      <p:ext uri="{BB962C8B-B14F-4D97-AF65-F5344CB8AC3E}">
        <p14:creationId xmlns:p14="http://schemas.microsoft.com/office/powerpoint/2010/main" val="91067056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611560" y="1214422"/>
            <a:ext cx="8352928" cy="4734858"/>
          </a:xfrm>
        </p:spPr>
        <p:txBody>
          <a:bodyPr>
            <a:normAutofit/>
          </a:bodyPr>
          <a:lstStyle/>
          <a:p>
            <a:r>
              <a:rPr lang="zh-CN" altLang="en-US" dirty="0">
                <a:solidFill>
                  <a:srgbClr val="FF0000"/>
                </a:solidFill>
              </a:rPr>
              <a:t>（</a:t>
            </a:r>
            <a:r>
              <a:rPr lang="en-US" dirty="0">
                <a:solidFill>
                  <a:srgbClr val="FF0000"/>
                </a:solidFill>
              </a:rPr>
              <a:t>2</a:t>
            </a:r>
            <a:r>
              <a:rPr lang="zh-CN" altLang="en-US" dirty="0">
                <a:solidFill>
                  <a:srgbClr val="FF0000"/>
                </a:solidFill>
              </a:rPr>
              <a:t>）平方探测法</a:t>
            </a:r>
            <a:r>
              <a:rPr lang="zh-CN" altLang="en-US" dirty="0"/>
              <a:t>（</a:t>
            </a:r>
            <a:r>
              <a:rPr lang="en-US" dirty="0"/>
              <a:t>quadratic probing</a:t>
            </a:r>
            <a:r>
              <a:rPr lang="zh-CN" altLang="en-US" dirty="0"/>
              <a:t>）</a:t>
            </a:r>
          </a:p>
          <a:p>
            <a:pPr lvl="1">
              <a:buNone/>
            </a:pPr>
            <a:r>
              <a:rPr lang="en-US" altLang="zh-CN" dirty="0"/>
              <a:t>	</a:t>
            </a:r>
            <a:r>
              <a:rPr lang="zh-CN" altLang="en-US" dirty="0"/>
              <a:t>平方探测法也叫</a:t>
            </a:r>
            <a:r>
              <a:rPr lang="zh-CN" altLang="en-US" b="1" dirty="0">
                <a:solidFill>
                  <a:srgbClr val="FF0000"/>
                </a:solidFill>
              </a:rPr>
              <a:t>二次探测法</a:t>
            </a:r>
            <a:r>
              <a:rPr lang="zh-CN" altLang="en-US" dirty="0"/>
              <a:t>。为了减轻线性探测法产生的局部</a:t>
            </a:r>
            <a:r>
              <a:rPr lang="en-US" dirty="0"/>
              <a:t>“</a:t>
            </a:r>
            <a:r>
              <a:rPr lang="zh-CN" altLang="en-US" dirty="0"/>
              <a:t>堆积</a:t>
            </a:r>
            <a:r>
              <a:rPr lang="en-US" dirty="0"/>
              <a:t>”</a:t>
            </a:r>
            <a:r>
              <a:rPr lang="zh-CN" altLang="en-US" dirty="0"/>
              <a:t>问题。二次探测法采用如下探测方法：</a:t>
            </a:r>
            <a:endParaRPr lang="en-US" altLang="zh-CN" dirty="0"/>
          </a:p>
          <a:p>
            <a:pPr lvl="1">
              <a:buNone/>
            </a:pPr>
            <a:r>
              <a:rPr lang="en-US" altLang="zh-CN" dirty="0"/>
              <a:t>		h</a:t>
            </a:r>
            <a:r>
              <a:rPr lang="en-US" altLang="zh-CN" baseline="-25000" dirty="0"/>
              <a:t>0</a:t>
            </a:r>
            <a:r>
              <a:rPr lang="en-US" altLang="zh-CN" dirty="0"/>
              <a:t> = Hash(key) </a:t>
            </a:r>
          </a:p>
          <a:p>
            <a:pPr lvl="1">
              <a:buNone/>
            </a:pPr>
            <a:r>
              <a:rPr lang="en-US" dirty="0"/>
              <a:t>		h</a:t>
            </a:r>
            <a:r>
              <a:rPr lang="en-US" baseline="-25000" dirty="0"/>
              <a:t>i </a:t>
            </a:r>
            <a:r>
              <a:rPr lang="en-US" dirty="0"/>
              <a:t>= ( h</a:t>
            </a:r>
            <a:r>
              <a:rPr lang="en-US" baseline="-25000" dirty="0"/>
              <a:t>0</a:t>
            </a:r>
            <a:r>
              <a:rPr lang="en-US" dirty="0"/>
              <a:t> + d</a:t>
            </a:r>
            <a:r>
              <a:rPr lang="en-US" baseline="-25000" dirty="0"/>
              <a:t>i</a:t>
            </a:r>
            <a:r>
              <a:rPr lang="en-US" dirty="0"/>
              <a:t> ) % m</a:t>
            </a:r>
            <a:endParaRPr lang="zh-CN" altLang="en-US" dirty="0"/>
          </a:p>
          <a:p>
            <a:pPr lvl="1">
              <a:buNone/>
            </a:pPr>
            <a:r>
              <a:rPr lang="en-US" altLang="zh-CN" b="0" dirty="0"/>
              <a:t>	</a:t>
            </a:r>
            <a:r>
              <a:rPr lang="zh-CN" altLang="en-US" b="0" dirty="0"/>
              <a:t>其中</a:t>
            </a:r>
            <a:r>
              <a:rPr lang="en-US" altLang="zh-CN" b="0" dirty="0"/>
              <a:t>: </a:t>
            </a:r>
            <a:r>
              <a:rPr lang="en-US" b="0" dirty="0"/>
              <a:t>Hash(key)</a:t>
            </a:r>
            <a:r>
              <a:rPr lang="zh-CN" altLang="en-US" b="0" dirty="0"/>
              <a:t>为哈希函数；</a:t>
            </a:r>
            <a:endParaRPr lang="en-US" altLang="zh-CN" b="0" dirty="0"/>
          </a:p>
          <a:p>
            <a:pPr lvl="1">
              <a:buNone/>
            </a:pPr>
            <a:r>
              <a:rPr lang="en-US" b="0" dirty="0"/>
              <a:t>		m</a:t>
            </a:r>
            <a:r>
              <a:rPr lang="zh-CN" altLang="en-US" b="0" dirty="0"/>
              <a:t>为哈希表长度</a:t>
            </a:r>
            <a:r>
              <a:rPr lang="zh-CN" altLang="en-US" dirty="0"/>
              <a:t>。</a:t>
            </a:r>
            <a:endParaRPr lang="en-US" altLang="zh-CN" b="0" dirty="0"/>
          </a:p>
          <a:p>
            <a:pPr lvl="1">
              <a:buNone/>
            </a:pPr>
            <a:r>
              <a:rPr lang="en-US" b="0" dirty="0"/>
              <a:t>		d</a:t>
            </a:r>
            <a:r>
              <a:rPr lang="en-US" b="0" baseline="-25000" dirty="0"/>
              <a:t>i</a:t>
            </a:r>
            <a:r>
              <a:rPr lang="zh-CN" altLang="en-US" b="0" dirty="0"/>
              <a:t>为增量，</a:t>
            </a:r>
            <a:r>
              <a:rPr lang="en-US" b="0" dirty="0" err="1">
                <a:solidFill>
                  <a:srgbClr val="FF0000"/>
                </a:solidFill>
              </a:rPr>
              <a:t>d</a:t>
            </a:r>
            <a:r>
              <a:rPr lang="en-US" b="0" baseline="-25000" dirty="0" err="1">
                <a:solidFill>
                  <a:srgbClr val="FF0000"/>
                </a:solidFill>
              </a:rPr>
              <a:t>i</a:t>
            </a:r>
            <a:r>
              <a:rPr lang="en-US" b="0" dirty="0">
                <a:solidFill>
                  <a:srgbClr val="FF0000"/>
                </a:solidFill>
              </a:rPr>
              <a:t>=i</a:t>
            </a:r>
            <a:r>
              <a:rPr lang="en-US" b="0" baseline="30000" dirty="0">
                <a:solidFill>
                  <a:srgbClr val="FF0000"/>
                </a:solidFill>
              </a:rPr>
              <a:t>2</a:t>
            </a:r>
            <a:r>
              <a:rPr lang="zh-CN" altLang="en-US" b="0" dirty="0"/>
              <a:t>。增量序列为</a:t>
            </a:r>
            <a:r>
              <a:rPr lang="en-US" b="0" dirty="0"/>
              <a:t>1</a:t>
            </a:r>
            <a:r>
              <a:rPr lang="en-US" b="0" baseline="30000" dirty="0"/>
              <a:t>2</a:t>
            </a:r>
            <a:r>
              <a:rPr lang="zh-CN" altLang="en-US" b="0" dirty="0"/>
              <a:t>，</a:t>
            </a:r>
            <a:r>
              <a:rPr lang="en-US" b="0" dirty="0"/>
              <a:t>2</a:t>
            </a:r>
            <a:r>
              <a:rPr lang="en-US" b="0" baseline="30000" dirty="0"/>
              <a:t>2</a:t>
            </a:r>
            <a:r>
              <a:rPr lang="zh-CN" altLang="en-US" b="0" dirty="0"/>
              <a:t>，</a:t>
            </a:r>
            <a:r>
              <a:rPr lang="en-US" b="0" dirty="0"/>
              <a:t>…</a:t>
            </a:r>
            <a:r>
              <a:rPr lang="zh-CN" altLang="en-US" b="0" dirty="0"/>
              <a:t>，</a:t>
            </a:r>
            <a:r>
              <a:rPr lang="en-US" b="0" dirty="0"/>
              <a:t>q</a:t>
            </a:r>
            <a:r>
              <a:rPr lang="en-US" b="0" baseline="30000" dirty="0"/>
              <a:t>2</a:t>
            </a:r>
            <a:r>
              <a:rPr lang="zh-CN" altLang="en-US" b="0" dirty="0"/>
              <a:t>。</a:t>
            </a:r>
          </a:p>
          <a:p>
            <a:r>
              <a:rPr lang="zh-CN" altLang="en-US" b="0" dirty="0"/>
              <a:t>或者，</a:t>
            </a:r>
            <a:r>
              <a:rPr lang="en-US" altLang="zh-CN" b="0" dirty="0" err="1"/>
              <a:t>d</a:t>
            </a:r>
            <a:r>
              <a:rPr lang="en-US" altLang="zh-CN" b="0" baseline="-25000" dirty="0" err="1"/>
              <a:t>i</a:t>
            </a:r>
            <a:r>
              <a:rPr lang="zh-CN" altLang="en-US" b="0" dirty="0"/>
              <a:t>为增量，</a:t>
            </a:r>
            <a:r>
              <a:rPr lang="en-US" altLang="zh-CN" b="0" dirty="0" err="1">
                <a:solidFill>
                  <a:srgbClr val="FF0000"/>
                </a:solidFill>
              </a:rPr>
              <a:t>d</a:t>
            </a:r>
            <a:r>
              <a:rPr lang="en-US" altLang="zh-CN" b="0" baseline="-25000" dirty="0" err="1">
                <a:solidFill>
                  <a:srgbClr val="FF0000"/>
                </a:solidFill>
              </a:rPr>
              <a:t>i</a:t>
            </a:r>
            <a:r>
              <a:rPr lang="en-US" altLang="zh-CN" b="0" dirty="0">
                <a:solidFill>
                  <a:srgbClr val="FF0000"/>
                </a:solidFill>
              </a:rPr>
              <a:t>= ± i</a:t>
            </a:r>
            <a:r>
              <a:rPr lang="en-US" altLang="zh-CN" b="0" baseline="30000" dirty="0">
                <a:solidFill>
                  <a:srgbClr val="FF0000"/>
                </a:solidFill>
              </a:rPr>
              <a:t>2</a:t>
            </a:r>
            <a:r>
              <a:rPr lang="zh-CN" altLang="en-US" b="0" dirty="0"/>
              <a:t>。增量序列为</a:t>
            </a:r>
            <a:r>
              <a:rPr lang="en-US" altLang="zh-CN" b="0" dirty="0"/>
              <a:t>1</a:t>
            </a:r>
            <a:r>
              <a:rPr lang="en-US" altLang="zh-CN" b="0" baseline="30000" dirty="0"/>
              <a:t>2</a:t>
            </a:r>
            <a:r>
              <a:rPr lang="en-US" altLang="zh-CN" b="0" dirty="0"/>
              <a:t>, -1</a:t>
            </a:r>
            <a:r>
              <a:rPr lang="en-US" altLang="zh-CN" b="0" baseline="30000" dirty="0"/>
              <a:t>2</a:t>
            </a:r>
            <a:r>
              <a:rPr lang="en-US" altLang="zh-CN" b="0" dirty="0"/>
              <a:t>,2</a:t>
            </a:r>
            <a:r>
              <a:rPr lang="en-US" altLang="zh-CN" b="0" baseline="30000" dirty="0"/>
              <a:t>2</a:t>
            </a:r>
            <a:r>
              <a:rPr lang="en-US" altLang="zh-CN" b="0" dirty="0"/>
              <a:t>,-2</a:t>
            </a:r>
            <a:r>
              <a:rPr lang="en-US" altLang="zh-CN" b="0" baseline="30000" dirty="0"/>
              <a:t>2</a:t>
            </a:r>
            <a:r>
              <a:rPr lang="en-US" altLang="zh-CN" b="0" dirty="0"/>
              <a:t>,…,q</a:t>
            </a:r>
            <a:r>
              <a:rPr lang="en-US" altLang="zh-CN" b="0" baseline="30000" dirty="0"/>
              <a:t>2</a:t>
            </a:r>
            <a:r>
              <a:rPr lang="en-US" altLang="zh-CN" b="0" dirty="0"/>
              <a:t>,-q</a:t>
            </a:r>
            <a:r>
              <a:rPr lang="en-US" altLang="zh-CN" b="0" baseline="30000" dirty="0"/>
              <a:t>2 </a:t>
            </a:r>
            <a:r>
              <a:rPr lang="zh-CN" altLang="en-US" b="0" dirty="0"/>
              <a:t>。</a:t>
            </a:r>
          </a:p>
        </p:txBody>
      </p:sp>
    </p:spTree>
    <p:extLst>
      <p:ext uri="{BB962C8B-B14F-4D97-AF65-F5344CB8AC3E}">
        <p14:creationId xmlns:p14="http://schemas.microsoft.com/office/powerpoint/2010/main" val="4129093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animEffect transition="in" filter="fade">
                                      <p:cBhvr>
                                        <p:cTn id="7" dur="500"/>
                                        <p:tgtEl>
                                          <p:spTgt spid="4">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5" end="5"/>
                                            </p:txEl>
                                          </p:spTgt>
                                        </p:tgtEl>
                                        <p:attrNameLst>
                                          <p:attrName>style.visibility</p:attrName>
                                        </p:attrNameLst>
                                      </p:cBhvr>
                                      <p:to>
                                        <p:strVal val="visible"/>
                                      </p:to>
                                    </p:set>
                                    <p:animEffect transition="in" filter="fade">
                                      <p:cBhvr>
                                        <p:cTn id="12" dur="500"/>
                                        <p:tgtEl>
                                          <p:spTgt spid="4">
                                            <p:txEl>
                                              <p:pRg st="5" end="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6" end="6"/>
                                            </p:txEl>
                                          </p:spTgt>
                                        </p:tgtEl>
                                        <p:attrNameLst>
                                          <p:attrName>style.visibility</p:attrName>
                                        </p:attrNameLst>
                                      </p:cBhvr>
                                      <p:to>
                                        <p:strVal val="visible"/>
                                      </p:to>
                                    </p:set>
                                    <p:animEffect transition="in" filter="fade">
                                      <p:cBhvr>
                                        <p:cTn id="17" dur="500"/>
                                        <p:tgtEl>
                                          <p:spTgt spid="4">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7" end="7"/>
                                            </p:txEl>
                                          </p:spTgt>
                                        </p:tgtEl>
                                        <p:attrNameLst>
                                          <p:attrName>style.visibility</p:attrName>
                                        </p:attrNameLst>
                                      </p:cBhvr>
                                      <p:to>
                                        <p:strVal val="visible"/>
                                      </p:to>
                                    </p:set>
                                    <p:animEffect transition="in" filter="fade">
                                      <p:cBhvr>
                                        <p:cTn id="22"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552" y="908720"/>
            <a:ext cx="8064896" cy="1584176"/>
          </a:xfrm>
        </p:spPr>
        <p:txBody>
          <a:bodyPr>
            <a:normAutofit/>
          </a:bodyPr>
          <a:lstStyle/>
          <a:p>
            <a:r>
              <a:rPr lang="zh-CN" altLang="zh-CN" sz="2000" dirty="0"/>
              <a:t>【例</a:t>
            </a:r>
            <a:r>
              <a:rPr lang="en-US" altLang="zh-CN" sz="2000" dirty="0"/>
              <a:t>8.4</a:t>
            </a:r>
            <a:r>
              <a:rPr lang="zh-CN" altLang="zh-CN" sz="2000" dirty="0"/>
              <a:t>】</a:t>
            </a:r>
            <a:r>
              <a:rPr lang="zh-CN" altLang="zh-CN" sz="2000" b="0" dirty="0"/>
              <a:t>对一组记录元素的关键字集合</a:t>
            </a:r>
            <a:r>
              <a:rPr lang="en-US" altLang="zh-CN" sz="2000" b="0" dirty="0"/>
              <a:t>{28</a:t>
            </a:r>
            <a:r>
              <a:rPr lang="zh-CN" altLang="zh-CN" sz="2000" b="0" dirty="0"/>
              <a:t>，</a:t>
            </a:r>
            <a:r>
              <a:rPr lang="en-US" altLang="zh-CN" sz="2000" b="0" dirty="0"/>
              <a:t>8</a:t>
            </a:r>
            <a:r>
              <a:rPr lang="zh-CN" altLang="zh-CN" sz="2000" b="0" dirty="0"/>
              <a:t>，</a:t>
            </a:r>
            <a:r>
              <a:rPr lang="en-US" altLang="zh-CN" sz="2000" b="0" dirty="0"/>
              <a:t>21</a:t>
            </a:r>
            <a:r>
              <a:rPr lang="zh-CN" altLang="zh-CN" sz="2000" b="0" dirty="0"/>
              <a:t>，</a:t>
            </a:r>
            <a:r>
              <a:rPr lang="en-US" altLang="zh-CN" sz="2000" b="0" dirty="0"/>
              <a:t>22</a:t>
            </a:r>
            <a:r>
              <a:rPr lang="zh-CN" altLang="zh-CN" sz="2000" b="0" dirty="0"/>
              <a:t>，</a:t>
            </a:r>
            <a:r>
              <a:rPr lang="en-US" altLang="zh-CN" sz="2000" b="0" dirty="0"/>
              <a:t>6</a:t>
            </a:r>
            <a:r>
              <a:rPr lang="zh-CN" altLang="zh-CN" sz="2000" b="0" dirty="0"/>
              <a:t>，</a:t>
            </a:r>
            <a:r>
              <a:rPr lang="en-US" altLang="zh-CN" sz="2000" b="0" dirty="0"/>
              <a:t>27}</a:t>
            </a:r>
            <a:r>
              <a:rPr lang="zh-CN" altLang="zh-CN" sz="2000" b="0" dirty="0"/>
              <a:t>，哈希函数为</a:t>
            </a:r>
            <a:r>
              <a:rPr lang="en-US" altLang="zh-CN" sz="2000" b="0" dirty="0"/>
              <a:t>Hash(key)=key%7</a:t>
            </a:r>
            <a:r>
              <a:rPr lang="zh-CN" altLang="zh-CN" sz="2000" b="0" dirty="0"/>
              <a:t>。利用二次探测法处理冲突，</a:t>
            </a:r>
            <a:r>
              <a:rPr lang="en-US" altLang="zh-CN" sz="2000" b="0" dirty="0"/>
              <a:t>d</a:t>
            </a:r>
            <a:r>
              <a:rPr lang="en-US" altLang="zh-CN" sz="2000" b="0" baseline="-25000" dirty="0"/>
              <a:t>i</a:t>
            </a:r>
            <a:r>
              <a:rPr lang="en-US" altLang="zh-CN" sz="2000" b="0" dirty="0"/>
              <a:t>=i</a:t>
            </a:r>
            <a:r>
              <a:rPr lang="en-US" altLang="zh-CN" sz="2000" b="0" baseline="30000" dirty="0"/>
              <a:t>2</a:t>
            </a:r>
            <a:r>
              <a:rPr lang="zh-CN" altLang="zh-CN" sz="2000" b="0" dirty="0"/>
              <a:t>，将关键字依次映射到哈希表中。</a:t>
            </a:r>
            <a:endParaRPr lang="zh-CN" altLang="en-US" sz="2000" b="0" dirty="0"/>
          </a:p>
        </p:txBody>
      </p:sp>
      <p:pic>
        <p:nvPicPr>
          <p:cNvPr id="819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47764" y="2132856"/>
            <a:ext cx="4248472" cy="39687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0989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194"/>
                                        </p:tgtEl>
                                        <p:attrNameLst>
                                          <p:attrName>style.visibility</p:attrName>
                                        </p:attrNameLst>
                                      </p:cBhvr>
                                      <p:to>
                                        <p:strVal val="visible"/>
                                      </p:to>
                                    </p:set>
                                    <p:animEffect transition="in" filter="fade">
                                      <p:cBhvr>
                                        <p:cTn id="7" dur="500"/>
                                        <p:tgtEl>
                                          <p:spTgt spid="81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2492896"/>
            <a:ext cx="7344816" cy="3579849"/>
          </a:xfrm>
        </p:spPr>
        <p:txBody>
          <a:bodyPr/>
          <a:lstStyle/>
          <a:p>
            <a:r>
              <a:rPr lang="zh-CN" altLang="zh-CN" b="0" dirty="0"/>
              <a:t>采用二次探测法处理冲突时的平均搜索长度为：</a:t>
            </a:r>
          </a:p>
          <a:p>
            <a:endParaRPr lang="en-US" altLang="zh-CN" b="0" dirty="0"/>
          </a:p>
          <a:p>
            <a:endParaRPr lang="en-US" altLang="zh-CN" b="0" dirty="0"/>
          </a:p>
          <a:p>
            <a:endParaRPr lang="en-US" altLang="zh-CN" b="0" dirty="0"/>
          </a:p>
          <a:p>
            <a:r>
              <a:rPr lang="zh-CN" altLang="en-US" dirty="0">
                <a:solidFill>
                  <a:srgbClr val="FF0000"/>
                </a:solidFill>
              </a:rPr>
              <a:t>注意：</a:t>
            </a:r>
            <a:r>
              <a:rPr lang="zh-CN" altLang="zh-CN" b="0" dirty="0">
                <a:solidFill>
                  <a:srgbClr val="FF0000"/>
                </a:solidFill>
              </a:rPr>
              <a:t>二次探查法虽然部分解决了“堆积”的问题，但是二次探测的缺点</a:t>
            </a:r>
            <a:r>
              <a:rPr lang="zh-CN" altLang="en-US" b="0" dirty="0">
                <a:solidFill>
                  <a:srgbClr val="FF0000"/>
                </a:solidFill>
              </a:rPr>
              <a:t>是</a:t>
            </a:r>
            <a:r>
              <a:rPr lang="zh-CN" altLang="en-US" dirty="0">
                <a:solidFill>
                  <a:srgbClr val="FF0000"/>
                </a:solidFill>
              </a:rPr>
              <a:t>不能保证</a:t>
            </a:r>
            <a:r>
              <a:rPr lang="zh-CN" altLang="zh-CN" b="0" dirty="0">
                <a:solidFill>
                  <a:srgbClr val="FF0000"/>
                </a:solidFill>
              </a:rPr>
              <a:t>探测到整个哈希表的所有位置。</a:t>
            </a:r>
          </a:p>
        </p:txBody>
      </p:sp>
      <p:pic>
        <p:nvPicPr>
          <p:cNvPr id="921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03648" y="928913"/>
            <a:ext cx="5942434" cy="13997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19"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03648" y="3212976"/>
            <a:ext cx="6045100" cy="9005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34935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219"/>
                                        </p:tgtEl>
                                        <p:attrNameLst>
                                          <p:attrName>style.visibility</p:attrName>
                                        </p:attrNameLst>
                                      </p:cBhvr>
                                      <p:to>
                                        <p:strVal val="visible"/>
                                      </p:to>
                                    </p:set>
                                    <p:animEffect transition="in" filter="fade">
                                      <p:cBhvr>
                                        <p:cTn id="10" dur="500"/>
                                        <p:tgtEl>
                                          <p:spTgt spid="92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4888B1B-753C-428E-955C-58594E671738}"/>
              </a:ext>
            </a:extLst>
          </p:cNvPr>
          <p:cNvSpPr>
            <a:spLocks noGrp="1"/>
          </p:cNvSpPr>
          <p:nvPr>
            <p:ph type="dt" sz="half" idx="10"/>
          </p:nvPr>
        </p:nvSpPr>
        <p:spPr/>
        <p:txBody>
          <a:bodyPr/>
          <a:lstStyle/>
          <a:p>
            <a:fld id="{9A6B2991-BBE5-4E69-A281-1A8B0AE9CDD7}" type="datetime1">
              <a:rPr lang="zh-CN" altLang="en-US" smtClean="0"/>
              <a:pPr/>
              <a:t>2025/6/3</a:t>
            </a:fld>
            <a:endParaRPr lang="zh-CN" altLang="en-US"/>
          </a:p>
        </p:txBody>
      </p:sp>
      <p:sp>
        <p:nvSpPr>
          <p:cNvPr id="3" name="文本框 2">
            <a:extLst>
              <a:ext uri="{FF2B5EF4-FFF2-40B4-BE49-F238E27FC236}">
                <a16:creationId xmlns:a16="http://schemas.microsoft.com/office/drawing/2014/main" id="{F3FB9439-6CE3-4044-8913-41961973953D}"/>
              </a:ext>
            </a:extLst>
          </p:cNvPr>
          <p:cNvSpPr txBox="1"/>
          <p:nvPr/>
        </p:nvSpPr>
        <p:spPr>
          <a:xfrm>
            <a:off x="971600" y="2247255"/>
            <a:ext cx="7344816" cy="400110"/>
          </a:xfrm>
          <a:prstGeom prst="rect">
            <a:avLst/>
          </a:prstGeom>
          <a:noFill/>
        </p:spPr>
        <p:txBody>
          <a:bodyPr wrap="square">
            <a:spAutoFit/>
          </a:bodyPr>
          <a:lstStyle/>
          <a:p>
            <a:r>
              <a:rPr lang="zh-CN" altLang="en-US" sz="2000" dirty="0">
                <a:latin typeface="Arial Black" panose="020B0A04020102020204" pitchFamily="34" charset="0"/>
              </a:rPr>
              <a:t>0      1      2      3       4      5      6       7       8      </a:t>
            </a:r>
          </a:p>
        </p:txBody>
      </p:sp>
      <p:graphicFrame>
        <p:nvGraphicFramePr>
          <p:cNvPr id="4" name="表格 5">
            <a:extLst>
              <a:ext uri="{FF2B5EF4-FFF2-40B4-BE49-F238E27FC236}">
                <a16:creationId xmlns:a16="http://schemas.microsoft.com/office/drawing/2014/main" id="{EC3E1DB0-497F-43A2-83FA-50149CD15074}"/>
              </a:ext>
            </a:extLst>
          </p:cNvPr>
          <p:cNvGraphicFramePr>
            <a:graphicFrameLocks noGrp="1"/>
          </p:cNvGraphicFramePr>
          <p:nvPr>
            <p:extLst>
              <p:ext uri="{D42A27DB-BD31-4B8C-83A1-F6EECF244321}">
                <p14:modId xmlns:p14="http://schemas.microsoft.com/office/powerpoint/2010/main" val="3303854415"/>
              </p:ext>
            </p:extLst>
          </p:nvPr>
        </p:nvGraphicFramePr>
        <p:xfrm>
          <a:off x="827584" y="2659559"/>
          <a:ext cx="6351102" cy="707886"/>
        </p:xfrm>
        <a:graphic>
          <a:graphicData uri="http://schemas.openxmlformats.org/drawingml/2006/table">
            <a:tbl>
              <a:tblPr firstRow="1" bandRow="1">
                <a:tableStyleId>{5C22544A-7EE6-4342-B048-85BDC9FD1C3A}</a:tableStyleId>
              </a:tblPr>
              <a:tblGrid>
                <a:gridCol w="705678">
                  <a:extLst>
                    <a:ext uri="{9D8B030D-6E8A-4147-A177-3AD203B41FA5}">
                      <a16:colId xmlns:a16="http://schemas.microsoft.com/office/drawing/2014/main" val="1171980984"/>
                    </a:ext>
                  </a:extLst>
                </a:gridCol>
                <a:gridCol w="705678">
                  <a:extLst>
                    <a:ext uri="{9D8B030D-6E8A-4147-A177-3AD203B41FA5}">
                      <a16:colId xmlns:a16="http://schemas.microsoft.com/office/drawing/2014/main" val="2503194978"/>
                    </a:ext>
                  </a:extLst>
                </a:gridCol>
                <a:gridCol w="705678">
                  <a:extLst>
                    <a:ext uri="{9D8B030D-6E8A-4147-A177-3AD203B41FA5}">
                      <a16:colId xmlns:a16="http://schemas.microsoft.com/office/drawing/2014/main" val="939977632"/>
                    </a:ext>
                  </a:extLst>
                </a:gridCol>
                <a:gridCol w="705678">
                  <a:extLst>
                    <a:ext uri="{9D8B030D-6E8A-4147-A177-3AD203B41FA5}">
                      <a16:colId xmlns:a16="http://schemas.microsoft.com/office/drawing/2014/main" val="3229396349"/>
                    </a:ext>
                  </a:extLst>
                </a:gridCol>
                <a:gridCol w="705678">
                  <a:extLst>
                    <a:ext uri="{9D8B030D-6E8A-4147-A177-3AD203B41FA5}">
                      <a16:colId xmlns:a16="http://schemas.microsoft.com/office/drawing/2014/main" val="3596236929"/>
                    </a:ext>
                  </a:extLst>
                </a:gridCol>
                <a:gridCol w="705678">
                  <a:extLst>
                    <a:ext uri="{9D8B030D-6E8A-4147-A177-3AD203B41FA5}">
                      <a16:colId xmlns:a16="http://schemas.microsoft.com/office/drawing/2014/main" val="1995735317"/>
                    </a:ext>
                  </a:extLst>
                </a:gridCol>
                <a:gridCol w="705678">
                  <a:extLst>
                    <a:ext uri="{9D8B030D-6E8A-4147-A177-3AD203B41FA5}">
                      <a16:colId xmlns:a16="http://schemas.microsoft.com/office/drawing/2014/main" val="489352475"/>
                    </a:ext>
                  </a:extLst>
                </a:gridCol>
                <a:gridCol w="705678">
                  <a:extLst>
                    <a:ext uri="{9D8B030D-6E8A-4147-A177-3AD203B41FA5}">
                      <a16:colId xmlns:a16="http://schemas.microsoft.com/office/drawing/2014/main" val="4098136232"/>
                    </a:ext>
                  </a:extLst>
                </a:gridCol>
                <a:gridCol w="705678">
                  <a:extLst>
                    <a:ext uri="{9D8B030D-6E8A-4147-A177-3AD203B41FA5}">
                      <a16:colId xmlns:a16="http://schemas.microsoft.com/office/drawing/2014/main" val="2864950872"/>
                    </a:ext>
                  </a:extLst>
                </a:gridCol>
              </a:tblGrid>
              <a:tr h="707886">
                <a:tc>
                  <a:txBody>
                    <a:bodyPr/>
                    <a:lstStyle/>
                    <a:p>
                      <a:pPr algn="ctr"/>
                      <a:r>
                        <a:rPr lang="en-US" altLang="zh-CN" sz="2800" dirty="0">
                          <a:solidFill>
                            <a:schemeClr val="tx1"/>
                          </a:solidFill>
                          <a:latin typeface="Arial Black" panose="020B0A04020102020204" pitchFamily="34" charset="0"/>
                        </a:rPr>
                        <a:t>63</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78</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11</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57</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21</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59</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87</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43</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35</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extLst>
                  <a:ext uri="{0D108BD9-81ED-4DB2-BD59-A6C34878D82A}">
                    <a16:rowId xmlns:a16="http://schemas.microsoft.com/office/drawing/2014/main" val="3289424096"/>
                  </a:ext>
                </a:extLst>
              </a:tr>
            </a:tbl>
          </a:graphicData>
        </a:graphic>
      </p:graphicFrame>
      <p:sp>
        <p:nvSpPr>
          <p:cNvPr id="5" name="文本框 4">
            <a:extLst>
              <a:ext uri="{FF2B5EF4-FFF2-40B4-BE49-F238E27FC236}">
                <a16:creationId xmlns:a16="http://schemas.microsoft.com/office/drawing/2014/main" id="{79214301-462C-4D5F-80BC-FE7A8B2D7A69}"/>
              </a:ext>
            </a:extLst>
          </p:cNvPr>
          <p:cNvSpPr txBox="1"/>
          <p:nvPr/>
        </p:nvSpPr>
        <p:spPr>
          <a:xfrm>
            <a:off x="899592" y="1383159"/>
            <a:ext cx="5904656" cy="523220"/>
          </a:xfrm>
          <a:prstGeom prst="rect">
            <a:avLst/>
          </a:prstGeom>
          <a:noFill/>
        </p:spPr>
        <p:txBody>
          <a:bodyPr wrap="square" rtlCol="0">
            <a:spAutoFit/>
          </a:bodyPr>
          <a:lstStyle/>
          <a:p>
            <a:r>
              <a:rPr lang="zh-CN" altLang="en-US" sz="2800" b="1" dirty="0">
                <a:solidFill>
                  <a:srgbClr val="FF0000"/>
                </a:solidFill>
              </a:rPr>
              <a:t>单向二次探测再散列，创建哈希表</a:t>
            </a:r>
          </a:p>
        </p:txBody>
      </p:sp>
      <p:sp>
        <p:nvSpPr>
          <p:cNvPr id="6" name="文本框 5">
            <a:extLst>
              <a:ext uri="{FF2B5EF4-FFF2-40B4-BE49-F238E27FC236}">
                <a16:creationId xmlns:a16="http://schemas.microsoft.com/office/drawing/2014/main" id="{3DB92B5A-DB2D-4CF7-98E0-647582F86E54}"/>
              </a:ext>
            </a:extLst>
          </p:cNvPr>
          <p:cNvSpPr txBox="1"/>
          <p:nvPr/>
        </p:nvSpPr>
        <p:spPr>
          <a:xfrm>
            <a:off x="899592" y="3975447"/>
            <a:ext cx="6192688" cy="461665"/>
          </a:xfrm>
          <a:prstGeom prst="rect">
            <a:avLst/>
          </a:prstGeom>
          <a:noFill/>
        </p:spPr>
        <p:txBody>
          <a:bodyPr wrap="square" rtlCol="0">
            <a:spAutoFit/>
          </a:bodyPr>
          <a:lstStyle/>
          <a:p>
            <a:r>
              <a:rPr lang="en-US" altLang="zh-CN" sz="2400" dirty="0">
                <a:latin typeface="Arial Black" panose="020B0A04020102020204" pitchFamily="34" charset="0"/>
              </a:rPr>
              <a:t>ASL=(1+3+1+1+2+1+1+1+1)/9=12/9</a:t>
            </a:r>
            <a:endParaRPr lang="zh-CN" altLang="en-US" sz="2400" dirty="0">
              <a:latin typeface="Arial Black" panose="020B0A04020102020204" pitchFamily="34" charset="0"/>
            </a:endParaRPr>
          </a:p>
        </p:txBody>
      </p:sp>
      <p:sp>
        <p:nvSpPr>
          <p:cNvPr id="7" name="文本框 6">
            <a:extLst>
              <a:ext uri="{FF2B5EF4-FFF2-40B4-BE49-F238E27FC236}">
                <a16:creationId xmlns:a16="http://schemas.microsoft.com/office/drawing/2014/main" id="{E3AEF3E8-798D-48E5-9A6B-88BADA779DD3}"/>
              </a:ext>
            </a:extLst>
          </p:cNvPr>
          <p:cNvSpPr txBox="1"/>
          <p:nvPr/>
        </p:nvSpPr>
        <p:spPr>
          <a:xfrm>
            <a:off x="611560" y="591071"/>
            <a:ext cx="7992888" cy="461665"/>
          </a:xfrm>
          <a:prstGeom prst="rect">
            <a:avLst/>
          </a:prstGeom>
          <a:noFill/>
        </p:spPr>
        <p:txBody>
          <a:bodyPr wrap="square">
            <a:spAutoFit/>
          </a:bodyPr>
          <a:lstStyle/>
          <a:p>
            <a:r>
              <a:rPr lang="zh-CN" altLang="en-US" sz="2400" b="1" dirty="0">
                <a:latin typeface="Arial Black" panose="020B0A04020102020204" pitchFamily="34" charset="0"/>
              </a:rPr>
              <a:t>假设关键字序列： </a:t>
            </a:r>
            <a:r>
              <a:rPr lang="en-US" altLang="zh-CN" sz="2400" b="1" dirty="0">
                <a:latin typeface="Arial Black" panose="020B0A04020102020204" pitchFamily="34" charset="0"/>
              </a:rPr>
              <a:t>{63,87,59,43,57,11,78,21,35}</a:t>
            </a:r>
            <a:endParaRPr lang="zh-CN" altLang="en-US" sz="2400" b="1" dirty="0">
              <a:latin typeface="Arial Black" panose="020B0A04020102020204" pitchFamily="34" charset="0"/>
            </a:endParaRPr>
          </a:p>
        </p:txBody>
      </p:sp>
    </p:spTree>
    <p:extLst>
      <p:ext uri="{BB962C8B-B14F-4D97-AF65-F5344CB8AC3E}">
        <p14:creationId xmlns:p14="http://schemas.microsoft.com/office/powerpoint/2010/main" val="161617550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2399668-09BA-4EF1-9BA4-071A5A8DC58E}"/>
              </a:ext>
            </a:extLst>
          </p:cNvPr>
          <p:cNvSpPr>
            <a:spLocks noGrp="1"/>
          </p:cNvSpPr>
          <p:nvPr>
            <p:ph type="dt" sz="half" idx="10"/>
          </p:nvPr>
        </p:nvSpPr>
        <p:spPr/>
        <p:txBody>
          <a:bodyPr/>
          <a:lstStyle/>
          <a:p>
            <a:fld id="{9A6B2991-BBE5-4E69-A281-1A8B0AE9CDD7}" type="datetime1">
              <a:rPr lang="zh-CN" altLang="en-US" smtClean="0"/>
              <a:pPr/>
              <a:t>2025/6/3</a:t>
            </a:fld>
            <a:endParaRPr lang="zh-CN" altLang="en-US"/>
          </a:p>
        </p:txBody>
      </p:sp>
      <p:sp>
        <p:nvSpPr>
          <p:cNvPr id="3" name="文本框 2">
            <a:extLst>
              <a:ext uri="{FF2B5EF4-FFF2-40B4-BE49-F238E27FC236}">
                <a16:creationId xmlns:a16="http://schemas.microsoft.com/office/drawing/2014/main" id="{70C7E20A-66AA-4767-8B75-A28163F22858}"/>
              </a:ext>
            </a:extLst>
          </p:cNvPr>
          <p:cNvSpPr txBox="1"/>
          <p:nvPr/>
        </p:nvSpPr>
        <p:spPr>
          <a:xfrm>
            <a:off x="107504" y="44624"/>
            <a:ext cx="8928992" cy="6832640"/>
          </a:xfrm>
          <a:prstGeom prst="rect">
            <a:avLst/>
          </a:prstGeom>
          <a:solidFill>
            <a:schemeClr val="accent3">
              <a:lumMod val="40000"/>
              <a:lumOff val="60000"/>
            </a:schemeClr>
          </a:solidFill>
        </p:spPr>
        <p:txBody>
          <a:bodyPr wrap="square" rtlCol="0">
            <a:spAutoFit/>
          </a:bodyPr>
          <a:lstStyle/>
          <a:p>
            <a:r>
              <a:rPr lang="en-US" altLang="zh-CN" sz="2800" b="1" dirty="0">
                <a:solidFill>
                  <a:srgbClr val="FF0000"/>
                </a:solidFill>
                <a:latin typeface="Arial Black" panose="020B0A04020102020204" pitchFamily="34" charset="0"/>
              </a:rPr>
              <a:t>//</a:t>
            </a:r>
            <a:r>
              <a:rPr lang="zh-CN" altLang="en-US" sz="2800" b="1" dirty="0">
                <a:solidFill>
                  <a:srgbClr val="FF0000"/>
                </a:solidFill>
                <a:latin typeface="Arial Black" panose="020B0A04020102020204" pitchFamily="34" charset="0"/>
              </a:rPr>
              <a:t>单向二次探测再散列，建立哈希表</a:t>
            </a:r>
            <a:endParaRPr lang="zh-CN" altLang="en-US" b="1" dirty="0">
              <a:solidFill>
                <a:srgbClr val="FF0000"/>
              </a:solidFill>
              <a:latin typeface="Arial Black" panose="020B0A04020102020204" pitchFamily="34" charset="0"/>
            </a:endParaRPr>
          </a:p>
          <a:p>
            <a:r>
              <a:rPr lang="en-US" altLang="zh-CN" dirty="0">
                <a:latin typeface="Arial Black" panose="020B0A04020102020204" pitchFamily="34" charset="0"/>
              </a:rPr>
              <a:t>template &lt;class </a:t>
            </a:r>
            <a:r>
              <a:rPr lang="en-US" altLang="zh-CN" dirty="0" err="1">
                <a:latin typeface="Arial Black" panose="020B0A04020102020204" pitchFamily="34" charset="0"/>
              </a:rPr>
              <a:t>keytype,class</a:t>
            </a:r>
            <a:r>
              <a:rPr lang="en-US" altLang="zh-CN" dirty="0">
                <a:latin typeface="Arial Black" panose="020B0A04020102020204" pitchFamily="34" charset="0"/>
              </a:rPr>
              <a:t> </a:t>
            </a:r>
            <a:r>
              <a:rPr lang="en-US" altLang="zh-CN" dirty="0" err="1">
                <a:latin typeface="Arial Black" panose="020B0A04020102020204" pitchFamily="34" charset="0"/>
              </a:rPr>
              <a:t>Itemtype</a:t>
            </a:r>
            <a:r>
              <a:rPr lang="en-US" altLang="zh-CN" dirty="0">
                <a:latin typeface="Arial Black" panose="020B0A04020102020204" pitchFamily="34" charset="0"/>
              </a:rPr>
              <a:t>&gt;</a:t>
            </a:r>
          </a:p>
          <a:p>
            <a:r>
              <a:rPr lang="en-US" altLang="zh-CN" dirty="0">
                <a:latin typeface="Arial Black" panose="020B0A04020102020204" pitchFamily="34" charset="0"/>
              </a:rPr>
              <a:t>bool </a:t>
            </a:r>
            <a:r>
              <a:rPr lang="en-US" altLang="zh-CN" dirty="0" err="1">
                <a:latin typeface="Arial Black" panose="020B0A04020102020204" pitchFamily="34" charset="0"/>
              </a:rPr>
              <a:t>recordList</a:t>
            </a:r>
            <a:r>
              <a:rPr lang="en-US" altLang="zh-CN" dirty="0">
                <a:latin typeface="Arial Black" panose="020B0A04020102020204" pitchFamily="34" charset="0"/>
              </a:rPr>
              <a:t>&lt;</a:t>
            </a:r>
            <a:r>
              <a:rPr lang="en-US" altLang="zh-CN" dirty="0" err="1">
                <a:latin typeface="Arial Black" panose="020B0A04020102020204" pitchFamily="34" charset="0"/>
              </a:rPr>
              <a:t>keytype,Itemtype</a:t>
            </a:r>
            <a:r>
              <a:rPr lang="en-US" altLang="zh-CN" dirty="0">
                <a:latin typeface="Arial Black" panose="020B0A04020102020204" pitchFamily="34" charset="0"/>
              </a:rPr>
              <a:t>&gt;::set_hash4(</a:t>
            </a:r>
            <a:r>
              <a:rPr lang="en-US" altLang="zh-CN" dirty="0" err="1">
                <a:latin typeface="Arial Black" panose="020B0A04020102020204" pitchFamily="34" charset="0"/>
              </a:rPr>
              <a:t>keytype</a:t>
            </a:r>
            <a:r>
              <a:rPr lang="en-US" altLang="zh-CN" dirty="0">
                <a:latin typeface="Arial Black" panose="020B0A04020102020204" pitchFamily="34" charset="0"/>
              </a:rPr>
              <a:t> *</a:t>
            </a:r>
            <a:r>
              <a:rPr lang="en-US" altLang="zh-CN" dirty="0" err="1">
                <a:latin typeface="Arial Black" panose="020B0A04020102020204" pitchFamily="34" charset="0"/>
              </a:rPr>
              <a:t>pa,int</a:t>
            </a:r>
            <a:r>
              <a:rPr lang="en-US" altLang="zh-CN" dirty="0">
                <a:latin typeface="Arial Black" panose="020B0A04020102020204" pitchFamily="34" charset="0"/>
              </a:rPr>
              <a:t> n)</a:t>
            </a:r>
          </a:p>
          <a:p>
            <a:r>
              <a:rPr lang="en-US" altLang="zh-CN" dirty="0">
                <a:latin typeface="Arial Black" panose="020B0A04020102020204" pitchFamily="34" charset="0"/>
              </a:rPr>
              <a:t>//n</a:t>
            </a:r>
            <a:r>
              <a:rPr lang="zh-CN" altLang="en-US" dirty="0">
                <a:latin typeface="Arial Black" panose="020B0A04020102020204" pitchFamily="34" charset="0"/>
              </a:rPr>
              <a:t>个数据元素存放在一维数组中，</a:t>
            </a:r>
            <a:r>
              <a:rPr lang="en-US" altLang="zh-CN" dirty="0">
                <a:latin typeface="Arial Black" panose="020B0A04020102020204" pitchFamily="34" charset="0"/>
              </a:rPr>
              <a:t>pa</a:t>
            </a:r>
            <a:r>
              <a:rPr lang="zh-CN" altLang="en-US" dirty="0">
                <a:latin typeface="Arial Black" panose="020B0A04020102020204" pitchFamily="34" charset="0"/>
              </a:rPr>
              <a:t>指向数组的首地址</a:t>
            </a:r>
          </a:p>
          <a:p>
            <a:r>
              <a:rPr lang="en-US" altLang="zh-CN" dirty="0">
                <a:latin typeface="Arial Black" panose="020B0A04020102020204" pitchFamily="34" charset="0"/>
              </a:rPr>
              <a:t>{	int </a:t>
            </a:r>
            <a:r>
              <a:rPr lang="en-US" altLang="zh-CN" dirty="0" err="1">
                <a:latin typeface="Arial Black" panose="020B0A04020102020204" pitchFamily="34" charset="0"/>
              </a:rPr>
              <a:t>addr,new_addr,di,j,temp</a:t>
            </a:r>
            <a:r>
              <a:rPr lang="en-US" altLang="zh-CN" dirty="0">
                <a:latin typeface="Arial Black" panose="020B0A04020102020204" pitchFamily="34" charset="0"/>
              </a:rPr>
              <a:t>;</a:t>
            </a:r>
          </a:p>
          <a:p>
            <a:r>
              <a:rPr lang="en-US" altLang="zh-CN" dirty="0">
                <a:latin typeface="Arial Black" panose="020B0A04020102020204" pitchFamily="34" charset="0"/>
              </a:rPr>
              <a:t>	for(int </a:t>
            </a:r>
            <a:r>
              <a:rPr lang="en-US" altLang="zh-CN" dirty="0" err="1">
                <a:latin typeface="Arial Black" panose="020B0A04020102020204" pitchFamily="34" charset="0"/>
              </a:rPr>
              <a:t>i</a:t>
            </a:r>
            <a:r>
              <a:rPr lang="en-US" altLang="zh-CN" dirty="0">
                <a:latin typeface="Arial Black" panose="020B0A04020102020204" pitchFamily="34" charset="0"/>
              </a:rPr>
              <a:t>=0;i&lt;</a:t>
            </a:r>
            <a:r>
              <a:rPr lang="en-US" altLang="zh-CN" dirty="0" err="1">
                <a:latin typeface="Arial Black" panose="020B0A04020102020204" pitchFamily="34" charset="0"/>
              </a:rPr>
              <a:t>MaxSize;i</a:t>
            </a:r>
            <a:r>
              <a:rPr lang="en-US" altLang="zh-CN" dirty="0">
                <a:latin typeface="Arial Black" panose="020B0A04020102020204" pitchFamily="34" charset="0"/>
              </a:rPr>
              <a:t>++)    //</a:t>
            </a:r>
            <a:r>
              <a:rPr lang="zh-CN" altLang="en-US" dirty="0">
                <a:latin typeface="Arial Black" panose="020B0A04020102020204" pitchFamily="34" charset="0"/>
              </a:rPr>
              <a:t>先将哈希表中元素置</a:t>
            </a:r>
            <a:r>
              <a:rPr lang="en-US" altLang="zh-CN" dirty="0">
                <a:latin typeface="Arial Black" panose="020B0A04020102020204" pitchFamily="34" charset="0"/>
              </a:rPr>
              <a:t>-1</a:t>
            </a:r>
          </a:p>
          <a:p>
            <a:r>
              <a:rPr lang="en-US" altLang="zh-CN" dirty="0">
                <a:latin typeface="Arial Black" panose="020B0A04020102020204" pitchFamily="34" charset="0"/>
              </a:rPr>
              <a:t>	{	R[</a:t>
            </a:r>
            <a:r>
              <a:rPr lang="en-US" altLang="zh-CN" dirty="0" err="1">
                <a:latin typeface="Arial Black" panose="020B0A04020102020204" pitchFamily="34" charset="0"/>
              </a:rPr>
              <a:t>i</a:t>
            </a:r>
            <a:r>
              <a:rPr lang="en-US" altLang="zh-CN" dirty="0">
                <a:latin typeface="Arial Black" panose="020B0A04020102020204" pitchFamily="34" charset="0"/>
              </a:rPr>
              <a:t>].key=-1;	R[</a:t>
            </a:r>
            <a:r>
              <a:rPr lang="en-US" altLang="zh-CN" dirty="0" err="1">
                <a:latin typeface="Arial Black" panose="020B0A04020102020204" pitchFamily="34" charset="0"/>
              </a:rPr>
              <a:t>i</a:t>
            </a:r>
            <a:r>
              <a:rPr lang="en-US" altLang="zh-CN" dirty="0">
                <a:latin typeface="Arial Black" panose="020B0A04020102020204" pitchFamily="34" charset="0"/>
              </a:rPr>
              <a:t>].</a:t>
            </a:r>
            <a:r>
              <a:rPr lang="en-US" altLang="zh-CN" dirty="0" err="1">
                <a:latin typeface="Arial Black" panose="020B0A04020102020204" pitchFamily="34" charset="0"/>
              </a:rPr>
              <a:t>otherinfo</a:t>
            </a:r>
            <a:r>
              <a:rPr lang="en-US" altLang="zh-CN" dirty="0">
                <a:latin typeface="Arial Black" panose="020B0A04020102020204" pitchFamily="34" charset="0"/>
              </a:rPr>
              <a:t>=</a:t>
            </a:r>
            <a:r>
              <a:rPr lang="en-US" altLang="zh-CN" dirty="0" err="1">
                <a:latin typeface="Arial Black" panose="020B0A04020102020204" pitchFamily="34" charset="0"/>
              </a:rPr>
              <a:t>i</a:t>
            </a:r>
            <a:r>
              <a:rPr lang="en-US" altLang="zh-CN" dirty="0">
                <a:latin typeface="Arial Black" panose="020B0A04020102020204" pitchFamily="34" charset="0"/>
              </a:rPr>
              <a:t>;	}	</a:t>
            </a:r>
          </a:p>
          <a:p>
            <a:r>
              <a:rPr lang="en-US" altLang="zh-CN" dirty="0">
                <a:latin typeface="Arial Black" panose="020B0A04020102020204" pitchFamily="34" charset="0"/>
              </a:rPr>
              <a:t>	for(int </a:t>
            </a:r>
            <a:r>
              <a:rPr lang="en-US" altLang="zh-CN" dirty="0" err="1">
                <a:latin typeface="Arial Black" panose="020B0A04020102020204" pitchFamily="34" charset="0"/>
              </a:rPr>
              <a:t>i</a:t>
            </a:r>
            <a:r>
              <a:rPr lang="en-US" altLang="zh-CN" dirty="0">
                <a:latin typeface="Arial Black" panose="020B0A04020102020204" pitchFamily="34" charset="0"/>
              </a:rPr>
              <a:t>=0;i&lt;</a:t>
            </a:r>
            <a:r>
              <a:rPr lang="en-US" altLang="zh-CN" dirty="0" err="1">
                <a:latin typeface="Arial Black" panose="020B0A04020102020204" pitchFamily="34" charset="0"/>
              </a:rPr>
              <a:t>n;i</a:t>
            </a:r>
            <a:r>
              <a:rPr lang="en-US" altLang="zh-CN" dirty="0">
                <a:latin typeface="Arial Black" panose="020B0A04020102020204" pitchFamily="34" charset="0"/>
              </a:rPr>
              <a:t>++)</a:t>
            </a:r>
          </a:p>
          <a:p>
            <a:r>
              <a:rPr lang="en-US" altLang="zh-CN" dirty="0">
                <a:latin typeface="Arial Black" panose="020B0A04020102020204" pitchFamily="34" charset="0"/>
              </a:rPr>
              <a:t>	{	</a:t>
            </a:r>
            <a:r>
              <a:rPr lang="en-US" altLang="zh-CN" dirty="0" err="1">
                <a:latin typeface="Arial Black" panose="020B0A04020102020204" pitchFamily="34" charset="0"/>
              </a:rPr>
              <a:t>addr</a:t>
            </a:r>
            <a:r>
              <a:rPr lang="en-US" altLang="zh-CN" dirty="0">
                <a:latin typeface="Arial Black" panose="020B0A04020102020204" pitchFamily="34" charset="0"/>
              </a:rPr>
              <a:t> = pa[</a:t>
            </a:r>
            <a:r>
              <a:rPr lang="en-US" altLang="zh-CN" dirty="0" err="1">
                <a:latin typeface="Arial Black" panose="020B0A04020102020204" pitchFamily="34" charset="0"/>
              </a:rPr>
              <a:t>i</a:t>
            </a:r>
            <a:r>
              <a:rPr lang="en-US" altLang="zh-CN" dirty="0">
                <a:latin typeface="Arial Black" panose="020B0A04020102020204" pitchFamily="34" charset="0"/>
              </a:rPr>
              <a:t>] % </a:t>
            </a:r>
            <a:r>
              <a:rPr lang="en-US" altLang="zh-CN" dirty="0" err="1">
                <a:latin typeface="Arial Black" panose="020B0A04020102020204" pitchFamily="34" charset="0"/>
              </a:rPr>
              <a:t>MaxSize</a:t>
            </a:r>
            <a:r>
              <a:rPr lang="en-US" altLang="zh-CN" dirty="0">
                <a:latin typeface="Arial Black" panose="020B0A04020102020204" pitchFamily="34" charset="0"/>
              </a:rPr>
              <a:t>;             //</a:t>
            </a:r>
            <a:r>
              <a:rPr lang="zh-CN" altLang="en-US" dirty="0">
                <a:latin typeface="Arial Black" panose="020B0A04020102020204" pitchFamily="34" charset="0"/>
              </a:rPr>
              <a:t>计算哈希地址</a:t>
            </a:r>
          </a:p>
          <a:p>
            <a:r>
              <a:rPr lang="zh-CN" altLang="en-US" dirty="0">
                <a:latin typeface="Arial Black" panose="020B0A04020102020204" pitchFamily="34" charset="0"/>
              </a:rPr>
              <a:t>		</a:t>
            </a:r>
            <a:r>
              <a:rPr lang="en-US" altLang="zh-CN" dirty="0" err="1">
                <a:latin typeface="Arial Black" panose="020B0A04020102020204" pitchFamily="34" charset="0"/>
              </a:rPr>
              <a:t>new_addr</a:t>
            </a:r>
            <a:r>
              <a:rPr lang="en-US" altLang="zh-CN" dirty="0">
                <a:latin typeface="Arial Black" panose="020B0A04020102020204" pitchFamily="34" charset="0"/>
              </a:rPr>
              <a:t> = </a:t>
            </a:r>
            <a:r>
              <a:rPr lang="en-US" altLang="zh-CN" dirty="0" err="1">
                <a:latin typeface="Arial Black" panose="020B0A04020102020204" pitchFamily="34" charset="0"/>
              </a:rPr>
              <a:t>addr</a:t>
            </a:r>
            <a:r>
              <a:rPr lang="en-US" altLang="zh-CN" dirty="0">
                <a:latin typeface="Arial Black" panose="020B0A04020102020204" pitchFamily="34" charset="0"/>
              </a:rPr>
              <a:t>;                        //</a:t>
            </a:r>
            <a:r>
              <a:rPr lang="zh-CN" altLang="en-US" dirty="0">
                <a:latin typeface="Arial Black" panose="020B0A04020102020204" pitchFamily="34" charset="0"/>
              </a:rPr>
              <a:t>又假设为新地址</a:t>
            </a:r>
          </a:p>
          <a:p>
            <a:r>
              <a:rPr lang="zh-CN" altLang="en-US" dirty="0">
                <a:latin typeface="Arial Black" panose="020B0A04020102020204" pitchFamily="34" charset="0"/>
              </a:rPr>
              <a:t>		</a:t>
            </a:r>
            <a:r>
              <a:rPr lang="en-US" altLang="zh-CN" dirty="0">
                <a:latin typeface="Arial Black" panose="020B0A04020102020204" pitchFamily="34" charset="0"/>
              </a:rPr>
              <a:t>j=1;</a:t>
            </a:r>
          </a:p>
          <a:p>
            <a:r>
              <a:rPr lang="en-US" altLang="zh-CN" dirty="0">
                <a:latin typeface="Arial Black" panose="020B0A04020102020204" pitchFamily="34" charset="0"/>
              </a:rPr>
              <a:t>		temp=</a:t>
            </a:r>
            <a:r>
              <a:rPr lang="en-US" altLang="zh-CN" dirty="0" err="1">
                <a:latin typeface="Arial Black" panose="020B0A04020102020204" pitchFamily="34" charset="0"/>
              </a:rPr>
              <a:t>new_addr</a:t>
            </a:r>
            <a:r>
              <a:rPr lang="en-US" altLang="zh-CN" dirty="0">
                <a:latin typeface="Arial Black" panose="020B0A04020102020204" pitchFamily="34" charset="0"/>
              </a:rPr>
              <a:t>;</a:t>
            </a:r>
          </a:p>
          <a:p>
            <a:r>
              <a:rPr lang="en-US" altLang="zh-CN" dirty="0">
                <a:latin typeface="Arial Black" panose="020B0A04020102020204" pitchFamily="34" charset="0"/>
              </a:rPr>
              <a:t>		while(R[</a:t>
            </a:r>
            <a:r>
              <a:rPr lang="en-US" altLang="zh-CN" dirty="0" err="1">
                <a:latin typeface="Arial Black" panose="020B0A04020102020204" pitchFamily="34" charset="0"/>
              </a:rPr>
              <a:t>new_addr</a:t>
            </a:r>
            <a:r>
              <a:rPr lang="en-US" altLang="zh-CN" dirty="0">
                <a:latin typeface="Arial Black" panose="020B0A04020102020204" pitchFamily="34" charset="0"/>
              </a:rPr>
              <a:t>].key!=-1)        //</a:t>
            </a:r>
            <a:r>
              <a:rPr lang="zh-CN" altLang="en-US" dirty="0">
                <a:latin typeface="Arial Black" panose="020B0A04020102020204" pitchFamily="34" charset="0"/>
              </a:rPr>
              <a:t>循环搜索表中空闲单元</a:t>
            </a:r>
          </a:p>
          <a:p>
            <a:r>
              <a:rPr lang="zh-CN" altLang="en-US" dirty="0">
                <a:latin typeface="Arial Black" panose="020B0A04020102020204" pitchFamily="34" charset="0"/>
              </a:rPr>
              <a:t>        </a:t>
            </a:r>
            <a:r>
              <a:rPr lang="en-US" altLang="zh-CN" dirty="0">
                <a:latin typeface="Arial Black" panose="020B0A04020102020204" pitchFamily="34" charset="0"/>
              </a:rPr>
              <a:t>		{        	di=j*j;</a:t>
            </a:r>
          </a:p>
          <a:p>
            <a:r>
              <a:rPr lang="en-US" altLang="zh-CN" dirty="0">
                <a:latin typeface="Arial Black" panose="020B0A04020102020204" pitchFamily="34" charset="0"/>
              </a:rPr>
              <a:t>			</a:t>
            </a:r>
            <a:r>
              <a:rPr lang="en-US" altLang="zh-CN" dirty="0" err="1">
                <a:latin typeface="Arial Black" panose="020B0A04020102020204" pitchFamily="34" charset="0"/>
              </a:rPr>
              <a:t>new_addr</a:t>
            </a:r>
            <a:r>
              <a:rPr lang="en-US" altLang="zh-CN" dirty="0">
                <a:latin typeface="Arial Black" panose="020B0A04020102020204" pitchFamily="34" charset="0"/>
              </a:rPr>
              <a:t> = (</a:t>
            </a:r>
            <a:r>
              <a:rPr lang="en-US" altLang="zh-CN" dirty="0" err="1">
                <a:latin typeface="Arial Black" panose="020B0A04020102020204" pitchFamily="34" charset="0"/>
              </a:rPr>
              <a:t>addr+di</a:t>
            </a:r>
            <a:r>
              <a:rPr lang="en-US" altLang="zh-CN" dirty="0">
                <a:latin typeface="Arial Black" panose="020B0A04020102020204" pitchFamily="34" charset="0"/>
              </a:rPr>
              <a:t>) % </a:t>
            </a:r>
            <a:r>
              <a:rPr lang="en-US" altLang="zh-CN" dirty="0" err="1">
                <a:latin typeface="Arial Black" panose="020B0A04020102020204" pitchFamily="34" charset="0"/>
              </a:rPr>
              <a:t>MaxSize</a:t>
            </a:r>
            <a:r>
              <a:rPr lang="en-US" altLang="zh-CN" dirty="0">
                <a:latin typeface="Arial Black" panose="020B0A04020102020204" pitchFamily="34" charset="0"/>
              </a:rPr>
              <a:t>;  //</a:t>
            </a:r>
            <a:r>
              <a:rPr lang="zh-CN" altLang="en-US" dirty="0">
                <a:latin typeface="Arial Black" panose="020B0A04020102020204" pitchFamily="34" charset="0"/>
              </a:rPr>
              <a:t>计算新地址</a:t>
            </a:r>
          </a:p>
          <a:p>
            <a:r>
              <a:rPr lang="zh-CN" altLang="en-US" dirty="0">
                <a:latin typeface="Arial Black" panose="020B0A04020102020204" pitchFamily="34" charset="0"/>
              </a:rPr>
              <a:t>			</a:t>
            </a:r>
            <a:r>
              <a:rPr lang="en-US" altLang="zh-CN" dirty="0">
                <a:latin typeface="Arial Black" panose="020B0A04020102020204" pitchFamily="34" charset="0"/>
              </a:rPr>
              <a:t>if (</a:t>
            </a:r>
            <a:r>
              <a:rPr lang="en-US" altLang="zh-CN" dirty="0" err="1">
                <a:latin typeface="Arial Black" panose="020B0A04020102020204" pitchFamily="34" charset="0"/>
              </a:rPr>
              <a:t>new_addr</a:t>
            </a:r>
            <a:r>
              <a:rPr lang="en-US" altLang="zh-CN" dirty="0">
                <a:latin typeface="Arial Black" panose="020B0A04020102020204" pitchFamily="34" charset="0"/>
              </a:rPr>
              <a:t> == temp) return false;  	//</a:t>
            </a:r>
            <a:r>
              <a:rPr lang="zh-CN" altLang="en-US" dirty="0">
                <a:latin typeface="Arial Black" panose="020B0A04020102020204" pitchFamily="34" charset="0"/>
              </a:rPr>
              <a:t>查找完所有位置后表示无法插入			</a:t>
            </a:r>
          </a:p>
          <a:p>
            <a:r>
              <a:rPr lang="zh-CN" altLang="en-US" dirty="0">
                <a:latin typeface="Arial Black" panose="020B0A04020102020204" pitchFamily="34" charset="0"/>
              </a:rPr>
              <a:t>			</a:t>
            </a:r>
            <a:r>
              <a:rPr lang="en-US" altLang="zh-CN" dirty="0" err="1">
                <a:latin typeface="Arial Black" panose="020B0A04020102020204" pitchFamily="34" charset="0"/>
              </a:rPr>
              <a:t>j++</a:t>
            </a:r>
            <a:r>
              <a:rPr lang="en-US" altLang="zh-CN" dirty="0">
                <a:latin typeface="Arial Black" panose="020B0A04020102020204" pitchFamily="34" charset="0"/>
              </a:rPr>
              <a:t>;	}</a:t>
            </a:r>
          </a:p>
          <a:p>
            <a:r>
              <a:rPr lang="en-US" altLang="zh-CN" dirty="0">
                <a:latin typeface="Arial Black" panose="020B0A04020102020204" pitchFamily="34" charset="0"/>
              </a:rPr>
              <a:t>		R[</a:t>
            </a:r>
            <a:r>
              <a:rPr lang="en-US" altLang="zh-CN" dirty="0" err="1">
                <a:latin typeface="Arial Black" panose="020B0A04020102020204" pitchFamily="34" charset="0"/>
              </a:rPr>
              <a:t>new_addr</a:t>
            </a:r>
            <a:r>
              <a:rPr lang="en-US" altLang="zh-CN" dirty="0">
                <a:latin typeface="Arial Black" panose="020B0A04020102020204" pitchFamily="34" charset="0"/>
              </a:rPr>
              <a:t>].</a:t>
            </a:r>
            <a:r>
              <a:rPr lang="en-US" altLang="zh-CN" dirty="0" err="1">
                <a:latin typeface="Arial Black" panose="020B0A04020102020204" pitchFamily="34" charset="0"/>
              </a:rPr>
              <a:t>otherinfo</a:t>
            </a:r>
            <a:r>
              <a:rPr lang="en-US" altLang="zh-CN" dirty="0">
                <a:latin typeface="Arial Black" panose="020B0A04020102020204" pitchFamily="34" charset="0"/>
              </a:rPr>
              <a:t> = </a:t>
            </a:r>
            <a:r>
              <a:rPr lang="en-US" altLang="zh-CN" dirty="0" err="1">
                <a:latin typeface="Arial Black" panose="020B0A04020102020204" pitchFamily="34" charset="0"/>
              </a:rPr>
              <a:t>new_addr</a:t>
            </a:r>
            <a:r>
              <a:rPr lang="en-US" altLang="zh-CN" dirty="0">
                <a:latin typeface="Arial Black" panose="020B0A04020102020204" pitchFamily="34" charset="0"/>
              </a:rPr>
              <a:t>;</a:t>
            </a:r>
          </a:p>
          <a:p>
            <a:r>
              <a:rPr lang="en-US" altLang="zh-CN" dirty="0">
                <a:latin typeface="Arial Black" panose="020B0A04020102020204" pitchFamily="34" charset="0"/>
              </a:rPr>
              <a:t>		R[</a:t>
            </a:r>
            <a:r>
              <a:rPr lang="en-US" altLang="zh-CN" dirty="0" err="1">
                <a:latin typeface="Arial Black" panose="020B0A04020102020204" pitchFamily="34" charset="0"/>
              </a:rPr>
              <a:t>new_addr</a:t>
            </a:r>
            <a:r>
              <a:rPr lang="en-US" altLang="zh-CN" dirty="0">
                <a:latin typeface="Arial Black" panose="020B0A04020102020204" pitchFamily="34" charset="0"/>
              </a:rPr>
              <a:t>].key = pa[</a:t>
            </a:r>
            <a:r>
              <a:rPr lang="en-US" altLang="zh-CN" dirty="0" err="1">
                <a:latin typeface="Arial Black" panose="020B0A04020102020204" pitchFamily="34" charset="0"/>
              </a:rPr>
              <a:t>i</a:t>
            </a:r>
            <a:r>
              <a:rPr lang="en-US" altLang="zh-CN" dirty="0">
                <a:latin typeface="Arial Black" panose="020B0A04020102020204" pitchFamily="34" charset="0"/>
              </a:rPr>
              <a:t>];</a:t>
            </a:r>
          </a:p>
          <a:p>
            <a:r>
              <a:rPr lang="en-US" altLang="zh-CN" dirty="0">
                <a:latin typeface="Arial Black" panose="020B0A04020102020204" pitchFamily="34" charset="0"/>
              </a:rPr>
              <a:t>		</a:t>
            </a:r>
            <a:r>
              <a:rPr lang="en-US" altLang="zh-CN" dirty="0" err="1">
                <a:latin typeface="Arial Black" panose="020B0A04020102020204" pitchFamily="34" charset="0"/>
              </a:rPr>
              <a:t>CurrentSize</a:t>
            </a:r>
            <a:r>
              <a:rPr lang="en-US" altLang="zh-CN" dirty="0">
                <a:latin typeface="Arial Black" panose="020B0A04020102020204" pitchFamily="34" charset="0"/>
              </a:rPr>
              <a:t>++;	</a:t>
            </a:r>
          </a:p>
          <a:p>
            <a:r>
              <a:rPr lang="en-US" altLang="zh-CN" dirty="0">
                <a:latin typeface="Arial Black" panose="020B0A04020102020204" pitchFamily="34" charset="0"/>
              </a:rPr>
              <a:t>	}</a:t>
            </a:r>
          </a:p>
          <a:p>
            <a:r>
              <a:rPr lang="en-US" altLang="zh-CN" dirty="0">
                <a:latin typeface="Arial Black" panose="020B0A04020102020204" pitchFamily="34" charset="0"/>
              </a:rPr>
              <a:t>	return true;</a:t>
            </a:r>
          </a:p>
          <a:p>
            <a:r>
              <a:rPr lang="en-US" altLang="zh-CN" dirty="0">
                <a:latin typeface="Arial Black" panose="020B0A04020102020204" pitchFamily="34" charset="0"/>
              </a:rPr>
              <a:t>}</a:t>
            </a:r>
            <a:endParaRPr lang="zh-CN" altLang="en-US" dirty="0">
              <a:latin typeface="Arial Black" panose="020B0A04020102020204" pitchFamily="34" charset="0"/>
            </a:endParaRPr>
          </a:p>
        </p:txBody>
      </p:sp>
    </p:spTree>
    <p:extLst>
      <p:ext uri="{BB962C8B-B14F-4D97-AF65-F5344CB8AC3E}">
        <p14:creationId xmlns:p14="http://schemas.microsoft.com/office/powerpoint/2010/main" val="63970172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FBFEC69-8793-44B4-B530-A17681EA92AE}"/>
              </a:ext>
            </a:extLst>
          </p:cNvPr>
          <p:cNvSpPr>
            <a:spLocks noGrp="1"/>
          </p:cNvSpPr>
          <p:nvPr>
            <p:ph type="dt" sz="half" idx="10"/>
          </p:nvPr>
        </p:nvSpPr>
        <p:spPr/>
        <p:txBody>
          <a:bodyPr/>
          <a:lstStyle/>
          <a:p>
            <a:fld id="{9A6B2991-BBE5-4E69-A281-1A8B0AE9CDD7}" type="datetime1">
              <a:rPr lang="zh-CN" altLang="en-US" smtClean="0"/>
              <a:pPr/>
              <a:t>2025/6/3</a:t>
            </a:fld>
            <a:endParaRPr lang="zh-CN" altLang="en-US"/>
          </a:p>
        </p:txBody>
      </p:sp>
      <p:sp>
        <p:nvSpPr>
          <p:cNvPr id="3" name="文本框 2">
            <a:extLst>
              <a:ext uri="{FF2B5EF4-FFF2-40B4-BE49-F238E27FC236}">
                <a16:creationId xmlns:a16="http://schemas.microsoft.com/office/drawing/2014/main" id="{8BCC9A35-F36D-4585-873D-B7955F6835C5}"/>
              </a:ext>
            </a:extLst>
          </p:cNvPr>
          <p:cNvSpPr txBox="1"/>
          <p:nvPr/>
        </p:nvSpPr>
        <p:spPr>
          <a:xfrm>
            <a:off x="107504" y="116632"/>
            <a:ext cx="8928992" cy="6309420"/>
          </a:xfrm>
          <a:prstGeom prst="rect">
            <a:avLst/>
          </a:prstGeom>
          <a:solidFill>
            <a:schemeClr val="accent3">
              <a:lumMod val="40000"/>
              <a:lumOff val="60000"/>
            </a:schemeClr>
          </a:solidFill>
        </p:spPr>
        <p:txBody>
          <a:bodyPr wrap="square" rtlCol="0">
            <a:spAutoFit/>
          </a:bodyPr>
          <a:lstStyle/>
          <a:p>
            <a:r>
              <a:rPr lang="en-US" altLang="zh-CN" sz="2800" b="1" dirty="0">
                <a:solidFill>
                  <a:srgbClr val="FF0000"/>
                </a:solidFill>
                <a:latin typeface="Arial Black" panose="020B0A04020102020204" pitchFamily="34" charset="0"/>
              </a:rPr>
              <a:t>//</a:t>
            </a:r>
            <a:r>
              <a:rPr lang="zh-CN" altLang="en-US" sz="2800" b="1" dirty="0">
                <a:solidFill>
                  <a:srgbClr val="FF0000"/>
                </a:solidFill>
                <a:latin typeface="Arial Black" panose="020B0A04020102020204" pitchFamily="34" charset="0"/>
              </a:rPr>
              <a:t>哈希查找函数，单向二次探测再散列</a:t>
            </a:r>
          </a:p>
          <a:p>
            <a:r>
              <a:rPr lang="en-US" altLang="zh-CN" sz="2000" dirty="0">
                <a:latin typeface="Arial Black" panose="020B0A04020102020204" pitchFamily="34" charset="0"/>
              </a:rPr>
              <a:t>template &lt;class </a:t>
            </a:r>
            <a:r>
              <a:rPr lang="en-US" altLang="zh-CN" sz="2000" dirty="0" err="1">
                <a:latin typeface="Arial Black" panose="020B0A04020102020204" pitchFamily="34" charset="0"/>
              </a:rPr>
              <a:t>keytype,class</a:t>
            </a:r>
            <a:r>
              <a:rPr lang="en-US" altLang="zh-CN" sz="2000" dirty="0">
                <a:latin typeface="Arial Black" panose="020B0A04020102020204" pitchFamily="34" charset="0"/>
              </a:rPr>
              <a:t> </a:t>
            </a:r>
            <a:r>
              <a:rPr lang="en-US" altLang="zh-CN" sz="2000" dirty="0" err="1">
                <a:latin typeface="Arial Black" panose="020B0A04020102020204" pitchFamily="34" charset="0"/>
              </a:rPr>
              <a:t>Itemtype</a:t>
            </a:r>
            <a:r>
              <a:rPr lang="en-US" altLang="zh-CN" sz="2000" dirty="0">
                <a:latin typeface="Arial Black" panose="020B0A04020102020204" pitchFamily="34" charset="0"/>
              </a:rPr>
              <a:t>&gt;</a:t>
            </a:r>
          </a:p>
          <a:p>
            <a:r>
              <a:rPr lang="en-US" altLang="zh-CN" sz="2000" dirty="0">
                <a:latin typeface="Arial Black" panose="020B0A04020102020204" pitchFamily="34" charset="0"/>
              </a:rPr>
              <a:t>int </a:t>
            </a:r>
            <a:r>
              <a:rPr lang="en-US" altLang="zh-CN" sz="2000" dirty="0" err="1">
                <a:latin typeface="Arial Black" panose="020B0A04020102020204" pitchFamily="34" charset="0"/>
              </a:rPr>
              <a:t>recordList</a:t>
            </a:r>
            <a:r>
              <a:rPr lang="en-US" altLang="zh-CN" sz="2000" dirty="0">
                <a:latin typeface="Arial Black" panose="020B0A04020102020204" pitchFamily="34" charset="0"/>
              </a:rPr>
              <a:t>&lt;</a:t>
            </a:r>
            <a:r>
              <a:rPr lang="en-US" altLang="zh-CN" sz="2000" dirty="0" err="1">
                <a:latin typeface="Arial Black" panose="020B0A04020102020204" pitchFamily="34" charset="0"/>
              </a:rPr>
              <a:t>keytype,Itemtype</a:t>
            </a:r>
            <a:r>
              <a:rPr lang="en-US" altLang="zh-CN" sz="2000" dirty="0">
                <a:latin typeface="Arial Black" panose="020B0A04020102020204" pitchFamily="34" charset="0"/>
              </a:rPr>
              <a:t>&gt;::hash_find4(</a:t>
            </a:r>
            <a:r>
              <a:rPr lang="en-US" altLang="zh-CN" sz="2000" dirty="0" err="1">
                <a:latin typeface="Arial Black" panose="020B0A04020102020204" pitchFamily="34" charset="0"/>
              </a:rPr>
              <a:t>keytype</a:t>
            </a:r>
            <a:r>
              <a:rPr lang="en-US" altLang="zh-CN" sz="2000" dirty="0">
                <a:latin typeface="Arial Black" panose="020B0A04020102020204" pitchFamily="34" charset="0"/>
              </a:rPr>
              <a:t> x)</a:t>
            </a:r>
          </a:p>
          <a:p>
            <a:r>
              <a:rPr lang="en-US" altLang="zh-CN" sz="2000" dirty="0">
                <a:latin typeface="Arial Black" panose="020B0A04020102020204" pitchFamily="34" charset="0"/>
              </a:rPr>
              <a:t>{	int </a:t>
            </a:r>
            <a:r>
              <a:rPr lang="en-US" altLang="zh-CN" sz="2000" dirty="0" err="1">
                <a:latin typeface="Arial Black" panose="020B0A04020102020204" pitchFamily="34" charset="0"/>
              </a:rPr>
              <a:t>addr,new_addr,di,j,temp</a:t>
            </a:r>
            <a:r>
              <a:rPr lang="en-US" altLang="zh-CN" sz="2000" dirty="0">
                <a:latin typeface="Arial Black" panose="020B0A04020102020204" pitchFamily="34" charset="0"/>
              </a:rPr>
              <a:t>;</a:t>
            </a:r>
          </a:p>
          <a:p>
            <a:r>
              <a:rPr lang="en-US" altLang="zh-CN" sz="2000" dirty="0">
                <a:latin typeface="Arial Black" panose="020B0A04020102020204" pitchFamily="34" charset="0"/>
              </a:rPr>
              <a:t>	</a:t>
            </a:r>
            <a:r>
              <a:rPr lang="en-US" altLang="zh-CN" sz="2000" dirty="0" err="1">
                <a:latin typeface="Arial Black" panose="020B0A04020102020204" pitchFamily="34" charset="0"/>
              </a:rPr>
              <a:t>keytype</a:t>
            </a:r>
            <a:r>
              <a:rPr lang="en-US" altLang="zh-CN" sz="2000" dirty="0">
                <a:latin typeface="Arial Black" panose="020B0A04020102020204" pitchFamily="34" charset="0"/>
              </a:rPr>
              <a:t> </a:t>
            </a:r>
            <a:r>
              <a:rPr lang="en-US" altLang="zh-CN" sz="2000" dirty="0" err="1">
                <a:latin typeface="Arial Black" panose="020B0A04020102020204" pitchFamily="34" charset="0"/>
              </a:rPr>
              <a:t>data_key</a:t>
            </a:r>
            <a:r>
              <a:rPr lang="en-US" altLang="zh-CN" sz="2000" dirty="0">
                <a:latin typeface="Arial Black" panose="020B0A04020102020204" pitchFamily="34" charset="0"/>
              </a:rPr>
              <a:t>=x;</a:t>
            </a:r>
          </a:p>
          <a:p>
            <a:r>
              <a:rPr lang="en-US" altLang="zh-CN" sz="2000" dirty="0">
                <a:latin typeface="Arial Black" panose="020B0A04020102020204" pitchFamily="34" charset="0"/>
              </a:rPr>
              <a:t>	</a:t>
            </a:r>
            <a:r>
              <a:rPr lang="en-US" altLang="zh-CN" sz="2000" dirty="0" err="1">
                <a:latin typeface="Arial Black" panose="020B0A04020102020204" pitchFamily="34" charset="0"/>
              </a:rPr>
              <a:t>addr</a:t>
            </a:r>
            <a:r>
              <a:rPr lang="en-US" altLang="zh-CN" sz="2000" dirty="0">
                <a:latin typeface="Arial Black" panose="020B0A04020102020204" pitchFamily="34" charset="0"/>
              </a:rPr>
              <a:t>=</a:t>
            </a:r>
            <a:r>
              <a:rPr lang="en-US" altLang="zh-CN" sz="2000" dirty="0" err="1">
                <a:latin typeface="Arial Black" panose="020B0A04020102020204" pitchFamily="34" charset="0"/>
              </a:rPr>
              <a:t>data_key%MaxSize</a:t>
            </a:r>
            <a:r>
              <a:rPr lang="en-US" altLang="zh-CN" sz="2000" dirty="0">
                <a:latin typeface="Arial Black" panose="020B0A04020102020204" pitchFamily="34" charset="0"/>
              </a:rPr>
              <a:t>;               //</a:t>
            </a:r>
            <a:r>
              <a:rPr lang="zh-CN" altLang="en-US" sz="2000" dirty="0">
                <a:latin typeface="Arial Black" panose="020B0A04020102020204" pitchFamily="34" charset="0"/>
              </a:rPr>
              <a:t>计算哈希地址</a:t>
            </a:r>
          </a:p>
          <a:p>
            <a:r>
              <a:rPr lang="zh-CN" altLang="en-US" sz="2000" dirty="0">
                <a:latin typeface="Arial Black" panose="020B0A04020102020204" pitchFamily="34" charset="0"/>
              </a:rPr>
              <a:t>	</a:t>
            </a:r>
            <a:r>
              <a:rPr lang="en-US" altLang="zh-CN" sz="2000" dirty="0" err="1">
                <a:latin typeface="Arial Black" panose="020B0A04020102020204" pitchFamily="34" charset="0"/>
              </a:rPr>
              <a:t>new_addr</a:t>
            </a:r>
            <a:r>
              <a:rPr lang="en-US" altLang="zh-CN" sz="2000" dirty="0">
                <a:latin typeface="Arial Black" panose="020B0A04020102020204" pitchFamily="34" charset="0"/>
              </a:rPr>
              <a:t>=</a:t>
            </a:r>
            <a:r>
              <a:rPr lang="en-US" altLang="zh-CN" sz="2000" dirty="0" err="1">
                <a:latin typeface="Arial Black" panose="020B0A04020102020204" pitchFamily="34" charset="0"/>
              </a:rPr>
              <a:t>addr</a:t>
            </a:r>
            <a:r>
              <a:rPr lang="en-US" altLang="zh-CN" sz="2000" dirty="0">
                <a:latin typeface="Arial Black" panose="020B0A04020102020204" pitchFamily="34" charset="0"/>
              </a:rPr>
              <a:t>; 	j=1;</a:t>
            </a:r>
          </a:p>
          <a:p>
            <a:r>
              <a:rPr lang="en-US" altLang="zh-CN" sz="2000" dirty="0">
                <a:latin typeface="Arial Black" panose="020B0A04020102020204" pitchFamily="34" charset="0"/>
              </a:rPr>
              <a:t>	temp=</a:t>
            </a:r>
            <a:r>
              <a:rPr lang="en-US" altLang="zh-CN" sz="2000" dirty="0" err="1">
                <a:latin typeface="Arial Black" panose="020B0A04020102020204" pitchFamily="34" charset="0"/>
              </a:rPr>
              <a:t>new_addr</a:t>
            </a:r>
            <a:r>
              <a:rPr lang="en-US" altLang="zh-CN" sz="2000" dirty="0">
                <a:latin typeface="Arial Black" panose="020B0A04020102020204" pitchFamily="34" charset="0"/>
              </a:rPr>
              <a:t>;</a:t>
            </a:r>
          </a:p>
          <a:p>
            <a:r>
              <a:rPr lang="en-US" altLang="zh-CN" sz="2000" dirty="0">
                <a:latin typeface="Arial Black" panose="020B0A04020102020204" pitchFamily="34" charset="0"/>
              </a:rPr>
              <a:t>	while ((R[</a:t>
            </a:r>
            <a:r>
              <a:rPr lang="en-US" altLang="zh-CN" sz="2000" dirty="0" err="1">
                <a:latin typeface="Arial Black" panose="020B0A04020102020204" pitchFamily="34" charset="0"/>
              </a:rPr>
              <a:t>new_addr</a:t>
            </a:r>
            <a:r>
              <a:rPr lang="en-US" altLang="zh-CN" sz="2000" dirty="0">
                <a:latin typeface="Arial Black" panose="020B0A04020102020204" pitchFamily="34" charset="0"/>
              </a:rPr>
              <a:t>].key!=x)&amp;&amp;(R[</a:t>
            </a:r>
            <a:r>
              <a:rPr lang="en-US" altLang="zh-CN" sz="2000" dirty="0" err="1">
                <a:latin typeface="Arial Black" panose="020B0A04020102020204" pitchFamily="34" charset="0"/>
              </a:rPr>
              <a:t>new_addr</a:t>
            </a:r>
            <a:r>
              <a:rPr lang="en-US" altLang="zh-CN" sz="2000" dirty="0">
                <a:latin typeface="Arial Black" panose="020B0A04020102020204" pitchFamily="34" charset="0"/>
              </a:rPr>
              <a:t>].key!=-1))</a:t>
            </a:r>
          </a:p>
          <a:p>
            <a:r>
              <a:rPr lang="en-US" altLang="zh-CN" sz="2000" dirty="0">
                <a:latin typeface="Arial Black" panose="020B0A04020102020204" pitchFamily="34" charset="0"/>
              </a:rPr>
              <a:t>    //</a:t>
            </a:r>
            <a:r>
              <a:rPr lang="zh-CN" altLang="en-US" sz="2000" dirty="0">
                <a:latin typeface="Arial Black" panose="020B0A04020102020204" pitchFamily="34" charset="0"/>
              </a:rPr>
              <a:t>当表中元素不等于</a:t>
            </a:r>
            <a:r>
              <a:rPr lang="en-US" altLang="zh-CN" sz="2000" dirty="0">
                <a:latin typeface="Arial Black" panose="020B0A04020102020204" pitchFamily="34" charset="0"/>
              </a:rPr>
              <a:t>x</a:t>
            </a:r>
            <a:r>
              <a:rPr lang="zh-CN" altLang="en-US" sz="2000" dirty="0">
                <a:latin typeface="Arial Black" panose="020B0A04020102020204" pitchFamily="34" charset="0"/>
              </a:rPr>
              <a:t>，并且不等于</a:t>
            </a:r>
            <a:r>
              <a:rPr lang="en-US" altLang="zh-CN" sz="2000" dirty="0">
                <a:latin typeface="Arial Black" panose="020B0A04020102020204" pitchFamily="34" charset="0"/>
              </a:rPr>
              <a:t>-1</a:t>
            </a:r>
            <a:r>
              <a:rPr lang="zh-CN" altLang="en-US" sz="2000" dirty="0">
                <a:latin typeface="Arial Black" panose="020B0A04020102020204" pitchFamily="34" charset="0"/>
              </a:rPr>
              <a:t>，则计算出新地址再比较</a:t>
            </a:r>
          </a:p>
          <a:p>
            <a:r>
              <a:rPr lang="zh-CN" altLang="en-US" sz="2000" dirty="0">
                <a:latin typeface="Arial Black" panose="020B0A04020102020204" pitchFamily="34" charset="0"/>
              </a:rPr>
              <a:t>    </a:t>
            </a:r>
            <a:r>
              <a:rPr lang="en-US" altLang="zh-CN" sz="2000" dirty="0">
                <a:latin typeface="Arial Black" panose="020B0A04020102020204" pitchFamily="34" charset="0"/>
              </a:rPr>
              <a:t>	{    	di=j*j;</a:t>
            </a:r>
          </a:p>
          <a:p>
            <a:r>
              <a:rPr lang="en-US" altLang="zh-CN" sz="2000" dirty="0">
                <a:latin typeface="Arial Black" panose="020B0A04020102020204" pitchFamily="34" charset="0"/>
              </a:rPr>
              <a:t>		</a:t>
            </a:r>
            <a:r>
              <a:rPr lang="en-US" altLang="zh-CN" sz="2000" dirty="0" err="1">
                <a:latin typeface="Arial Black" panose="020B0A04020102020204" pitchFamily="34" charset="0"/>
              </a:rPr>
              <a:t>new_addr</a:t>
            </a:r>
            <a:r>
              <a:rPr lang="en-US" altLang="zh-CN" sz="2000" dirty="0">
                <a:latin typeface="Arial Black" panose="020B0A04020102020204" pitchFamily="34" charset="0"/>
              </a:rPr>
              <a:t>=(</a:t>
            </a:r>
            <a:r>
              <a:rPr lang="en-US" altLang="zh-CN" sz="2000" dirty="0" err="1">
                <a:latin typeface="Arial Black" panose="020B0A04020102020204" pitchFamily="34" charset="0"/>
              </a:rPr>
              <a:t>addr+di</a:t>
            </a:r>
            <a:r>
              <a:rPr lang="en-US" altLang="zh-CN" sz="2000" dirty="0">
                <a:latin typeface="Arial Black" panose="020B0A04020102020204" pitchFamily="34" charset="0"/>
              </a:rPr>
              <a:t>)%</a:t>
            </a:r>
            <a:r>
              <a:rPr lang="en-US" altLang="zh-CN" sz="2000" dirty="0" err="1">
                <a:latin typeface="Arial Black" panose="020B0A04020102020204" pitchFamily="34" charset="0"/>
              </a:rPr>
              <a:t>MaxSize</a:t>
            </a:r>
            <a:r>
              <a:rPr lang="en-US" altLang="zh-CN" sz="2000" dirty="0">
                <a:latin typeface="Arial Black" panose="020B0A04020102020204" pitchFamily="34" charset="0"/>
              </a:rPr>
              <a:t>;</a:t>
            </a:r>
          </a:p>
          <a:p>
            <a:r>
              <a:rPr lang="en-US" altLang="zh-CN" sz="2000" dirty="0">
                <a:latin typeface="Arial Black" panose="020B0A04020102020204" pitchFamily="34" charset="0"/>
              </a:rPr>
              <a:t>		 //</a:t>
            </a:r>
            <a:r>
              <a:rPr lang="zh-CN" altLang="en-US" sz="2000" dirty="0">
                <a:latin typeface="Arial Black" panose="020B0A04020102020204" pitchFamily="34" charset="0"/>
              </a:rPr>
              <a:t>查找不成功，返回</a:t>
            </a:r>
            <a:r>
              <a:rPr lang="en-US" altLang="zh-CN" sz="2000" dirty="0">
                <a:latin typeface="Arial Black" panose="020B0A04020102020204" pitchFamily="34" charset="0"/>
              </a:rPr>
              <a:t>-1</a:t>
            </a:r>
            <a:r>
              <a:rPr lang="zh-CN" altLang="en-US" sz="2000" dirty="0">
                <a:latin typeface="Arial Black" panose="020B0A04020102020204" pitchFamily="34" charset="0"/>
              </a:rPr>
              <a:t>值</a:t>
            </a:r>
            <a:endParaRPr lang="en-US" altLang="zh-CN" sz="2000" dirty="0">
              <a:latin typeface="Arial Black" panose="020B0A04020102020204" pitchFamily="34" charset="0"/>
            </a:endParaRPr>
          </a:p>
          <a:p>
            <a:r>
              <a:rPr lang="en-US" altLang="zh-CN" sz="2000" dirty="0">
                <a:latin typeface="Arial Black" panose="020B0A04020102020204" pitchFamily="34" charset="0"/>
              </a:rPr>
              <a:t>		if (</a:t>
            </a:r>
            <a:r>
              <a:rPr lang="en-US" altLang="zh-CN" sz="2000" dirty="0" err="1">
                <a:latin typeface="Arial Black" panose="020B0A04020102020204" pitchFamily="34" charset="0"/>
              </a:rPr>
              <a:t>new_addr</a:t>
            </a:r>
            <a:r>
              <a:rPr lang="en-US" altLang="zh-CN" sz="2000" dirty="0">
                <a:latin typeface="Arial Black" panose="020B0A04020102020204" pitchFamily="34" charset="0"/>
              </a:rPr>
              <a:t> == temp) return -1;	</a:t>
            </a:r>
            <a:endParaRPr lang="zh-CN" altLang="en-US" sz="2000" dirty="0">
              <a:latin typeface="Arial Black" panose="020B0A04020102020204" pitchFamily="34" charset="0"/>
            </a:endParaRPr>
          </a:p>
          <a:p>
            <a:r>
              <a:rPr lang="zh-CN" altLang="en-US" sz="2000" dirty="0">
                <a:latin typeface="Arial Black" panose="020B0A04020102020204" pitchFamily="34" charset="0"/>
              </a:rPr>
              <a:t>		</a:t>
            </a:r>
            <a:r>
              <a:rPr lang="en-US" altLang="zh-CN" sz="2000" dirty="0" err="1">
                <a:latin typeface="Arial Black" panose="020B0A04020102020204" pitchFamily="34" charset="0"/>
              </a:rPr>
              <a:t>j++</a:t>
            </a:r>
            <a:r>
              <a:rPr lang="en-US" altLang="zh-CN" sz="2000" dirty="0">
                <a:latin typeface="Arial Black" panose="020B0A04020102020204" pitchFamily="34" charset="0"/>
              </a:rPr>
              <a:t>;	}</a:t>
            </a:r>
          </a:p>
          <a:p>
            <a:r>
              <a:rPr lang="en-US" altLang="zh-CN" sz="2000" dirty="0">
                <a:latin typeface="Arial Black" panose="020B0A04020102020204" pitchFamily="34" charset="0"/>
              </a:rPr>
              <a:t>	if(R[</a:t>
            </a:r>
            <a:r>
              <a:rPr lang="en-US" altLang="zh-CN" sz="2000" dirty="0" err="1">
                <a:latin typeface="Arial Black" panose="020B0A04020102020204" pitchFamily="34" charset="0"/>
              </a:rPr>
              <a:t>new_addr</a:t>
            </a:r>
            <a:r>
              <a:rPr lang="en-US" altLang="zh-CN" sz="2000" dirty="0">
                <a:latin typeface="Arial Black" panose="020B0A04020102020204" pitchFamily="34" charset="0"/>
              </a:rPr>
              <a:t>].key==x)</a:t>
            </a:r>
          </a:p>
          <a:p>
            <a:r>
              <a:rPr lang="en-US" altLang="zh-CN" sz="2000" dirty="0">
                <a:latin typeface="Arial Black" panose="020B0A04020102020204" pitchFamily="34" charset="0"/>
              </a:rPr>
              <a:t>		return </a:t>
            </a:r>
            <a:r>
              <a:rPr lang="en-US" altLang="zh-CN" sz="2000" dirty="0" err="1">
                <a:latin typeface="Arial Black" panose="020B0A04020102020204" pitchFamily="34" charset="0"/>
              </a:rPr>
              <a:t>new_addr</a:t>
            </a:r>
            <a:r>
              <a:rPr lang="en-US" altLang="zh-CN" sz="2000" dirty="0">
                <a:latin typeface="Arial Black" panose="020B0A04020102020204" pitchFamily="34" charset="0"/>
              </a:rPr>
              <a:t>;               //</a:t>
            </a:r>
            <a:r>
              <a:rPr lang="zh-CN" altLang="en-US" sz="2000" dirty="0">
                <a:latin typeface="Arial Black" panose="020B0A04020102020204" pitchFamily="34" charset="0"/>
              </a:rPr>
              <a:t>查找成功，返回表中位置</a:t>
            </a:r>
          </a:p>
          <a:p>
            <a:r>
              <a:rPr lang="zh-CN" altLang="en-US" sz="2000" dirty="0">
                <a:latin typeface="Arial Black" panose="020B0A04020102020204" pitchFamily="34" charset="0"/>
              </a:rPr>
              <a:t>	</a:t>
            </a:r>
            <a:r>
              <a:rPr lang="en-US" altLang="zh-CN" sz="2000" dirty="0">
                <a:latin typeface="Arial Black" panose="020B0A04020102020204" pitchFamily="34" charset="0"/>
              </a:rPr>
              <a:t>else</a:t>
            </a:r>
          </a:p>
          <a:p>
            <a:r>
              <a:rPr lang="en-US" altLang="zh-CN" sz="2000" dirty="0">
                <a:latin typeface="Arial Black" panose="020B0A04020102020204" pitchFamily="34" charset="0"/>
              </a:rPr>
              <a:t>		return -1;                            //</a:t>
            </a:r>
            <a:r>
              <a:rPr lang="zh-CN" altLang="en-US" sz="2000" dirty="0">
                <a:latin typeface="Arial Black" panose="020B0A04020102020204" pitchFamily="34" charset="0"/>
              </a:rPr>
              <a:t>查找不成功，返回</a:t>
            </a:r>
            <a:r>
              <a:rPr lang="en-US" altLang="zh-CN" sz="2000" dirty="0">
                <a:latin typeface="Arial Black" panose="020B0A04020102020204" pitchFamily="34" charset="0"/>
              </a:rPr>
              <a:t>-1</a:t>
            </a:r>
            <a:r>
              <a:rPr lang="zh-CN" altLang="en-US" sz="2000" dirty="0">
                <a:latin typeface="Arial Black" panose="020B0A04020102020204" pitchFamily="34" charset="0"/>
              </a:rPr>
              <a:t>值</a:t>
            </a:r>
          </a:p>
          <a:p>
            <a:r>
              <a:rPr lang="en-US" altLang="zh-CN" sz="2000" dirty="0">
                <a:latin typeface="Arial Black" panose="020B0A04020102020204" pitchFamily="34" charset="0"/>
              </a:rPr>
              <a:t>}</a:t>
            </a:r>
            <a:endParaRPr lang="zh-CN" altLang="en-US" sz="2000" dirty="0">
              <a:latin typeface="Arial Black" panose="020B0A04020102020204" pitchFamily="34" charset="0"/>
            </a:endParaRPr>
          </a:p>
        </p:txBody>
      </p:sp>
    </p:spTree>
    <p:extLst>
      <p:ext uri="{BB962C8B-B14F-4D97-AF65-F5344CB8AC3E}">
        <p14:creationId xmlns:p14="http://schemas.microsoft.com/office/powerpoint/2010/main" val="220052859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17E239C-E2A3-4263-992F-EEB635B1F71F}"/>
              </a:ext>
            </a:extLst>
          </p:cNvPr>
          <p:cNvSpPr>
            <a:spLocks noGrp="1"/>
          </p:cNvSpPr>
          <p:nvPr>
            <p:ph type="dt" sz="half" idx="10"/>
          </p:nvPr>
        </p:nvSpPr>
        <p:spPr/>
        <p:txBody>
          <a:bodyPr/>
          <a:lstStyle/>
          <a:p>
            <a:fld id="{9A6B2991-BBE5-4E69-A281-1A8B0AE9CDD7}" type="datetime1">
              <a:rPr lang="zh-CN" altLang="en-US" smtClean="0"/>
              <a:pPr/>
              <a:t>2025/6/3</a:t>
            </a:fld>
            <a:endParaRPr lang="zh-CN" altLang="en-US"/>
          </a:p>
        </p:txBody>
      </p:sp>
      <p:sp>
        <p:nvSpPr>
          <p:cNvPr id="3" name="文本框 2">
            <a:extLst>
              <a:ext uri="{FF2B5EF4-FFF2-40B4-BE49-F238E27FC236}">
                <a16:creationId xmlns:a16="http://schemas.microsoft.com/office/drawing/2014/main" id="{777BB26E-8299-4F79-91B7-6F034E9E3137}"/>
              </a:ext>
            </a:extLst>
          </p:cNvPr>
          <p:cNvSpPr txBox="1"/>
          <p:nvPr/>
        </p:nvSpPr>
        <p:spPr>
          <a:xfrm>
            <a:off x="971600" y="2247255"/>
            <a:ext cx="7344816" cy="400110"/>
          </a:xfrm>
          <a:prstGeom prst="rect">
            <a:avLst/>
          </a:prstGeom>
          <a:noFill/>
        </p:spPr>
        <p:txBody>
          <a:bodyPr wrap="square">
            <a:spAutoFit/>
          </a:bodyPr>
          <a:lstStyle/>
          <a:p>
            <a:r>
              <a:rPr lang="zh-CN" altLang="en-US" sz="2000" dirty="0">
                <a:latin typeface="Arial Black" panose="020B0A04020102020204" pitchFamily="34" charset="0"/>
              </a:rPr>
              <a:t>0      1      2      3       4      5      6       7       8      </a:t>
            </a:r>
          </a:p>
        </p:txBody>
      </p:sp>
      <p:graphicFrame>
        <p:nvGraphicFramePr>
          <p:cNvPr id="4" name="表格 5">
            <a:extLst>
              <a:ext uri="{FF2B5EF4-FFF2-40B4-BE49-F238E27FC236}">
                <a16:creationId xmlns:a16="http://schemas.microsoft.com/office/drawing/2014/main" id="{1269CAB8-1473-423B-80D1-0931AACCF30B}"/>
              </a:ext>
            </a:extLst>
          </p:cNvPr>
          <p:cNvGraphicFramePr>
            <a:graphicFrameLocks noGrp="1"/>
          </p:cNvGraphicFramePr>
          <p:nvPr>
            <p:extLst>
              <p:ext uri="{D42A27DB-BD31-4B8C-83A1-F6EECF244321}">
                <p14:modId xmlns:p14="http://schemas.microsoft.com/office/powerpoint/2010/main" val="744995676"/>
              </p:ext>
            </p:extLst>
          </p:nvPr>
        </p:nvGraphicFramePr>
        <p:xfrm>
          <a:off x="827584" y="2659559"/>
          <a:ext cx="6351102" cy="707886"/>
        </p:xfrm>
        <a:graphic>
          <a:graphicData uri="http://schemas.openxmlformats.org/drawingml/2006/table">
            <a:tbl>
              <a:tblPr firstRow="1" bandRow="1">
                <a:tableStyleId>{5C22544A-7EE6-4342-B048-85BDC9FD1C3A}</a:tableStyleId>
              </a:tblPr>
              <a:tblGrid>
                <a:gridCol w="705678">
                  <a:extLst>
                    <a:ext uri="{9D8B030D-6E8A-4147-A177-3AD203B41FA5}">
                      <a16:colId xmlns:a16="http://schemas.microsoft.com/office/drawing/2014/main" val="1171980984"/>
                    </a:ext>
                  </a:extLst>
                </a:gridCol>
                <a:gridCol w="705678">
                  <a:extLst>
                    <a:ext uri="{9D8B030D-6E8A-4147-A177-3AD203B41FA5}">
                      <a16:colId xmlns:a16="http://schemas.microsoft.com/office/drawing/2014/main" val="2503194978"/>
                    </a:ext>
                  </a:extLst>
                </a:gridCol>
                <a:gridCol w="705678">
                  <a:extLst>
                    <a:ext uri="{9D8B030D-6E8A-4147-A177-3AD203B41FA5}">
                      <a16:colId xmlns:a16="http://schemas.microsoft.com/office/drawing/2014/main" val="939977632"/>
                    </a:ext>
                  </a:extLst>
                </a:gridCol>
                <a:gridCol w="705678">
                  <a:extLst>
                    <a:ext uri="{9D8B030D-6E8A-4147-A177-3AD203B41FA5}">
                      <a16:colId xmlns:a16="http://schemas.microsoft.com/office/drawing/2014/main" val="3229396349"/>
                    </a:ext>
                  </a:extLst>
                </a:gridCol>
                <a:gridCol w="705678">
                  <a:extLst>
                    <a:ext uri="{9D8B030D-6E8A-4147-A177-3AD203B41FA5}">
                      <a16:colId xmlns:a16="http://schemas.microsoft.com/office/drawing/2014/main" val="3596236929"/>
                    </a:ext>
                  </a:extLst>
                </a:gridCol>
                <a:gridCol w="705678">
                  <a:extLst>
                    <a:ext uri="{9D8B030D-6E8A-4147-A177-3AD203B41FA5}">
                      <a16:colId xmlns:a16="http://schemas.microsoft.com/office/drawing/2014/main" val="1995735317"/>
                    </a:ext>
                  </a:extLst>
                </a:gridCol>
                <a:gridCol w="705678">
                  <a:extLst>
                    <a:ext uri="{9D8B030D-6E8A-4147-A177-3AD203B41FA5}">
                      <a16:colId xmlns:a16="http://schemas.microsoft.com/office/drawing/2014/main" val="489352475"/>
                    </a:ext>
                  </a:extLst>
                </a:gridCol>
                <a:gridCol w="705678">
                  <a:extLst>
                    <a:ext uri="{9D8B030D-6E8A-4147-A177-3AD203B41FA5}">
                      <a16:colId xmlns:a16="http://schemas.microsoft.com/office/drawing/2014/main" val="4098136232"/>
                    </a:ext>
                  </a:extLst>
                </a:gridCol>
                <a:gridCol w="705678">
                  <a:extLst>
                    <a:ext uri="{9D8B030D-6E8A-4147-A177-3AD203B41FA5}">
                      <a16:colId xmlns:a16="http://schemas.microsoft.com/office/drawing/2014/main" val="2864950872"/>
                    </a:ext>
                  </a:extLst>
                </a:gridCol>
              </a:tblGrid>
              <a:tr h="707886">
                <a:tc>
                  <a:txBody>
                    <a:bodyPr/>
                    <a:lstStyle/>
                    <a:p>
                      <a:pPr algn="ctr"/>
                      <a:r>
                        <a:rPr lang="en-US" altLang="zh-CN" sz="2800" dirty="0">
                          <a:solidFill>
                            <a:schemeClr val="tx1"/>
                          </a:solidFill>
                          <a:latin typeface="Arial Black" panose="020B0A04020102020204" pitchFamily="34" charset="0"/>
                        </a:rPr>
                        <a:t>63</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78</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11</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57</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21</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59</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87</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43</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35</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extLst>
                  <a:ext uri="{0D108BD9-81ED-4DB2-BD59-A6C34878D82A}">
                    <a16:rowId xmlns:a16="http://schemas.microsoft.com/office/drawing/2014/main" val="3289424096"/>
                  </a:ext>
                </a:extLst>
              </a:tr>
            </a:tbl>
          </a:graphicData>
        </a:graphic>
      </p:graphicFrame>
      <p:sp>
        <p:nvSpPr>
          <p:cNvPr id="5" name="文本框 4">
            <a:extLst>
              <a:ext uri="{FF2B5EF4-FFF2-40B4-BE49-F238E27FC236}">
                <a16:creationId xmlns:a16="http://schemas.microsoft.com/office/drawing/2014/main" id="{0E87F2AE-23BB-453D-9889-373077DF16EF}"/>
              </a:ext>
            </a:extLst>
          </p:cNvPr>
          <p:cNvSpPr txBox="1"/>
          <p:nvPr/>
        </p:nvSpPr>
        <p:spPr>
          <a:xfrm>
            <a:off x="899592" y="1383159"/>
            <a:ext cx="5904656" cy="523220"/>
          </a:xfrm>
          <a:prstGeom prst="rect">
            <a:avLst/>
          </a:prstGeom>
          <a:noFill/>
        </p:spPr>
        <p:txBody>
          <a:bodyPr wrap="square" rtlCol="0">
            <a:spAutoFit/>
          </a:bodyPr>
          <a:lstStyle/>
          <a:p>
            <a:r>
              <a:rPr lang="zh-CN" altLang="en-US" sz="2800" b="1" dirty="0">
                <a:solidFill>
                  <a:srgbClr val="FF0000"/>
                </a:solidFill>
              </a:rPr>
              <a:t>双向二次探测再散列，创建哈希表</a:t>
            </a:r>
          </a:p>
        </p:txBody>
      </p:sp>
      <p:sp>
        <p:nvSpPr>
          <p:cNvPr id="6" name="文本框 5">
            <a:extLst>
              <a:ext uri="{FF2B5EF4-FFF2-40B4-BE49-F238E27FC236}">
                <a16:creationId xmlns:a16="http://schemas.microsoft.com/office/drawing/2014/main" id="{8DE134F1-B941-411D-8D15-62C11C2F6E97}"/>
              </a:ext>
            </a:extLst>
          </p:cNvPr>
          <p:cNvSpPr txBox="1"/>
          <p:nvPr/>
        </p:nvSpPr>
        <p:spPr>
          <a:xfrm>
            <a:off x="899592" y="3975447"/>
            <a:ext cx="6192688" cy="461665"/>
          </a:xfrm>
          <a:prstGeom prst="rect">
            <a:avLst/>
          </a:prstGeom>
          <a:noFill/>
        </p:spPr>
        <p:txBody>
          <a:bodyPr wrap="square" rtlCol="0">
            <a:spAutoFit/>
          </a:bodyPr>
          <a:lstStyle/>
          <a:p>
            <a:r>
              <a:rPr lang="en-US" altLang="zh-CN" sz="2400" dirty="0">
                <a:latin typeface="Arial Black" panose="020B0A04020102020204" pitchFamily="34" charset="0"/>
              </a:rPr>
              <a:t>ASL=(1+4+1+1+2+1+1+1+1)/9=13/9</a:t>
            </a:r>
            <a:endParaRPr lang="zh-CN" altLang="en-US" sz="2400" dirty="0">
              <a:latin typeface="Arial Black" panose="020B0A04020102020204" pitchFamily="34" charset="0"/>
            </a:endParaRPr>
          </a:p>
        </p:txBody>
      </p:sp>
      <p:sp>
        <p:nvSpPr>
          <p:cNvPr id="7" name="文本框 6">
            <a:extLst>
              <a:ext uri="{FF2B5EF4-FFF2-40B4-BE49-F238E27FC236}">
                <a16:creationId xmlns:a16="http://schemas.microsoft.com/office/drawing/2014/main" id="{996F1918-6499-4977-AFB0-A0ABD4E76045}"/>
              </a:ext>
            </a:extLst>
          </p:cNvPr>
          <p:cNvSpPr txBox="1"/>
          <p:nvPr/>
        </p:nvSpPr>
        <p:spPr>
          <a:xfrm>
            <a:off x="611560" y="591071"/>
            <a:ext cx="7992888" cy="461665"/>
          </a:xfrm>
          <a:prstGeom prst="rect">
            <a:avLst/>
          </a:prstGeom>
          <a:noFill/>
        </p:spPr>
        <p:txBody>
          <a:bodyPr wrap="square">
            <a:spAutoFit/>
          </a:bodyPr>
          <a:lstStyle/>
          <a:p>
            <a:r>
              <a:rPr lang="zh-CN" altLang="en-US" sz="2400" b="1" dirty="0">
                <a:latin typeface="Arial Black" panose="020B0A04020102020204" pitchFamily="34" charset="0"/>
              </a:rPr>
              <a:t>假设关键字序列： </a:t>
            </a:r>
            <a:r>
              <a:rPr lang="en-US" altLang="zh-CN" sz="2400" b="1" dirty="0">
                <a:latin typeface="Arial Black" panose="020B0A04020102020204" pitchFamily="34" charset="0"/>
              </a:rPr>
              <a:t>{63,87,59,43,57,11,78,21,35}</a:t>
            </a:r>
            <a:endParaRPr lang="zh-CN" altLang="en-US" sz="2400" b="1" dirty="0">
              <a:latin typeface="Arial Black" panose="020B0A04020102020204" pitchFamily="34" charset="0"/>
            </a:endParaRPr>
          </a:p>
        </p:txBody>
      </p:sp>
    </p:spTree>
    <p:extLst>
      <p:ext uri="{BB962C8B-B14F-4D97-AF65-F5344CB8AC3E}">
        <p14:creationId xmlns:p14="http://schemas.microsoft.com/office/powerpoint/2010/main" val="105527603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8BAF6A0-05C1-439A-BA5F-B34E32D4E645}"/>
              </a:ext>
            </a:extLst>
          </p:cNvPr>
          <p:cNvSpPr>
            <a:spLocks noGrp="1"/>
          </p:cNvSpPr>
          <p:nvPr>
            <p:ph type="dt" sz="half" idx="10"/>
          </p:nvPr>
        </p:nvSpPr>
        <p:spPr/>
        <p:txBody>
          <a:bodyPr/>
          <a:lstStyle/>
          <a:p>
            <a:fld id="{9A6B2991-BBE5-4E69-A281-1A8B0AE9CDD7}" type="datetime1">
              <a:rPr lang="zh-CN" altLang="en-US" smtClean="0"/>
              <a:pPr/>
              <a:t>2025/6/3</a:t>
            </a:fld>
            <a:endParaRPr lang="zh-CN" altLang="en-US"/>
          </a:p>
        </p:txBody>
      </p:sp>
      <p:sp>
        <p:nvSpPr>
          <p:cNvPr id="3" name="文本框 2">
            <a:extLst>
              <a:ext uri="{FF2B5EF4-FFF2-40B4-BE49-F238E27FC236}">
                <a16:creationId xmlns:a16="http://schemas.microsoft.com/office/drawing/2014/main" id="{12BBE586-AE97-4E28-A189-C38659476D95}"/>
              </a:ext>
            </a:extLst>
          </p:cNvPr>
          <p:cNvSpPr txBox="1"/>
          <p:nvPr/>
        </p:nvSpPr>
        <p:spPr>
          <a:xfrm>
            <a:off x="35496" y="44624"/>
            <a:ext cx="9217024" cy="6832640"/>
          </a:xfrm>
          <a:prstGeom prst="rect">
            <a:avLst/>
          </a:prstGeom>
          <a:solidFill>
            <a:schemeClr val="accent3">
              <a:lumMod val="40000"/>
              <a:lumOff val="60000"/>
            </a:schemeClr>
          </a:solidFill>
        </p:spPr>
        <p:txBody>
          <a:bodyPr wrap="square" rtlCol="0">
            <a:spAutoFit/>
          </a:bodyPr>
          <a:lstStyle/>
          <a:p>
            <a:r>
              <a:rPr lang="en-US" altLang="zh-CN" sz="2400" b="1" dirty="0">
                <a:solidFill>
                  <a:srgbClr val="FF0000"/>
                </a:solidFill>
                <a:latin typeface="Arial Black" panose="020B0A04020102020204" pitchFamily="34" charset="0"/>
              </a:rPr>
              <a:t>//</a:t>
            </a:r>
            <a:r>
              <a:rPr lang="zh-CN" altLang="en-US" sz="2400" b="1" dirty="0">
                <a:solidFill>
                  <a:srgbClr val="FF0000"/>
                </a:solidFill>
                <a:latin typeface="Arial Black" panose="020B0A04020102020204" pitchFamily="34" charset="0"/>
              </a:rPr>
              <a:t>双向二次探测再散列，建立哈希表</a:t>
            </a:r>
            <a:endParaRPr lang="zh-CN" altLang="en-US" b="1" dirty="0">
              <a:solidFill>
                <a:srgbClr val="FF0000"/>
              </a:solidFill>
              <a:latin typeface="Arial Black" panose="020B0A04020102020204" pitchFamily="34" charset="0"/>
            </a:endParaRPr>
          </a:p>
          <a:p>
            <a:r>
              <a:rPr lang="en-US" altLang="zh-CN" dirty="0">
                <a:latin typeface="Arial Black" panose="020B0A04020102020204" pitchFamily="34" charset="0"/>
              </a:rPr>
              <a:t>template &lt;class </a:t>
            </a:r>
            <a:r>
              <a:rPr lang="en-US" altLang="zh-CN" dirty="0" err="1">
                <a:latin typeface="Arial Black" panose="020B0A04020102020204" pitchFamily="34" charset="0"/>
              </a:rPr>
              <a:t>keytype,class</a:t>
            </a:r>
            <a:r>
              <a:rPr lang="en-US" altLang="zh-CN" dirty="0">
                <a:latin typeface="Arial Black" panose="020B0A04020102020204" pitchFamily="34" charset="0"/>
              </a:rPr>
              <a:t> </a:t>
            </a:r>
            <a:r>
              <a:rPr lang="en-US" altLang="zh-CN" dirty="0" err="1">
                <a:latin typeface="Arial Black" panose="020B0A04020102020204" pitchFamily="34" charset="0"/>
              </a:rPr>
              <a:t>Itemtype</a:t>
            </a:r>
            <a:r>
              <a:rPr lang="en-US" altLang="zh-CN" dirty="0">
                <a:latin typeface="Arial Black" panose="020B0A04020102020204" pitchFamily="34" charset="0"/>
              </a:rPr>
              <a:t>&gt;</a:t>
            </a:r>
          </a:p>
          <a:p>
            <a:r>
              <a:rPr lang="en-US" altLang="zh-CN" dirty="0">
                <a:latin typeface="Arial Black" panose="020B0A04020102020204" pitchFamily="34" charset="0"/>
              </a:rPr>
              <a:t>bool </a:t>
            </a:r>
            <a:r>
              <a:rPr lang="en-US" altLang="zh-CN" dirty="0" err="1">
                <a:latin typeface="Arial Black" panose="020B0A04020102020204" pitchFamily="34" charset="0"/>
              </a:rPr>
              <a:t>recordList</a:t>
            </a:r>
            <a:r>
              <a:rPr lang="en-US" altLang="zh-CN" dirty="0">
                <a:latin typeface="Arial Black" panose="020B0A04020102020204" pitchFamily="34" charset="0"/>
              </a:rPr>
              <a:t>&lt;</a:t>
            </a:r>
            <a:r>
              <a:rPr lang="en-US" altLang="zh-CN" dirty="0" err="1">
                <a:latin typeface="Arial Black" panose="020B0A04020102020204" pitchFamily="34" charset="0"/>
              </a:rPr>
              <a:t>keytype,Itemtype</a:t>
            </a:r>
            <a:r>
              <a:rPr lang="en-US" altLang="zh-CN" dirty="0">
                <a:latin typeface="Arial Black" panose="020B0A04020102020204" pitchFamily="34" charset="0"/>
              </a:rPr>
              <a:t>&gt;::set_hash5(</a:t>
            </a:r>
            <a:r>
              <a:rPr lang="en-US" altLang="zh-CN" dirty="0" err="1">
                <a:latin typeface="Arial Black" panose="020B0A04020102020204" pitchFamily="34" charset="0"/>
              </a:rPr>
              <a:t>keytype</a:t>
            </a:r>
            <a:r>
              <a:rPr lang="en-US" altLang="zh-CN" dirty="0">
                <a:latin typeface="Arial Black" panose="020B0A04020102020204" pitchFamily="34" charset="0"/>
              </a:rPr>
              <a:t> *</a:t>
            </a:r>
            <a:r>
              <a:rPr lang="en-US" altLang="zh-CN" dirty="0" err="1">
                <a:latin typeface="Arial Black" panose="020B0A04020102020204" pitchFamily="34" charset="0"/>
              </a:rPr>
              <a:t>pa,int</a:t>
            </a:r>
            <a:r>
              <a:rPr lang="en-US" altLang="zh-CN" dirty="0">
                <a:latin typeface="Arial Black" panose="020B0A04020102020204" pitchFamily="34" charset="0"/>
              </a:rPr>
              <a:t> n)</a:t>
            </a:r>
          </a:p>
          <a:p>
            <a:r>
              <a:rPr lang="en-US" altLang="zh-CN" dirty="0">
                <a:latin typeface="Arial Black" panose="020B0A04020102020204" pitchFamily="34" charset="0"/>
              </a:rPr>
              <a:t>//n</a:t>
            </a:r>
            <a:r>
              <a:rPr lang="zh-CN" altLang="en-US" dirty="0">
                <a:latin typeface="Arial Black" panose="020B0A04020102020204" pitchFamily="34" charset="0"/>
              </a:rPr>
              <a:t>个数据元素存放在一维数组中，</a:t>
            </a:r>
            <a:r>
              <a:rPr lang="en-US" altLang="zh-CN" dirty="0">
                <a:latin typeface="Arial Black" panose="020B0A04020102020204" pitchFamily="34" charset="0"/>
              </a:rPr>
              <a:t>pa</a:t>
            </a:r>
            <a:r>
              <a:rPr lang="zh-CN" altLang="en-US" dirty="0">
                <a:latin typeface="Arial Black" panose="020B0A04020102020204" pitchFamily="34" charset="0"/>
              </a:rPr>
              <a:t>指向数组的首地址</a:t>
            </a:r>
          </a:p>
          <a:p>
            <a:r>
              <a:rPr lang="en-US" altLang="zh-CN" dirty="0">
                <a:latin typeface="Arial Black" panose="020B0A04020102020204" pitchFamily="34" charset="0"/>
              </a:rPr>
              <a:t>{	int </a:t>
            </a:r>
            <a:r>
              <a:rPr lang="en-US" altLang="zh-CN" dirty="0" err="1">
                <a:latin typeface="Arial Black" panose="020B0A04020102020204" pitchFamily="34" charset="0"/>
              </a:rPr>
              <a:t>addr,new_addr,di,j,temp</a:t>
            </a:r>
            <a:r>
              <a:rPr lang="en-US" altLang="zh-CN" dirty="0">
                <a:latin typeface="Arial Black" panose="020B0A04020102020204" pitchFamily="34" charset="0"/>
              </a:rPr>
              <a:t>;	bool flag;</a:t>
            </a:r>
          </a:p>
          <a:p>
            <a:r>
              <a:rPr lang="en-US" altLang="zh-CN" dirty="0">
                <a:latin typeface="Arial Black" panose="020B0A04020102020204" pitchFamily="34" charset="0"/>
              </a:rPr>
              <a:t>	for(int </a:t>
            </a:r>
            <a:r>
              <a:rPr lang="en-US" altLang="zh-CN" dirty="0" err="1">
                <a:latin typeface="Arial Black" panose="020B0A04020102020204" pitchFamily="34" charset="0"/>
              </a:rPr>
              <a:t>i</a:t>
            </a:r>
            <a:r>
              <a:rPr lang="en-US" altLang="zh-CN" dirty="0">
                <a:latin typeface="Arial Black" panose="020B0A04020102020204" pitchFamily="34" charset="0"/>
              </a:rPr>
              <a:t>=0;i&lt;</a:t>
            </a:r>
            <a:r>
              <a:rPr lang="en-US" altLang="zh-CN" dirty="0" err="1">
                <a:latin typeface="Arial Black" panose="020B0A04020102020204" pitchFamily="34" charset="0"/>
              </a:rPr>
              <a:t>MaxSize;i</a:t>
            </a:r>
            <a:r>
              <a:rPr lang="en-US" altLang="zh-CN" dirty="0">
                <a:latin typeface="Arial Black" panose="020B0A04020102020204" pitchFamily="34" charset="0"/>
              </a:rPr>
              <a:t>++)    	//</a:t>
            </a:r>
            <a:r>
              <a:rPr lang="zh-CN" altLang="en-US" dirty="0">
                <a:latin typeface="Arial Black" panose="020B0A04020102020204" pitchFamily="34" charset="0"/>
              </a:rPr>
              <a:t>先将哈希表中元素置</a:t>
            </a:r>
            <a:r>
              <a:rPr lang="en-US" altLang="zh-CN" dirty="0">
                <a:latin typeface="Arial Black" panose="020B0A04020102020204" pitchFamily="34" charset="0"/>
              </a:rPr>
              <a:t>-1</a:t>
            </a:r>
            <a:r>
              <a:rPr lang="zh-CN" altLang="en-US" dirty="0">
                <a:latin typeface="Arial Black" panose="020B0A04020102020204" pitchFamily="34" charset="0"/>
              </a:rPr>
              <a:t>和索引下标 </a:t>
            </a:r>
          </a:p>
          <a:p>
            <a:r>
              <a:rPr lang="zh-CN" altLang="en-US" dirty="0">
                <a:latin typeface="Arial Black" panose="020B0A04020102020204" pitchFamily="34" charset="0"/>
              </a:rPr>
              <a:t>	</a:t>
            </a:r>
            <a:r>
              <a:rPr lang="en-US" altLang="zh-CN" dirty="0">
                <a:latin typeface="Arial Black" panose="020B0A04020102020204" pitchFamily="34" charset="0"/>
              </a:rPr>
              <a:t>{	R[</a:t>
            </a:r>
            <a:r>
              <a:rPr lang="en-US" altLang="zh-CN" dirty="0" err="1">
                <a:latin typeface="Arial Black" panose="020B0A04020102020204" pitchFamily="34" charset="0"/>
              </a:rPr>
              <a:t>i</a:t>
            </a:r>
            <a:r>
              <a:rPr lang="en-US" altLang="zh-CN" dirty="0">
                <a:latin typeface="Arial Black" panose="020B0A04020102020204" pitchFamily="34" charset="0"/>
              </a:rPr>
              <a:t>].key=-1;	R[</a:t>
            </a:r>
            <a:r>
              <a:rPr lang="en-US" altLang="zh-CN" dirty="0" err="1">
                <a:latin typeface="Arial Black" panose="020B0A04020102020204" pitchFamily="34" charset="0"/>
              </a:rPr>
              <a:t>i</a:t>
            </a:r>
            <a:r>
              <a:rPr lang="en-US" altLang="zh-CN" dirty="0">
                <a:latin typeface="Arial Black" panose="020B0A04020102020204" pitchFamily="34" charset="0"/>
              </a:rPr>
              <a:t>].</a:t>
            </a:r>
            <a:r>
              <a:rPr lang="en-US" altLang="zh-CN" dirty="0" err="1">
                <a:latin typeface="Arial Black" panose="020B0A04020102020204" pitchFamily="34" charset="0"/>
              </a:rPr>
              <a:t>otherinfo</a:t>
            </a:r>
            <a:r>
              <a:rPr lang="en-US" altLang="zh-CN" dirty="0">
                <a:latin typeface="Arial Black" panose="020B0A04020102020204" pitchFamily="34" charset="0"/>
              </a:rPr>
              <a:t>=</a:t>
            </a:r>
            <a:r>
              <a:rPr lang="en-US" altLang="zh-CN" dirty="0" err="1">
                <a:latin typeface="Arial Black" panose="020B0A04020102020204" pitchFamily="34" charset="0"/>
              </a:rPr>
              <a:t>i</a:t>
            </a:r>
            <a:r>
              <a:rPr lang="en-US" altLang="zh-CN" dirty="0">
                <a:latin typeface="Arial Black" panose="020B0A04020102020204" pitchFamily="34" charset="0"/>
              </a:rPr>
              <a:t>;	}	</a:t>
            </a:r>
          </a:p>
          <a:p>
            <a:r>
              <a:rPr lang="en-US" altLang="zh-CN" dirty="0">
                <a:latin typeface="Arial Black" panose="020B0A04020102020204" pitchFamily="34" charset="0"/>
              </a:rPr>
              <a:t>	for(int </a:t>
            </a:r>
            <a:r>
              <a:rPr lang="en-US" altLang="zh-CN" dirty="0" err="1">
                <a:latin typeface="Arial Black" panose="020B0A04020102020204" pitchFamily="34" charset="0"/>
              </a:rPr>
              <a:t>i</a:t>
            </a:r>
            <a:r>
              <a:rPr lang="en-US" altLang="zh-CN" dirty="0">
                <a:latin typeface="Arial Black" panose="020B0A04020102020204" pitchFamily="34" charset="0"/>
              </a:rPr>
              <a:t>=0;i&lt;</a:t>
            </a:r>
            <a:r>
              <a:rPr lang="en-US" altLang="zh-CN" dirty="0" err="1">
                <a:latin typeface="Arial Black" panose="020B0A04020102020204" pitchFamily="34" charset="0"/>
              </a:rPr>
              <a:t>n;i</a:t>
            </a:r>
            <a:r>
              <a:rPr lang="en-US" altLang="zh-CN" dirty="0">
                <a:latin typeface="Arial Black" panose="020B0A04020102020204" pitchFamily="34" charset="0"/>
              </a:rPr>
              <a:t>++)</a:t>
            </a:r>
          </a:p>
          <a:p>
            <a:r>
              <a:rPr lang="en-US" altLang="zh-CN" dirty="0">
                <a:latin typeface="Arial Black" panose="020B0A04020102020204" pitchFamily="34" charset="0"/>
              </a:rPr>
              <a:t>	{	</a:t>
            </a:r>
            <a:r>
              <a:rPr lang="en-US" altLang="zh-CN" dirty="0" err="1">
                <a:latin typeface="Arial Black" panose="020B0A04020102020204" pitchFamily="34" charset="0"/>
              </a:rPr>
              <a:t>addr</a:t>
            </a:r>
            <a:r>
              <a:rPr lang="en-US" altLang="zh-CN" dirty="0">
                <a:latin typeface="Arial Black" panose="020B0A04020102020204" pitchFamily="34" charset="0"/>
              </a:rPr>
              <a:t> = pa[</a:t>
            </a:r>
            <a:r>
              <a:rPr lang="en-US" altLang="zh-CN" dirty="0" err="1">
                <a:latin typeface="Arial Black" panose="020B0A04020102020204" pitchFamily="34" charset="0"/>
              </a:rPr>
              <a:t>i</a:t>
            </a:r>
            <a:r>
              <a:rPr lang="en-US" altLang="zh-CN" dirty="0">
                <a:latin typeface="Arial Black" panose="020B0A04020102020204" pitchFamily="34" charset="0"/>
              </a:rPr>
              <a:t>] % </a:t>
            </a:r>
            <a:r>
              <a:rPr lang="en-US" altLang="zh-CN" dirty="0" err="1">
                <a:latin typeface="Arial Black" panose="020B0A04020102020204" pitchFamily="34" charset="0"/>
              </a:rPr>
              <a:t>MaxSize</a:t>
            </a:r>
            <a:r>
              <a:rPr lang="en-US" altLang="zh-CN" dirty="0">
                <a:latin typeface="Arial Black" panose="020B0A04020102020204" pitchFamily="34" charset="0"/>
              </a:rPr>
              <a:t>;      //</a:t>
            </a:r>
            <a:r>
              <a:rPr lang="zh-CN" altLang="en-US" dirty="0">
                <a:latin typeface="Arial Black" panose="020B0A04020102020204" pitchFamily="34" charset="0"/>
              </a:rPr>
              <a:t>计算哈希地址</a:t>
            </a:r>
          </a:p>
          <a:p>
            <a:r>
              <a:rPr lang="zh-CN" altLang="en-US" dirty="0">
                <a:latin typeface="Arial Black" panose="020B0A04020102020204" pitchFamily="34" charset="0"/>
              </a:rPr>
              <a:t>		</a:t>
            </a:r>
            <a:r>
              <a:rPr lang="en-US" altLang="zh-CN" dirty="0" err="1">
                <a:latin typeface="Arial Black" panose="020B0A04020102020204" pitchFamily="34" charset="0"/>
              </a:rPr>
              <a:t>new_addr</a:t>
            </a:r>
            <a:r>
              <a:rPr lang="en-US" altLang="zh-CN" dirty="0">
                <a:latin typeface="Arial Black" panose="020B0A04020102020204" pitchFamily="34" charset="0"/>
              </a:rPr>
              <a:t> = </a:t>
            </a:r>
            <a:r>
              <a:rPr lang="en-US" altLang="zh-CN" dirty="0" err="1">
                <a:latin typeface="Arial Black" panose="020B0A04020102020204" pitchFamily="34" charset="0"/>
              </a:rPr>
              <a:t>addr</a:t>
            </a:r>
            <a:r>
              <a:rPr lang="en-US" altLang="zh-CN" dirty="0">
                <a:latin typeface="Arial Black" panose="020B0A04020102020204" pitchFamily="34" charset="0"/>
              </a:rPr>
              <a:t>;                 //</a:t>
            </a:r>
            <a:r>
              <a:rPr lang="zh-CN" altLang="en-US" dirty="0">
                <a:latin typeface="Arial Black" panose="020B0A04020102020204" pitchFamily="34" charset="0"/>
              </a:rPr>
              <a:t>又假设为新地址</a:t>
            </a:r>
          </a:p>
          <a:p>
            <a:r>
              <a:rPr lang="zh-CN" altLang="en-US" dirty="0">
                <a:latin typeface="Arial Black" panose="020B0A04020102020204" pitchFamily="34" charset="0"/>
              </a:rPr>
              <a:t>		</a:t>
            </a:r>
            <a:r>
              <a:rPr lang="en-US" altLang="zh-CN" dirty="0">
                <a:latin typeface="Arial Black" panose="020B0A04020102020204" pitchFamily="34" charset="0"/>
              </a:rPr>
              <a:t>flag=true;                       //flag</a:t>
            </a:r>
            <a:r>
              <a:rPr lang="zh-CN" altLang="en-US" dirty="0">
                <a:latin typeface="Arial Black" panose="020B0A04020102020204" pitchFamily="34" charset="0"/>
              </a:rPr>
              <a:t>为标志位</a:t>
            </a:r>
          </a:p>
          <a:p>
            <a:r>
              <a:rPr lang="zh-CN" altLang="en-US" dirty="0">
                <a:latin typeface="Arial Black" panose="020B0A04020102020204" pitchFamily="34" charset="0"/>
              </a:rPr>
              <a:t>		</a:t>
            </a:r>
            <a:r>
              <a:rPr lang="en-US" altLang="zh-CN" dirty="0">
                <a:latin typeface="Arial Black" panose="020B0A04020102020204" pitchFamily="34" charset="0"/>
              </a:rPr>
              <a:t>j = 1;</a:t>
            </a:r>
          </a:p>
          <a:p>
            <a:r>
              <a:rPr lang="en-US" altLang="zh-CN" dirty="0">
                <a:latin typeface="Arial Black" panose="020B0A04020102020204" pitchFamily="34" charset="0"/>
              </a:rPr>
              <a:t>		temp=</a:t>
            </a:r>
            <a:r>
              <a:rPr lang="en-US" altLang="zh-CN" dirty="0" err="1">
                <a:latin typeface="Arial Black" panose="020B0A04020102020204" pitchFamily="34" charset="0"/>
              </a:rPr>
              <a:t>new_addr</a:t>
            </a:r>
            <a:r>
              <a:rPr lang="en-US" altLang="zh-CN" dirty="0">
                <a:latin typeface="Arial Black" panose="020B0A04020102020204" pitchFamily="34" charset="0"/>
              </a:rPr>
              <a:t>;</a:t>
            </a:r>
          </a:p>
          <a:p>
            <a:r>
              <a:rPr lang="en-US" altLang="zh-CN" dirty="0">
                <a:latin typeface="Arial Black" panose="020B0A04020102020204" pitchFamily="34" charset="0"/>
              </a:rPr>
              <a:t>		while(R[</a:t>
            </a:r>
            <a:r>
              <a:rPr lang="en-US" altLang="zh-CN" dirty="0" err="1">
                <a:latin typeface="Arial Black" panose="020B0A04020102020204" pitchFamily="34" charset="0"/>
              </a:rPr>
              <a:t>new_addr</a:t>
            </a:r>
            <a:r>
              <a:rPr lang="en-US" altLang="zh-CN" dirty="0">
                <a:latin typeface="Arial Black" panose="020B0A04020102020204" pitchFamily="34" charset="0"/>
              </a:rPr>
              <a:t>].key!=-1)       //</a:t>
            </a:r>
            <a:r>
              <a:rPr lang="zh-CN" altLang="en-US" dirty="0">
                <a:latin typeface="Arial Black" panose="020B0A04020102020204" pitchFamily="34" charset="0"/>
              </a:rPr>
              <a:t>循环搜索表中空闲单元</a:t>
            </a:r>
          </a:p>
          <a:p>
            <a:r>
              <a:rPr lang="zh-CN" altLang="en-US" dirty="0">
                <a:latin typeface="Arial Black" panose="020B0A04020102020204" pitchFamily="34" charset="0"/>
              </a:rPr>
              <a:t>        </a:t>
            </a:r>
            <a:r>
              <a:rPr lang="en-US" altLang="zh-CN" dirty="0">
                <a:latin typeface="Arial Black" panose="020B0A04020102020204" pitchFamily="34" charset="0"/>
              </a:rPr>
              <a:t>		{	if (flag)		di=j*j;	else</a:t>
            </a:r>
          </a:p>
          <a:p>
            <a:r>
              <a:rPr lang="en-US" altLang="zh-CN" dirty="0">
                <a:latin typeface="Arial Black" panose="020B0A04020102020204" pitchFamily="34" charset="0"/>
              </a:rPr>
              <a:t>			{	di=</a:t>
            </a:r>
            <a:r>
              <a:rPr lang="en-US" altLang="zh-CN" dirty="0" err="1">
                <a:latin typeface="Arial Black" panose="020B0A04020102020204" pitchFamily="34" charset="0"/>
              </a:rPr>
              <a:t>MaxSize</a:t>
            </a:r>
            <a:r>
              <a:rPr lang="en-US" altLang="zh-CN" dirty="0">
                <a:latin typeface="Arial Black" panose="020B0A04020102020204" pitchFamily="34" charset="0"/>
              </a:rPr>
              <a:t>-((j*j)%</a:t>
            </a:r>
            <a:r>
              <a:rPr lang="en-US" altLang="zh-CN" dirty="0" err="1">
                <a:latin typeface="Arial Black" panose="020B0A04020102020204" pitchFamily="34" charset="0"/>
              </a:rPr>
              <a:t>MaxSize</a:t>
            </a:r>
            <a:r>
              <a:rPr lang="en-US" altLang="zh-CN" dirty="0">
                <a:latin typeface="Arial Black" panose="020B0A04020102020204" pitchFamily="34" charset="0"/>
              </a:rPr>
              <a:t>);	</a:t>
            </a:r>
            <a:r>
              <a:rPr lang="en-US" altLang="zh-CN" dirty="0" err="1">
                <a:latin typeface="Arial Black" panose="020B0A04020102020204" pitchFamily="34" charset="0"/>
              </a:rPr>
              <a:t>j++</a:t>
            </a:r>
            <a:r>
              <a:rPr lang="en-US" altLang="zh-CN" dirty="0">
                <a:latin typeface="Arial Black" panose="020B0A04020102020204" pitchFamily="34" charset="0"/>
              </a:rPr>
              <a:t>;	}</a:t>
            </a:r>
          </a:p>
          <a:p>
            <a:r>
              <a:rPr lang="en-US" altLang="zh-CN" dirty="0">
                <a:latin typeface="Arial Black" panose="020B0A04020102020204" pitchFamily="34" charset="0"/>
              </a:rPr>
              <a:t>			</a:t>
            </a:r>
            <a:r>
              <a:rPr lang="en-US" altLang="zh-CN" dirty="0" err="1">
                <a:latin typeface="Arial Black" panose="020B0A04020102020204" pitchFamily="34" charset="0"/>
              </a:rPr>
              <a:t>new_addr</a:t>
            </a:r>
            <a:r>
              <a:rPr lang="en-US" altLang="zh-CN" dirty="0">
                <a:latin typeface="Arial Black" panose="020B0A04020102020204" pitchFamily="34" charset="0"/>
              </a:rPr>
              <a:t> = (</a:t>
            </a:r>
            <a:r>
              <a:rPr lang="en-US" altLang="zh-CN" dirty="0" err="1">
                <a:latin typeface="Arial Black" panose="020B0A04020102020204" pitchFamily="34" charset="0"/>
              </a:rPr>
              <a:t>addr+di</a:t>
            </a:r>
            <a:r>
              <a:rPr lang="en-US" altLang="zh-CN" dirty="0">
                <a:latin typeface="Arial Black" panose="020B0A04020102020204" pitchFamily="34" charset="0"/>
              </a:rPr>
              <a:t>) % </a:t>
            </a:r>
            <a:r>
              <a:rPr lang="en-US" altLang="zh-CN" dirty="0" err="1">
                <a:latin typeface="Arial Black" panose="020B0A04020102020204" pitchFamily="34" charset="0"/>
              </a:rPr>
              <a:t>MaxSize</a:t>
            </a:r>
            <a:r>
              <a:rPr lang="en-US" altLang="zh-CN" dirty="0">
                <a:latin typeface="Arial Black" panose="020B0A04020102020204" pitchFamily="34" charset="0"/>
              </a:rPr>
              <a:t>;  //</a:t>
            </a:r>
            <a:r>
              <a:rPr lang="zh-CN" altLang="en-US" dirty="0">
                <a:latin typeface="Arial Black" panose="020B0A04020102020204" pitchFamily="34" charset="0"/>
              </a:rPr>
              <a:t>计算新地址</a:t>
            </a:r>
          </a:p>
          <a:p>
            <a:r>
              <a:rPr lang="zh-CN" altLang="en-US" dirty="0">
                <a:latin typeface="Arial Black" panose="020B0A04020102020204" pitchFamily="34" charset="0"/>
              </a:rPr>
              <a:t>			</a:t>
            </a:r>
            <a:r>
              <a:rPr lang="en-US" altLang="zh-CN" dirty="0">
                <a:latin typeface="Arial Black" panose="020B0A04020102020204" pitchFamily="34" charset="0"/>
              </a:rPr>
              <a:t>if (</a:t>
            </a:r>
            <a:r>
              <a:rPr lang="en-US" altLang="zh-CN" dirty="0" err="1">
                <a:latin typeface="Arial Black" panose="020B0A04020102020204" pitchFamily="34" charset="0"/>
              </a:rPr>
              <a:t>new_addr</a:t>
            </a:r>
            <a:r>
              <a:rPr lang="en-US" altLang="zh-CN" dirty="0">
                <a:latin typeface="Arial Black" panose="020B0A04020102020204" pitchFamily="34" charset="0"/>
              </a:rPr>
              <a:t> == temp) return false;  	//</a:t>
            </a:r>
            <a:r>
              <a:rPr lang="zh-CN" altLang="en-US" dirty="0">
                <a:latin typeface="Arial Black" panose="020B0A04020102020204" pitchFamily="34" charset="0"/>
              </a:rPr>
              <a:t>查找完所有位置后表示无法插入						</a:t>
            </a:r>
          </a:p>
          <a:p>
            <a:r>
              <a:rPr lang="zh-CN" altLang="en-US" dirty="0">
                <a:latin typeface="Arial Black" panose="020B0A04020102020204" pitchFamily="34" charset="0"/>
              </a:rPr>
              <a:t>			</a:t>
            </a:r>
            <a:r>
              <a:rPr lang="en-US" altLang="zh-CN" dirty="0">
                <a:latin typeface="Arial Black" panose="020B0A04020102020204" pitchFamily="34" charset="0"/>
              </a:rPr>
              <a:t>flag=!flag;	}</a:t>
            </a:r>
          </a:p>
          <a:p>
            <a:r>
              <a:rPr lang="en-US" altLang="zh-CN" dirty="0">
                <a:latin typeface="Arial Black" panose="020B0A04020102020204" pitchFamily="34" charset="0"/>
              </a:rPr>
              <a:t>		R[</a:t>
            </a:r>
            <a:r>
              <a:rPr lang="en-US" altLang="zh-CN" dirty="0" err="1">
                <a:latin typeface="Arial Black" panose="020B0A04020102020204" pitchFamily="34" charset="0"/>
              </a:rPr>
              <a:t>new_addr</a:t>
            </a:r>
            <a:r>
              <a:rPr lang="en-US" altLang="zh-CN" dirty="0">
                <a:latin typeface="Arial Black" panose="020B0A04020102020204" pitchFamily="34" charset="0"/>
              </a:rPr>
              <a:t>].</a:t>
            </a:r>
            <a:r>
              <a:rPr lang="en-US" altLang="zh-CN" dirty="0" err="1">
                <a:latin typeface="Arial Black" panose="020B0A04020102020204" pitchFamily="34" charset="0"/>
              </a:rPr>
              <a:t>otherinfo</a:t>
            </a:r>
            <a:r>
              <a:rPr lang="en-US" altLang="zh-CN" dirty="0">
                <a:latin typeface="Arial Black" panose="020B0A04020102020204" pitchFamily="34" charset="0"/>
              </a:rPr>
              <a:t> = </a:t>
            </a:r>
            <a:r>
              <a:rPr lang="en-US" altLang="zh-CN" dirty="0" err="1">
                <a:latin typeface="Arial Black" panose="020B0A04020102020204" pitchFamily="34" charset="0"/>
              </a:rPr>
              <a:t>new_addr</a:t>
            </a:r>
            <a:r>
              <a:rPr lang="en-US" altLang="zh-CN" dirty="0">
                <a:latin typeface="Arial Black" panose="020B0A04020102020204" pitchFamily="34" charset="0"/>
              </a:rPr>
              <a:t>;		</a:t>
            </a:r>
          </a:p>
          <a:p>
            <a:r>
              <a:rPr lang="en-US" altLang="zh-CN" dirty="0">
                <a:latin typeface="Arial Black" panose="020B0A04020102020204" pitchFamily="34" charset="0"/>
              </a:rPr>
              <a:t>		R[</a:t>
            </a:r>
            <a:r>
              <a:rPr lang="en-US" altLang="zh-CN" dirty="0" err="1">
                <a:latin typeface="Arial Black" panose="020B0A04020102020204" pitchFamily="34" charset="0"/>
              </a:rPr>
              <a:t>new_addr</a:t>
            </a:r>
            <a:r>
              <a:rPr lang="en-US" altLang="zh-CN" dirty="0">
                <a:latin typeface="Arial Black" panose="020B0A04020102020204" pitchFamily="34" charset="0"/>
              </a:rPr>
              <a:t>].key = pa[</a:t>
            </a:r>
            <a:r>
              <a:rPr lang="en-US" altLang="zh-CN" dirty="0" err="1">
                <a:latin typeface="Arial Black" panose="020B0A04020102020204" pitchFamily="34" charset="0"/>
              </a:rPr>
              <a:t>i</a:t>
            </a:r>
            <a:r>
              <a:rPr lang="en-US" altLang="zh-CN" dirty="0">
                <a:latin typeface="Arial Black" panose="020B0A04020102020204" pitchFamily="34" charset="0"/>
              </a:rPr>
              <a:t>];</a:t>
            </a:r>
          </a:p>
          <a:p>
            <a:r>
              <a:rPr lang="en-US" altLang="zh-CN" dirty="0">
                <a:latin typeface="Arial Black" panose="020B0A04020102020204" pitchFamily="34" charset="0"/>
              </a:rPr>
              <a:t>		</a:t>
            </a:r>
            <a:r>
              <a:rPr lang="en-US" altLang="zh-CN" dirty="0" err="1">
                <a:latin typeface="Arial Black" panose="020B0A04020102020204" pitchFamily="34" charset="0"/>
              </a:rPr>
              <a:t>CurrentSize</a:t>
            </a:r>
            <a:r>
              <a:rPr lang="en-US" altLang="zh-CN" dirty="0">
                <a:latin typeface="Arial Black" panose="020B0A04020102020204" pitchFamily="34" charset="0"/>
              </a:rPr>
              <a:t>++;	}</a:t>
            </a:r>
          </a:p>
          <a:p>
            <a:r>
              <a:rPr lang="en-US" altLang="zh-CN" dirty="0">
                <a:latin typeface="Arial Black" panose="020B0A04020102020204" pitchFamily="34" charset="0"/>
              </a:rPr>
              <a:t>	return true;}</a:t>
            </a:r>
            <a:endParaRPr lang="zh-CN" altLang="en-US" dirty="0">
              <a:latin typeface="Arial Black" panose="020B0A04020102020204" pitchFamily="34" charset="0"/>
            </a:endParaRPr>
          </a:p>
        </p:txBody>
      </p:sp>
    </p:spTree>
    <p:extLst>
      <p:ext uri="{BB962C8B-B14F-4D97-AF65-F5344CB8AC3E}">
        <p14:creationId xmlns:p14="http://schemas.microsoft.com/office/powerpoint/2010/main" val="275985416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FCADF4E-76AF-411E-A358-D7FE00C898FF}"/>
              </a:ext>
            </a:extLst>
          </p:cNvPr>
          <p:cNvSpPr>
            <a:spLocks noGrp="1"/>
          </p:cNvSpPr>
          <p:nvPr>
            <p:ph type="dt" sz="half" idx="10"/>
          </p:nvPr>
        </p:nvSpPr>
        <p:spPr/>
        <p:txBody>
          <a:bodyPr/>
          <a:lstStyle/>
          <a:p>
            <a:fld id="{9A6B2991-BBE5-4E69-A281-1A8B0AE9CDD7}" type="datetime1">
              <a:rPr lang="zh-CN" altLang="en-US" smtClean="0"/>
              <a:pPr/>
              <a:t>2025/6/3</a:t>
            </a:fld>
            <a:endParaRPr lang="zh-CN" altLang="en-US"/>
          </a:p>
        </p:txBody>
      </p:sp>
      <p:sp>
        <p:nvSpPr>
          <p:cNvPr id="3" name="文本框 2">
            <a:extLst>
              <a:ext uri="{FF2B5EF4-FFF2-40B4-BE49-F238E27FC236}">
                <a16:creationId xmlns:a16="http://schemas.microsoft.com/office/drawing/2014/main" id="{72AF76CF-B0AD-46D6-9669-F0C903690C2B}"/>
              </a:ext>
            </a:extLst>
          </p:cNvPr>
          <p:cNvSpPr txBox="1"/>
          <p:nvPr/>
        </p:nvSpPr>
        <p:spPr>
          <a:xfrm>
            <a:off x="107504" y="62036"/>
            <a:ext cx="9001000" cy="6832640"/>
          </a:xfrm>
          <a:prstGeom prst="rect">
            <a:avLst/>
          </a:prstGeom>
          <a:solidFill>
            <a:schemeClr val="accent3">
              <a:lumMod val="40000"/>
              <a:lumOff val="60000"/>
            </a:schemeClr>
          </a:solidFill>
        </p:spPr>
        <p:txBody>
          <a:bodyPr wrap="square" rtlCol="0">
            <a:spAutoFit/>
          </a:bodyPr>
          <a:lstStyle/>
          <a:p>
            <a:r>
              <a:rPr lang="en-US" altLang="zh-CN" sz="2400" b="1" dirty="0">
                <a:solidFill>
                  <a:srgbClr val="FF0000"/>
                </a:solidFill>
                <a:latin typeface="Arial Black" panose="020B0A04020102020204" pitchFamily="34" charset="0"/>
              </a:rPr>
              <a:t>//</a:t>
            </a:r>
            <a:r>
              <a:rPr lang="zh-CN" altLang="en-US" sz="2400" b="1" dirty="0">
                <a:solidFill>
                  <a:srgbClr val="FF0000"/>
                </a:solidFill>
                <a:latin typeface="Arial Black" panose="020B0A04020102020204" pitchFamily="34" charset="0"/>
              </a:rPr>
              <a:t>哈希查找函数，双向二次探测再散列</a:t>
            </a:r>
            <a:endParaRPr lang="zh-CN" altLang="en-US" b="1" dirty="0">
              <a:solidFill>
                <a:srgbClr val="FF0000"/>
              </a:solidFill>
              <a:latin typeface="Arial Black" panose="020B0A04020102020204" pitchFamily="34" charset="0"/>
            </a:endParaRPr>
          </a:p>
          <a:p>
            <a:r>
              <a:rPr lang="en-US" altLang="zh-CN" dirty="0">
                <a:latin typeface="Arial Black" panose="020B0A04020102020204" pitchFamily="34" charset="0"/>
              </a:rPr>
              <a:t>template &lt;class </a:t>
            </a:r>
            <a:r>
              <a:rPr lang="en-US" altLang="zh-CN" dirty="0" err="1">
                <a:latin typeface="Arial Black" panose="020B0A04020102020204" pitchFamily="34" charset="0"/>
              </a:rPr>
              <a:t>keytype,class</a:t>
            </a:r>
            <a:r>
              <a:rPr lang="en-US" altLang="zh-CN" dirty="0">
                <a:latin typeface="Arial Black" panose="020B0A04020102020204" pitchFamily="34" charset="0"/>
              </a:rPr>
              <a:t> </a:t>
            </a:r>
            <a:r>
              <a:rPr lang="en-US" altLang="zh-CN" dirty="0" err="1">
                <a:latin typeface="Arial Black" panose="020B0A04020102020204" pitchFamily="34" charset="0"/>
              </a:rPr>
              <a:t>Itemtype</a:t>
            </a:r>
            <a:r>
              <a:rPr lang="en-US" altLang="zh-CN" dirty="0">
                <a:latin typeface="Arial Black" panose="020B0A04020102020204" pitchFamily="34" charset="0"/>
              </a:rPr>
              <a:t>&gt;</a:t>
            </a:r>
          </a:p>
          <a:p>
            <a:r>
              <a:rPr lang="en-US" altLang="zh-CN" dirty="0">
                <a:latin typeface="Arial Black" panose="020B0A04020102020204" pitchFamily="34" charset="0"/>
              </a:rPr>
              <a:t>int </a:t>
            </a:r>
            <a:r>
              <a:rPr lang="en-US" altLang="zh-CN" dirty="0" err="1">
                <a:latin typeface="Arial Black" panose="020B0A04020102020204" pitchFamily="34" charset="0"/>
              </a:rPr>
              <a:t>recordList</a:t>
            </a:r>
            <a:r>
              <a:rPr lang="en-US" altLang="zh-CN" dirty="0">
                <a:latin typeface="Arial Black" panose="020B0A04020102020204" pitchFamily="34" charset="0"/>
              </a:rPr>
              <a:t>&lt;</a:t>
            </a:r>
            <a:r>
              <a:rPr lang="en-US" altLang="zh-CN" dirty="0" err="1">
                <a:latin typeface="Arial Black" panose="020B0A04020102020204" pitchFamily="34" charset="0"/>
              </a:rPr>
              <a:t>keytype,Itemtype</a:t>
            </a:r>
            <a:r>
              <a:rPr lang="en-US" altLang="zh-CN" dirty="0">
                <a:latin typeface="Arial Black" panose="020B0A04020102020204" pitchFamily="34" charset="0"/>
              </a:rPr>
              <a:t>&gt;::hash_find5(</a:t>
            </a:r>
            <a:r>
              <a:rPr lang="en-US" altLang="zh-CN" dirty="0" err="1">
                <a:latin typeface="Arial Black" panose="020B0A04020102020204" pitchFamily="34" charset="0"/>
              </a:rPr>
              <a:t>keytype</a:t>
            </a:r>
            <a:r>
              <a:rPr lang="en-US" altLang="zh-CN" dirty="0">
                <a:latin typeface="Arial Black" panose="020B0A04020102020204" pitchFamily="34" charset="0"/>
              </a:rPr>
              <a:t> x)</a:t>
            </a:r>
          </a:p>
          <a:p>
            <a:r>
              <a:rPr lang="en-US" altLang="zh-CN" dirty="0">
                <a:latin typeface="Arial Black" panose="020B0A04020102020204" pitchFamily="34" charset="0"/>
              </a:rPr>
              <a:t>{	int </a:t>
            </a:r>
            <a:r>
              <a:rPr lang="en-US" altLang="zh-CN" dirty="0" err="1">
                <a:latin typeface="Arial Black" panose="020B0A04020102020204" pitchFamily="34" charset="0"/>
              </a:rPr>
              <a:t>addr,new_addr,di,j,temp</a:t>
            </a:r>
            <a:r>
              <a:rPr lang="en-US" altLang="zh-CN" dirty="0">
                <a:latin typeface="Arial Black" panose="020B0A04020102020204" pitchFamily="34" charset="0"/>
              </a:rPr>
              <a:t>;	bool flag;</a:t>
            </a:r>
          </a:p>
          <a:p>
            <a:r>
              <a:rPr lang="en-US" altLang="zh-CN" dirty="0">
                <a:latin typeface="Arial Black" panose="020B0A04020102020204" pitchFamily="34" charset="0"/>
              </a:rPr>
              <a:t>	</a:t>
            </a:r>
            <a:r>
              <a:rPr lang="en-US" altLang="zh-CN" dirty="0" err="1">
                <a:latin typeface="Arial Black" panose="020B0A04020102020204" pitchFamily="34" charset="0"/>
              </a:rPr>
              <a:t>addr</a:t>
            </a:r>
            <a:r>
              <a:rPr lang="en-US" altLang="zh-CN" dirty="0">
                <a:latin typeface="Arial Black" panose="020B0A04020102020204" pitchFamily="34" charset="0"/>
              </a:rPr>
              <a:t>=</a:t>
            </a:r>
            <a:r>
              <a:rPr lang="en-US" altLang="zh-CN" dirty="0" err="1">
                <a:latin typeface="Arial Black" panose="020B0A04020102020204" pitchFamily="34" charset="0"/>
              </a:rPr>
              <a:t>x%MaxSize</a:t>
            </a:r>
            <a:r>
              <a:rPr lang="en-US" altLang="zh-CN" dirty="0">
                <a:latin typeface="Arial Black" panose="020B0A04020102020204" pitchFamily="34" charset="0"/>
              </a:rPr>
              <a:t>;               //</a:t>
            </a:r>
            <a:r>
              <a:rPr lang="zh-CN" altLang="en-US" dirty="0">
                <a:latin typeface="Arial Black" panose="020B0A04020102020204" pitchFamily="34" charset="0"/>
              </a:rPr>
              <a:t>计算哈希地址</a:t>
            </a:r>
          </a:p>
          <a:p>
            <a:r>
              <a:rPr lang="zh-CN" altLang="en-US" dirty="0">
                <a:latin typeface="Arial Black" panose="020B0A04020102020204" pitchFamily="34" charset="0"/>
              </a:rPr>
              <a:t>	</a:t>
            </a:r>
            <a:r>
              <a:rPr lang="en-US" altLang="zh-CN" dirty="0" err="1">
                <a:latin typeface="Arial Black" panose="020B0A04020102020204" pitchFamily="34" charset="0"/>
              </a:rPr>
              <a:t>new_addr</a:t>
            </a:r>
            <a:r>
              <a:rPr lang="en-US" altLang="zh-CN" dirty="0">
                <a:latin typeface="Arial Black" panose="020B0A04020102020204" pitchFamily="34" charset="0"/>
              </a:rPr>
              <a:t>=</a:t>
            </a:r>
            <a:r>
              <a:rPr lang="en-US" altLang="zh-CN" dirty="0" err="1">
                <a:latin typeface="Arial Black" panose="020B0A04020102020204" pitchFamily="34" charset="0"/>
              </a:rPr>
              <a:t>addr</a:t>
            </a:r>
            <a:r>
              <a:rPr lang="en-US" altLang="zh-CN" dirty="0">
                <a:latin typeface="Arial Black" panose="020B0A04020102020204" pitchFamily="34" charset="0"/>
              </a:rPr>
              <a:t>;</a:t>
            </a:r>
          </a:p>
          <a:p>
            <a:r>
              <a:rPr lang="en-US" altLang="zh-CN" dirty="0">
                <a:latin typeface="Arial Black" panose="020B0A04020102020204" pitchFamily="34" charset="0"/>
              </a:rPr>
              <a:t>	flag=true;           </a:t>
            </a:r>
          </a:p>
          <a:p>
            <a:r>
              <a:rPr lang="en-US" altLang="zh-CN" dirty="0">
                <a:latin typeface="Arial Black" panose="020B0A04020102020204" pitchFamily="34" charset="0"/>
              </a:rPr>
              <a:t>	j=1;	//</a:t>
            </a:r>
            <a:r>
              <a:rPr lang="zh-CN" altLang="en-US" dirty="0">
                <a:latin typeface="Arial Black" panose="020B0A04020102020204" pitchFamily="34" charset="0"/>
              </a:rPr>
              <a:t>分量从</a:t>
            </a:r>
            <a:r>
              <a:rPr lang="en-US" altLang="zh-CN" dirty="0">
                <a:latin typeface="Arial Black" panose="020B0A04020102020204" pitchFamily="34" charset="0"/>
              </a:rPr>
              <a:t>1</a:t>
            </a:r>
            <a:r>
              <a:rPr lang="zh-CN" altLang="en-US" dirty="0">
                <a:latin typeface="Arial Black" panose="020B0A04020102020204" pitchFamily="34" charset="0"/>
              </a:rPr>
              <a:t>开始</a:t>
            </a:r>
          </a:p>
          <a:p>
            <a:r>
              <a:rPr lang="zh-CN" altLang="en-US" dirty="0">
                <a:latin typeface="Arial Black" panose="020B0A04020102020204" pitchFamily="34" charset="0"/>
              </a:rPr>
              <a:t>	</a:t>
            </a:r>
            <a:r>
              <a:rPr lang="en-US" altLang="zh-CN" dirty="0">
                <a:latin typeface="Arial Black" panose="020B0A04020102020204" pitchFamily="34" charset="0"/>
              </a:rPr>
              <a:t>temp=</a:t>
            </a:r>
            <a:r>
              <a:rPr lang="en-US" altLang="zh-CN" dirty="0" err="1">
                <a:latin typeface="Arial Black" panose="020B0A04020102020204" pitchFamily="34" charset="0"/>
              </a:rPr>
              <a:t>new_addr</a:t>
            </a:r>
            <a:r>
              <a:rPr lang="en-US" altLang="zh-CN" dirty="0">
                <a:latin typeface="Arial Black" panose="020B0A04020102020204" pitchFamily="34" charset="0"/>
              </a:rPr>
              <a:t>;                                 </a:t>
            </a:r>
          </a:p>
          <a:p>
            <a:r>
              <a:rPr lang="en-US" altLang="zh-CN" dirty="0">
                <a:latin typeface="Arial Black" panose="020B0A04020102020204" pitchFamily="34" charset="0"/>
              </a:rPr>
              <a:t>	while ((R[</a:t>
            </a:r>
            <a:r>
              <a:rPr lang="en-US" altLang="zh-CN" dirty="0" err="1">
                <a:latin typeface="Arial Black" panose="020B0A04020102020204" pitchFamily="34" charset="0"/>
              </a:rPr>
              <a:t>new_addr</a:t>
            </a:r>
            <a:r>
              <a:rPr lang="en-US" altLang="zh-CN" dirty="0">
                <a:latin typeface="Arial Black" panose="020B0A04020102020204" pitchFamily="34" charset="0"/>
              </a:rPr>
              <a:t>].key!=x)&amp;&amp;(R[</a:t>
            </a:r>
            <a:r>
              <a:rPr lang="en-US" altLang="zh-CN" dirty="0" err="1">
                <a:latin typeface="Arial Black" panose="020B0A04020102020204" pitchFamily="34" charset="0"/>
              </a:rPr>
              <a:t>new_addr</a:t>
            </a:r>
            <a:r>
              <a:rPr lang="en-US" altLang="zh-CN" dirty="0">
                <a:latin typeface="Arial Black" panose="020B0A04020102020204" pitchFamily="34" charset="0"/>
              </a:rPr>
              <a:t>].key!=-1))</a:t>
            </a:r>
          </a:p>
          <a:p>
            <a:r>
              <a:rPr lang="en-US" altLang="zh-CN" dirty="0">
                <a:latin typeface="Arial Black" panose="020B0A04020102020204" pitchFamily="34" charset="0"/>
              </a:rPr>
              <a:t>    //</a:t>
            </a:r>
            <a:r>
              <a:rPr lang="zh-CN" altLang="en-US" dirty="0">
                <a:latin typeface="Arial Black" panose="020B0A04020102020204" pitchFamily="34" charset="0"/>
              </a:rPr>
              <a:t>当表中元素不等于</a:t>
            </a:r>
            <a:r>
              <a:rPr lang="en-US" altLang="zh-CN" dirty="0">
                <a:latin typeface="Arial Black" panose="020B0A04020102020204" pitchFamily="34" charset="0"/>
              </a:rPr>
              <a:t>x</a:t>
            </a:r>
            <a:r>
              <a:rPr lang="zh-CN" altLang="en-US" dirty="0">
                <a:latin typeface="Arial Black" panose="020B0A04020102020204" pitchFamily="34" charset="0"/>
              </a:rPr>
              <a:t>，并且不等于</a:t>
            </a:r>
            <a:r>
              <a:rPr lang="en-US" altLang="zh-CN" dirty="0">
                <a:latin typeface="Arial Black" panose="020B0A04020102020204" pitchFamily="34" charset="0"/>
              </a:rPr>
              <a:t>-1</a:t>
            </a:r>
            <a:r>
              <a:rPr lang="zh-CN" altLang="en-US" dirty="0">
                <a:latin typeface="Arial Black" panose="020B0A04020102020204" pitchFamily="34" charset="0"/>
              </a:rPr>
              <a:t>，则计算出新地址再比较</a:t>
            </a:r>
          </a:p>
          <a:p>
            <a:r>
              <a:rPr lang="zh-CN" altLang="en-US" dirty="0">
                <a:latin typeface="Arial Black" panose="020B0A04020102020204" pitchFamily="34" charset="0"/>
              </a:rPr>
              <a:t>    </a:t>
            </a:r>
            <a:r>
              <a:rPr lang="en-US" altLang="zh-CN" dirty="0">
                <a:latin typeface="Arial Black" panose="020B0A04020102020204" pitchFamily="34" charset="0"/>
              </a:rPr>
              <a:t>	{	if (flag)</a:t>
            </a:r>
          </a:p>
          <a:p>
            <a:r>
              <a:rPr lang="en-US" altLang="zh-CN" dirty="0">
                <a:latin typeface="Arial Black" panose="020B0A04020102020204" pitchFamily="34" charset="0"/>
              </a:rPr>
              <a:t>			di=j*j;</a:t>
            </a:r>
          </a:p>
          <a:p>
            <a:r>
              <a:rPr lang="en-US" altLang="zh-CN" dirty="0">
                <a:latin typeface="Arial Black" panose="020B0A04020102020204" pitchFamily="34" charset="0"/>
              </a:rPr>
              <a:t>		else</a:t>
            </a:r>
          </a:p>
          <a:p>
            <a:r>
              <a:rPr lang="en-US" altLang="zh-CN" dirty="0">
                <a:latin typeface="Arial Black" panose="020B0A04020102020204" pitchFamily="34" charset="0"/>
              </a:rPr>
              <a:t>		{	di=</a:t>
            </a:r>
            <a:r>
              <a:rPr lang="en-US" altLang="zh-CN" dirty="0" err="1">
                <a:latin typeface="Arial Black" panose="020B0A04020102020204" pitchFamily="34" charset="0"/>
              </a:rPr>
              <a:t>CurrentSize</a:t>
            </a:r>
            <a:r>
              <a:rPr lang="en-US" altLang="zh-CN" dirty="0">
                <a:latin typeface="Arial Black" panose="020B0A04020102020204" pitchFamily="34" charset="0"/>
              </a:rPr>
              <a:t>-((j*j)%</a:t>
            </a:r>
            <a:r>
              <a:rPr lang="en-US" altLang="zh-CN" dirty="0" err="1">
                <a:latin typeface="Arial Black" panose="020B0A04020102020204" pitchFamily="34" charset="0"/>
              </a:rPr>
              <a:t>MaxSize</a:t>
            </a:r>
            <a:r>
              <a:rPr lang="en-US" altLang="zh-CN" dirty="0">
                <a:latin typeface="Arial Black" panose="020B0A04020102020204" pitchFamily="34" charset="0"/>
              </a:rPr>
              <a:t>);</a:t>
            </a:r>
          </a:p>
          <a:p>
            <a:r>
              <a:rPr lang="en-US" altLang="zh-CN" dirty="0">
                <a:latin typeface="Arial Black" panose="020B0A04020102020204" pitchFamily="34" charset="0"/>
              </a:rPr>
              <a:t>			</a:t>
            </a:r>
            <a:r>
              <a:rPr lang="en-US" altLang="zh-CN" dirty="0" err="1">
                <a:latin typeface="Arial Black" panose="020B0A04020102020204" pitchFamily="34" charset="0"/>
              </a:rPr>
              <a:t>j++</a:t>
            </a:r>
            <a:r>
              <a:rPr lang="en-US" altLang="zh-CN" dirty="0">
                <a:latin typeface="Arial Black" panose="020B0A04020102020204" pitchFamily="34" charset="0"/>
              </a:rPr>
              <a:t>;	}</a:t>
            </a:r>
          </a:p>
          <a:p>
            <a:r>
              <a:rPr lang="en-US" altLang="zh-CN" dirty="0">
                <a:latin typeface="Arial Black" panose="020B0A04020102020204" pitchFamily="34" charset="0"/>
              </a:rPr>
              <a:t>		</a:t>
            </a:r>
            <a:r>
              <a:rPr lang="en-US" altLang="zh-CN" dirty="0" err="1">
                <a:latin typeface="Arial Black" panose="020B0A04020102020204" pitchFamily="34" charset="0"/>
              </a:rPr>
              <a:t>new_addr</a:t>
            </a:r>
            <a:r>
              <a:rPr lang="en-US" altLang="zh-CN" dirty="0">
                <a:latin typeface="Arial Black" panose="020B0A04020102020204" pitchFamily="34" charset="0"/>
              </a:rPr>
              <a:t>=(</a:t>
            </a:r>
            <a:r>
              <a:rPr lang="en-US" altLang="zh-CN" dirty="0" err="1">
                <a:latin typeface="Arial Black" panose="020B0A04020102020204" pitchFamily="34" charset="0"/>
              </a:rPr>
              <a:t>addr+di</a:t>
            </a:r>
            <a:r>
              <a:rPr lang="en-US" altLang="zh-CN" dirty="0">
                <a:latin typeface="Arial Black" panose="020B0A04020102020204" pitchFamily="34" charset="0"/>
              </a:rPr>
              <a:t>)%</a:t>
            </a:r>
            <a:r>
              <a:rPr lang="en-US" altLang="zh-CN" dirty="0" err="1">
                <a:latin typeface="Arial Black" panose="020B0A04020102020204" pitchFamily="34" charset="0"/>
              </a:rPr>
              <a:t>MaxSize</a:t>
            </a:r>
            <a:r>
              <a:rPr lang="en-US" altLang="zh-CN" dirty="0">
                <a:latin typeface="Arial Black" panose="020B0A04020102020204" pitchFamily="34" charset="0"/>
              </a:rPr>
              <a:t>;</a:t>
            </a:r>
          </a:p>
          <a:p>
            <a:r>
              <a:rPr lang="en-US" altLang="zh-CN" dirty="0">
                <a:latin typeface="Arial Black" panose="020B0A04020102020204" pitchFamily="34" charset="0"/>
              </a:rPr>
              <a:t>		if (</a:t>
            </a:r>
            <a:r>
              <a:rPr lang="en-US" altLang="zh-CN" dirty="0" err="1">
                <a:latin typeface="Arial Black" panose="020B0A04020102020204" pitchFamily="34" charset="0"/>
              </a:rPr>
              <a:t>new_addr</a:t>
            </a:r>
            <a:r>
              <a:rPr lang="en-US" altLang="zh-CN" dirty="0">
                <a:latin typeface="Arial Black" panose="020B0A04020102020204" pitchFamily="34" charset="0"/>
              </a:rPr>
              <a:t> == temp) return -1;  //</a:t>
            </a:r>
            <a:r>
              <a:rPr lang="zh-CN" altLang="en-US" dirty="0">
                <a:latin typeface="Arial Black" panose="020B0A04020102020204" pitchFamily="34" charset="0"/>
              </a:rPr>
              <a:t>查找不成功，返回</a:t>
            </a:r>
            <a:r>
              <a:rPr lang="en-US" altLang="zh-CN" dirty="0">
                <a:latin typeface="Arial Black" panose="020B0A04020102020204" pitchFamily="34" charset="0"/>
              </a:rPr>
              <a:t>-1</a:t>
            </a:r>
            <a:r>
              <a:rPr lang="zh-CN" altLang="en-US" dirty="0">
                <a:latin typeface="Arial Black" panose="020B0A04020102020204" pitchFamily="34" charset="0"/>
              </a:rPr>
              <a:t>值</a:t>
            </a:r>
          </a:p>
          <a:p>
            <a:r>
              <a:rPr lang="zh-CN" altLang="en-US" dirty="0">
                <a:latin typeface="Arial Black" panose="020B0A04020102020204" pitchFamily="34" charset="0"/>
              </a:rPr>
              <a:t>		</a:t>
            </a:r>
            <a:r>
              <a:rPr lang="en-US" altLang="zh-CN" dirty="0">
                <a:latin typeface="Arial Black" panose="020B0A04020102020204" pitchFamily="34" charset="0"/>
              </a:rPr>
              <a:t>flag=!flag;	}</a:t>
            </a:r>
          </a:p>
          <a:p>
            <a:r>
              <a:rPr lang="en-US" altLang="zh-CN" dirty="0">
                <a:latin typeface="Arial Black" panose="020B0A04020102020204" pitchFamily="34" charset="0"/>
              </a:rPr>
              <a:t>	if(R[</a:t>
            </a:r>
            <a:r>
              <a:rPr lang="en-US" altLang="zh-CN" dirty="0" err="1">
                <a:latin typeface="Arial Black" panose="020B0A04020102020204" pitchFamily="34" charset="0"/>
              </a:rPr>
              <a:t>new_addr</a:t>
            </a:r>
            <a:r>
              <a:rPr lang="en-US" altLang="zh-CN" dirty="0">
                <a:latin typeface="Arial Black" panose="020B0A04020102020204" pitchFamily="34" charset="0"/>
              </a:rPr>
              <a:t>].key==x)</a:t>
            </a:r>
          </a:p>
          <a:p>
            <a:r>
              <a:rPr lang="en-US" altLang="zh-CN" dirty="0">
                <a:latin typeface="Arial Black" panose="020B0A04020102020204" pitchFamily="34" charset="0"/>
              </a:rPr>
              <a:t>		return </a:t>
            </a:r>
            <a:r>
              <a:rPr lang="en-US" altLang="zh-CN" dirty="0" err="1">
                <a:latin typeface="Arial Black" panose="020B0A04020102020204" pitchFamily="34" charset="0"/>
              </a:rPr>
              <a:t>new_addr</a:t>
            </a:r>
            <a:r>
              <a:rPr lang="en-US" altLang="zh-CN" dirty="0">
                <a:latin typeface="Arial Black" panose="020B0A04020102020204" pitchFamily="34" charset="0"/>
              </a:rPr>
              <a:t>;                    //</a:t>
            </a:r>
            <a:r>
              <a:rPr lang="zh-CN" altLang="en-US" dirty="0">
                <a:latin typeface="Arial Black" panose="020B0A04020102020204" pitchFamily="34" charset="0"/>
              </a:rPr>
              <a:t>查找成功，返回表中位置</a:t>
            </a:r>
          </a:p>
          <a:p>
            <a:r>
              <a:rPr lang="zh-CN" altLang="en-US" dirty="0">
                <a:latin typeface="Arial Black" panose="020B0A04020102020204" pitchFamily="34" charset="0"/>
              </a:rPr>
              <a:t>	</a:t>
            </a:r>
            <a:r>
              <a:rPr lang="en-US" altLang="zh-CN" dirty="0">
                <a:latin typeface="Arial Black" panose="020B0A04020102020204" pitchFamily="34" charset="0"/>
              </a:rPr>
              <a:t>else</a:t>
            </a:r>
          </a:p>
          <a:p>
            <a:r>
              <a:rPr lang="en-US" altLang="zh-CN" dirty="0">
                <a:latin typeface="Arial Black" panose="020B0A04020102020204" pitchFamily="34" charset="0"/>
              </a:rPr>
              <a:t>		return -1;                            //</a:t>
            </a:r>
            <a:r>
              <a:rPr lang="zh-CN" altLang="en-US" dirty="0">
                <a:latin typeface="Arial Black" panose="020B0A04020102020204" pitchFamily="34" charset="0"/>
              </a:rPr>
              <a:t>查找不成功，返回</a:t>
            </a:r>
            <a:r>
              <a:rPr lang="en-US" altLang="zh-CN" dirty="0">
                <a:latin typeface="Arial Black" panose="020B0A04020102020204" pitchFamily="34" charset="0"/>
              </a:rPr>
              <a:t>-1</a:t>
            </a:r>
            <a:r>
              <a:rPr lang="zh-CN" altLang="en-US" dirty="0">
                <a:latin typeface="Arial Black" panose="020B0A04020102020204" pitchFamily="34" charset="0"/>
              </a:rPr>
              <a:t>值</a:t>
            </a:r>
          </a:p>
          <a:p>
            <a:r>
              <a:rPr lang="en-US" altLang="zh-CN" dirty="0">
                <a:latin typeface="Arial Black" panose="020B0A04020102020204" pitchFamily="34" charset="0"/>
              </a:rPr>
              <a:t>}</a:t>
            </a:r>
            <a:endParaRPr lang="zh-CN" altLang="en-US" dirty="0">
              <a:latin typeface="Arial Black" panose="020B0A04020102020204" pitchFamily="34" charset="0"/>
            </a:endParaRPr>
          </a:p>
        </p:txBody>
      </p:sp>
    </p:spTree>
    <p:extLst>
      <p:ext uri="{BB962C8B-B14F-4D97-AF65-F5344CB8AC3E}">
        <p14:creationId xmlns:p14="http://schemas.microsoft.com/office/powerpoint/2010/main" val="208134670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8136904" cy="5328592"/>
          </a:xfrm>
        </p:spPr>
        <p:txBody>
          <a:bodyPr>
            <a:normAutofit/>
          </a:bodyPr>
          <a:lstStyle/>
          <a:p>
            <a:r>
              <a:rPr lang="zh-CN" altLang="zh-CN" dirty="0">
                <a:solidFill>
                  <a:srgbClr val="FF0000"/>
                </a:solidFill>
              </a:rPr>
              <a:t>（</a:t>
            </a:r>
            <a:r>
              <a:rPr lang="en-US" altLang="zh-CN" dirty="0">
                <a:solidFill>
                  <a:srgbClr val="FF0000"/>
                </a:solidFill>
              </a:rPr>
              <a:t>3</a:t>
            </a:r>
            <a:r>
              <a:rPr lang="zh-CN" altLang="zh-CN" dirty="0">
                <a:solidFill>
                  <a:srgbClr val="FF0000"/>
                </a:solidFill>
              </a:rPr>
              <a:t>）随机探测法</a:t>
            </a:r>
            <a:r>
              <a:rPr lang="zh-CN" altLang="en-US" dirty="0"/>
              <a:t>（也叫伪随机探测法）</a:t>
            </a:r>
            <a:endParaRPr lang="zh-CN" altLang="zh-CN" dirty="0"/>
          </a:p>
          <a:p>
            <a:pPr>
              <a:buFont typeface="Wingdings" panose="05000000000000000000" pitchFamily="2" charset="2"/>
              <a:buChar char="ü"/>
            </a:pPr>
            <a:r>
              <a:rPr lang="zh-CN" altLang="zh-CN" b="0" dirty="0"/>
              <a:t>解决线性探测法造成的堆积问题的原则是让哈希表中的每一空位接收下一记录的概率尽可能相等。</a:t>
            </a:r>
            <a:endParaRPr lang="en-US" altLang="zh-CN" b="0" dirty="0"/>
          </a:p>
          <a:p>
            <a:pPr>
              <a:buFont typeface="Wingdings" panose="05000000000000000000" pitchFamily="2" charset="2"/>
              <a:buChar char="ü"/>
            </a:pPr>
            <a:r>
              <a:rPr lang="zh-CN" altLang="zh-CN" b="0" dirty="0"/>
              <a:t>解决方法之一是采用</a:t>
            </a:r>
            <a:r>
              <a:rPr lang="zh-CN" altLang="en-US" b="0" dirty="0">
                <a:solidFill>
                  <a:srgbClr val="FF0000"/>
                </a:solidFill>
              </a:rPr>
              <a:t>伪</a:t>
            </a:r>
            <a:r>
              <a:rPr lang="zh-CN" altLang="zh-CN" b="0" dirty="0">
                <a:solidFill>
                  <a:srgbClr val="FF0000"/>
                </a:solidFill>
              </a:rPr>
              <a:t>随机探测法来解决冲突</a:t>
            </a:r>
            <a:r>
              <a:rPr lang="zh-CN" altLang="zh-CN" b="0" dirty="0"/>
              <a:t>。此方法产生的再探测地址是从哈希表中随机选取的。</a:t>
            </a:r>
            <a:endParaRPr lang="en-US" altLang="zh-CN" b="0" dirty="0"/>
          </a:p>
          <a:p>
            <a:pPr>
              <a:buFont typeface="Wingdings" panose="05000000000000000000" pitchFamily="2" charset="2"/>
              <a:buChar char="ü"/>
            </a:pPr>
            <a:r>
              <a:rPr lang="zh-CN" altLang="en-US" b="0" dirty="0"/>
              <a:t>随机</a:t>
            </a:r>
            <a:r>
              <a:rPr lang="zh-CN" altLang="zh-CN" b="0" dirty="0"/>
              <a:t>探查方法的定义如下：</a:t>
            </a:r>
            <a:endParaRPr lang="en-US" altLang="zh-CN" b="0" dirty="0"/>
          </a:p>
          <a:p>
            <a:pPr marL="0" indent="0"/>
            <a:r>
              <a:rPr lang="en-US" altLang="zh-CN" b="0" dirty="0"/>
              <a:t>	h</a:t>
            </a:r>
            <a:r>
              <a:rPr lang="en-US" altLang="zh-CN" b="0" baseline="-25000" dirty="0"/>
              <a:t>0</a:t>
            </a:r>
            <a:r>
              <a:rPr lang="en-US" altLang="zh-CN" b="0" dirty="0"/>
              <a:t> = Hash(key)</a:t>
            </a:r>
          </a:p>
          <a:p>
            <a:r>
              <a:rPr lang="en-US" altLang="zh-CN" b="0" dirty="0"/>
              <a:t>		h</a:t>
            </a:r>
            <a:r>
              <a:rPr lang="en-US" altLang="zh-CN" b="0" baseline="-25000" dirty="0"/>
              <a:t>i </a:t>
            </a:r>
            <a:r>
              <a:rPr lang="en-US" altLang="zh-CN" b="0" dirty="0"/>
              <a:t>= ( h</a:t>
            </a:r>
            <a:r>
              <a:rPr lang="en-US" altLang="zh-CN" b="0" baseline="-25000" dirty="0"/>
              <a:t>0</a:t>
            </a:r>
            <a:r>
              <a:rPr lang="en-US" altLang="zh-CN" b="0" dirty="0"/>
              <a:t> + d</a:t>
            </a:r>
            <a:r>
              <a:rPr lang="en-US" altLang="zh-CN" b="0" baseline="-25000" dirty="0"/>
              <a:t>i </a:t>
            </a:r>
            <a:r>
              <a:rPr lang="en-US" altLang="zh-CN" b="0" dirty="0"/>
              <a:t>) % m</a:t>
            </a:r>
            <a:r>
              <a:rPr lang="zh-CN" altLang="zh-CN" b="0" dirty="0"/>
              <a:t>，</a:t>
            </a:r>
            <a:endParaRPr lang="en-US" altLang="zh-CN" b="0" dirty="0"/>
          </a:p>
          <a:p>
            <a:r>
              <a:rPr lang="en-US" altLang="zh-CN" b="0" dirty="0"/>
              <a:t>		</a:t>
            </a:r>
            <a:r>
              <a:rPr lang="zh-CN" altLang="zh-CN" b="0" dirty="0"/>
              <a:t>其中</a:t>
            </a:r>
            <a:r>
              <a:rPr lang="zh-CN" altLang="en-US" b="0" dirty="0"/>
              <a:t>：</a:t>
            </a:r>
            <a:r>
              <a:rPr lang="en-US" altLang="zh-CN" b="0" dirty="0" err="1"/>
              <a:t>i</a:t>
            </a:r>
            <a:r>
              <a:rPr lang="en-US" altLang="zh-CN" b="0" dirty="0"/>
              <a:t>=1</a:t>
            </a:r>
            <a:r>
              <a:rPr lang="zh-CN" altLang="zh-CN" b="0" dirty="0"/>
              <a:t>，</a:t>
            </a:r>
            <a:r>
              <a:rPr lang="en-US" altLang="zh-CN" b="0" dirty="0"/>
              <a:t>2</a:t>
            </a:r>
            <a:r>
              <a:rPr lang="zh-CN" altLang="zh-CN" b="0" dirty="0"/>
              <a:t>，</a:t>
            </a:r>
            <a:r>
              <a:rPr lang="en-US" altLang="zh-CN" b="0" dirty="0"/>
              <a:t>…</a:t>
            </a:r>
            <a:r>
              <a:rPr lang="zh-CN" altLang="zh-CN" b="0" dirty="0"/>
              <a:t>，</a:t>
            </a:r>
            <a:r>
              <a:rPr lang="en-US" altLang="zh-CN" b="0" dirty="0"/>
              <a:t>k</a:t>
            </a:r>
            <a:r>
              <a:rPr lang="zh-CN" altLang="en-US" b="0" dirty="0"/>
              <a:t>；</a:t>
            </a:r>
            <a:endParaRPr lang="en-US" altLang="zh-CN" b="0" dirty="0"/>
          </a:p>
          <a:p>
            <a:r>
              <a:rPr lang="en-US" altLang="zh-CN" b="0" dirty="0"/>
              <a:t>			</a:t>
            </a:r>
            <a:r>
              <a:rPr lang="en-US" altLang="zh-CN" b="0" dirty="0" err="1"/>
              <a:t>d</a:t>
            </a:r>
            <a:r>
              <a:rPr lang="en-US" altLang="zh-CN" b="0" baseline="-25000" dirty="0" err="1"/>
              <a:t>i</a:t>
            </a:r>
            <a:r>
              <a:rPr lang="zh-CN" altLang="zh-CN" b="0" dirty="0"/>
              <a:t>为一组伪随机数序列</a:t>
            </a:r>
            <a:r>
              <a:rPr lang="en-US" altLang="zh-CN" b="0" dirty="0"/>
              <a:t>(</a:t>
            </a:r>
            <a:r>
              <a:rPr lang="zh-CN" altLang="en-US" b="0" dirty="0"/>
              <a:t>伪随机序列函数</a:t>
            </a:r>
            <a:r>
              <a:rPr lang="en-US" altLang="zh-CN" b="0" dirty="0"/>
              <a:t>)</a:t>
            </a:r>
            <a:r>
              <a:rPr lang="zh-CN" altLang="en-US" b="0" dirty="0"/>
              <a:t>。</a:t>
            </a:r>
            <a:endParaRPr lang="zh-CN" altLang="zh-CN" b="0" dirty="0"/>
          </a:p>
        </p:txBody>
      </p:sp>
    </p:spTree>
    <p:extLst>
      <p:ext uri="{BB962C8B-B14F-4D97-AF65-F5344CB8AC3E}">
        <p14:creationId xmlns:p14="http://schemas.microsoft.com/office/powerpoint/2010/main" val="811647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fade">
                                      <p:cBhvr>
                                        <p:cTn id="23" dur="500"/>
                                        <p:tgtEl>
                                          <p:spTgt spid="3">
                                            <p:txEl>
                                              <p:pRg st="5" end="5"/>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animEffect transition="in" filter="fade">
                                      <p:cBhvr>
                                        <p:cTn id="26" dur="500"/>
                                        <p:tgtEl>
                                          <p:spTgt spid="3">
                                            <p:txEl>
                                              <p:pRg st="6" end="6"/>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Effect transition="in" filter="fade">
                                      <p:cBhvr>
                                        <p:cTn id="29"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1340768"/>
            <a:ext cx="7560840" cy="1224136"/>
          </a:xfrm>
        </p:spPr>
        <p:txBody>
          <a:bodyPr/>
          <a:lstStyle/>
          <a:p>
            <a:r>
              <a:rPr lang="zh-CN" altLang="zh-CN" b="0" dirty="0"/>
              <a:t>【例</a:t>
            </a:r>
            <a:r>
              <a:rPr lang="en-US" altLang="zh-CN" b="0" dirty="0"/>
              <a:t>8.5</a:t>
            </a:r>
            <a:r>
              <a:rPr lang="zh-CN" altLang="zh-CN" b="0" dirty="0"/>
              <a:t>】给定一组记录元素的关键字集合</a:t>
            </a:r>
            <a:r>
              <a:rPr lang="en-US" altLang="zh-CN" b="0" dirty="0"/>
              <a:t>{11</a:t>
            </a:r>
            <a:r>
              <a:rPr lang="zh-CN" altLang="zh-CN" b="0" dirty="0"/>
              <a:t>，</a:t>
            </a:r>
            <a:r>
              <a:rPr lang="en-US" altLang="zh-CN" b="0" dirty="0"/>
              <a:t>31</a:t>
            </a:r>
            <a:r>
              <a:rPr lang="zh-CN" altLang="zh-CN" b="0" dirty="0"/>
              <a:t>，</a:t>
            </a:r>
            <a:r>
              <a:rPr lang="en-US" altLang="zh-CN" b="0" dirty="0"/>
              <a:t>35</a:t>
            </a:r>
            <a:r>
              <a:rPr lang="zh-CN" altLang="zh-CN" b="0" dirty="0"/>
              <a:t>，</a:t>
            </a:r>
            <a:r>
              <a:rPr lang="en-US" altLang="zh-CN" b="0" dirty="0"/>
              <a:t>41</a:t>
            </a:r>
            <a:r>
              <a:rPr lang="zh-CN" altLang="zh-CN" b="0" dirty="0"/>
              <a:t>，</a:t>
            </a:r>
            <a:r>
              <a:rPr lang="en-US" altLang="zh-CN" b="0" dirty="0"/>
              <a:t>43</a:t>
            </a:r>
            <a:r>
              <a:rPr lang="zh-CN" altLang="zh-CN" b="0" dirty="0"/>
              <a:t>，</a:t>
            </a:r>
            <a:r>
              <a:rPr lang="en-US" altLang="zh-CN" b="0" dirty="0"/>
              <a:t>55}</a:t>
            </a:r>
            <a:r>
              <a:rPr lang="zh-CN" altLang="zh-CN" b="0" dirty="0"/>
              <a:t>，用随机探查法来解决冲突</a:t>
            </a:r>
            <a:r>
              <a:rPr lang="en-US" altLang="zh-CN" b="0" dirty="0"/>
              <a:t>.</a:t>
            </a:r>
            <a:endParaRPr lang="zh-CN" altLang="en-US" b="0" dirty="0"/>
          </a:p>
        </p:txBody>
      </p:sp>
      <p:pic>
        <p:nvPicPr>
          <p:cNvPr id="1024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15616" y="3212976"/>
            <a:ext cx="7473316" cy="12241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647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42"/>
                                        </p:tgtEl>
                                        <p:attrNameLst>
                                          <p:attrName>style.visibility</p:attrName>
                                        </p:attrNameLst>
                                      </p:cBhvr>
                                      <p:to>
                                        <p:strVal val="visible"/>
                                      </p:to>
                                    </p:set>
                                    <p:animEffect transition="in" filter="fade">
                                      <p:cBhvr>
                                        <p:cTn id="7" dur="500"/>
                                        <p:tgtEl>
                                          <p:spTgt spid="102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95536" y="1484784"/>
            <a:ext cx="8568952" cy="4524315"/>
          </a:xfrm>
          <a:prstGeom prst="rect">
            <a:avLst/>
          </a:prstGeom>
        </p:spPr>
        <p:txBody>
          <a:bodyPr wrap="square">
            <a:spAutoFit/>
          </a:bodyPr>
          <a:lstStyle/>
          <a:p>
            <a:pPr marL="342900" indent="-342900">
              <a:lnSpc>
                <a:spcPct val="120000"/>
              </a:lnSpc>
              <a:buFont typeface="Wingdings" panose="05000000000000000000" pitchFamily="2" charset="2"/>
              <a:buChar char="u"/>
            </a:pPr>
            <a:r>
              <a:rPr lang="zh-CN" altLang="zh-CN"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哈希表是一个动态结构</a:t>
            </a:r>
            <a:r>
              <a:rPr lang="zh-CN" altLang="en-US"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的查找表。</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既可以通过哈希函数和冲突解决方案来实现记录元素的插入，可以进行记录元素的删除。</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nSpc>
                <a:spcPct val="120000"/>
              </a:lnSpc>
              <a:buFont typeface="Wingdings" panose="05000000000000000000" pitchFamily="2" charset="2"/>
              <a:buChar char="u"/>
            </a:pP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如果删除元素是具有冲突的元素，则这个元素被删除后就会破坏查找</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轨迹</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r>
              <a:rPr lang="en-US"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解决方法：伪删除！</a:t>
            </a:r>
            <a:endParaRPr lang="en-US"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nSpc>
                <a:spcPct val="120000"/>
              </a:lnSpc>
              <a:buFont typeface="Wingdings" panose="05000000000000000000" pitchFamily="2" charset="2"/>
              <a:buChar char="u"/>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伪删除是</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在删除</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一个</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元素时要</a:t>
            </a:r>
            <a:r>
              <a:rPr lang="zh-CN" altLang="zh-CN"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在该位置设一个</a:t>
            </a:r>
            <a:r>
              <a:rPr lang="en-US"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墓碑标志</a:t>
            </a:r>
            <a:r>
              <a:rPr lang="en-US"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nSpc>
                <a:spcPct val="120000"/>
              </a:lnSpc>
              <a:buFont typeface="Wingdings" panose="05000000000000000000" pitchFamily="2" charset="2"/>
              <a:buChar char="u"/>
            </a:pPr>
            <a:r>
              <a:rPr lang="zh-CN" altLang="zh-CN"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在查找时</a:t>
            </a:r>
            <a:r>
              <a:rPr lang="zh-CN" altLang="en-US"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跳过</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400" b="1" dirty="0">
                <a:latin typeface="Times New Roman" panose="02020603050405020304" pitchFamily="18" charset="0"/>
                <a:ea typeface="楷体" panose="02010609060101010101" pitchFamily="49" charset="-122"/>
                <a:cs typeface="Times New Roman" panose="02020603050405020304" pitchFamily="18" charset="0"/>
              </a:rPr>
              <a:t>墓碑标志</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”位置，即</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利用这个标志来查找与其冲突的元素存放位置，从而不会产生信息中断的情况</a:t>
            </a:r>
            <a:r>
              <a:rPr lang="zh-CN" altLang="zh-CN" sz="2400" dirty="0"/>
              <a:t>。</a:t>
            </a:r>
            <a:endParaRPr lang="en-US" altLang="zh-CN" sz="2400" dirty="0"/>
          </a:p>
          <a:p>
            <a:pPr marL="342900" indent="-342900">
              <a:lnSpc>
                <a:spcPct val="120000"/>
              </a:lnSpc>
              <a:buFont typeface="Wingdings" panose="05000000000000000000" pitchFamily="2" charset="2"/>
              <a:buChar char="u"/>
            </a:pPr>
            <a:r>
              <a:rPr lang="zh-CN" altLang="en-US"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在插入时可利用</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400" b="1" dirty="0">
                <a:latin typeface="Times New Roman" panose="02020603050405020304" pitchFamily="18" charset="0"/>
                <a:ea typeface="楷体" panose="02010609060101010101" pitchFamily="49" charset="-122"/>
                <a:cs typeface="Times New Roman" panose="02020603050405020304" pitchFamily="18" charset="0"/>
              </a:rPr>
              <a:t>墓碑标志</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”位置来存放待插入的元素。</a:t>
            </a:r>
            <a:endParaRPr lang="zh-CN" altLang="zh-CN" sz="24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标题 1"/>
          <p:cNvSpPr txBox="1">
            <a:spLocks/>
          </p:cNvSpPr>
          <p:nvPr/>
        </p:nvSpPr>
        <p:spPr>
          <a:xfrm>
            <a:off x="919542" y="836712"/>
            <a:ext cx="7520940" cy="548640"/>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kern="1200" cap="all" baseline="0">
                <a:solidFill>
                  <a:schemeClr val="tx1"/>
                </a:solidFill>
                <a:latin typeface="黑体" panose="02010609060101010101" pitchFamily="49" charset="-122"/>
                <a:ea typeface="黑体" panose="02010609060101010101" pitchFamily="49" charset="-122"/>
                <a:cs typeface="+mj-cs"/>
              </a:defRPr>
            </a:lvl1pPr>
          </a:lstStyle>
          <a:p>
            <a:r>
              <a:rPr lang="en-US" altLang="zh-CN" sz="2400" dirty="0"/>
              <a:t>3</a:t>
            </a:r>
            <a:r>
              <a:rPr lang="zh-CN" altLang="zh-CN" sz="2400" dirty="0"/>
              <a:t>．</a:t>
            </a:r>
            <a:r>
              <a:rPr lang="zh-CN" altLang="zh-CN" sz="2400" b="1" dirty="0">
                <a:solidFill>
                  <a:srgbClr val="FF0000"/>
                </a:solidFill>
              </a:rPr>
              <a:t>哈希</a:t>
            </a:r>
            <a:r>
              <a:rPr lang="zh-CN" altLang="en-US" sz="2400" b="1" dirty="0">
                <a:solidFill>
                  <a:srgbClr val="FF0000"/>
                </a:solidFill>
              </a:rPr>
              <a:t>表元素删除</a:t>
            </a:r>
          </a:p>
        </p:txBody>
      </p:sp>
    </p:spTree>
    <p:extLst>
      <p:ext uri="{BB962C8B-B14F-4D97-AF65-F5344CB8AC3E}">
        <p14:creationId xmlns:p14="http://schemas.microsoft.com/office/powerpoint/2010/main" val="2380305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fade">
                                      <p:cBhvr>
                                        <p:cTn id="32"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8.3.4 </a:t>
            </a:r>
            <a:r>
              <a:rPr lang="zh-CN" altLang="zh-CN" b="1" dirty="0"/>
              <a:t>哈希表的分析</a:t>
            </a:r>
            <a:endParaRPr lang="zh-CN" altLang="en-US" dirty="0"/>
          </a:p>
        </p:txBody>
      </p:sp>
      <p:sp>
        <p:nvSpPr>
          <p:cNvPr id="4" name="内容占位符 3"/>
          <p:cNvSpPr>
            <a:spLocks noGrp="1"/>
          </p:cNvSpPr>
          <p:nvPr>
            <p:ph idx="1"/>
          </p:nvPr>
        </p:nvSpPr>
        <p:spPr>
          <a:xfrm>
            <a:off x="827584" y="1628800"/>
            <a:ext cx="7520940" cy="4514844"/>
          </a:xfrm>
        </p:spPr>
        <p:txBody>
          <a:bodyPr>
            <a:normAutofit/>
          </a:bodyPr>
          <a:lstStyle/>
          <a:p>
            <a:pPr>
              <a:buFont typeface="Arial" pitchFamily="34" charset="0"/>
              <a:buChar char="•"/>
            </a:pPr>
            <a:r>
              <a:rPr lang="zh-CN" altLang="en-US" b="0" dirty="0"/>
              <a:t>在查找过程中，</a:t>
            </a:r>
            <a:r>
              <a:rPr lang="zh-CN" altLang="en-US" b="0" dirty="0">
                <a:solidFill>
                  <a:srgbClr val="FF0000"/>
                </a:solidFill>
              </a:rPr>
              <a:t>关键字的比较次数取决于产生冲突的多少</a:t>
            </a:r>
            <a:r>
              <a:rPr lang="zh-CN" altLang="en-US" b="0" dirty="0"/>
              <a:t>。产生的冲突少，查找效率就高；否则，查找效率就低。所以，影响产生冲突多</a:t>
            </a:r>
            <a:r>
              <a:rPr lang="en-US" altLang="zh-CN" b="0" dirty="0"/>
              <a:t>/</a:t>
            </a:r>
            <a:r>
              <a:rPr lang="zh-CN" altLang="en-US" b="0" dirty="0"/>
              <a:t>少的因素也就是影响查找效率的因素。</a:t>
            </a:r>
            <a:endParaRPr lang="en-US" altLang="zh-CN" b="0" dirty="0"/>
          </a:p>
          <a:p>
            <a:pPr>
              <a:buFont typeface="Arial" pitchFamily="34" charset="0"/>
              <a:buChar char="•"/>
            </a:pPr>
            <a:r>
              <a:rPr lang="zh-CN" altLang="en-US" dirty="0"/>
              <a:t>影响产生冲突多少有以下</a:t>
            </a:r>
            <a:r>
              <a:rPr lang="en-US" dirty="0"/>
              <a:t>3</a:t>
            </a:r>
            <a:r>
              <a:rPr lang="zh-CN" altLang="en-US" dirty="0"/>
              <a:t>个因素：</a:t>
            </a:r>
            <a:endParaRPr lang="en-US" altLang="zh-CN" dirty="0"/>
          </a:p>
          <a:p>
            <a:pPr lvl="3">
              <a:buFont typeface="Wingdings" pitchFamily="2" charset="2"/>
              <a:buChar char="ü"/>
            </a:pPr>
            <a:r>
              <a:rPr lang="zh-CN" altLang="en-US" dirty="0">
                <a:solidFill>
                  <a:srgbClr val="FF0000"/>
                </a:solidFill>
              </a:rPr>
              <a:t>哈希函数是否均匀</a:t>
            </a:r>
            <a:r>
              <a:rPr lang="zh-CN" altLang="en-US" dirty="0"/>
              <a:t>；</a:t>
            </a:r>
            <a:endParaRPr lang="en-US" altLang="zh-CN" dirty="0"/>
          </a:p>
          <a:p>
            <a:pPr lvl="3">
              <a:buFont typeface="Wingdings" pitchFamily="2" charset="2"/>
              <a:buChar char="ü"/>
            </a:pPr>
            <a:r>
              <a:rPr lang="zh-CN" altLang="en-US" dirty="0">
                <a:solidFill>
                  <a:srgbClr val="FF0000"/>
                </a:solidFill>
              </a:rPr>
              <a:t>解决冲突的方法是否合适</a:t>
            </a:r>
            <a:r>
              <a:rPr lang="zh-CN" altLang="en-US" dirty="0"/>
              <a:t>；</a:t>
            </a:r>
            <a:endParaRPr lang="en-US" altLang="zh-CN" dirty="0"/>
          </a:p>
          <a:p>
            <a:pPr lvl="3">
              <a:buFont typeface="Wingdings" pitchFamily="2" charset="2"/>
              <a:buChar char="ü"/>
            </a:pPr>
            <a:r>
              <a:rPr lang="zh-CN" altLang="en-US" dirty="0"/>
              <a:t>哈希表的装填因子。</a:t>
            </a:r>
            <a:r>
              <a:rPr lang="zh-CN" altLang="en-US" b="1" dirty="0">
                <a:solidFill>
                  <a:srgbClr val="FF0000"/>
                </a:solidFill>
              </a:rPr>
              <a:t>装填因子</a:t>
            </a:r>
            <a:r>
              <a:rPr lang="en-US" b="1" dirty="0">
                <a:solidFill>
                  <a:srgbClr val="FF0000"/>
                </a:solidFill>
              </a:rPr>
              <a:t>α=n/m</a:t>
            </a:r>
            <a:r>
              <a:rPr lang="zh-CN" altLang="en-US" dirty="0"/>
              <a:t>，其中</a:t>
            </a:r>
            <a:r>
              <a:rPr lang="en-US" dirty="0"/>
              <a:t>n</a:t>
            </a:r>
            <a:r>
              <a:rPr lang="zh-CN" altLang="en-US" dirty="0"/>
              <a:t>为关键字个数，</a:t>
            </a:r>
            <a:r>
              <a:rPr lang="en-US" dirty="0"/>
              <a:t>m</a:t>
            </a:r>
            <a:r>
              <a:rPr lang="zh-CN" altLang="en-US" dirty="0"/>
              <a:t>为哈希表的表长。</a:t>
            </a:r>
          </a:p>
          <a:p>
            <a:pPr>
              <a:buFont typeface="Arial" pitchFamily="34" charset="0"/>
              <a:buChar char="•"/>
            </a:pPr>
            <a:endParaRPr lang="zh-CN" altLang="en-US" dirty="0"/>
          </a:p>
        </p:txBody>
      </p:sp>
    </p:spTree>
    <p:extLst>
      <p:ext uri="{BB962C8B-B14F-4D97-AF65-F5344CB8AC3E}">
        <p14:creationId xmlns:p14="http://schemas.microsoft.com/office/powerpoint/2010/main" val="393839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fade">
                                      <p:cBhvr>
                                        <p:cTn id="10" dur="500"/>
                                        <p:tgtEl>
                                          <p:spTgt spid="4">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animEffect transition="in" filter="fade">
                                      <p:cBhvr>
                                        <p:cTn id="13" dur="500"/>
                                        <p:tgtEl>
                                          <p:spTgt spid="4">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4">
                                            <p:txEl>
                                              <p:pRg st="4" end="4"/>
                                            </p:txEl>
                                          </p:spTgt>
                                        </p:tgtEl>
                                        <p:attrNameLst>
                                          <p:attrName>style.visibility</p:attrName>
                                        </p:attrNameLst>
                                      </p:cBhvr>
                                      <p:to>
                                        <p:strVal val="visible"/>
                                      </p:to>
                                    </p:set>
                                    <p:animEffect transition="in" filter="fade">
                                      <p:cBhvr>
                                        <p:cTn id="16"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3568" y="908721"/>
            <a:ext cx="8073533" cy="1584176"/>
          </a:xfrm>
        </p:spPr>
        <p:txBody>
          <a:bodyPr/>
          <a:lstStyle/>
          <a:p>
            <a:r>
              <a:rPr lang="en-US" altLang="zh-CN" b="0" dirty="0"/>
              <a:t>	  	</a:t>
            </a:r>
            <a:r>
              <a:rPr lang="zh-CN" altLang="zh-CN" b="0" dirty="0"/>
              <a:t>实际上，哈希表的平均查找长度是装填因子</a:t>
            </a:r>
            <a:r>
              <a:rPr lang="en-US" altLang="zh-CN" b="0" dirty="0"/>
              <a:t>α</a:t>
            </a:r>
            <a:r>
              <a:rPr lang="zh-CN" altLang="zh-CN" b="0" dirty="0"/>
              <a:t>的函数，只是不同处理冲突的方法有不同的函数。用不同的方法处理冲突时哈希表的平均搜索长度如表</a:t>
            </a:r>
            <a:r>
              <a:rPr lang="en-US" altLang="zh-CN" b="0" dirty="0"/>
              <a:t>8-4</a:t>
            </a:r>
            <a:r>
              <a:rPr lang="zh-CN" altLang="zh-CN" b="0" dirty="0"/>
              <a:t>所示。</a:t>
            </a:r>
          </a:p>
          <a:p>
            <a:endParaRPr lang="zh-CN" altLang="en-US" b="0" dirty="0"/>
          </a:p>
        </p:txBody>
      </p:sp>
      <p:pic>
        <p:nvPicPr>
          <p:cNvPr id="1126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75656" y="2420888"/>
            <a:ext cx="6119463" cy="23495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矩形 3"/>
          <p:cNvSpPr/>
          <p:nvPr/>
        </p:nvSpPr>
        <p:spPr>
          <a:xfrm>
            <a:off x="827584" y="4776589"/>
            <a:ext cx="7848872" cy="1631216"/>
          </a:xfrm>
          <a:prstGeom prst="rect">
            <a:avLst/>
          </a:prstGeom>
        </p:spPr>
        <p:txBody>
          <a:bodyPr wrap="square">
            <a:spAutoFit/>
          </a:bodyPr>
          <a:lstStyle/>
          <a:p>
            <a:r>
              <a:rPr lang="zh-CN" altLang="zh-CN" sz="2000" dirty="0">
                <a:latin typeface="楷体" panose="02010609060101010101" pitchFamily="49" charset="-122"/>
                <a:ea typeface="楷体" panose="02010609060101010101" pitchFamily="49" charset="-122"/>
              </a:rPr>
              <a:t>一般情况下，</a:t>
            </a:r>
            <a:r>
              <a:rPr lang="zh-CN" altLang="zh-CN" sz="2000" b="1" dirty="0">
                <a:solidFill>
                  <a:srgbClr val="FF0000"/>
                </a:solidFill>
                <a:latin typeface="楷体" panose="02010609060101010101" pitchFamily="49" charset="-122"/>
                <a:ea typeface="楷体" panose="02010609060101010101" pitchFamily="49" charset="-122"/>
              </a:rPr>
              <a:t>哈希表的装填因子</a:t>
            </a:r>
            <a:r>
              <a:rPr lang="en-US" altLang="zh-CN" sz="2000" b="1" dirty="0">
                <a:solidFill>
                  <a:srgbClr val="FF0000"/>
                </a:solidFill>
                <a:latin typeface="楷体" panose="02010609060101010101" pitchFamily="49" charset="-122"/>
                <a:ea typeface="楷体" panose="02010609060101010101" pitchFamily="49" charset="-122"/>
              </a:rPr>
              <a:t>α</a:t>
            </a:r>
            <a:r>
              <a:rPr lang="zh-CN" altLang="zh-CN" sz="2000" b="1" dirty="0">
                <a:solidFill>
                  <a:srgbClr val="FF0000"/>
                </a:solidFill>
                <a:latin typeface="楷体" panose="02010609060101010101" pitchFamily="49" charset="-122"/>
                <a:ea typeface="楷体" panose="02010609060101010101" pitchFamily="49" charset="-122"/>
              </a:rPr>
              <a:t>表明了哈希表中的装满程度。</a:t>
            </a:r>
            <a:r>
              <a:rPr lang="en-US" altLang="zh-CN" sz="2000" dirty="0">
                <a:latin typeface="楷体" panose="02010609060101010101" pitchFamily="49" charset="-122"/>
                <a:ea typeface="楷体" panose="02010609060101010101" pitchFamily="49" charset="-122"/>
              </a:rPr>
              <a:t>α</a:t>
            </a:r>
            <a:r>
              <a:rPr lang="zh-CN" altLang="zh-CN" sz="2000" dirty="0">
                <a:latin typeface="楷体" panose="02010609060101010101" pitchFamily="49" charset="-122"/>
                <a:ea typeface="楷体" panose="02010609060101010101" pitchFamily="49" charset="-122"/>
              </a:rPr>
              <a:t>越大，说明哈希表越满，在插入新元素时发生冲突的可能性就越大。</a:t>
            </a:r>
            <a:endParaRPr lang="en-US" altLang="zh-CN" sz="2000" dirty="0">
              <a:latin typeface="楷体" panose="02010609060101010101" pitchFamily="49" charset="-122"/>
              <a:ea typeface="楷体" panose="02010609060101010101" pitchFamily="49" charset="-122"/>
            </a:endParaRPr>
          </a:p>
          <a:p>
            <a:endParaRPr lang="en-US" altLang="zh-CN" sz="2000" dirty="0">
              <a:latin typeface="楷体" panose="02010609060101010101" pitchFamily="49" charset="-122"/>
              <a:ea typeface="楷体" panose="02010609060101010101" pitchFamily="49" charset="-122"/>
            </a:endParaRPr>
          </a:p>
          <a:p>
            <a:r>
              <a:rPr lang="zh-CN" altLang="zh-CN" sz="2000" dirty="0">
                <a:latin typeface="楷体" panose="02010609060101010101" pitchFamily="49" charset="-122"/>
                <a:ea typeface="楷体" panose="02010609060101010101" pitchFamily="49" charset="-122"/>
              </a:rPr>
              <a:t>希望哈希表有一定的空余量，</a:t>
            </a:r>
            <a:r>
              <a:rPr lang="zh-CN" altLang="zh-CN" sz="2000" b="1" dirty="0">
                <a:solidFill>
                  <a:srgbClr val="FF0000"/>
                </a:solidFill>
                <a:latin typeface="楷体" panose="02010609060101010101" pitchFamily="49" charset="-122"/>
                <a:ea typeface="楷体" panose="02010609060101010101" pitchFamily="49" charset="-122"/>
              </a:rPr>
              <a:t>一般装填因子小于</a:t>
            </a:r>
            <a:r>
              <a:rPr lang="en-US" altLang="zh-CN" sz="2000" b="1" dirty="0">
                <a:solidFill>
                  <a:srgbClr val="FF0000"/>
                </a:solidFill>
                <a:latin typeface="楷体" panose="02010609060101010101" pitchFamily="49" charset="-122"/>
                <a:ea typeface="楷体" panose="02010609060101010101" pitchFamily="49" charset="-122"/>
              </a:rPr>
              <a:t>0.8</a:t>
            </a:r>
            <a:r>
              <a:rPr lang="zh-CN" altLang="zh-CN" sz="2000" dirty="0">
                <a:latin typeface="楷体" panose="02010609060101010101" pitchFamily="49" charset="-122"/>
                <a:ea typeface="楷体" panose="02010609060101010101" pitchFamily="49" charset="-122"/>
              </a:rPr>
              <a:t>。</a:t>
            </a:r>
          </a:p>
          <a:p>
            <a:endParaRPr lang="zh-CN" altLang="en-US" sz="20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4133605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8.4 </a:t>
            </a:r>
            <a:r>
              <a:rPr lang="zh-CN" altLang="zh-CN" b="1" dirty="0"/>
              <a:t>线性索引</a:t>
            </a:r>
            <a:endParaRPr lang="zh-CN" altLang="en-US" dirty="0"/>
          </a:p>
        </p:txBody>
      </p:sp>
      <p:sp>
        <p:nvSpPr>
          <p:cNvPr id="3" name="内容占位符 2"/>
          <p:cNvSpPr>
            <a:spLocks noGrp="1"/>
          </p:cNvSpPr>
          <p:nvPr>
            <p:ph idx="1"/>
          </p:nvPr>
        </p:nvSpPr>
        <p:spPr>
          <a:xfrm>
            <a:off x="827584" y="1628800"/>
            <a:ext cx="7520940" cy="4464496"/>
          </a:xfrm>
        </p:spPr>
        <p:txBody>
          <a:bodyPr>
            <a:normAutofit/>
          </a:bodyPr>
          <a:lstStyle/>
          <a:p>
            <a:pPr>
              <a:buFont typeface="Arial" panose="020B0604020202020204" pitchFamily="34" charset="0"/>
              <a:buChar char="•"/>
            </a:pPr>
            <a:r>
              <a:rPr lang="zh-CN" altLang="zh-CN" dirty="0">
                <a:solidFill>
                  <a:srgbClr val="FF0000"/>
                </a:solidFill>
              </a:rPr>
              <a:t>索引结构</a:t>
            </a:r>
            <a:r>
              <a:rPr lang="zh-CN" altLang="zh-CN" b="0" dirty="0"/>
              <a:t>通常由</a:t>
            </a:r>
            <a:r>
              <a:rPr lang="zh-CN" altLang="zh-CN" b="0" dirty="0">
                <a:solidFill>
                  <a:srgbClr val="FF0000"/>
                </a:solidFill>
              </a:rPr>
              <a:t>数据表和索引表</a:t>
            </a:r>
            <a:r>
              <a:rPr lang="zh-CN" altLang="zh-CN" dirty="0"/>
              <a:t>两部分组成</a:t>
            </a:r>
            <a:endParaRPr lang="en-US" altLang="zh-CN" b="0" dirty="0"/>
          </a:p>
          <a:p>
            <a:pPr>
              <a:buFont typeface="Arial" panose="020B0604020202020204" pitchFamily="34" charset="0"/>
              <a:buChar char="•"/>
            </a:pPr>
            <a:r>
              <a:rPr lang="zh-CN" altLang="zh-CN" dirty="0"/>
              <a:t>数据表用于存储数据元素信息</a:t>
            </a:r>
            <a:endParaRPr lang="en-US" altLang="zh-CN" b="0" dirty="0"/>
          </a:p>
          <a:p>
            <a:pPr>
              <a:buFont typeface="Arial" panose="020B0604020202020204" pitchFamily="34" charset="0"/>
              <a:buChar char="•"/>
            </a:pPr>
            <a:r>
              <a:rPr lang="zh-CN" altLang="zh-CN" dirty="0"/>
              <a:t>索引表用来记录关键字与记录存储地址之间的对照表</a:t>
            </a:r>
            <a:r>
              <a:rPr lang="zh-CN" altLang="en-US" dirty="0"/>
              <a:t>。</a:t>
            </a:r>
            <a:r>
              <a:rPr lang="zh-CN" altLang="zh-CN" b="0" dirty="0"/>
              <a:t>索引表中的每个元素称为</a:t>
            </a:r>
            <a:r>
              <a:rPr lang="zh-CN" altLang="zh-CN" dirty="0">
                <a:solidFill>
                  <a:srgbClr val="FF0000"/>
                </a:solidFill>
              </a:rPr>
              <a:t>索引项</a:t>
            </a:r>
            <a:r>
              <a:rPr lang="zh-CN" altLang="zh-CN" b="0" dirty="0"/>
              <a:t>，索引项的一般形式为</a:t>
            </a:r>
            <a:r>
              <a:rPr lang="en-US" altLang="zh-CN" b="0" dirty="0">
                <a:solidFill>
                  <a:srgbClr val="FF0000"/>
                </a:solidFill>
              </a:rPr>
              <a:t>&lt;</a:t>
            </a:r>
            <a:r>
              <a:rPr lang="zh-CN" altLang="zh-CN" b="0" dirty="0">
                <a:solidFill>
                  <a:srgbClr val="FF0000"/>
                </a:solidFill>
              </a:rPr>
              <a:t>关键字，指针</a:t>
            </a:r>
            <a:r>
              <a:rPr lang="en-US" altLang="zh-CN" b="0" dirty="0">
                <a:solidFill>
                  <a:srgbClr val="FF0000"/>
                </a:solidFill>
              </a:rPr>
              <a:t>&gt;</a:t>
            </a:r>
            <a:r>
              <a:rPr lang="zh-CN" altLang="zh-CN" b="0" dirty="0"/>
              <a:t>，其中指针指向数据表中的包含该关键字的完整记录。</a:t>
            </a:r>
            <a:endParaRPr lang="en-US" altLang="zh-CN" b="0" dirty="0"/>
          </a:p>
          <a:p>
            <a:pPr>
              <a:buFont typeface="Arial" panose="020B0604020202020204" pitchFamily="34" charset="0"/>
              <a:buChar char="•"/>
            </a:pPr>
            <a:r>
              <a:rPr lang="zh-CN" altLang="zh-CN" b="0" dirty="0"/>
              <a:t>记录的存储可以是无序的，但索引项是有序的。</a:t>
            </a:r>
            <a:endParaRPr lang="en-US" altLang="zh-CN" b="0" dirty="0"/>
          </a:p>
          <a:p>
            <a:pPr>
              <a:buFont typeface="Arial" panose="020B0604020202020204" pitchFamily="34" charset="0"/>
              <a:buChar char="•"/>
            </a:pPr>
            <a:r>
              <a:rPr lang="zh-CN" altLang="zh-CN" b="0" dirty="0"/>
              <a:t>以索引结构组织的查找表称为</a:t>
            </a:r>
            <a:r>
              <a:rPr lang="zh-CN" altLang="zh-CN" dirty="0">
                <a:solidFill>
                  <a:srgbClr val="FF0000"/>
                </a:solidFill>
              </a:rPr>
              <a:t>索引查找表</a:t>
            </a:r>
            <a:r>
              <a:rPr lang="zh-CN" altLang="zh-CN" b="0" dirty="0"/>
              <a:t>。</a:t>
            </a:r>
          </a:p>
          <a:p>
            <a:endParaRPr lang="zh-CN" altLang="en-US" b="0" dirty="0"/>
          </a:p>
        </p:txBody>
      </p:sp>
    </p:spTree>
    <p:extLst>
      <p:ext uri="{BB962C8B-B14F-4D97-AF65-F5344CB8AC3E}">
        <p14:creationId xmlns:p14="http://schemas.microsoft.com/office/powerpoint/2010/main" val="92799666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71600" y="1124744"/>
            <a:ext cx="7848872" cy="3579849"/>
          </a:xfrm>
        </p:spPr>
        <p:txBody>
          <a:bodyPr/>
          <a:lstStyle/>
          <a:p>
            <a:pPr lvl="0"/>
            <a:r>
              <a:rPr lang="en-US" altLang="zh-CN" dirty="0"/>
              <a:t>1.</a:t>
            </a:r>
            <a:r>
              <a:rPr lang="zh-CN" altLang="zh-CN" dirty="0"/>
              <a:t>线性索引（</a:t>
            </a:r>
            <a:r>
              <a:rPr lang="en-US" altLang="zh-CN" dirty="0"/>
              <a:t>linear index</a:t>
            </a:r>
            <a:r>
              <a:rPr lang="zh-CN" altLang="zh-CN" dirty="0"/>
              <a:t>）</a:t>
            </a:r>
          </a:p>
          <a:p>
            <a:r>
              <a:rPr lang="en-US" altLang="zh-CN" b="0" dirty="0"/>
              <a:t>	</a:t>
            </a:r>
            <a:r>
              <a:rPr lang="zh-CN" altLang="zh-CN" dirty="0">
                <a:solidFill>
                  <a:srgbClr val="FF0000"/>
                </a:solidFill>
              </a:rPr>
              <a:t>线性索引</a:t>
            </a:r>
            <a:r>
              <a:rPr lang="zh-CN" altLang="zh-CN" b="0" dirty="0"/>
              <a:t>的索引文件被组织成一组简单的</a:t>
            </a:r>
            <a:r>
              <a:rPr lang="en-US" altLang="zh-CN" b="0" dirty="0"/>
              <a:t>&lt;</a:t>
            </a:r>
            <a:r>
              <a:rPr lang="zh-CN" altLang="zh-CN" b="0" dirty="0"/>
              <a:t>关键字，指针</a:t>
            </a:r>
            <a:r>
              <a:rPr lang="en-US" altLang="zh-CN" b="0" dirty="0"/>
              <a:t>&gt;</a:t>
            </a:r>
            <a:r>
              <a:rPr lang="zh-CN" altLang="zh-CN" b="0" dirty="0"/>
              <a:t>对的序列。在索引文件中，按照关键字的顺序进行排序，指针指向存储在磁盘上的文件记录的</a:t>
            </a:r>
            <a:r>
              <a:rPr lang="zh-CN" altLang="en-US" b="0" dirty="0"/>
              <a:t>起始</a:t>
            </a:r>
            <a:r>
              <a:rPr lang="zh-CN" altLang="zh-CN" b="0" dirty="0"/>
              <a:t>位置或者主索引中关键字的起始位置。</a:t>
            </a:r>
            <a:r>
              <a:rPr lang="zh-CN" altLang="zh-CN" dirty="0">
                <a:solidFill>
                  <a:srgbClr val="FF0000"/>
                </a:solidFill>
              </a:rPr>
              <a:t>可用顺序查找或折半查找实现记录的定位</a:t>
            </a:r>
            <a:r>
              <a:rPr lang="zh-CN" altLang="zh-CN" b="0" dirty="0"/>
              <a:t>。</a:t>
            </a:r>
          </a:p>
          <a:p>
            <a:endParaRPr lang="zh-CN" altLang="en-US" dirty="0"/>
          </a:p>
        </p:txBody>
      </p:sp>
      <p:pic>
        <p:nvPicPr>
          <p:cNvPr id="1229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07704" y="4149080"/>
            <a:ext cx="5153575" cy="19181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049539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FB034E8-71D0-4308-8DC8-862C9FBC0822}"/>
              </a:ext>
            </a:extLst>
          </p:cNvPr>
          <p:cNvSpPr>
            <a:spLocks noGrp="1"/>
          </p:cNvSpPr>
          <p:nvPr>
            <p:ph type="dt" sz="half" idx="10"/>
          </p:nvPr>
        </p:nvSpPr>
        <p:spPr/>
        <p:txBody>
          <a:bodyPr/>
          <a:lstStyle/>
          <a:p>
            <a:fld id="{9A6B2991-BBE5-4E69-A281-1A8B0AE9CDD7}" type="datetime1">
              <a:rPr lang="zh-CN" altLang="en-US" smtClean="0"/>
              <a:pPr/>
              <a:t>2025/6/3</a:t>
            </a:fld>
            <a:endParaRPr lang="zh-CN" altLang="en-US"/>
          </a:p>
        </p:txBody>
      </p:sp>
      <p:pic>
        <p:nvPicPr>
          <p:cNvPr id="3074" name="Picture 2">
            <a:extLst>
              <a:ext uri="{FF2B5EF4-FFF2-40B4-BE49-F238E27FC236}">
                <a16:creationId xmlns:a16="http://schemas.microsoft.com/office/drawing/2014/main" id="{397E0F2B-F36F-4476-84C3-9D991B599D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0628" y="875835"/>
            <a:ext cx="7813820" cy="5505493"/>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a:extLst>
              <a:ext uri="{FF2B5EF4-FFF2-40B4-BE49-F238E27FC236}">
                <a16:creationId xmlns:a16="http://schemas.microsoft.com/office/drawing/2014/main" id="{931D8FD7-847F-4786-83B5-620F4CDA9DED}"/>
              </a:ext>
            </a:extLst>
          </p:cNvPr>
          <p:cNvSpPr txBox="1"/>
          <p:nvPr/>
        </p:nvSpPr>
        <p:spPr>
          <a:xfrm>
            <a:off x="539552" y="188640"/>
            <a:ext cx="7056784" cy="584775"/>
          </a:xfrm>
          <a:prstGeom prst="rect">
            <a:avLst/>
          </a:prstGeom>
          <a:noFill/>
        </p:spPr>
        <p:txBody>
          <a:bodyPr wrap="square" rtlCol="0">
            <a:spAutoFit/>
          </a:bodyPr>
          <a:lstStyle/>
          <a:p>
            <a:r>
              <a:rPr lang="zh-CN" altLang="en-US" sz="3200" b="1" dirty="0">
                <a:solidFill>
                  <a:srgbClr val="FF0000"/>
                </a:solidFill>
                <a:latin typeface="+mj-ea"/>
                <a:ea typeface="+mj-ea"/>
              </a:rPr>
              <a:t>线性索引（又称稠密索引）示例图</a:t>
            </a:r>
          </a:p>
        </p:txBody>
      </p:sp>
    </p:spTree>
    <p:extLst>
      <p:ext uri="{BB962C8B-B14F-4D97-AF65-F5344CB8AC3E}">
        <p14:creationId xmlns:p14="http://schemas.microsoft.com/office/powerpoint/2010/main" val="227187778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124744"/>
            <a:ext cx="7920880" cy="4896544"/>
          </a:xfrm>
        </p:spPr>
        <p:txBody>
          <a:bodyPr>
            <a:normAutofit/>
          </a:bodyPr>
          <a:lstStyle/>
          <a:p>
            <a:r>
              <a:rPr lang="zh-CN" altLang="zh-CN" dirty="0">
                <a:solidFill>
                  <a:srgbClr val="FF0000"/>
                </a:solidFill>
              </a:rPr>
              <a:t>线性索引的优点</a:t>
            </a:r>
            <a:r>
              <a:rPr lang="en-US" altLang="zh-CN" dirty="0">
                <a:solidFill>
                  <a:srgbClr val="FF0000"/>
                </a:solidFill>
              </a:rPr>
              <a:t>:</a:t>
            </a:r>
          </a:p>
          <a:p>
            <a:r>
              <a:rPr lang="en-US" altLang="zh-CN" b="0" dirty="0"/>
              <a:t>	</a:t>
            </a:r>
            <a:r>
              <a:rPr lang="zh-CN" altLang="zh-CN" b="0" dirty="0"/>
              <a:t>索引文件中记录是定长的，而且是按关键字有序，所以</a:t>
            </a:r>
            <a:r>
              <a:rPr lang="zh-CN" altLang="zh-CN" b="0" dirty="0">
                <a:solidFill>
                  <a:srgbClr val="FF0000"/>
                </a:solidFill>
              </a:rPr>
              <a:t>可以利用折半查找法来进行快速查找</a:t>
            </a:r>
            <a:r>
              <a:rPr lang="zh-CN" altLang="zh-CN" b="0" dirty="0"/>
              <a:t>，从而提高检索效率。</a:t>
            </a:r>
            <a:endParaRPr lang="en-US" altLang="zh-CN" b="0" dirty="0"/>
          </a:p>
          <a:p>
            <a:r>
              <a:rPr lang="zh-CN" altLang="zh-CN" dirty="0">
                <a:solidFill>
                  <a:srgbClr val="FF0000"/>
                </a:solidFill>
              </a:rPr>
              <a:t>线性索引的缺点</a:t>
            </a:r>
            <a:r>
              <a:rPr lang="en-US" altLang="zh-CN" dirty="0"/>
              <a:t>:</a:t>
            </a:r>
          </a:p>
          <a:p>
            <a:r>
              <a:rPr lang="en-US" altLang="zh-CN" b="0" dirty="0"/>
              <a:t>	</a:t>
            </a:r>
            <a:r>
              <a:rPr lang="zh-CN" altLang="zh-CN" b="0" dirty="0"/>
              <a:t>假如存在大量的数据记录，那么</a:t>
            </a:r>
            <a:r>
              <a:rPr lang="zh-CN" altLang="zh-CN" b="0" dirty="0">
                <a:solidFill>
                  <a:srgbClr val="FF0000"/>
                </a:solidFill>
              </a:rPr>
              <a:t>可能由于索引文件太大而不能存储到内存当中</a:t>
            </a:r>
            <a:r>
              <a:rPr lang="zh-CN" altLang="zh-CN" b="0" dirty="0"/>
              <a:t>。这样在检索过程中，需要多次访问磁盘，降低检索效率。</a:t>
            </a:r>
            <a:endParaRPr lang="en-US" altLang="zh-CN" b="0" dirty="0"/>
          </a:p>
          <a:p>
            <a:r>
              <a:rPr lang="en-US" altLang="zh-CN" dirty="0"/>
              <a:t>	</a:t>
            </a:r>
            <a:r>
              <a:rPr lang="zh-CN" altLang="en-US" dirty="0"/>
              <a:t>注：</a:t>
            </a:r>
            <a:r>
              <a:rPr lang="zh-CN" altLang="zh-CN" dirty="0"/>
              <a:t>可以通过建立</a:t>
            </a:r>
            <a:r>
              <a:rPr lang="zh-CN" altLang="zh-CN" dirty="0">
                <a:solidFill>
                  <a:srgbClr val="FF0000"/>
                </a:solidFill>
              </a:rPr>
              <a:t>二级索引</a:t>
            </a:r>
            <a:r>
              <a:rPr lang="zh-CN" altLang="zh-CN" dirty="0"/>
              <a:t>来</a:t>
            </a:r>
            <a:r>
              <a:rPr lang="zh-CN" altLang="en-US" dirty="0"/>
              <a:t>改善</a:t>
            </a:r>
            <a:r>
              <a:rPr lang="zh-CN" altLang="zh-CN" dirty="0"/>
              <a:t>该问题</a:t>
            </a:r>
            <a:r>
              <a:rPr lang="zh-CN" altLang="en-US" dirty="0"/>
              <a:t>（如下文）</a:t>
            </a:r>
            <a:r>
              <a:rPr lang="zh-CN" altLang="zh-CN" dirty="0"/>
              <a:t>。</a:t>
            </a:r>
          </a:p>
          <a:p>
            <a:endParaRPr lang="zh-CN" altLang="en-US" dirty="0"/>
          </a:p>
        </p:txBody>
      </p:sp>
    </p:spTree>
    <p:extLst>
      <p:ext uri="{BB962C8B-B14F-4D97-AF65-F5344CB8AC3E}">
        <p14:creationId xmlns:p14="http://schemas.microsoft.com/office/powerpoint/2010/main" val="136234898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43608" y="1052737"/>
            <a:ext cx="7560840" cy="2448272"/>
          </a:xfrm>
        </p:spPr>
        <p:txBody>
          <a:bodyPr/>
          <a:lstStyle/>
          <a:p>
            <a:r>
              <a:rPr lang="en-US" altLang="zh-CN" dirty="0"/>
              <a:t>	</a:t>
            </a:r>
            <a:r>
              <a:rPr lang="zh-CN" altLang="zh-CN" b="0" dirty="0"/>
              <a:t>二级线性索引文件中同样是</a:t>
            </a:r>
            <a:r>
              <a:rPr lang="en-US" altLang="zh-CN" dirty="0"/>
              <a:t>&lt;</a:t>
            </a:r>
            <a:r>
              <a:rPr lang="zh-CN" altLang="zh-CN" dirty="0"/>
              <a:t>关键字，指针</a:t>
            </a:r>
            <a:r>
              <a:rPr lang="en-US" altLang="zh-CN" dirty="0"/>
              <a:t>&gt;</a:t>
            </a:r>
            <a:r>
              <a:rPr lang="zh-CN" altLang="zh-CN" b="0" dirty="0"/>
              <a:t>序列，二级索引表中的</a:t>
            </a:r>
            <a:r>
              <a:rPr lang="zh-CN" altLang="zh-CN" b="0" dirty="0">
                <a:solidFill>
                  <a:srgbClr val="FF0000"/>
                </a:solidFill>
              </a:rPr>
              <a:t>每条记录都对应于一个一级索引表的磁盘块</a:t>
            </a:r>
            <a:r>
              <a:rPr lang="zh-CN" altLang="zh-CN" b="0" dirty="0"/>
              <a:t>，二级索引表中的关键字值与对应的一级索引表的磁盘块中第一条记录的关键字值相同，而且指针指向相应一级索引表的磁盘块的起始位置。</a:t>
            </a:r>
            <a:endParaRPr lang="zh-CN" altLang="en-US" b="0" dirty="0"/>
          </a:p>
        </p:txBody>
      </p:sp>
      <p:pic>
        <p:nvPicPr>
          <p:cNvPr id="1331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95736" y="3501008"/>
            <a:ext cx="5112848" cy="25539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5542678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4E2EDFC-19AD-4CA2-AE1C-FF44D9498E45}"/>
              </a:ext>
            </a:extLst>
          </p:cNvPr>
          <p:cNvSpPr>
            <a:spLocks noGrp="1"/>
          </p:cNvSpPr>
          <p:nvPr>
            <p:ph type="dt" sz="half" idx="10"/>
          </p:nvPr>
        </p:nvSpPr>
        <p:spPr/>
        <p:txBody>
          <a:bodyPr/>
          <a:lstStyle/>
          <a:p>
            <a:fld id="{9A6B2991-BBE5-4E69-A281-1A8B0AE9CDD7}" type="datetime1">
              <a:rPr lang="zh-CN" altLang="en-US" smtClean="0"/>
              <a:pPr/>
              <a:t>2025/6/3</a:t>
            </a:fld>
            <a:endParaRPr lang="zh-CN" altLang="en-US"/>
          </a:p>
        </p:txBody>
      </p:sp>
      <p:pic>
        <p:nvPicPr>
          <p:cNvPr id="5122" name="Picture 2">
            <a:extLst>
              <a:ext uri="{FF2B5EF4-FFF2-40B4-BE49-F238E27FC236}">
                <a16:creationId xmlns:a16="http://schemas.microsoft.com/office/drawing/2014/main" id="{DE0B364E-D915-42CF-BD53-B8D7AE75C0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4438" y="785813"/>
            <a:ext cx="6715125" cy="5286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82879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7520940" cy="3579849"/>
          </a:xfrm>
        </p:spPr>
        <p:txBody>
          <a:bodyPr>
            <a:normAutofit lnSpcReduction="10000"/>
          </a:bodyPr>
          <a:lstStyle/>
          <a:p>
            <a:pPr lvl="0"/>
            <a:r>
              <a:rPr lang="en-US" altLang="zh-CN" dirty="0"/>
              <a:t>2. </a:t>
            </a:r>
            <a:r>
              <a:rPr lang="zh-CN" altLang="zh-CN" dirty="0"/>
              <a:t>分块索引</a:t>
            </a:r>
          </a:p>
          <a:p>
            <a:r>
              <a:rPr lang="en-US" altLang="zh-CN" b="0" dirty="0"/>
              <a:t>	</a:t>
            </a:r>
            <a:r>
              <a:rPr lang="zh-CN" altLang="zh-CN" dirty="0">
                <a:solidFill>
                  <a:srgbClr val="FF0000"/>
                </a:solidFill>
              </a:rPr>
              <a:t>分块索引</a:t>
            </a:r>
            <a:r>
              <a:rPr lang="zh-CN" altLang="en-US" b="0" dirty="0"/>
              <a:t>是指</a:t>
            </a:r>
            <a:r>
              <a:rPr lang="zh-CN" altLang="zh-CN" dirty="0">
                <a:solidFill>
                  <a:srgbClr val="FF0000"/>
                </a:solidFill>
              </a:rPr>
              <a:t>块间有序</a:t>
            </a:r>
            <a:r>
              <a:rPr lang="zh-CN" altLang="zh-CN" b="0" dirty="0"/>
              <a:t>，即数据块之间按每个数据块中的最大（最小）关键字有序。</a:t>
            </a:r>
            <a:r>
              <a:rPr lang="zh-CN" altLang="zh-CN" dirty="0"/>
              <a:t>索引表中存储块中的最大值或最小值</a:t>
            </a:r>
            <a:r>
              <a:rPr lang="zh-CN" altLang="zh-CN" b="0" dirty="0"/>
              <a:t>。要求后一块的关键字大于（或小于）前一块的关键字。</a:t>
            </a:r>
            <a:endParaRPr lang="en-US" altLang="zh-CN" b="0" dirty="0"/>
          </a:p>
          <a:p>
            <a:r>
              <a:rPr lang="en-US" altLang="zh-CN" b="0" dirty="0"/>
              <a:t>	</a:t>
            </a:r>
            <a:r>
              <a:rPr lang="zh-CN" altLang="en-US" dirty="0">
                <a:solidFill>
                  <a:srgbClr val="FF0000"/>
                </a:solidFill>
              </a:rPr>
              <a:t>分</a:t>
            </a:r>
            <a:r>
              <a:rPr lang="zh-CN" altLang="zh-CN" dirty="0">
                <a:solidFill>
                  <a:srgbClr val="FF0000"/>
                </a:solidFill>
              </a:rPr>
              <a:t>块索引是顺序存储的</a:t>
            </a:r>
            <a:r>
              <a:rPr lang="zh-CN" altLang="zh-CN" b="0" dirty="0"/>
              <a:t>，索引表为</a:t>
            </a:r>
            <a:r>
              <a:rPr lang="en-US" altLang="zh-CN" b="0" dirty="0"/>
              <a:t>n/s</a:t>
            </a:r>
            <a:r>
              <a:rPr lang="zh-CN" altLang="zh-CN" b="0" dirty="0"/>
              <a:t>，块内搜索</a:t>
            </a:r>
            <a:r>
              <a:rPr lang="en-US" altLang="zh-CN" b="0" dirty="0"/>
              <a:t>s</a:t>
            </a:r>
            <a:r>
              <a:rPr lang="zh-CN" altLang="zh-CN" b="0" dirty="0"/>
              <a:t>。</a:t>
            </a:r>
            <a:r>
              <a:rPr lang="en-US" altLang="zh-CN" b="0" dirty="0"/>
              <a:t>n</a:t>
            </a:r>
            <a:r>
              <a:rPr lang="zh-CN" altLang="zh-CN" b="0" dirty="0"/>
              <a:t>为总的记录数，</a:t>
            </a:r>
            <a:r>
              <a:rPr lang="en-US" altLang="zh-CN" b="0" dirty="0"/>
              <a:t>s </a:t>
            </a:r>
            <a:r>
              <a:rPr lang="zh-CN" altLang="zh-CN" b="0" dirty="0"/>
              <a:t>为块内元素数，则</a:t>
            </a:r>
            <a:r>
              <a:rPr lang="zh-CN" altLang="zh-CN" dirty="0">
                <a:solidFill>
                  <a:srgbClr val="FF0000"/>
                </a:solidFill>
              </a:rPr>
              <a:t>复杂度为</a:t>
            </a:r>
            <a:r>
              <a:rPr lang="en-US" altLang="zh-CN" dirty="0">
                <a:solidFill>
                  <a:srgbClr val="FF0000"/>
                </a:solidFill>
              </a:rPr>
              <a:t>O(n/</a:t>
            </a:r>
            <a:r>
              <a:rPr lang="en-US" altLang="zh-CN" dirty="0" err="1">
                <a:solidFill>
                  <a:srgbClr val="FF0000"/>
                </a:solidFill>
              </a:rPr>
              <a:t>s+s</a:t>
            </a:r>
            <a:r>
              <a:rPr lang="en-US" altLang="zh-CN" dirty="0">
                <a:solidFill>
                  <a:srgbClr val="FF0000"/>
                </a:solidFill>
              </a:rPr>
              <a:t>)</a:t>
            </a:r>
            <a:r>
              <a:rPr lang="zh-CN" altLang="zh-CN" b="0" dirty="0"/>
              <a:t>。</a:t>
            </a:r>
          </a:p>
          <a:p>
            <a:endParaRPr lang="zh-CN" altLang="en-US" b="0" dirty="0"/>
          </a:p>
        </p:txBody>
      </p:sp>
      <p:pic>
        <p:nvPicPr>
          <p:cNvPr id="1433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35696" y="4509120"/>
            <a:ext cx="5432276" cy="17278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10762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F04028B-74CF-4700-BCAF-AD7DF15B7CEB}"/>
              </a:ext>
            </a:extLst>
          </p:cNvPr>
          <p:cNvSpPr>
            <a:spLocks noGrp="1"/>
          </p:cNvSpPr>
          <p:nvPr>
            <p:ph type="dt" sz="half" idx="10"/>
          </p:nvPr>
        </p:nvSpPr>
        <p:spPr/>
        <p:txBody>
          <a:bodyPr/>
          <a:lstStyle/>
          <a:p>
            <a:fld id="{9A6B2991-BBE5-4E69-A281-1A8B0AE9CDD7}" type="datetime1">
              <a:rPr lang="zh-CN" altLang="en-US" smtClean="0"/>
              <a:pPr/>
              <a:t>2025/6/3</a:t>
            </a:fld>
            <a:endParaRPr lang="zh-CN" altLang="en-US"/>
          </a:p>
        </p:txBody>
      </p:sp>
      <p:pic>
        <p:nvPicPr>
          <p:cNvPr id="4098" name="Picture 2">
            <a:extLst>
              <a:ext uri="{FF2B5EF4-FFF2-40B4-BE49-F238E27FC236}">
                <a16:creationId xmlns:a16="http://schemas.microsoft.com/office/drawing/2014/main" id="{A310330D-E9D1-4174-B408-7270E8210F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1663" y="252413"/>
            <a:ext cx="5400675" cy="6353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299525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486018A-3864-4FA8-BD72-9CC0C959CCFB}"/>
              </a:ext>
            </a:extLst>
          </p:cNvPr>
          <p:cNvSpPr>
            <a:spLocks noGrp="1"/>
          </p:cNvSpPr>
          <p:nvPr>
            <p:ph type="dt" sz="half" idx="10"/>
          </p:nvPr>
        </p:nvSpPr>
        <p:spPr/>
        <p:txBody>
          <a:bodyPr/>
          <a:lstStyle/>
          <a:p>
            <a:fld id="{9A6B2991-BBE5-4E69-A281-1A8B0AE9CDD7}" type="datetime1">
              <a:rPr lang="zh-CN" altLang="en-US" smtClean="0"/>
              <a:pPr/>
              <a:t>2025/6/3</a:t>
            </a:fld>
            <a:endParaRPr lang="zh-CN" altLang="en-US"/>
          </a:p>
        </p:txBody>
      </p:sp>
      <p:sp>
        <p:nvSpPr>
          <p:cNvPr id="3" name="标题 1">
            <a:extLst>
              <a:ext uri="{FF2B5EF4-FFF2-40B4-BE49-F238E27FC236}">
                <a16:creationId xmlns:a16="http://schemas.microsoft.com/office/drawing/2014/main" id="{3EBA387C-A439-4E9A-A27B-99775BAA7817}"/>
              </a:ext>
            </a:extLst>
          </p:cNvPr>
          <p:cNvSpPr txBox="1">
            <a:spLocks/>
          </p:cNvSpPr>
          <p:nvPr/>
        </p:nvSpPr>
        <p:spPr>
          <a:xfrm>
            <a:off x="539552" y="260648"/>
            <a:ext cx="7520940" cy="548640"/>
          </a:xfrm>
          <a:prstGeom prst="rect">
            <a:avLst/>
          </a:prstGeom>
        </p:spPr>
        <p:txBody>
          <a:bodyPr/>
          <a:lstStyle>
            <a:lvl1pPr algn="l" defTabSz="914400" rtl="0" eaLnBrk="1" latinLnBrk="0" hangingPunct="1">
              <a:spcBef>
                <a:spcPct val="0"/>
              </a:spcBef>
              <a:buNone/>
              <a:defRPr sz="2800" kern="1200" cap="all" baseline="0">
                <a:solidFill>
                  <a:schemeClr val="tx1"/>
                </a:solidFill>
                <a:latin typeface="+mj-lt"/>
                <a:ea typeface="+mj-ea"/>
                <a:cs typeface="+mj-cs"/>
              </a:defRPr>
            </a:lvl1pPr>
          </a:lstStyle>
          <a:p>
            <a:r>
              <a:rPr lang="en-US" altLang="zh-CN" sz="3600" b="1" dirty="0"/>
              <a:t>8.5 </a:t>
            </a:r>
            <a:r>
              <a:rPr lang="zh-CN" altLang="zh-CN" sz="3600" b="1" dirty="0"/>
              <a:t>树形索引</a:t>
            </a:r>
            <a:endParaRPr lang="zh-CN" altLang="en-US" sz="3600" dirty="0"/>
          </a:p>
        </p:txBody>
      </p:sp>
      <p:sp>
        <p:nvSpPr>
          <p:cNvPr id="4" name="标题 1">
            <a:extLst>
              <a:ext uri="{FF2B5EF4-FFF2-40B4-BE49-F238E27FC236}">
                <a16:creationId xmlns:a16="http://schemas.microsoft.com/office/drawing/2014/main" id="{B484BA5A-F8BC-45A3-BF40-379506A447FA}"/>
              </a:ext>
            </a:extLst>
          </p:cNvPr>
          <p:cNvSpPr txBox="1">
            <a:spLocks/>
          </p:cNvSpPr>
          <p:nvPr/>
        </p:nvSpPr>
        <p:spPr>
          <a:xfrm>
            <a:off x="579452" y="1152168"/>
            <a:ext cx="7520940" cy="2420848"/>
          </a:xfrm>
          <a:prstGeom prst="rect">
            <a:avLst/>
          </a:prstGeom>
        </p:spPr>
        <p:txBody>
          <a:bodyPr/>
          <a:lstStyle>
            <a:lvl1pPr algn="l" defTabSz="914400" rtl="0" eaLnBrk="1" latinLnBrk="0" hangingPunct="1">
              <a:spcBef>
                <a:spcPct val="0"/>
              </a:spcBef>
              <a:buNone/>
              <a:defRPr sz="2800" kern="1200" cap="all" baseline="0">
                <a:solidFill>
                  <a:schemeClr val="tx1"/>
                </a:solidFill>
                <a:latin typeface="+mj-lt"/>
                <a:ea typeface="+mj-ea"/>
                <a:cs typeface="+mj-cs"/>
              </a:defRPr>
            </a:lvl1pPr>
          </a:lstStyle>
          <a:p>
            <a:r>
              <a:rPr lang="zh-CN" altLang="en-US" b="1" dirty="0"/>
              <a:t>线性</a:t>
            </a:r>
            <a:r>
              <a:rPr lang="zh-CN" altLang="zh-CN" b="1" dirty="0"/>
              <a:t>索引</a:t>
            </a:r>
            <a:r>
              <a:rPr lang="zh-CN" altLang="en-US" b="1" dirty="0"/>
              <a:t>的弊端：</a:t>
            </a:r>
            <a:endParaRPr lang="en-US" altLang="zh-CN" b="1" dirty="0"/>
          </a:p>
          <a:p>
            <a:r>
              <a:rPr lang="zh-CN" altLang="en-US" b="0" i="0" dirty="0">
                <a:solidFill>
                  <a:srgbClr val="333333"/>
                </a:solidFill>
                <a:effectLst/>
                <a:latin typeface="pingfang SC"/>
              </a:rPr>
              <a:t>线性索引的存储结构是顺序表，可以采用二分查找，查找效率较高</a:t>
            </a:r>
            <a:r>
              <a:rPr lang="en-US" altLang="zh-CN" dirty="0">
                <a:solidFill>
                  <a:srgbClr val="FF0000"/>
                </a:solidFill>
              </a:rPr>
              <a:t>O(log</a:t>
            </a:r>
            <a:r>
              <a:rPr lang="en-US" altLang="zh-CN" baseline="-25000" dirty="0">
                <a:solidFill>
                  <a:srgbClr val="FF0000"/>
                </a:solidFill>
              </a:rPr>
              <a:t>2</a:t>
            </a:r>
            <a:r>
              <a:rPr lang="en-US" altLang="zh-CN" dirty="0">
                <a:solidFill>
                  <a:srgbClr val="FF0000"/>
                </a:solidFill>
              </a:rPr>
              <a:t>n) </a:t>
            </a:r>
            <a:r>
              <a:rPr lang="zh-CN" altLang="en-US" b="0" i="0" dirty="0">
                <a:solidFill>
                  <a:srgbClr val="333333"/>
                </a:solidFill>
                <a:effectLst/>
                <a:latin typeface="pingfang SC"/>
              </a:rPr>
              <a:t>，但在插入和删除上就要浪费大量的时间，这点对于数据量大的情况下尤为明显。</a:t>
            </a:r>
            <a:endParaRPr lang="zh-CN" altLang="en-US" dirty="0"/>
          </a:p>
        </p:txBody>
      </p:sp>
      <p:sp>
        <p:nvSpPr>
          <p:cNvPr id="6" name="文本框 5">
            <a:extLst>
              <a:ext uri="{FF2B5EF4-FFF2-40B4-BE49-F238E27FC236}">
                <a16:creationId xmlns:a16="http://schemas.microsoft.com/office/drawing/2014/main" id="{315D33A0-25BC-402F-8052-5C75632417BE}"/>
              </a:ext>
            </a:extLst>
          </p:cNvPr>
          <p:cNvSpPr txBox="1"/>
          <p:nvPr/>
        </p:nvSpPr>
        <p:spPr>
          <a:xfrm>
            <a:off x="395536" y="3596823"/>
            <a:ext cx="7520940" cy="1815882"/>
          </a:xfrm>
          <a:prstGeom prst="rect">
            <a:avLst/>
          </a:prstGeom>
          <a:noFill/>
        </p:spPr>
        <p:txBody>
          <a:bodyPr wrap="square">
            <a:spAutoFit/>
          </a:bodyPr>
          <a:lstStyle/>
          <a:p>
            <a:r>
              <a:rPr lang="zh-CN" altLang="en-US" sz="2800" b="1" i="0" dirty="0">
                <a:solidFill>
                  <a:srgbClr val="333333"/>
                </a:solidFill>
                <a:effectLst/>
                <a:latin typeface="pingfang SC"/>
              </a:rPr>
              <a:t>所以在实用编程中，例如</a:t>
            </a:r>
            <a:r>
              <a:rPr lang="en-US" altLang="zh-CN" sz="2800" b="1" i="0" dirty="0">
                <a:solidFill>
                  <a:srgbClr val="333333"/>
                </a:solidFill>
                <a:effectLst/>
                <a:latin typeface="pingfang SC"/>
              </a:rPr>
              <a:t>MySQL</a:t>
            </a:r>
            <a:r>
              <a:rPr lang="zh-CN" altLang="en-US" sz="2800" b="1" i="0" dirty="0">
                <a:solidFill>
                  <a:srgbClr val="333333"/>
                </a:solidFill>
                <a:effectLst/>
                <a:latin typeface="pingfang SC"/>
              </a:rPr>
              <a:t>的引擎几乎没有使用线性索引。</a:t>
            </a:r>
            <a:r>
              <a:rPr lang="en-US" altLang="zh-CN" sz="2800" b="1" i="0" dirty="0">
                <a:solidFill>
                  <a:srgbClr val="333333"/>
                </a:solidFill>
                <a:effectLst/>
                <a:latin typeface="pingfang SC"/>
              </a:rPr>
              <a:t>MySQL</a:t>
            </a:r>
            <a:r>
              <a:rPr lang="zh-CN" altLang="en-US" sz="2800" b="1" i="0" dirty="0">
                <a:solidFill>
                  <a:srgbClr val="333333"/>
                </a:solidFill>
                <a:effectLst/>
                <a:latin typeface="pingfang SC"/>
              </a:rPr>
              <a:t>的主流存储引擎都使用</a:t>
            </a:r>
            <a:r>
              <a:rPr lang="en-US" altLang="zh-CN" sz="2800" b="1" i="0" dirty="0">
                <a:solidFill>
                  <a:srgbClr val="333333"/>
                </a:solidFill>
                <a:effectLst/>
                <a:latin typeface="pingfang SC"/>
              </a:rPr>
              <a:t>B-/B+</a:t>
            </a:r>
            <a:r>
              <a:rPr lang="zh-CN" altLang="en-US" sz="2800" b="1" i="0" dirty="0">
                <a:solidFill>
                  <a:srgbClr val="333333"/>
                </a:solidFill>
                <a:effectLst/>
                <a:latin typeface="pingfang SC"/>
              </a:rPr>
              <a:t>树索引，作为二叉树的变种，我们先简单介绍一下使用二叉搜索树构建的索引。</a:t>
            </a:r>
            <a:endParaRPr lang="en-US" altLang="zh-CN" sz="2800" b="1" i="0" dirty="0">
              <a:solidFill>
                <a:srgbClr val="333333"/>
              </a:solidFill>
              <a:effectLst/>
              <a:latin typeface="pingfang SC"/>
            </a:endParaRPr>
          </a:p>
        </p:txBody>
      </p:sp>
    </p:spTree>
    <p:extLst>
      <p:ext uri="{BB962C8B-B14F-4D97-AF65-F5344CB8AC3E}">
        <p14:creationId xmlns:p14="http://schemas.microsoft.com/office/powerpoint/2010/main" val="16143257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DB21056-1F83-4033-8DED-C59B8643B26A}"/>
              </a:ext>
            </a:extLst>
          </p:cNvPr>
          <p:cNvSpPr>
            <a:spLocks noGrp="1"/>
          </p:cNvSpPr>
          <p:nvPr>
            <p:ph type="dt" sz="half" idx="10"/>
          </p:nvPr>
        </p:nvSpPr>
        <p:spPr/>
        <p:txBody>
          <a:bodyPr/>
          <a:lstStyle/>
          <a:p>
            <a:fld id="{9A6B2991-BBE5-4E69-A281-1A8B0AE9CDD7}" type="datetime1">
              <a:rPr lang="zh-CN" altLang="en-US" smtClean="0"/>
              <a:pPr/>
              <a:t>2025/6/3</a:t>
            </a:fld>
            <a:endParaRPr lang="zh-CN" altLang="en-US"/>
          </a:p>
        </p:txBody>
      </p:sp>
      <p:pic>
        <p:nvPicPr>
          <p:cNvPr id="6146" name="Picture 2">
            <a:extLst>
              <a:ext uri="{FF2B5EF4-FFF2-40B4-BE49-F238E27FC236}">
                <a16:creationId xmlns:a16="http://schemas.microsoft.com/office/drawing/2014/main" id="{4BCE4BAA-9A3E-4FD1-BB71-885F546A81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7721" y="476672"/>
            <a:ext cx="8553677" cy="4320480"/>
          </a:xfrm>
          <a:prstGeom prst="rect">
            <a:avLst/>
          </a:prstGeom>
          <a:noFill/>
          <a:extLst>
            <a:ext uri="{909E8E84-426E-40DD-AFC4-6F175D3DCCD1}">
              <a14:hiddenFill xmlns:a14="http://schemas.microsoft.com/office/drawing/2010/main">
                <a:solidFill>
                  <a:srgbClr val="FFFFFF"/>
                </a:solidFill>
              </a14:hiddenFill>
            </a:ext>
          </a:extLst>
        </p:spPr>
      </p:pic>
      <p:sp>
        <p:nvSpPr>
          <p:cNvPr id="4" name="标题 1">
            <a:extLst>
              <a:ext uri="{FF2B5EF4-FFF2-40B4-BE49-F238E27FC236}">
                <a16:creationId xmlns:a16="http://schemas.microsoft.com/office/drawing/2014/main" id="{DA74E04B-B19C-4B3F-9003-15D9E0B22CCF}"/>
              </a:ext>
            </a:extLst>
          </p:cNvPr>
          <p:cNvSpPr txBox="1">
            <a:spLocks/>
          </p:cNvSpPr>
          <p:nvPr/>
        </p:nvSpPr>
        <p:spPr>
          <a:xfrm>
            <a:off x="323528" y="44624"/>
            <a:ext cx="8667870" cy="588308"/>
          </a:xfrm>
          <a:prstGeom prst="rect">
            <a:avLst/>
          </a:prstGeom>
        </p:spPr>
        <p:txBody>
          <a:bodyPr/>
          <a:lstStyle>
            <a:lvl1pPr algn="l" defTabSz="914400" rtl="0" eaLnBrk="1" latinLnBrk="0" hangingPunct="1">
              <a:spcBef>
                <a:spcPct val="0"/>
              </a:spcBef>
              <a:buNone/>
              <a:defRPr sz="2800" kern="1200" cap="all" baseline="0">
                <a:solidFill>
                  <a:schemeClr val="tx1"/>
                </a:solidFill>
                <a:latin typeface="+mj-lt"/>
                <a:ea typeface="+mj-ea"/>
                <a:cs typeface="+mj-cs"/>
              </a:defRPr>
            </a:lvl1pPr>
          </a:lstStyle>
          <a:p>
            <a:r>
              <a:rPr lang="zh-CN" altLang="en-US" sz="2400" b="1" dirty="0"/>
              <a:t>硬盘上的数据文件                                内存中的树</a:t>
            </a:r>
            <a:r>
              <a:rPr lang="zh-CN" altLang="zh-CN" sz="2400" b="1" dirty="0"/>
              <a:t>索引</a:t>
            </a:r>
            <a:endParaRPr lang="zh-CN" altLang="en-US" sz="2400" dirty="0"/>
          </a:p>
        </p:txBody>
      </p:sp>
      <p:sp>
        <p:nvSpPr>
          <p:cNvPr id="5" name="标题 1">
            <a:extLst>
              <a:ext uri="{FF2B5EF4-FFF2-40B4-BE49-F238E27FC236}">
                <a16:creationId xmlns:a16="http://schemas.microsoft.com/office/drawing/2014/main" id="{E753B262-63F7-4858-829A-3A9F72061DCF}"/>
              </a:ext>
            </a:extLst>
          </p:cNvPr>
          <p:cNvSpPr txBox="1">
            <a:spLocks/>
          </p:cNvSpPr>
          <p:nvPr/>
        </p:nvSpPr>
        <p:spPr>
          <a:xfrm>
            <a:off x="107504" y="4797152"/>
            <a:ext cx="8985724" cy="2232248"/>
          </a:xfrm>
          <a:prstGeom prst="rect">
            <a:avLst/>
          </a:prstGeom>
          <a:solidFill>
            <a:schemeClr val="bg1"/>
          </a:solidFill>
        </p:spPr>
        <p:txBody>
          <a:bodyPr/>
          <a:lstStyle>
            <a:lvl1pPr algn="l" defTabSz="914400" rtl="0" eaLnBrk="1" latinLnBrk="0" hangingPunct="1">
              <a:spcBef>
                <a:spcPct val="0"/>
              </a:spcBef>
              <a:buNone/>
              <a:defRPr sz="2800" kern="1200" cap="all" baseline="0">
                <a:solidFill>
                  <a:schemeClr val="tx1"/>
                </a:solidFill>
                <a:latin typeface="+mj-lt"/>
                <a:ea typeface="+mj-ea"/>
                <a:cs typeface="+mj-cs"/>
              </a:defRPr>
            </a:lvl1pPr>
          </a:lstStyle>
          <a:p>
            <a:r>
              <a:rPr lang="zh-CN" altLang="en-US" sz="2000" b="1" i="0" dirty="0">
                <a:solidFill>
                  <a:srgbClr val="333333"/>
                </a:solidFill>
                <a:effectLst/>
                <a:latin typeface="PingFang SC"/>
              </a:rPr>
              <a:t>树形索引通过构建一个树形结构来组织数据，使得数据的查找、插入和删除操作可以在对数时间内完成。</a:t>
            </a:r>
            <a:endParaRPr lang="en-US" altLang="zh-CN" sz="2000" b="1" i="0" dirty="0">
              <a:solidFill>
                <a:srgbClr val="333333"/>
              </a:solidFill>
              <a:effectLst/>
              <a:latin typeface="PingFang SC"/>
            </a:endParaRPr>
          </a:p>
          <a:p>
            <a:pPr algn="l"/>
            <a:r>
              <a:rPr lang="zh-CN" altLang="en-US" sz="2000" b="1" dirty="0"/>
              <a:t>但直接使用</a:t>
            </a:r>
            <a:r>
              <a:rPr lang="en-US" altLang="zh-CN" sz="2000" b="1" dirty="0"/>
              <a:t>AVL</a:t>
            </a:r>
            <a:r>
              <a:rPr lang="zh-CN" altLang="en-US" sz="2000" b="1" dirty="0"/>
              <a:t>树也不行，</a:t>
            </a:r>
            <a:r>
              <a:rPr lang="zh-CN" altLang="en-US" sz="2000" b="1" i="0" dirty="0">
                <a:solidFill>
                  <a:srgbClr val="191B1F"/>
                </a:solidFill>
                <a:effectLst/>
                <a:latin typeface="-apple-system"/>
              </a:rPr>
              <a:t>由于平衡二叉查找树每个节点只能容纳一个数据，导致树的高度很高，逻辑上挨着的节点数据可能离的很远。</a:t>
            </a:r>
            <a:endParaRPr lang="en-US" altLang="zh-CN" sz="2000" b="1" i="0" dirty="0">
              <a:solidFill>
                <a:srgbClr val="191B1F"/>
              </a:solidFill>
              <a:effectLst/>
              <a:latin typeface="-apple-system"/>
            </a:endParaRPr>
          </a:p>
          <a:p>
            <a:pPr algn="l"/>
            <a:r>
              <a:rPr lang="zh-CN" altLang="en-US" sz="2000" b="1" i="0" dirty="0">
                <a:solidFill>
                  <a:srgbClr val="191B1F"/>
                </a:solidFill>
                <a:effectLst/>
                <a:latin typeface="-apple-system"/>
              </a:rPr>
              <a:t>要求树结构在形状上更“胖”、更加“扁平”，即：每个节点能容纳更多的数据，这样就能降低树的高度，同时让逻辑上相邻的数据都能尽量的存储在物理上也相邻的硬盘空间上，减少磁盘读写。</a:t>
            </a:r>
            <a:endParaRPr lang="zh-CN" altLang="en-US" sz="2000" b="1" dirty="0"/>
          </a:p>
        </p:txBody>
      </p:sp>
    </p:spTree>
    <p:extLst>
      <p:ext uri="{BB962C8B-B14F-4D97-AF65-F5344CB8AC3E}">
        <p14:creationId xmlns:p14="http://schemas.microsoft.com/office/powerpoint/2010/main" val="138374849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b="1" dirty="0"/>
              <a:t>8.5 </a:t>
            </a:r>
            <a:r>
              <a:rPr lang="zh-CN" altLang="zh-CN" sz="3600" b="1" dirty="0"/>
              <a:t>树形索引</a:t>
            </a:r>
            <a:endParaRPr lang="zh-CN" altLang="en-US" sz="3600" dirty="0"/>
          </a:p>
        </p:txBody>
      </p:sp>
      <p:sp>
        <p:nvSpPr>
          <p:cNvPr id="3" name="内容占位符 2"/>
          <p:cNvSpPr>
            <a:spLocks noGrp="1"/>
          </p:cNvSpPr>
          <p:nvPr>
            <p:ph idx="1"/>
          </p:nvPr>
        </p:nvSpPr>
        <p:spPr>
          <a:xfrm>
            <a:off x="827584" y="1916832"/>
            <a:ext cx="8064896" cy="3744416"/>
          </a:xfrm>
        </p:spPr>
        <p:txBody>
          <a:bodyPr>
            <a:normAutofit/>
          </a:bodyPr>
          <a:lstStyle/>
          <a:p>
            <a:r>
              <a:rPr lang="en-US" altLang="zh-CN" sz="3200" dirty="0">
                <a:solidFill>
                  <a:srgbClr val="FF0000"/>
                </a:solidFill>
              </a:rPr>
              <a:t>B</a:t>
            </a:r>
            <a:r>
              <a:rPr lang="zh-CN" altLang="zh-CN" sz="3200" dirty="0">
                <a:solidFill>
                  <a:srgbClr val="FF0000"/>
                </a:solidFill>
              </a:rPr>
              <a:t>树</a:t>
            </a:r>
            <a:r>
              <a:rPr lang="zh-CN" altLang="zh-CN" sz="3200" b="0" dirty="0"/>
              <a:t>是目前使用</a:t>
            </a:r>
            <a:r>
              <a:rPr lang="zh-CN" altLang="zh-CN" sz="3200" dirty="0"/>
              <a:t>最为广泛的索引方法</a:t>
            </a:r>
            <a:r>
              <a:rPr lang="zh-CN" altLang="zh-CN" sz="3200" b="0" dirty="0"/>
              <a:t>，</a:t>
            </a:r>
            <a:r>
              <a:rPr lang="en-US" altLang="zh-CN" sz="3200" b="0" dirty="0"/>
              <a:t>B</a:t>
            </a:r>
            <a:r>
              <a:rPr lang="zh-CN" altLang="zh-CN" sz="3200" b="0" dirty="0"/>
              <a:t>树结构更新之后仍能自动保持平衡，且适于按块存储。</a:t>
            </a:r>
            <a:endParaRPr lang="en-US" altLang="zh-CN" sz="3200" b="0" dirty="0"/>
          </a:p>
          <a:p>
            <a:r>
              <a:rPr lang="zh-CN" altLang="en-US" sz="3200" b="0" dirty="0"/>
              <a:t>为了更好地理解</a:t>
            </a:r>
            <a:r>
              <a:rPr lang="en-US" altLang="zh-CN" sz="3200" b="0" dirty="0"/>
              <a:t>B</a:t>
            </a:r>
            <a:r>
              <a:rPr lang="zh-CN" altLang="en-US" sz="3200" b="0" dirty="0"/>
              <a:t>树构造过程，此处先介绍一种叫</a:t>
            </a:r>
            <a:r>
              <a:rPr lang="en-US" altLang="zh-CN" sz="3200" dirty="0">
                <a:solidFill>
                  <a:srgbClr val="FF0000"/>
                </a:solidFill>
              </a:rPr>
              <a:t>2-3</a:t>
            </a:r>
            <a:r>
              <a:rPr lang="zh-CN" altLang="en-US" sz="3200" dirty="0">
                <a:solidFill>
                  <a:srgbClr val="FF0000"/>
                </a:solidFill>
              </a:rPr>
              <a:t>树</a:t>
            </a:r>
            <a:r>
              <a:rPr lang="zh-CN" altLang="en-US" sz="3200" b="0" dirty="0"/>
              <a:t>的结构。实际上，</a:t>
            </a:r>
            <a:r>
              <a:rPr lang="en-US" altLang="zh-CN" sz="3200" dirty="0"/>
              <a:t>2-3</a:t>
            </a:r>
            <a:r>
              <a:rPr lang="zh-CN" altLang="en-US" sz="3200" dirty="0"/>
              <a:t>树是</a:t>
            </a:r>
            <a:r>
              <a:rPr lang="en-US" altLang="zh-CN" sz="3200" dirty="0"/>
              <a:t>B</a:t>
            </a:r>
            <a:r>
              <a:rPr lang="zh-CN" altLang="en-US" sz="3200" dirty="0"/>
              <a:t>树的特殊情况，</a:t>
            </a:r>
            <a:r>
              <a:rPr lang="zh-CN" altLang="en-US" sz="3200" dirty="0">
                <a:solidFill>
                  <a:srgbClr val="FF0000"/>
                </a:solidFill>
              </a:rPr>
              <a:t>也就是</a:t>
            </a:r>
            <a:r>
              <a:rPr lang="en-US" altLang="zh-CN" sz="3200" dirty="0">
                <a:solidFill>
                  <a:srgbClr val="FF0000"/>
                </a:solidFill>
              </a:rPr>
              <a:t>3</a:t>
            </a:r>
            <a:r>
              <a:rPr lang="zh-CN" altLang="en-US" sz="3200" dirty="0">
                <a:solidFill>
                  <a:srgbClr val="FF0000"/>
                </a:solidFill>
              </a:rPr>
              <a:t>阶</a:t>
            </a:r>
            <a:r>
              <a:rPr lang="en-US" altLang="zh-CN" sz="3200" dirty="0">
                <a:solidFill>
                  <a:srgbClr val="FF0000"/>
                </a:solidFill>
              </a:rPr>
              <a:t>B</a:t>
            </a:r>
            <a:r>
              <a:rPr lang="zh-CN" altLang="en-US" sz="3200" dirty="0">
                <a:solidFill>
                  <a:srgbClr val="FF0000"/>
                </a:solidFill>
              </a:rPr>
              <a:t>树</a:t>
            </a:r>
            <a:r>
              <a:rPr lang="zh-CN" altLang="en-US" sz="3200" b="0" dirty="0"/>
              <a:t>。</a:t>
            </a:r>
            <a:endParaRPr lang="zh-CN" altLang="zh-CN" sz="3200" b="0" dirty="0"/>
          </a:p>
        </p:txBody>
      </p:sp>
    </p:spTree>
    <p:extLst>
      <p:ext uri="{BB962C8B-B14F-4D97-AF65-F5344CB8AC3E}">
        <p14:creationId xmlns:p14="http://schemas.microsoft.com/office/powerpoint/2010/main" val="88163719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7584" y="792128"/>
            <a:ext cx="7520940" cy="548640"/>
          </a:xfrm>
        </p:spPr>
        <p:txBody>
          <a:bodyPr/>
          <a:lstStyle/>
          <a:p>
            <a:r>
              <a:rPr lang="en-US" altLang="zh-CN" b="1" dirty="0"/>
              <a:t>8.5.1 2-3</a:t>
            </a:r>
            <a:r>
              <a:rPr lang="zh-CN" altLang="zh-CN" b="1" dirty="0"/>
              <a:t>树</a:t>
            </a:r>
            <a:endParaRPr lang="zh-CN" altLang="en-US" dirty="0"/>
          </a:p>
        </p:txBody>
      </p:sp>
      <p:sp>
        <p:nvSpPr>
          <p:cNvPr id="3" name="内容占位符 2"/>
          <p:cNvSpPr>
            <a:spLocks noGrp="1"/>
          </p:cNvSpPr>
          <p:nvPr>
            <p:ph idx="1"/>
          </p:nvPr>
        </p:nvSpPr>
        <p:spPr>
          <a:xfrm>
            <a:off x="323528" y="1412776"/>
            <a:ext cx="8460432" cy="5229200"/>
          </a:xfrm>
          <a:solidFill>
            <a:schemeClr val="bg1"/>
          </a:solidFill>
        </p:spPr>
        <p:txBody>
          <a:bodyPr>
            <a:normAutofit fontScale="92500" lnSpcReduction="20000"/>
          </a:bodyPr>
          <a:lstStyle/>
          <a:p>
            <a:r>
              <a:rPr lang="en-US" altLang="zh-CN" dirty="0">
                <a:solidFill>
                  <a:srgbClr val="FF0000"/>
                </a:solidFill>
              </a:rPr>
              <a:t>2-3</a:t>
            </a:r>
            <a:r>
              <a:rPr lang="zh-CN" altLang="zh-CN" dirty="0">
                <a:solidFill>
                  <a:srgbClr val="FF0000"/>
                </a:solidFill>
              </a:rPr>
              <a:t>树的定义</a:t>
            </a:r>
            <a:r>
              <a:rPr lang="zh-CN" altLang="zh-CN" dirty="0"/>
              <a:t>：</a:t>
            </a:r>
          </a:p>
          <a:p>
            <a:r>
              <a:rPr lang="en-US" altLang="zh-CN" b="0" dirty="0"/>
              <a:t>1) </a:t>
            </a:r>
            <a:r>
              <a:rPr lang="zh-CN" altLang="zh-CN" b="0" dirty="0"/>
              <a:t>每个结点上的</a:t>
            </a:r>
            <a:r>
              <a:rPr lang="zh-CN" altLang="zh-CN" dirty="0">
                <a:solidFill>
                  <a:srgbClr val="FF0000"/>
                </a:solidFill>
              </a:rPr>
              <a:t>子树个数可以是</a:t>
            </a:r>
            <a:r>
              <a:rPr lang="en-US" altLang="zh-CN" dirty="0">
                <a:solidFill>
                  <a:srgbClr val="FF0000"/>
                </a:solidFill>
              </a:rPr>
              <a:t>2-3</a:t>
            </a:r>
            <a:r>
              <a:rPr lang="zh-CN" altLang="zh-CN" dirty="0">
                <a:solidFill>
                  <a:srgbClr val="FF0000"/>
                </a:solidFill>
              </a:rPr>
              <a:t>个</a:t>
            </a:r>
            <a:r>
              <a:rPr lang="zh-CN" altLang="zh-CN" b="0" dirty="0"/>
              <a:t>。每个结点包含一个或两个关键字的值；</a:t>
            </a:r>
          </a:p>
          <a:p>
            <a:r>
              <a:rPr lang="en-US" altLang="zh-CN" b="0" dirty="0"/>
              <a:t>2) </a:t>
            </a:r>
            <a:r>
              <a:rPr lang="zh-CN" altLang="zh-CN" b="0" dirty="0"/>
              <a:t>每个内结点或有一个关键字两个子树，或有两个关键字三个子树；</a:t>
            </a:r>
          </a:p>
          <a:p>
            <a:r>
              <a:rPr lang="en-US" altLang="zh-CN" b="0" dirty="0"/>
              <a:t>3) </a:t>
            </a:r>
            <a:r>
              <a:rPr lang="zh-CN" altLang="zh-CN" b="0" dirty="0"/>
              <a:t>所有的</a:t>
            </a:r>
            <a:r>
              <a:rPr lang="zh-CN" altLang="zh-CN" dirty="0">
                <a:solidFill>
                  <a:srgbClr val="FF0000"/>
                </a:solidFill>
              </a:rPr>
              <a:t>叶子结点在</a:t>
            </a:r>
            <a:r>
              <a:rPr lang="en-US" altLang="zh-CN" dirty="0">
                <a:solidFill>
                  <a:srgbClr val="FF0000"/>
                </a:solidFill>
              </a:rPr>
              <a:t>2-3</a:t>
            </a:r>
            <a:r>
              <a:rPr lang="zh-CN" altLang="zh-CN" dirty="0">
                <a:solidFill>
                  <a:srgbClr val="FF0000"/>
                </a:solidFill>
              </a:rPr>
              <a:t>树的同一层出现</a:t>
            </a:r>
            <a:r>
              <a:rPr lang="zh-CN" altLang="zh-CN" b="0" dirty="0"/>
              <a:t>。即高度是一样的</a:t>
            </a:r>
            <a:endParaRPr lang="en-US" altLang="zh-CN" b="0" dirty="0"/>
          </a:p>
          <a:p>
            <a:r>
              <a:rPr lang="en-US" altLang="zh-CN" b="0" dirty="0"/>
              <a:t>4)</a:t>
            </a:r>
            <a:r>
              <a:rPr lang="zh-CN" altLang="en-US" b="0" dirty="0"/>
              <a:t> 若结点包含一个关键字，则左子树的结点小于父结点，右子树的的结点大于父结点</a:t>
            </a:r>
            <a:endParaRPr lang="en-US" altLang="zh-CN" b="0" dirty="0"/>
          </a:p>
          <a:p>
            <a:r>
              <a:rPr lang="en-US" altLang="zh-CN" b="0" dirty="0"/>
              <a:t>5) </a:t>
            </a:r>
            <a:r>
              <a:rPr lang="zh-CN" altLang="en-US" b="0" dirty="0"/>
              <a:t>若结点包含两个关键字，则满足：</a:t>
            </a:r>
            <a:endParaRPr lang="en-US" altLang="zh-CN" b="0" dirty="0"/>
          </a:p>
          <a:p>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1</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左边孩子中的结点值小于父结点中第一个关键字的值；</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2</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中间孩子中的结点值大于父结点中第一个关键字的值，</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且</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小于第二个关键字的值；</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3</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右边孩子中的结点值大于父结点中第二个关键字的值。</a:t>
            </a:r>
          </a:p>
          <a:p>
            <a:endParaRPr lang="zh-CN" altLang="zh-CN" b="0" dirty="0"/>
          </a:p>
          <a:p>
            <a:endParaRPr lang="zh-CN" altLang="en-US" dirty="0"/>
          </a:p>
        </p:txBody>
      </p:sp>
      <p:pic>
        <p:nvPicPr>
          <p:cNvPr id="4" name="图片 3" descr="C:\Users\Admin\AppData\Roaming\Tencent\Users\422215495\QQ\WinTemp\RichOle\~02H`VNH%K~T0RIYBV8I_CA.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58149" y="285728"/>
            <a:ext cx="500066" cy="500066"/>
          </a:xfrm>
          <a:prstGeom prst="rect">
            <a:avLst/>
          </a:prstGeom>
          <a:noFill/>
          <a:ln>
            <a:noFill/>
          </a:ln>
        </p:spPr>
      </p:pic>
    </p:spTree>
    <p:extLst>
      <p:ext uri="{BB962C8B-B14F-4D97-AF65-F5344CB8AC3E}">
        <p14:creationId xmlns:p14="http://schemas.microsoft.com/office/powerpoint/2010/main" val="349662872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980728"/>
            <a:ext cx="8280920" cy="1440160"/>
          </a:xfrm>
        </p:spPr>
        <p:txBody>
          <a:bodyPr>
            <a:normAutofit fontScale="92500"/>
          </a:bodyPr>
          <a:lstStyle/>
          <a:p>
            <a:r>
              <a:rPr lang="en-US" altLang="zh-CN" sz="3200" b="0" dirty="0"/>
              <a:t>	</a:t>
            </a:r>
            <a:r>
              <a:rPr lang="en-US" altLang="zh-CN" sz="3200" dirty="0">
                <a:solidFill>
                  <a:srgbClr val="FF0000"/>
                </a:solidFill>
              </a:rPr>
              <a:t>2-3</a:t>
            </a:r>
            <a:r>
              <a:rPr lang="zh-CN" altLang="zh-CN" sz="3200" dirty="0">
                <a:solidFill>
                  <a:srgbClr val="FF0000"/>
                </a:solidFill>
              </a:rPr>
              <a:t>树更新代价更小</a:t>
            </a:r>
            <a:r>
              <a:rPr lang="zh-CN" altLang="en-US" sz="3200" dirty="0">
                <a:solidFill>
                  <a:srgbClr val="FF0000"/>
                </a:solidFill>
              </a:rPr>
              <a:t>。</a:t>
            </a:r>
            <a:r>
              <a:rPr lang="zh-CN" altLang="zh-CN" sz="3200" b="0" dirty="0"/>
              <a:t>具有</a:t>
            </a:r>
            <a:r>
              <a:rPr lang="en-US" altLang="zh-CN" sz="3200" b="0" dirty="0"/>
              <a:t>N</a:t>
            </a:r>
            <a:r>
              <a:rPr lang="zh-CN" altLang="zh-CN" sz="3200" b="0" dirty="0"/>
              <a:t>个关键字的</a:t>
            </a:r>
            <a:r>
              <a:rPr lang="en-US" altLang="zh-CN" sz="3200" b="0" dirty="0"/>
              <a:t>2-3</a:t>
            </a:r>
            <a:r>
              <a:rPr lang="zh-CN" altLang="zh-CN" sz="3200" b="0" dirty="0"/>
              <a:t>树的高度比相应的二叉查找树</a:t>
            </a:r>
            <a:r>
              <a:rPr lang="zh-CN" altLang="en-US" sz="3200" b="0" dirty="0"/>
              <a:t>的高度要</a:t>
            </a:r>
            <a:r>
              <a:rPr lang="zh-CN" altLang="zh-CN" sz="3200" b="0" dirty="0"/>
              <a:t>低</a:t>
            </a:r>
            <a:r>
              <a:rPr lang="zh-CN" altLang="en-US" sz="3200" b="0" dirty="0"/>
              <a:t>很多</a:t>
            </a:r>
            <a:r>
              <a:rPr lang="zh-CN" altLang="zh-CN" sz="3200" b="0" dirty="0"/>
              <a:t>。</a:t>
            </a:r>
            <a:endParaRPr lang="zh-CN" altLang="en-US" sz="3200" b="0" dirty="0"/>
          </a:p>
        </p:txBody>
      </p:sp>
      <p:pic>
        <p:nvPicPr>
          <p:cNvPr id="1536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8873" y="2420888"/>
            <a:ext cx="8979631" cy="36724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3101829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116A7C2-1F3E-4051-BE0F-59A525102F45}"/>
              </a:ext>
            </a:extLst>
          </p:cNvPr>
          <p:cNvSpPr>
            <a:spLocks noGrp="1"/>
          </p:cNvSpPr>
          <p:nvPr>
            <p:ph type="dt" sz="half" idx="10"/>
          </p:nvPr>
        </p:nvSpPr>
        <p:spPr/>
        <p:txBody>
          <a:bodyPr/>
          <a:lstStyle/>
          <a:p>
            <a:fld id="{9A6B2991-BBE5-4E69-A281-1A8B0AE9CDD7}" type="datetime1">
              <a:rPr lang="zh-CN" altLang="en-US" smtClean="0"/>
              <a:pPr/>
              <a:t>2025/6/3</a:t>
            </a:fld>
            <a:endParaRPr lang="zh-CN" altLang="en-US"/>
          </a:p>
        </p:txBody>
      </p:sp>
      <p:graphicFrame>
        <p:nvGraphicFramePr>
          <p:cNvPr id="3" name="表格 3">
            <a:extLst>
              <a:ext uri="{FF2B5EF4-FFF2-40B4-BE49-F238E27FC236}">
                <a16:creationId xmlns:a16="http://schemas.microsoft.com/office/drawing/2014/main" id="{164D6BA4-DFF9-41E0-9D8E-A9A5D036049A}"/>
              </a:ext>
            </a:extLst>
          </p:cNvPr>
          <p:cNvGraphicFramePr>
            <a:graphicFrameLocks noGrp="1"/>
          </p:cNvGraphicFramePr>
          <p:nvPr>
            <p:extLst>
              <p:ext uri="{D42A27DB-BD31-4B8C-83A1-F6EECF244321}">
                <p14:modId xmlns:p14="http://schemas.microsoft.com/office/powerpoint/2010/main" val="470851800"/>
              </p:ext>
            </p:extLst>
          </p:nvPr>
        </p:nvGraphicFramePr>
        <p:xfrm>
          <a:off x="2627784" y="2189088"/>
          <a:ext cx="3312365" cy="951880"/>
        </p:xfrm>
        <a:graphic>
          <a:graphicData uri="http://schemas.openxmlformats.org/drawingml/2006/table">
            <a:tbl>
              <a:tblPr firstRow="1" bandRow="1">
                <a:tableStyleId>{5C22544A-7EE6-4342-B048-85BDC9FD1C3A}</a:tableStyleId>
              </a:tblPr>
              <a:tblGrid>
                <a:gridCol w="358743">
                  <a:extLst>
                    <a:ext uri="{9D8B030D-6E8A-4147-A177-3AD203B41FA5}">
                      <a16:colId xmlns:a16="http://schemas.microsoft.com/office/drawing/2014/main" val="244961971"/>
                    </a:ext>
                  </a:extLst>
                </a:gridCol>
                <a:gridCol w="1100137">
                  <a:extLst>
                    <a:ext uri="{9D8B030D-6E8A-4147-A177-3AD203B41FA5}">
                      <a16:colId xmlns:a16="http://schemas.microsoft.com/office/drawing/2014/main" val="1454579024"/>
                    </a:ext>
                  </a:extLst>
                </a:gridCol>
                <a:gridCol w="370697">
                  <a:extLst>
                    <a:ext uri="{9D8B030D-6E8A-4147-A177-3AD203B41FA5}">
                      <a16:colId xmlns:a16="http://schemas.microsoft.com/office/drawing/2014/main" val="211562109"/>
                    </a:ext>
                  </a:extLst>
                </a:gridCol>
                <a:gridCol w="1112091">
                  <a:extLst>
                    <a:ext uri="{9D8B030D-6E8A-4147-A177-3AD203B41FA5}">
                      <a16:colId xmlns:a16="http://schemas.microsoft.com/office/drawing/2014/main" val="1972499581"/>
                    </a:ext>
                  </a:extLst>
                </a:gridCol>
                <a:gridCol w="370697">
                  <a:extLst>
                    <a:ext uri="{9D8B030D-6E8A-4147-A177-3AD203B41FA5}">
                      <a16:colId xmlns:a16="http://schemas.microsoft.com/office/drawing/2014/main" val="177780219"/>
                    </a:ext>
                  </a:extLst>
                </a:gridCol>
              </a:tblGrid>
              <a:tr h="951880">
                <a:tc>
                  <a:txBody>
                    <a:bodyPr/>
                    <a:lstStyle/>
                    <a:p>
                      <a:endParaRPr lang="zh-CN" altLang="en-US"/>
                    </a:p>
                  </a:txBody>
                  <a:tcP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solidFill>
                      <a:schemeClr val="accent3">
                        <a:lumMod val="40000"/>
                        <a:lumOff val="60000"/>
                      </a:schemeClr>
                    </a:solidFill>
                  </a:tcPr>
                </a:tc>
                <a:tc>
                  <a:txBody>
                    <a:bodyPr/>
                    <a:lstStyle/>
                    <a:p>
                      <a:pPr algn="ctr"/>
                      <a:r>
                        <a:rPr lang="en-US" altLang="zh-CN" sz="2800" dirty="0">
                          <a:solidFill>
                            <a:srgbClr val="FF0000"/>
                          </a:solidFill>
                          <a:latin typeface="Arial Black" panose="020B0A04020102020204" pitchFamily="34" charset="0"/>
                        </a:rPr>
                        <a:t>key1</a:t>
                      </a:r>
                      <a:endParaRPr lang="zh-CN" altLang="en-US" dirty="0">
                        <a:solidFill>
                          <a:srgbClr val="FF0000"/>
                        </a:solidFill>
                        <a:latin typeface="Arial Black" panose="020B0A04020102020204" pitchFamily="34" charset="0"/>
                      </a:endParaRP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solidFill>
                      <a:schemeClr val="accent3">
                        <a:lumMod val="40000"/>
                        <a:lumOff val="60000"/>
                      </a:schemeClr>
                    </a:solidFill>
                  </a:tcPr>
                </a:tc>
                <a:tc>
                  <a:txBody>
                    <a:bodyPr/>
                    <a:lstStyle/>
                    <a:p>
                      <a:endParaRPr lang="zh-CN" altLang="en-US"/>
                    </a:p>
                  </a:txBody>
                  <a:tcP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solidFill>
                      <a:schemeClr val="accent3">
                        <a:lumMod val="40000"/>
                        <a:lumOff val="60000"/>
                      </a:schemeClr>
                    </a:solidFill>
                  </a:tcPr>
                </a:tc>
                <a:tc>
                  <a:txBody>
                    <a:bodyPr/>
                    <a:lstStyle/>
                    <a:p>
                      <a:pPr algn="ctr"/>
                      <a:r>
                        <a:rPr lang="en-US" altLang="zh-CN" sz="2800" dirty="0">
                          <a:solidFill>
                            <a:srgbClr val="FF0000"/>
                          </a:solidFill>
                          <a:latin typeface="Arial Black" panose="020B0A04020102020204" pitchFamily="34" charset="0"/>
                        </a:rPr>
                        <a:t>key2</a:t>
                      </a:r>
                      <a:endParaRPr lang="zh-CN" altLang="en-US" dirty="0">
                        <a:solidFill>
                          <a:srgbClr val="FF0000"/>
                        </a:solidFill>
                        <a:latin typeface="Arial Black" panose="020B0A04020102020204" pitchFamily="34" charset="0"/>
                      </a:endParaRPr>
                    </a:p>
                  </a:txBody>
                  <a:tcPr anchor="ct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solidFill>
                      <a:schemeClr val="accent3">
                        <a:lumMod val="40000"/>
                        <a:lumOff val="60000"/>
                      </a:schemeClr>
                    </a:solidFill>
                  </a:tcPr>
                </a:tc>
                <a:tc>
                  <a:txBody>
                    <a:bodyPr/>
                    <a:lstStyle/>
                    <a:p>
                      <a:endParaRPr lang="zh-CN" altLang="en-US" dirty="0"/>
                    </a:p>
                  </a:txBody>
                  <a:tcPr>
                    <a:lnL w="38100" cap="flat" cmpd="sng" algn="ctr">
                      <a:solidFill>
                        <a:schemeClr val="accent2"/>
                      </a:solidFill>
                      <a:prstDash val="solid"/>
                      <a:round/>
                      <a:headEnd type="none" w="med" len="med"/>
                      <a:tailEnd type="none" w="med" len="med"/>
                    </a:lnL>
                    <a:lnR w="38100" cap="flat" cmpd="sng" algn="ctr">
                      <a:solidFill>
                        <a:schemeClr val="accent2"/>
                      </a:solidFill>
                      <a:prstDash val="solid"/>
                      <a:round/>
                      <a:headEnd type="none" w="med" len="med"/>
                      <a:tailEnd type="none" w="med" len="med"/>
                    </a:lnR>
                    <a:lnT w="38100" cap="flat" cmpd="sng" algn="ctr">
                      <a:solidFill>
                        <a:schemeClr val="accent2"/>
                      </a:solidFill>
                      <a:prstDash val="solid"/>
                      <a:round/>
                      <a:headEnd type="none" w="med" len="med"/>
                      <a:tailEnd type="none" w="med" len="med"/>
                    </a:lnT>
                    <a:lnB w="38100" cap="flat" cmpd="sng" algn="ctr">
                      <a:solidFill>
                        <a:schemeClr val="accent2"/>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2734684992"/>
                  </a:ext>
                </a:extLst>
              </a:tr>
            </a:tbl>
          </a:graphicData>
        </a:graphic>
      </p:graphicFrame>
      <p:sp>
        <p:nvSpPr>
          <p:cNvPr id="5" name="文本框 4">
            <a:extLst>
              <a:ext uri="{FF2B5EF4-FFF2-40B4-BE49-F238E27FC236}">
                <a16:creationId xmlns:a16="http://schemas.microsoft.com/office/drawing/2014/main" id="{B5074FB2-FC04-47C5-974C-A85773D827BB}"/>
              </a:ext>
            </a:extLst>
          </p:cNvPr>
          <p:cNvSpPr txBox="1"/>
          <p:nvPr/>
        </p:nvSpPr>
        <p:spPr>
          <a:xfrm>
            <a:off x="2051720" y="4036422"/>
            <a:ext cx="1421904" cy="584775"/>
          </a:xfrm>
          <a:prstGeom prst="rect">
            <a:avLst/>
          </a:prstGeom>
          <a:noFill/>
        </p:spPr>
        <p:txBody>
          <a:bodyPr wrap="square">
            <a:spAutoFit/>
          </a:bodyPr>
          <a:lstStyle/>
          <a:p>
            <a:pPr algn="ctr"/>
            <a:r>
              <a:rPr lang="zh-CN" altLang="en-US" sz="3200" b="1" i="0" dirty="0">
                <a:solidFill>
                  <a:srgbClr val="FF0000"/>
                </a:solidFill>
                <a:effectLst/>
                <a:latin typeface="pingfang SC"/>
              </a:rPr>
              <a:t>左指针</a:t>
            </a:r>
            <a:endParaRPr lang="zh-CN" altLang="en-US" sz="3200" b="1" dirty="0">
              <a:solidFill>
                <a:srgbClr val="FF0000"/>
              </a:solidFill>
            </a:endParaRPr>
          </a:p>
        </p:txBody>
      </p:sp>
      <p:sp>
        <p:nvSpPr>
          <p:cNvPr id="6" name="文本框 5">
            <a:extLst>
              <a:ext uri="{FF2B5EF4-FFF2-40B4-BE49-F238E27FC236}">
                <a16:creationId xmlns:a16="http://schemas.microsoft.com/office/drawing/2014/main" id="{FDBAF41D-68B7-49C6-A8F8-D3F7D074D659}"/>
              </a:ext>
            </a:extLst>
          </p:cNvPr>
          <p:cNvSpPr txBox="1"/>
          <p:nvPr/>
        </p:nvSpPr>
        <p:spPr>
          <a:xfrm>
            <a:off x="3563888" y="4068361"/>
            <a:ext cx="1421904" cy="584775"/>
          </a:xfrm>
          <a:prstGeom prst="rect">
            <a:avLst/>
          </a:prstGeom>
          <a:noFill/>
        </p:spPr>
        <p:txBody>
          <a:bodyPr wrap="square">
            <a:spAutoFit/>
          </a:bodyPr>
          <a:lstStyle/>
          <a:p>
            <a:pPr algn="ctr"/>
            <a:r>
              <a:rPr lang="zh-CN" altLang="en-US" sz="3200" b="1" i="0" dirty="0">
                <a:solidFill>
                  <a:srgbClr val="FF0000"/>
                </a:solidFill>
                <a:effectLst/>
                <a:latin typeface="pingfang SC"/>
              </a:rPr>
              <a:t>中指针</a:t>
            </a:r>
            <a:endParaRPr lang="zh-CN" altLang="en-US" sz="3200" b="1" dirty="0">
              <a:solidFill>
                <a:srgbClr val="FF0000"/>
              </a:solidFill>
            </a:endParaRPr>
          </a:p>
        </p:txBody>
      </p:sp>
      <p:sp>
        <p:nvSpPr>
          <p:cNvPr id="7" name="文本框 6">
            <a:extLst>
              <a:ext uri="{FF2B5EF4-FFF2-40B4-BE49-F238E27FC236}">
                <a16:creationId xmlns:a16="http://schemas.microsoft.com/office/drawing/2014/main" id="{C0E888A4-34B8-4225-8413-99BBE35A817A}"/>
              </a:ext>
            </a:extLst>
          </p:cNvPr>
          <p:cNvSpPr txBox="1"/>
          <p:nvPr/>
        </p:nvSpPr>
        <p:spPr>
          <a:xfrm>
            <a:off x="5094312" y="4068361"/>
            <a:ext cx="1421904" cy="584775"/>
          </a:xfrm>
          <a:prstGeom prst="rect">
            <a:avLst/>
          </a:prstGeom>
          <a:noFill/>
        </p:spPr>
        <p:txBody>
          <a:bodyPr wrap="square">
            <a:spAutoFit/>
          </a:bodyPr>
          <a:lstStyle/>
          <a:p>
            <a:pPr algn="ctr"/>
            <a:r>
              <a:rPr lang="zh-CN" altLang="en-US" sz="3200" b="1" i="0" dirty="0">
                <a:solidFill>
                  <a:srgbClr val="FF0000"/>
                </a:solidFill>
                <a:effectLst/>
                <a:latin typeface="pingfang SC"/>
              </a:rPr>
              <a:t>右指针</a:t>
            </a:r>
            <a:endParaRPr lang="zh-CN" altLang="en-US" sz="3200" b="1" dirty="0">
              <a:solidFill>
                <a:srgbClr val="FF0000"/>
              </a:solidFill>
            </a:endParaRPr>
          </a:p>
        </p:txBody>
      </p:sp>
      <p:cxnSp>
        <p:nvCxnSpPr>
          <p:cNvPr id="9" name="直接箭头连接符 8">
            <a:extLst>
              <a:ext uri="{FF2B5EF4-FFF2-40B4-BE49-F238E27FC236}">
                <a16:creationId xmlns:a16="http://schemas.microsoft.com/office/drawing/2014/main" id="{901DB4AD-EA56-4CF9-85B2-CA808DDF94BF}"/>
              </a:ext>
            </a:extLst>
          </p:cNvPr>
          <p:cNvCxnSpPr>
            <a:stCxn id="5" idx="0"/>
          </p:cNvCxnSpPr>
          <p:nvPr/>
        </p:nvCxnSpPr>
        <p:spPr>
          <a:xfrm flipV="1">
            <a:off x="2762672" y="2996952"/>
            <a:ext cx="9128" cy="103947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a:extLst>
              <a:ext uri="{FF2B5EF4-FFF2-40B4-BE49-F238E27FC236}">
                <a16:creationId xmlns:a16="http://schemas.microsoft.com/office/drawing/2014/main" id="{C63E0342-9EA8-4079-B641-2743C7E1F245}"/>
              </a:ext>
            </a:extLst>
          </p:cNvPr>
          <p:cNvCxnSpPr/>
          <p:nvPr/>
        </p:nvCxnSpPr>
        <p:spPr>
          <a:xfrm flipV="1">
            <a:off x="4274840" y="2996952"/>
            <a:ext cx="9128" cy="103947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47492FA4-30D7-4AF6-BCBC-F809DC311E76}"/>
              </a:ext>
            </a:extLst>
          </p:cNvPr>
          <p:cNvCxnSpPr/>
          <p:nvPr/>
        </p:nvCxnSpPr>
        <p:spPr>
          <a:xfrm flipV="1">
            <a:off x="5787008" y="2996952"/>
            <a:ext cx="9128" cy="103947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2" name="标题 1">
            <a:extLst>
              <a:ext uri="{FF2B5EF4-FFF2-40B4-BE49-F238E27FC236}">
                <a16:creationId xmlns:a16="http://schemas.microsoft.com/office/drawing/2014/main" id="{F99AB2EF-7CA2-4DBF-94B9-2A2D734DDBC1}"/>
              </a:ext>
            </a:extLst>
          </p:cNvPr>
          <p:cNvSpPr txBox="1">
            <a:spLocks/>
          </p:cNvSpPr>
          <p:nvPr/>
        </p:nvSpPr>
        <p:spPr>
          <a:xfrm>
            <a:off x="827584" y="895707"/>
            <a:ext cx="7520940" cy="548640"/>
          </a:xfrm>
          <a:prstGeom prst="rect">
            <a:avLst/>
          </a:prstGeom>
        </p:spPr>
        <p:txBody>
          <a:bodyPr/>
          <a:lstStyle>
            <a:lvl1pPr algn="l" defTabSz="914400" rtl="0" eaLnBrk="1" latinLnBrk="0" hangingPunct="1">
              <a:spcBef>
                <a:spcPct val="0"/>
              </a:spcBef>
              <a:buNone/>
              <a:defRPr sz="2800" kern="1200" cap="all" baseline="0">
                <a:solidFill>
                  <a:schemeClr val="tx1"/>
                </a:solidFill>
                <a:latin typeface="+mj-lt"/>
                <a:ea typeface="+mj-ea"/>
                <a:cs typeface="+mj-cs"/>
              </a:defRPr>
            </a:lvl1pPr>
          </a:lstStyle>
          <a:p>
            <a:r>
              <a:rPr lang="en-US" altLang="zh-CN" sz="3600" b="1" dirty="0"/>
              <a:t>2-3</a:t>
            </a:r>
            <a:r>
              <a:rPr lang="zh-CN" altLang="zh-CN" sz="3600" b="1" dirty="0"/>
              <a:t>树</a:t>
            </a:r>
            <a:r>
              <a:rPr lang="zh-CN" altLang="en-US" sz="3600" b="1" dirty="0"/>
              <a:t>结点的构成示意图</a:t>
            </a:r>
            <a:endParaRPr lang="zh-CN" altLang="en-US" sz="3600" dirty="0"/>
          </a:p>
        </p:txBody>
      </p:sp>
    </p:spTree>
    <p:extLst>
      <p:ext uri="{BB962C8B-B14F-4D97-AF65-F5344CB8AC3E}">
        <p14:creationId xmlns:p14="http://schemas.microsoft.com/office/powerpoint/2010/main" val="24258275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8C9C07E-2DA9-4589-9511-406AC00A4E02}"/>
              </a:ext>
            </a:extLst>
          </p:cNvPr>
          <p:cNvSpPr>
            <a:spLocks noGrp="1"/>
          </p:cNvSpPr>
          <p:nvPr>
            <p:ph type="dt" sz="half" idx="10"/>
          </p:nvPr>
        </p:nvSpPr>
        <p:spPr/>
        <p:txBody>
          <a:bodyPr/>
          <a:lstStyle/>
          <a:p>
            <a:fld id="{9A6B2991-BBE5-4E69-A281-1A8B0AE9CDD7}" type="datetime1">
              <a:rPr lang="zh-CN" altLang="en-US" smtClean="0"/>
              <a:pPr/>
              <a:t>2025/6/3</a:t>
            </a:fld>
            <a:endParaRPr lang="zh-CN" altLang="en-US"/>
          </a:p>
        </p:txBody>
      </p:sp>
      <p:pic>
        <p:nvPicPr>
          <p:cNvPr id="3" name="图片 2">
            <a:extLst>
              <a:ext uri="{FF2B5EF4-FFF2-40B4-BE49-F238E27FC236}">
                <a16:creationId xmlns:a16="http://schemas.microsoft.com/office/drawing/2014/main" id="{D3E86DAB-40BB-456B-955F-25ED782D6B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504" y="764704"/>
            <a:ext cx="8942335" cy="3845205"/>
          </a:xfrm>
          <a:prstGeom prst="rect">
            <a:avLst/>
          </a:prstGeom>
        </p:spPr>
      </p:pic>
    </p:spTree>
    <p:extLst>
      <p:ext uri="{BB962C8B-B14F-4D97-AF65-F5344CB8AC3E}">
        <p14:creationId xmlns:p14="http://schemas.microsoft.com/office/powerpoint/2010/main" val="71490352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08720"/>
            <a:ext cx="8136904" cy="3168351"/>
          </a:xfrm>
        </p:spPr>
        <p:txBody>
          <a:bodyPr>
            <a:normAutofit fontScale="85000" lnSpcReduction="10000"/>
          </a:bodyPr>
          <a:lstStyle/>
          <a:p>
            <a:r>
              <a:rPr lang="en-US" altLang="zh-CN" dirty="0">
                <a:solidFill>
                  <a:srgbClr val="FF0000"/>
                </a:solidFill>
              </a:rPr>
              <a:t>2-3</a:t>
            </a:r>
            <a:r>
              <a:rPr lang="zh-CN" altLang="zh-CN" dirty="0">
                <a:solidFill>
                  <a:srgbClr val="FF0000"/>
                </a:solidFill>
              </a:rPr>
              <a:t>树的</a:t>
            </a:r>
            <a:r>
              <a:rPr lang="zh-CN" altLang="en-US" dirty="0">
                <a:solidFill>
                  <a:srgbClr val="FF0000"/>
                </a:solidFill>
              </a:rPr>
              <a:t>查找过程：</a:t>
            </a:r>
            <a:endParaRPr lang="zh-CN" altLang="zh-CN" dirty="0"/>
          </a:p>
          <a:p>
            <a:r>
              <a:rPr lang="en-US" altLang="zh-CN" dirty="0">
                <a:solidFill>
                  <a:srgbClr val="FF0000"/>
                </a:solidFill>
              </a:rPr>
              <a:t>	</a:t>
            </a:r>
            <a:r>
              <a:rPr lang="zh-CN" altLang="en-US" dirty="0">
                <a:solidFill>
                  <a:srgbClr val="FF0000"/>
                </a:solidFill>
              </a:rPr>
              <a:t>从根结点开始，按照</a:t>
            </a:r>
            <a:r>
              <a:rPr lang="en-US" altLang="zh-CN" dirty="0">
                <a:solidFill>
                  <a:srgbClr val="FF0000"/>
                </a:solidFill>
              </a:rPr>
              <a:t>2-3</a:t>
            </a:r>
            <a:r>
              <a:rPr lang="zh-CN" altLang="en-US" dirty="0">
                <a:solidFill>
                  <a:srgbClr val="FF0000"/>
                </a:solidFill>
              </a:rPr>
              <a:t>树定义中关键字关系，逐级向下确定待查找关键字。类似于二叉查找树，</a:t>
            </a:r>
            <a:r>
              <a:rPr lang="zh-CN" altLang="en-US" dirty="0"/>
              <a:t>要么中途比较相等找到成功，要么直到叶子层失败。</a:t>
            </a:r>
            <a:endParaRPr lang="en-US" altLang="zh-CN" dirty="0"/>
          </a:p>
          <a:p>
            <a:r>
              <a:rPr lang="en-US" altLang="zh-CN" b="0" dirty="0"/>
              <a:t>		</a:t>
            </a:r>
            <a:r>
              <a:rPr lang="zh-CN" altLang="zh-CN" b="0" dirty="0"/>
              <a:t>在图</a:t>
            </a:r>
            <a:r>
              <a:rPr lang="en-US" altLang="zh-CN" b="0" dirty="0"/>
              <a:t>8-10</a:t>
            </a:r>
            <a:r>
              <a:rPr lang="zh-CN" altLang="zh-CN" b="0" dirty="0"/>
              <a:t>中</a:t>
            </a:r>
            <a:r>
              <a:rPr lang="zh-CN" altLang="en-US" b="0" dirty="0"/>
              <a:t>查找</a:t>
            </a:r>
            <a:r>
              <a:rPr lang="en-US" altLang="zh-CN" b="0" dirty="0"/>
              <a:t>15</a:t>
            </a:r>
            <a:r>
              <a:rPr lang="zh-CN" altLang="zh-CN" b="0" dirty="0"/>
              <a:t>时，</a:t>
            </a:r>
            <a:r>
              <a:rPr lang="zh-CN" altLang="en-US" b="0" dirty="0"/>
              <a:t>先比较</a:t>
            </a:r>
            <a:r>
              <a:rPr lang="en-US" altLang="zh-CN" b="0" dirty="0"/>
              <a:t>18</a:t>
            </a:r>
            <a:r>
              <a:rPr lang="zh-CN" altLang="en-US" b="0" dirty="0"/>
              <a:t>不等且小于，则走左子树；再跟</a:t>
            </a:r>
            <a:r>
              <a:rPr lang="en-US" altLang="zh-CN" b="0" dirty="0"/>
              <a:t>12</a:t>
            </a:r>
            <a:r>
              <a:rPr lang="zh-CN" altLang="en-US" b="0" dirty="0"/>
              <a:t>比较不等且大于，则走中子树；跟</a:t>
            </a:r>
            <a:r>
              <a:rPr lang="en-US" altLang="zh-CN" b="0" dirty="0"/>
              <a:t>15</a:t>
            </a:r>
            <a:r>
              <a:rPr lang="zh-CN" altLang="en-US" b="0" dirty="0"/>
              <a:t>比较相等查找成功。</a:t>
            </a:r>
            <a:endParaRPr lang="en-US" altLang="zh-CN" b="0" dirty="0"/>
          </a:p>
          <a:p>
            <a:r>
              <a:rPr lang="en-US" altLang="zh-CN" b="0" dirty="0"/>
              <a:t>		</a:t>
            </a:r>
            <a:r>
              <a:rPr lang="zh-CN" altLang="en-US" b="0" dirty="0"/>
              <a:t>又比如查找</a:t>
            </a:r>
            <a:r>
              <a:rPr lang="en-US" altLang="zh-CN" b="0" dirty="0"/>
              <a:t>45</a:t>
            </a:r>
            <a:r>
              <a:rPr lang="zh-CN" altLang="en-US" b="0" dirty="0"/>
              <a:t>，在根结点分别与</a:t>
            </a:r>
            <a:r>
              <a:rPr lang="en-US" altLang="zh-CN" b="0" dirty="0"/>
              <a:t>18</a:t>
            </a:r>
            <a:r>
              <a:rPr lang="zh-CN" altLang="en-US" b="0" dirty="0"/>
              <a:t>和</a:t>
            </a:r>
            <a:r>
              <a:rPr lang="en-US" altLang="zh-CN" b="0" dirty="0"/>
              <a:t>33</a:t>
            </a:r>
            <a:r>
              <a:rPr lang="zh-CN" altLang="en-US" b="0" dirty="0"/>
              <a:t>不等且大于，则走右子树；再跟</a:t>
            </a:r>
            <a:r>
              <a:rPr lang="en-US" altLang="zh-CN" b="0" dirty="0"/>
              <a:t>48</a:t>
            </a:r>
            <a:r>
              <a:rPr lang="zh-CN" altLang="en-US" b="0" dirty="0"/>
              <a:t>比较不等且小于，则走左子树；再跟</a:t>
            </a:r>
            <a:r>
              <a:rPr lang="en-US" altLang="zh-CN" b="0" dirty="0"/>
              <a:t>45</a:t>
            </a:r>
            <a:r>
              <a:rPr lang="zh-CN" altLang="en-US" b="0" dirty="0"/>
              <a:t>比较相等成功</a:t>
            </a:r>
            <a:r>
              <a:rPr lang="zh-CN" altLang="zh-CN" b="0" dirty="0"/>
              <a:t>。</a:t>
            </a:r>
          </a:p>
          <a:p>
            <a:endParaRPr lang="zh-CN" altLang="en-US" dirty="0"/>
          </a:p>
        </p:txBody>
      </p:sp>
      <p:pic>
        <p:nvPicPr>
          <p:cNvPr id="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75656" y="4005064"/>
            <a:ext cx="5634278" cy="23042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1538117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268761"/>
            <a:ext cx="7560840" cy="2016224"/>
          </a:xfrm>
        </p:spPr>
        <p:txBody>
          <a:bodyPr/>
          <a:lstStyle/>
          <a:p>
            <a:r>
              <a:rPr lang="en-US" altLang="zh-CN" dirty="0">
                <a:solidFill>
                  <a:srgbClr val="FF0000"/>
                </a:solidFill>
              </a:rPr>
              <a:t>2-3</a:t>
            </a:r>
            <a:r>
              <a:rPr lang="zh-CN" altLang="zh-CN" dirty="0">
                <a:solidFill>
                  <a:srgbClr val="FF0000"/>
                </a:solidFill>
              </a:rPr>
              <a:t>树的插入的三种情况</a:t>
            </a:r>
            <a:r>
              <a:rPr lang="zh-CN" altLang="zh-CN" dirty="0"/>
              <a:t>：</a:t>
            </a:r>
          </a:p>
          <a:p>
            <a:r>
              <a:rPr lang="zh-CN" altLang="zh-CN" b="0" dirty="0"/>
              <a:t>（</a:t>
            </a:r>
            <a:r>
              <a:rPr lang="en-US" altLang="zh-CN" b="0" dirty="0"/>
              <a:t>1</a:t>
            </a:r>
            <a:r>
              <a:rPr lang="zh-CN" altLang="zh-CN" b="0" dirty="0"/>
              <a:t>）</a:t>
            </a:r>
            <a:r>
              <a:rPr lang="zh-CN" altLang="zh-CN" dirty="0">
                <a:solidFill>
                  <a:srgbClr val="FF0000"/>
                </a:solidFill>
              </a:rPr>
              <a:t>叶子结点中有空位置</a:t>
            </a:r>
            <a:r>
              <a:rPr lang="zh-CN" altLang="zh-CN" dirty="0"/>
              <a:t>，直接插入待插结点。</a:t>
            </a:r>
            <a:r>
              <a:rPr lang="zh-CN" altLang="zh-CN" b="0" dirty="0"/>
              <a:t>在图</a:t>
            </a:r>
            <a:r>
              <a:rPr lang="en-US" altLang="zh-CN" b="0" dirty="0"/>
              <a:t>8-10</a:t>
            </a:r>
            <a:r>
              <a:rPr lang="zh-CN" altLang="zh-CN" b="0" dirty="0"/>
              <a:t>中插入</a:t>
            </a:r>
            <a:r>
              <a:rPr lang="en-US" altLang="zh-CN" b="0" dirty="0"/>
              <a:t>14</a:t>
            </a:r>
            <a:r>
              <a:rPr lang="zh-CN" altLang="zh-CN" b="0" dirty="0"/>
              <a:t>时，由于</a:t>
            </a:r>
            <a:r>
              <a:rPr lang="en-US" altLang="zh-CN" b="0" dirty="0"/>
              <a:t>14</a:t>
            </a:r>
            <a:r>
              <a:rPr lang="zh-CN" altLang="zh-CN" b="0" dirty="0"/>
              <a:t>的插入位置处有一个空位置，所以直接插入</a:t>
            </a:r>
            <a:r>
              <a:rPr lang="en-US" altLang="zh-CN" b="0" dirty="0"/>
              <a:t>14</a:t>
            </a:r>
            <a:r>
              <a:rPr lang="zh-CN" altLang="zh-CN" b="0" dirty="0"/>
              <a:t>。如图</a:t>
            </a:r>
            <a:r>
              <a:rPr lang="en-US" altLang="zh-CN" b="0" dirty="0"/>
              <a:t>8-11</a:t>
            </a:r>
            <a:r>
              <a:rPr lang="zh-CN" altLang="zh-CN" b="0" dirty="0"/>
              <a:t>（</a:t>
            </a:r>
            <a:r>
              <a:rPr lang="en-US" altLang="zh-CN" b="0" dirty="0"/>
              <a:t>a</a:t>
            </a:r>
            <a:r>
              <a:rPr lang="zh-CN" altLang="zh-CN" b="0" dirty="0"/>
              <a:t>）所示。</a:t>
            </a:r>
          </a:p>
          <a:p>
            <a:endParaRPr lang="zh-CN" altLang="en-US" dirty="0"/>
          </a:p>
        </p:txBody>
      </p:sp>
      <p:pic>
        <p:nvPicPr>
          <p:cNvPr id="1638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75656" y="3429000"/>
            <a:ext cx="6048672" cy="2078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306953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9"/>
            <a:ext cx="7488832" cy="1944216"/>
          </a:xfrm>
        </p:spPr>
        <p:txBody>
          <a:bodyPr/>
          <a:lstStyle/>
          <a:p>
            <a:r>
              <a:rPr lang="zh-CN" altLang="zh-CN" b="0" dirty="0"/>
              <a:t>（</a:t>
            </a:r>
            <a:r>
              <a:rPr lang="en-US" altLang="zh-CN" b="0" dirty="0"/>
              <a:t>2</a:t>
            </a:r>
            <a:r>
              <a:rPr lang="zh-CN" altLang="zh-CN" b="0" dirty="0"/>
              <a:t>）</a:t>
            </a:r>
            <a:r>
              <a:rPr lang="zh-CN" altLang="zh-CN" dirty="0">
                <a:solidFill>
                  <a:srgbClr val="FF0000"/>
                </a:solidFill>
              </a:rPr>
              <a:t>叶子结点中已满</a:t>
            </a:r>
            <a:r>
              <a:rPr lang="zh-CN" altLang="zh-CN" b="0" dirty="0"/>
              <a:t>，此时需要将叶子结点中的中间元素提升到父结点中，并且叶子结点分裂为两个结点。如果此时父结点中有空位置，则直接插入待插元素，否则继续分裂。在图</a:t>
            </a:r>
            <a:r>
              <a:rPr lang="en-US" altLang="zh-CN" b="0" dirty="0"/>
              <a:t>8-11(a)</a:t>
            </a:r>
            <a:r>
              <a:rPr lang="zh-CN" altLang="zh-CN" b="0" dirty="0"/>
              <a:t>中插入</a:t>
            </a:r>
            <a:r>
              <a:rPr lang="en-US" altLang="zh-CN" b="0" dirty="0"/>
              <a:t>55</a:t>
            </a:r>
            <a:r>
              <a:rPr lang="zh-CN" altLang="en-US" b="0" dirty="0"/>
              <a:t>。</a:t>
            </a:r>
          </a:p>
        </p:txBody>
      </p:sp>
      <p:pic>
        <p:nvPicPr>
          <p:cNvPr id="1741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03823" y="3789040"/>
            <a:ext cx="6624736" cy="22031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496" y="2852936"/>
            <a:ext cx="3757837" cy="12911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8467796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836713"/>
            <a:ext cx="7920880" cy="1872208"/>
          </a:xfrm>
        </p:spPr>
        <p:txBody>
          <a:bodyPr>
            <a:normAutofit/>
          </a:bodyPr>
          <a:lstStyle/>
          <a:p>
            <a:r>
              <a:rPr lang="zh-CN" altLang="zh-CN" b="0" dirty="0"/>
              <a:t>（</a:t>
            </a:r>
            <a:r>
              <a:rPr lang="en-US" altLang="zh-CN" b="0" dirty="0"/>
              <a:t>3</a:t>
            </a:r>
            <a:r>
              <a:rPr lang="zh-CN" altLang="zh-CN" b="0" dirty="0"/>
              <a:t>）</a:t>
            </a:r>
            <a:r>
              <a:rPr lang="zh-CN" altLang="en-US" dirty="0">
                <a:solidFill>
                  <a:srgbClr val="FF0000"/>
                </a:solidFill>
              </a:rPr>
              <a:t>根结点分列导致树高度增加</a:t>
            </a:r>
            <a:r>
              <a:rPr lang="zh-CN" altLang="en-US" b="0" dirty="0"/>
              <a:t>。</a:t>
            </a:r>
            <a:r>
              <a:rPr lang="zh-CN" altLang="zh-CN" b="0" dirty="0"/>
              <a:t>假如在叶子结点插入一个元素后，使得上面的结点不</a:t>
            </a:r>
            <a:r>
              <a:rPr lang="zh-CN" altLang="en-US" b="0" dirty="0"/>
              <a:t>断地</a:t>
            </a:r>
            <a:r>
              <a:rPr lang="zh-CN" altLang="zh-CN" b="0" dirty="0"/>
              <a:t>分裂，最后使得根结点也</a:t>
            </a:r>
            <a:r>
              <a:rPr lang="zh-CN" altLang="en-US" b="0" dirty="0"/>
              <a:t>被</a:t>
            </a:r>
            <a:r>
              <a:rPr lang="zh-CN" altLang="zh-CN" b="0" dirty="0"/>
              <a:t>分裂，此时</a:t>
            </a:r>
            <a:r>
              <a:rPr lang="en-US" altLang="zh-CN" b="0" dirty="0"/>
              <a:t>2-3</a:t>
            </a:r>
            <a:r>
              <a:rPr lang="zh-CN" altLang="zh-CN" b="0" dirty="0"/>
              <a:t>树的高度加</a:t>
            </a:r>
            <a:r>
              <a:rPr lang="en-US" altLang="zh-CN" b="0" dirty="0"/>
              <a:t>1</a:t>
            </a:r>
            <a:r>
              <a:rPr lang="zh-CN" altLang="zh-CN" b="0" dirty="0"/>
              <a:t>。在图</a:t>
            </a:r>
            <a:r>
              <a:rPr lang="en-US" altLang="zh-CN" b="0" dirty="0"/>
              <a:t>8-10</a:t>
            </a:r>
            <a:r>
              <a:rPr lang="zh-CN" altLang="zh-CN" b="0" dirty="0"/>
              <a:t>中插入</a:t>
            </a:r>
            <a:r>
              <a:rPr lang="en-US" altLang="zh-CN" b="0" dirty="0"/>
              <a:t>21</a:t>
            </a:r>
            <a:r>
              <a:rPr lang="zh-CN" altLang="en-US" b="0" dirty="0"/>
              <a:t>和</a:t>
            </a:r>
            <a:r>
              <a:rPr lang="en-US" altLang="zh-CN" b="0" dirty="0"/>
              <a:t>19</a:t>
            </a:r>
            <a:r>
              <a:rPr lang="zh-CN" altLang="en-US" b="0" dirty="0"/>
              <a:t>后，形成图</a:t>
            </a:r>
            <a:r>
              <a:rPr lang="en-US" altLang="zh-CN" b="0" dirty="0"/>
              <a:t>8-11(c)</a:t>
            </a:r>
            <a:r>
              <a:rPr lang="zh-CN" altLang="en-US" b="0" dirty="0"/>
              <a:t>。</a:t>
            </a:r>
          </a:p>
        </p:txBody>
      </p:sp>
      <p:pic>
        <p:nvPicPr>
          <p:cNvPr id="1843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56333" y="2924944"/>
            <a:ext cx="6700043" cy="29616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1132127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3B481FC-961B-4F9A-826A-BC841CFEA938}"/>
              </a:ext>
            </a:extLst>
          </p:cNvPr>
          <p:cNvSpPr>
            <a:spLocks noGrp="1"/>
          </p:cNvSpPr>
          <p:nvPr>
            <p:ph type="dt" sz="half" idx="10"/>
          </p:nvPr>
        </p:nvSpPr>
        <p:spPr/>
        <p:txBody>
          <a:bodyPr/>
          <a:lstStyle/>
          <a:p>
            <a:fld id="{9A6B2991-BBE5-4E69-A281-1A8B0AE9CDD7}" type="datetime1">
              <a:rPr lang="zh-CN" altLang="en-US" smtClean="0"/>
              <a:pPr/>
              <a:t>2025/6/3</a:t>
            </a:fld>
            <a:endParaRPr lang="zh-CN" altLang="en-US"/>
          </a:p>
        </p:txBody>
      </p:sp>
      <p:pic>
        <p:nvPicPr>
          <p:cNvPr id="3" name="Picture 2">
            <a:extLst>
              <a:ext uri="{FF2B5EF4-FFF2-40B4-BE49-F238E27FC236}">
                <a16:creationId xmlns:a16="http://schemas.microsoft.com/office/drawing/2014/main" id="{072CDD4B-92B3-4CCE-97CD-8120120B378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56333" y="3419662"/>
            <a:ext cx="7677446" cy="33937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2">
            <a:extLst>
              <a:ext uri="{FF2B5EF4-FFF2-40B4-BE49-F238E27FC236}">
                <a16:creationId xmlns:a16="http://schemas.microsoft.com/office/drawing/2014/main" id="{061DBB02-2FC3-47A2-A092-60F6E8F869E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9808" y="-1"/>
            <a:ext cx="8122672" cy="33219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9230349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8.5.2 </a:t>
            </a:r>
            <a:r>
              <a:rPr lang="en-US" altLang="zh-CN" b="1" dirty="0">
                <a:solidFill>
                  <a:srgbClr val="FF0000"/>
                </a:solidFill>
              </a:rPr>
              <a:t>B</a:t>
            </a:r>
            <a:r>
              <a:rPr lang="zh-CN" altLang="zh-CN" b="1" dirty="0">
                <a:solidFill>
                  <a:srgbClr val="FF0000"/>
                </a:solidFill>
              </a:rPr>
              <a:t>树</a:t>
            </a:r>
            <a:r>
              <a:rPr lang="en-US" altLang="zh-CN" b="1" dirty="0">
                <a:solidFill>
                  <a:srgbClr val="FF0000"/>
                </a:solidFill>
              </a:rPr>
              <a:t>(</a:t>
            </a:r>
            <a:r>
              <a:rPr lang="zh-CN" altLang="en-US" b="1" dirty="0">
                <a:solidFill>
                  <a:srgbClr val="FF0000"/>
                </a:solidFill>
              </a:rPr>
              <a:t>又称</a:t>
            </a:r>
            <a:r>
              <a:rPr lang="en-US" altLang="zh-CN" b="1" dirty="0">
                <a:solidFill>
                  <a:srgbClr val="FF0000"/>
                </a:solidFill>
              </a:rPr>
              <a:t>B_</a:t>
            </a:r>
            <a:r>
              <a:rPr lang="zh-CN" altLang="en-US" b="1" dirty="0">
                <a:solidFill>
                  <a:srgbClr val="FF0000"/>
                </a:solidFill>
              </a:rPr>
              <a:t>树</a:t>
            </a:r>
            <a:r>
              <a:rPr lang="en-US" altLang="zh-CN" b="1" dirty="0">
                <a:solidFill>
                  <a:srgbClr val="FF0000"/>
                </a:solidFill>
              </a:rPr>
              <a:t>)</a:t>
            </a:r>
            <a:endParaRPr lang="zh-CN" altLang="zh-CN" dirty="0">
              <a:solidFill>
                <a:srgbClr val="FF0000"/>
              </a:solidFill>
            </a:endParaRPr>
          </a:p>
        </p:txBody>
      </p:sp>
      <p:sp>
        <p:nvSpPr>
          <p:cNvPr id="3" name="内容占位符 2"/>
          <p:cNvSpPr>
            <a:spLocks noGrp="1"/>
          </p:cNvSpPr>
          <p:nvPr>
            <p:ph idx="1"/>
          </p:nvPr>
        </p:nvSpPr>
        <p:spPr>
          <a:xfrm>
            <a:off x="611560" y="1628800"/>
            <a:ext cx="8352928" cy="4608512"/>
          </a:xfrm>
        </p:spPr>
        <p:txBody>
          <a:bodyPr>
            <a:normAutofit lnSpcReduction="10000"/>
          </a:bodyPr>
          <a:lstStyle/>
          <a:p>
            <a:r>
              <a:rPr lang="en-US" altLang="zh-CN" b="0" dirty="0"/>
              <a:t>	</a:t>
            </a:r>
            <a:r>
              <a:rPr lang="en-US" altLang="zh-CN" dirty="0"/>
              <a:t>2-3</a:t>
            </a:r>
            <a:r>
              <a:rPr lang="zh-CN" altLang="zh-CN" dirty="0"/>
              <a:t>树是</a:t>
            </a:r>
            <a:r>
              <a:rPr lang="en-US" altLang="zh-CN" dirty="0"/>
              <a:t>B</a:t>
            </a:r>
            <a:r>
              <a:rPr lang="zh-CN" altLang="zh-CN" dirty="0"/>
              <a:t>树的一种特殊情况。</a:t>
            </a:r>
          </a:p>
          <a:p>
            <a:r>
              <a:rPr lang="en-US" altLang="zh-CN" b="0" dirty="0"/>
              <a:t> 	</a:t>
            </a:r>
            <a:r>
              <a:rPr lang="en-US" altLang="zh-CN" dirty="0">
                <a:solidFill>
                  <a:srgbClr val="FF0000"/>
                </a:solidFill>
              </a:rPr>
              <a:t>B</a:t>
            </a:r>
            <a:r>
              <a:rPr lang="zh-CN" altLang="zh-CN" dirty="0">
                <a:solidFill>
                  <a:srgbClr val="FF0000"/>
                </a:solidFill>
              </a:rPr>
              <a:t>树是一种平衡的多路搜索树</a:t>
            </a:r>
            <a:r>
              <a:rPr lang="zh-CN" altLang="zh-CN" b="0" dirty="0"/>
              <a:t>，它在文件系统中非常有用。</a:t>
            </a:r>
            <a:endParaRPr lang="en-US" altLang="zh-CN" b="0" dirty="0"/>
          </a:p>
          <a:p>
            <a:r>
              <a:rPr lang="en-US" altLang="zh-CN" b="0" dirty="0">
                <a:solidFill>
                  <a:srgbClr val="FF0000"/>
                </a:solidFill>
              </a:rPr>
              <a:t>	B</a:t>
            </a:r>
            <a:r>
              <a:rPr lang="zh-CN" altLang="en-US" b="0" dirty="0">
                <a:solidFill>
                  <a:srgbClr val="FF0000"/>
                </a:solidFill>
              </a:rPr>
              <a:t>树的定义如下：</a:t>
            </a:r>
            <a:endParaRPr lang="zh-CN" altLang="zh-CN" b="0" dirty="0">
              <a:solidFill>
                <a:srgbClr val="FF0000"/>
              </a:solidFill>
            </a:endParaRPr>
          </a:p>
          <a:p>
            <a:r>
              <a:rPr lang="en-US" altLang="zh-CN" b="0" dirty="0"/>
              <a:t>	</a:t>
            </a:r>
            <a:r>
              <a:rPr lang="zh-CN" altLang="zh-CN" b="0" dirty="0"/>
              <a:t>一棵</a:t>
            </a:r>
            <a:r>
              <a:rPr lang="en-US" altLang="zh-CN" b="0" dirty="0"/>
              <a:t>m</a:t>
            </a:r>
            <a:r>
              <a:rPr lang="zh-CN" altLang="zh-CN" b="0" dirty="0"/>
              <a:t>阶</a:t>
            </a:r>
            <a:r>
              <a:rPr lang="en-US" altLang="zh-CN" b="0" dirty="0"/>
              <a:t>B</a:t>
            </a:r>
            <a:r>
              <a:rPr lang="en-US" altLang="zh-CN" b="0" baseline="-25000" dirty="0"/>
              <a:t>-</a:t>
            </a:r>
            <a:r>
              <a:rPr lang="zh-CN" altLang="zh-CN" b="0" dirty="0"/>
              <a:t>树，或者是空树，或者是满足下列性质</a:t>
            </a:r>
            <a:r>
              <a:rPr lang="zh-CN" altLang="en-US" b="0" dirty="0"/>
              <a:t>的树</a:t>
            </a:r>
            <a:r>
              <a:rPr lang="zh-CN" altLang="zh-CN" b="0" dirty="0"/>
              <a:t>：</a:t>
            </a:r>
          </a:p>
          <a:p>
            <a:r>
              <a:rPr lang="zh-CN" altLang="zh-CN" b="0" dirty="0"/>
              <a:t>（</a:t>
            </a:r>
            <a:r>
              <a:rPr lang="en-US" altLang="zh-CN" b="0" dirty="0"/>
              <a:t>1</a:t>
            </a:r>
            <a:r>
              <a:rPr lang="zh-CN" altLang="zh-CN" b="0" dirty="0"/>
              <a:t>）树中每个结点</a:t>
            </a:r>
            <a:r>
              <a:rPr lang="zh-CN" altLang="zh-CN" b="0" dirty="0">
                <a:solidFill>
                  <a:srgbClr val="FF0000"/>
                </a:solidFill>
              </a:rPr>
              <a:t>至多有</a:t>
            </a:r>
            <a:r>
              <a:rPr lang="en-US" altLang="zh-CN" b="0" dirty="0">
                <a:solidFill>
                  <a:srgbClr val="FF0000"/>
                </a:solidFill>
              </a:rPr>
              <a:t>m</a:t>
            </a:r>
            <a:r>
              <a:rPr lang="zh-CN" altLang="zh-CN" b="0" dirty="0">
                <a:solidFill>
                  <a:srgbClr val="FF0000"/>
                </a:solidFill>
              </a:rPr>
              <a:t>棵子树</a:t>
            </a:r>
            <a:r>
              <a:rPr lang="zh-CN" altLang="zh-CN" b="0" dirty="0"/>
              <a:t>，即每个结点中</a:t>
            </a:r>
            <a:r>
              <a:rPr lang="zh-CN" altLang="zh-CN" b="0" dirty="0">
                <a:solidFill>
                  <a:srgbClr val="FF0000"/>
                </a:solidFill>
              </a:rPr>
              <a:t>至多含有</a:t>
            </a:r>
            <a:r>
              <a:rPr lang="en-US" altLang="zh-CN" b="0" dirty="0">
                <a:solidFill>
                  <a:srgbClr val="FF0000"/>
                </a:solidFill>
              </a:rPr>
              <a:t>m-1</a:t>
            </a:r>
            <a:r>
              <a:rPr lang="zh-CN" altLang="zh-CN" b="0" dirty="0">
                <a:solidFill>
                  <a:srgbClr val="FF0000"/>
                </a:solidFill>
              </a:rPr>
              <a:t>个关键字</a:t>
            </a:r>
            <a:r>
              <a:rPr lang="zh-CN" altLang="zh-CN" b="0" dirty="0"/>
              <a:t>；</a:t>
            </a:r>
          </a:p>
          <a:p>
            <a:r>
              <a:rPr lang="zh-CN" altLang="zh-CN" b="0" dirty="0"/>
              <a:t>（</a:t>
            </a:r>
            <a:r>
              <a:rPr lang="en-US" altLang="zh-CN" b="0" dirty="0"/>
              <a:t>2</a:t>
            </a:r>
            <a:r>
              <a:rPr lang="zh-CN" altLang="zh-CN" b="0" dirty="0"/>
              <a:t>）如果根结点不是叶子结点，则</a:t>
            </a:r>
            <a:r>
              <a:rPr lang="zh-CN" altLang="en-US" b="0" dirty="0">
                <a:solidFill>
                  <a:srgbClr val="FF0000"/>
                </a:solidFill>
              </a:rPr>
              <a:t>根结点</a:t>
            </a:r>
            <a:r>
              <a:rPr lang="zh-CN" altLang="zh-CN" b="0" dirty="0">
                <a:solidFill>
                  <a:srgbClr val="FF0000"/>
                </a:solidFill>
              </a:rPr>
              <a:t>至少含有两棵子树</a:t>
            </a:r>
            <a:r>
              <a:rPr lang="zh-CN" altLang="zh-CN" b="0" dirty="0"/>
              <a:t>；</a:t>
            </a:r>
          </a:p>
          <a:p>
            <a:r>
              <a:rPr lang="zh-CN" altLang="zh-CN" b="0" dirty="0"/>
              <a:t>（</a:t>
            </a:r>
            <a:r>
              <a:rPr lang="en-US" altLang="zh-CN" b="0" dirty="0"/>
              <a:t>3</a:t>
            </a:r>
            <a:r>
              <a:rPr lang="zh-CN" altLang="zh-CN" b="0" dirty="0"/>
              <a:t>）除根结点和叶子结点之外的所有非终端结点，</a:t>
            </a:r>
            <a:r>
              <a:rPr lang="zh-CN" altLang="zh-CN" b="0" dirty="0">
                <a:solidFill>
                  <a:srgbClr val="FF0000"/>
                </a:solidFill>
              </a:rPr>
              <a:t>每个结点</a:t>
            </a:r>
            <a:r>
              <a:rPr lang="zh-CN" altLang="en-US" b="0" dirty="0">
                <a:solidFill>
                  <a:srgbClr val="FF0000"/>
                </a:solidFill>
              </a:rPr>
              <a:t>至少</a:t>
            </a:r>
            <a:r>
              <a:rPr lang="zh-CN" altLang="zh-CN" b="0" dirty="0">
                <a:solidFill>
                  <a:srgbClr val="FF0000"/>
                </a:solidFill>
              </a:rPr>
              <a:t>有</a:t>
            </a:r>
            <a:r>
              <a:rPr lang="en-US" altLang="zh-CN" b="0" dirty="0">
                <a:solidFill>
                  <a:srgbClr val="FF0000"/>
                </a:solidFill>
              </a:rPr>
              <a:t>⌈m/2⌉</a:t>
            </a:r>
            <a:r>
              <a:rPr lang="zh-CN" altLang="zh-CN" b="0" dirty="0">
                <a:solidFill>
                  <a:srgbClr val="FF0000"/>
                </a:solidFill>
              </a:rPr>
              <a:t>棵子树</a:t>
            </a:r>
            <a:r>
              <a:rPr lang="zh-CN" altLang="en-US" b="0" dirty="0">
                <a:solidFill>
                  <a:srgbClr val="FF0000"/>
                </a:solidFill>
              </a:rPr>
              <a:t>，有</a:t>
            </a:r>
            <a:r>
              <a:rPr lang="en-US" altLang="zh-CN" b="0" dirty="0">
                <a:solidFill>
                  <a:srgbClr val="FF0000"/>
                </a:solidFill>
              </a:rPr>
              <a:t>⌈m/2⌉ -1</a:t>
            </a:r>
            <a:r>
              <a:rPr lang="zh-CN" altLang="en-US" b="0" dirty="0">
                <a:solidFill>
                  <a:srgbClr val="FF0000"/>
                </a:solidFill>
              </a:rPr>
              <a:t>个关键字</a:t>
            </a:r>
            <a:r>
              <a:rPr lang="zh-CN" altLang="zh-CN" b="0" dirty="0"/>
              <a:t>；</a:t>
            </a:r>
          </a:p>
          <a:p>
            <a:endParaRPr lang="zh-CN" altLang="en-US" dirty="0"/>
          </a:p>
        </p:txBody>
      </p:sp>
    </p:spTree>
    <p:extLst>
      <p:ext uri="{BB962C8B-B14F-4D97-AF65-F5344CB8AC3E}">
        <p14:creationId xmlns:p14="http://schemas.microsoft.com/office/powerpoint/2010/main" val="107014382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7704856" cy="5256584"/>
          </a:xfrm>
        </p:spPr>
        <p:txBody>
          <a:bodyPr>
            <a:normAutofit/>
          </a:bodyPr>
          <a:lstStyle/>
          <a:p>
            <a:r>
              <a:rPr lang="zh-CN" altLang="zh-CN" b="0" dirty="0"/>
              <a:t>（</a:t>
            </a:r>
            <a:r>
              <a:rPr lang="en-US" altLang="zh-CN" b="0" dirty="0"/>
              <a:t>4</a:t>
            </a:r>
            <a:r>
              <a:rPr lang="zh-CN" altLang="zh-CN" b="0" dirty="0"/>
              <a:t>）</a:t>
            </a:r>
            <a:r>
              <a:rPr lang="zh-CN" altLang="zh-CN" b="0" dirty="0">
                <a:solidFill>
                  <a:srgbClr val="FF0000"/>
                </a:solidFill>
              </a:rPr>
              <a:t>所有的非终结点中包含下列信息数据：</a:t>
            </a:r>
          </a:p>
          <a:p>
            <a:r>
              <a:rPr lang="en-US" altLang="zh-CN" b="0" dirty="0"/>
              <a:t>	</a:t>
            </a:r>
            <a:r>
              <a:rPr lang="zh-CN" altLang="zh-CN" b="0" dirty="0">
                <a:solidFill>
                  <a:srgbClr val="FF0000"/>
                </a:solidFill>
              </a:rPr>
              <a:t>（</a:t>
            </a:r>
            <a:r>
              <a:rPr lang="en-US" altLang="zh-CN" b="0" dirty="0">
                <a:solidFill>
                  <a:srgbClr val="FF0000"/>
                </a:solidFill>
              </a:rPr>
              <a:t>n,P</a:t>
            </a:r>
            <a:r>
              <a:rPr lang="en-US" altLang="zh-CN" b="0" baseline="-25000" dirty="0">
                <a:solidFill>
                  <a:srgbClr val="FF0000"/>
                </a:solidFill>
              </a:rPr>
              <a:t>0</a:t>
            </a:r>
            <a:r>
              <a:rPr lang="en-US" altLang="zh-CN" b="0" dirty="0">
                <a:solidFill>
                  <a:srgbClr val="FF0000"/>
                </a:solidFill>
              </a:rPr>
              <a:t>,K</a:t>
            </a:r>
            <a:r>
              <a:rPr lang="en-US" altLang="zh-CN" b="0" baseline="-25000" dirty="0">
                <a:solidFill>
                  <a:srgbClr val="FF0000"/>
                </a:solidFill>
              </a:rPr>
              <a:t>1</a:t>
            </a:r>
            <a:r>
              <a:rPr lang="en-US" altLang="zh-CN" b="0" dirty="0">
                <a:solidFill>
                  <a:srgbClr val="FF0000"/>
                </a:solidFill>
              </a:rPr>
              <a:t>,P</a:t>
            </a:r>
            <a:r>
              <a:rPr lang="en-US" altLang="zh-CN" b="0" baseline="-25000" dirty="0">
                <a:solidFill>
                  <a:srgbClr val="FF0000"/>
                </a:solidFill>
              </a:rPr>
              <a:t>1</a:t>
            </a:r>
            <a:r>
              <a:rPr lang="en-US" altLang="zh-CN" b="0" dirty="0">
                <a:solidFill>
                  <a:srgbClr val="FF0000"/>
                </a:solidFill>
              </a:rPr>
              <a:t>,K</a:t>
            </a:r>
            <a:r>
              <a:rPr lang="en-US" altLang="zh-CN" b="0" baseline="-25000" dirty="0">
                <a:solidFill>
                  <a:srgbClr val="FF0000"/>
                </a:solidFill>
              </a:rPr>
              <a:t>2</a:t>
            </a:r>
            <a:r>
              <a:rPr lang="en-US" altLang="zh-CN" b="0" dirty="0">
                <a:solidFill>
                  <a:srgbClr val="FF0000"/>
                </a:solidFill>
              </a:rPr>
              <a:t>,P</a:t>
            </a:r>
            <a:r>
              <a:rPr lang="en-US" altLang="zh-CN" b="0" baseline="-25000" dirty="0">
                <a:solidFill>
                  <a:srgbClr val="FF0000"/>
                </a:solidFill>
              </a:rPr>
              <a:t>2</a:t>
            </a:r>
            <a:r>
              <a:rPr lang="en-US" altLang="zh-CN" b="0" dirty="0">
                <a:solidFill>
                  <a:srgbClr val="FF0000"/>
                </a:solidFill>
              </a:rPr>
              <a:t>,...,</a:t>
            </a:r>
            <a:r>
              <a:rPr lang="en-US" altLang="zh-CN" b="0" dirty="0" err="1">
                <a:solidFill>
                  <a:srgbClr val="FF0000"/>
                </a:solidFill>
              </a:rPr>
              <a:t>K</a:t>
            </a:r>
            <a:r>
              <a:rPr lang="en-US" altLang="zh-CN" b="0" baseline="-25000" dirty="0" err="1">
                <a:solidFill>
                  <a:srgbClr val="FF0000"/>
                </a:solidFill>
              </a:rPr>
              <a:t>n</a:t>
            </a:r>
            <a:r>
              <a:rPr lang="en-US" altLang="zh-CN" b="0" dirty="0" err="1">
                <a:solidFill>
                  <a:srgbClr val="FF0000"/>
                </a:solidFill>
              </a:rPr>
              <a:t>,P</a:t>
            </a:r>
            <a:r>
              <a:rPr lang="en-US" altLang="zh-CN" b="0" baseline="-25000" dirty="0" err="1">
                <a:solidFill>
                  <a:srgbClr val="FF0000"/>
                </a:solidFill>
              </a:rPr>
              <a:t>n</a:t>
            </a:r>
            <a:r>
              <a:rPr lang="en-US" altLang="zh-CN" b="0" dirty="0">
                <a:solidFill>
                  <a:srgbClr val="FF0000"/>
                </a:solidFill>
              </a:rPr>
              <a:t>)</a:t>
            </a:r>
            <a:endParaRPr lang="zh-CN" altLang="zh-CN" b="0" dirty="0">
              <a:solidFill>
                <a:srgbClr val="FF0000"/>
              </a:solidFill>
            </a:endParaRPr>
          </a:p>
          <a:p>
            <a:r>
              <a:rPr lang="en-US" altLang="zh-CN" b="0" dirty="0"/>
              <a:t>	</a:t>
            </a:r>
            <a:r>
              <a:rPr lang="zh-CN" altLang="zh-CN" b="0" dirty="0"/>
              <a:t>其中：</a:t>
            </a:r>
            <a:r>
              <a:rPr lang="en-US" altLang="zh-CN" b="0" dirty="0"/>
              <a:t>K</a:t>
            </a:r>
            <a:r>
              <a:rPr lang="en-US" altLang="zh-CN" b="0" baseline="-25000" dirty="0"/>
              <a:t>i</a:t>
            </a:r>
            <a:r>
              <a:rPr lang="en-US" altLang="zh-CN" b="0" dirty="0"/>
              <a:t>(</a:t>
            </a:r>
            <a:r>
              <a:rPr lang="en-US" altLang="zh-CN" b="0" dirty="0" err="1"/>
              <a:t>i</a:t>
            </a:r>
            <a:r>
              <a:rPr lang="en-US" altLang="zh-CN" b="0" dirty="0"/>
              <a:t>=1,...,n)</a:t>
            </a:r>
            <a:r>
              <a:rPr lang="zh-CN" altLang="zh-CN" b="0" dirty="0"/>
              <a:t>为关键字，并且</a:t>
            </a:r>
            <a:r>
              <a:rPr lang="en-US" altLang="zh-CN" b="0" dirty="0"/>
              <a:t>K</a:t>
            </a:r>
            <a:r>
              <a:rPr lang="en-US" altLang="zh-CN" b="0" baseline="-25000" dirty="0"/>
              <a:t>i</a:t>
            </a:r>
            <a:r>
              <a:rPr lang="en-US" altLang="zh-CN" b="0" dirty="0"/>
              <a:t>&lt;K</a:t>
            </a:r>
            <a:r>
              <a:rPr lang="en-US" altLang="zh-CN" b="0" baseline="-25000" dirty="0"/>
              <a:t>i+1</a:t>
            </a:r>
            <a:r>
              <a:rPr lang="en-US" altLang="zh-CN" b="0" dirty="0"/>
              <a:t>(</a:t>
            </a:r>
            <a:r>
              <a:rPr lang="en-US" altLang="zh-CN" b="0" dirty="0" err="1"/>
              <a:t>i</a:t>
            </a:r>
            <a:r>
              <a:rPr lang="en-US" altLang="zh-CN" b="0" dirty="0"/>
              <a:t>=1,...,n-1)</a:t>
            </a:r>
            <a:r>
              <a:rPr lang="zh-CN" altLang="zh-CN" b="0" dirty="0"/>
              <a:t>；</a:t>
            </a:r>
            <a:r>
              <a:rPr lang="en-US" altLang="zh-CN" b="0" dirty="0"/>
              <a:t>P</a:t>
            </a:r>
            <a:r>
              <a:rPr lang="en-US" altLang="zh-CN" b="0" baseline="-25000" dirty="0"/>
              <a:t>i</a:t>
            </a:r>
            <a:r>
              <a:rPr lang="en-US" altLang="zh-CN" b="0" dirty="0"/>
              <a:t>(</a:t>
            </a:r>
            <a:r>
              <a:rPr lang="en-US" altLang="zh-CN" b="0" dirty="0" err="1"/>
              <a:t>i</a:t>
            </a:r>
            <a:r>
              <a:rPr lang="en-US" altLang="zh-CN" b="0" dirty="0"/>
              <a:t>=0,...,n)</a:t>
            </a:r>
            <a:r>
              <a:rPr lang="zh-CN" altLang="zh-CN" b="0" dirty="0"/>
              <a:t>为指向子树根结点的指针，且指针</a:t>
            </a:r>
            <a:r>
              <a:rPr lang="en-US" altLang="zh-CN" b="0" dirty="0"/>
              <a:t>P</a:t>
            </a:r>
            <a:r>
              <a:rPr lang="en-US" altLang="zh-CN" b="0" baseline="-25000" dirty="0"/>
              <a:t>i-1</a:t>
            </a:r>
            <a:r>
              <a:rPr lang="zh-CN" altLang="zh-CN" b="0" dirty="0"/>
              <a:t>所指子树中所有结点的关键字均小于</a:t>
            </a:r>
            <a:r>
              <a:rPr lang="en-US" altLang="zh-CN" b="0" dirty="0"/>
              <a:t>K</a:t>
            </a:r>
            <a:r>
              <a:rPr lang="en-US" altLang="zh-CN" b="0" baseline="-25000" dirty="0"/>
              <a:t>i</a:t>
            </a:r>
            <a:r>
              <a:rPr lang="en-US" altLang="zh-CN" b="0" dirty="0"/>
              <a:t>(</a:t>
            </a:r>
            <a:r>
              <a:rPr lang="en-US" altLang="zh-CN" b="0" dirty="0" err="1"/>
              <a:t>i</a:t>
            </a:r>
            <a:r>
              <a:rPr lang="en-US" altLang="zh-CN" b="0" dirty="0"/>
              <a:t>=1,...n)</a:t>
            </a:r>
            <a:r>
              <a:rPr lang="zh-CN" altLang="zh-CN" b="0" dirty="0"/>
              <a:t>，</a:t>
            </a:r>
            <a:r>
              <a:rPr lang="en-US" altLang="zh-CN" b="0" dirty="0" err="1"/>
              <a:t>P</a:t>
            </a:r>
            <a:r>
              <a:rPr lang="en-US" altLang="zh-CN" b="0" baseline="-25000" dirty="0" err="1"/>
              <a:t>n</a:t>
            </a:r>
            <a:r>
              <a:rPr lang="zh-CN" altLang="zh-CN" b="0" dirty="0"/>
              <a:t>所指子树中所有结点的关键字均大于</a:t>
            </a:r>
            <a:r>
              <a:rPr lang="en-US" altLang="zh-CN" b="0" dirty="0" err="1"/>
              <a:t>K</a:t>
            </a:r>
            <a:r>
              <a:rPr lang="en-US" altLang="zh-CN" b="0" baseline="-25000" dirty="0" err="1"/>
              <a:t>n</a:t>
            </a:r>
            <a:r>
              <a:rPr lang="zh-CN" altLang="zh-CN" b="0" dirty="0"/>
              <a:t>，</a:t>
            </a:r>
            <a:r>
              <a:rPr lang="en-US" altLang="zh-CN" b="0" dirty="0">
                <a:solidFill>
                  <a:srgbClr val="FF0000"/>
                </a:solidFill>
              </a:rPr>
              <a:t>n(⌈m/2⌉-1≤n≤m-1)</a:t>
            </a:r>
            <a:r>
              <a:rPr lang="zh-CN" altLang="zh-CN" b="0" dirty="0">
                <a:solidFill>
                  <a:srgbClr val="FF0000"/>
                </a:solidFill>
              </a:rPr>
              <a:t>为关键字的个数（或</a:t>
            </a:r>
            <a:r>
              <a:rPr lang="en-US" altLang="zh-CN" b="0" dirty="0">
                <a:solidFill>
                  <a:srgbClr val="FF0000"/>
                </a:solidFill>
              </a:rPr>
              <a:t>n+1</a:t>
            </a:r>
            <a:r>
              <a:rPr lang="zh-CN" altLang="zh-CN" b="0" dirty="0">
                <a:solidFill>
                  <a:srgbClr val="FF0000"/>
                </a:solidFill>
              </a:rPr>
              <a:t>为子树的个数）</a:t>
            </a:r>
            <a:r>
              <a:rPr lang="zh-CN" altLang="zh-CN" b="0" dirty="0"/>
              <a:t>；</a:t>
            </a:r>
          </a:p>
          <a:p>
            <a:r>
              <a:rPr lang="zh-CN" altLang="zh-CN" b="0" dirty="0"/>
              <a:t>（</a:t>
            </a:r>
            <a:r>
              <a:rPr lang="en-US" altLang="zh-CN" b="0" dirty="0"/>
              <a:t>5</a:t>
            </a:r>
            <a:r>
              <a:rPr lang="zh-CN" altLang="zh-CN" b="0" dirty="0"/>
              <a:t>）</a:t>
            </a:r>
            <a:r>
              <a:rPr lang="zh-CN" altLang="zh-CN" b="0" dirty="0">
                <a:solidFill>
                  <a:srgbClr val="FF0000"/>
                </a:solidFill>
              </a:rPr>
              <a:t>所有的叶子结点都出现在同一层次上，并且不带信息</a:t>
            </a:r>
            <a:r>
              <a:rPr lang="zh-CN" altLang="zh-CN" b="0" dirty="0"/>
              <a:t>（可以看作是外部结点或查找失败的结点，实际上这些结点不存在，指向这些结点的指针为空）。</a:t>
            </a:r>
          </a:p>
          <a:p>
            <a:endParaRPr lang="zh-CN" altLang="en-US" dirty="0"/>
          </a:p>
        </p:txBody>
      </p:sp>
    </p:spTree>
    <p:extLst>
      <p:ext uri="{BB962C8B-B14F-4D97-AF65-F5344CB8AC3E}">
        <p14:creationId xmlns:p14="http://schemas.microsoft.com/office/powerpoint/2010/main" val="105271480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836712"/>
            <a:ext cx="8568952" cy="2592288"/>
          </a:xfrm>
        </p:spPr>
        <p:txBody>
          <a:bodyPr>
            <a:normAutofit/>
          </a:bodyPr>
          <a:lstStyle/>
          <a:p>
            <a:r>
              <a:rPr lang="en-US" altLang="zh-CN" sz="2000" b="0" dirty="0"/>
              <a:t>	</a:t>
            </a:r>
            <a:r>
              <a:rPr lang="zh-CN" altLang="zh-CN" sz="2000" b="0" dirty="0">
                <a:solidFill>
                  <a:srgbClr val="FF0000"/>
                </a:solidFill>
              </a:rPr>
              <a:t>在</a:t>
            </a:r>
            <a:r>
              <a:rPr lang="en-US" altLang="zh-CN" sz="2000" b="0" dirty="0">
                <a:solidFill>
                  <a:srgbClr val="FF0000"/>
                </a:solidFill>
              </a:rPr>
              <a:t>B</a:t>
            </a:r>
            <a:r>
              <a:rPr lang="en-US" altLang="zh-CN" sz="2000" b="0" baseline="-25000" dirty="0">
                <a:solidFill>
                  <a:srgbClr val="FF0000"/>
                </a:solidFill>
              </a:rPr>
              <a:t>-</a:t>
            </a:r>
            <a:r>
              <a:rPr lang="zh-CN" altLang="zh-CN" sz="2000" b="0" dirty="0">
                <a:solidFill>
                  <a:srgbClr val="FF0000"/>
                </a:solidFill>
              </a:rPr>
              <a:t>树中，每个结点内的关键字从小到大有序排列</a:t>
            </a:r>
            <a:r>
              <a:rPr lang="zh-CN" altLang="zh-CN" sz="2000" b="0" dirty="0"/>
              <a:t>。</a:t>
            </a:r>
            <a:endParaRPr lang="en-US" altLang="zh-CN" sz="2000" b="0" dirty="0"/>
          </a:p>
          <a:p>
            <a:r>
              <a:rPr lang="en-US" altLang="zh-CN" sz="2000" b="0" dirty="0"/>
              <a:t>	</a:t>
            </a:r>
            <a:r>
              <a:rPr lang="zh-CN" altLang="en-US" sz="2000" b="0" dirty="0"/>
              <a:t>如</a:t>
            </a:r>
            <a:r>
              <a:rPr lang="zh-CN" altLang="zh-CN" sz="2000" b="0" dirty="0"/>
              <a:t>图</a:t>
            </a:r>
            <a:r>
              <a:rPr lang="en-US" altLang="zh-CN" sz="2000" b="0" dirty="0"/>
              <a:t>8-12</a:t>
            </a:r>
            <a:r>
              <a:rPr lang="zh-CN" altLang="zh-CN" sz="2000" b="0" dirty="0"/>
              <a:t>是一棵</a:t>
            </a:r>
            <a:r>
              <a:rPr lang="en-US" altLang="zh-CN" sz="2000" b="0" dirty="0"/>
              <a:t>4</a:t>
            </a:r>
            <a:r>
              <a:rPr lang="zh-CN" altLang="zh-CN" sz="2000" b="0" dirty="0"/>
              <a:t>阶的</a:t>
            </a:r>
            <a:r>
              <a:rPr lang="en-US" altLang="zh-CN" sz="2000" b="0" dirty="0"/>
              <a:t>B</a:t>
            </a:r>
            <a:r>
              <a:rPr lang="en-US" altLang="zh-CN" sz="2000" b="0" baseline="-25000" dirty="0"/>
              <a:t>-</a:t>
            </a:r>
            <a:r>
              <a:rPr lang="zh-CN" altLang="zh-CN" sz="2000" b="0" dirty="0"/>
              <a:t>树，所有终端结点都在同一层上。该</a:t>
            </a:r>
            <a:r>
              <a:rPr lang="en-US" altLang="zh-CN" sz="2000" b="0" dirty="0"/>
              <a:t>B</a:t>
            </a:r>
            <a:r>
              <a:rPr lang="en-US" altLang="zh-CN" sz="2000" b="0" baseline="-25000" dirty="0"/>
              <a:t>-</a:t>
            </a:r>
            <a:r>
              <a:rPr lang="zh-CN" altLang="zh-CN" sz="2000" b="0" dirty="0"/>
              <a:t>树的每个结点（除根和终端结点之外）的孩子结点的个数在</a:t>
            </a:r>
            <a:r>
              <a:rPr lang="en-US" altLang="zh-CN" sz="2000" b="0" dirty="0"/>
              <a:t>⌈4/2⌉</a:t>
            </a:r>
            <a:r>
              <a:rPr lang="zh-CN" altLang="zh-CN" sz="2000" b="0" dirty="0"/>
              <a:t>和</a:t>
            </a:r>
            <a:r>
              <a:rPr lang="en-US" altLang="zh-CN" sz="2000" b="0" dirty="0"/>
              <a:t>4</a:t>
            </a:r>
            <a:r>
              <a:rPr lang="zh-CN" altLang="zh-CN" sz="2000" b="0" dirty="0"/>
              <a:t>之间，因此每个非终端结点可以包含</a:t>
            </a:r>
            <a:r>
              <a:rPr lang="en-US" altLang="zh-CN" sz="2000" b="0" dirty="0"/>
              <a:t>1</a:t>
            </a:r>
            <a:r>
              <a:rPr lang="zh-CN" altLang="zh-CN" sz="2000" b="0" dirty="0"/>
              <a:t>或</a:t>
            </a:r>
            <a:r>
              <a:rPr lang="en-US" altLang="zh-CN" sz="2000" b="0" dirty="0"/>
              <a:t>2</a:t>
            </a:r>
            <a:r>
              <a:rPr lang="zh-CN" altLang="zh-CN" sz="2000" b="0" dirty="0"/>
              <a:t>或</a:t>
            </a:r>
            <a:r>
              <a:rPr lang="en-US" altLang="zh-CN" sz="2000" b="0" dirty="0"/>
              <a:t>3</a:t>
            </a:r>
            <a:r>
              <a:rPr lang="zh-CN" altLang="zh-CN" sz="2000" b="0" dirty="0"/>
              <a:t>个关键字；根结点包含一个关键字</a:t>
            </a:r>
            <a:r>
              <a:rPr lang="zh-CN" altLang="en-US" sz="2000" b="0" dirty="0"/>
              <a:t>、</a:t>
            </a:r>
            <a:r>
              <a:rPr lang="zh-CN" altLang="zh-CN" sz="2000" b="0" dirty="0"/>
              <a:t>有两个孩子结点；在每个结点内的关键字都是按由小到大的顺序排列的。</a:t>
            </a:r>
          </a:p>
          <a:p>
            <a:endParaRPr lang="zh-CN" altLang="en-US" dirty="0"/>
          </a:p>
        </p:txBody>
      </p:sp>
      <p:pic>
        <p:nvPicPr>
          <p:cNvPr id="1945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4255" y="2852936"/>
            <a:ext cx="7332923" cy="40050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6379390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836712"/>
            <a:ext cx="7704856" cy="5400600"/>
          </a:xfrm>
        </p:spPr>
        <p:txBody>
          <a:bodyPr>
            <a:normAutofit lnSpcReduction="10000"/>
          </a:bodyPr>
          <a:lstStyle/>
          <a:p>
            <a:pPr>
              <a:lnSpc>
                <a:spcPct val="140000"/>
              </a:lnSpc>
              <a:spcBef>
                <a:spcPts val="0"/>
              </a:spcBef>
            </a:pPr>
            <a:r>
              <a:rPr lang="zh-CN" altLang="zh-CN" dirty="0"/>
              <a:t>算法</a:t>
            </a:r>
            <a:r>
              <a:rPr lang="en-US" altLang="zh-CN" dirty="0"/>
              <a:t>8.9</a:t>
            </a:r>
            <a:r>
              <a:rPr lang="zh-CN" altLang="zh-CN" dirty="0"/>
              <a:t>：</a:t>
            </a:r>
            <a:r>
              <a:rPr lang="en-US" altLang="zh-CN" dirty="0"/>
              <a:t>B</a:t>
            </a:r>
            <a:r>
              <a:rPr lang="en-US" altLang="zh-CN" baseline="-25000" dirty="0"/>
              <a:t>-</a:t>
            </a:r>
            <a:r>
              <a:rPr lang="zh-CN" altLang="zh-CN" dirty="0"/>
              <a:t>树的</a:t>
            </a:r>
            <a:r>
              <a:rPr lang="zh-CN" altLang="zh-CN" dirty="0">
                <a:solidFill>
                  <a:srgbClr val="FF0000"/>
                </a:solidFill>
              </a:rPr>
              <a:t>抽象数据</a:t>
            </a:r>
            <a:r>
              <a:rPr lang="zh-CN" altLang="zh-CN" dirty="0"/>
              <a:t>类型</a:t>
            </a:r>
          </a:p>
          <a:p>
            <a:pPr>
              <a:lnSpc>
                <a:spcPct val="140000"/>
              </a:lnSpc>
              <a:spcBef>
                <a:spcPts val="0"/>
              </a:spcBef>
            </a:pPr>
            <a:r>
              <a:rPr lang="en-US" altLang="zh-CN" b="0" dirty="0"/>
              <a:t>ADT  </a:t>
            </a:r>
            <a:r>
              <a:rPr lang="en-US" altLang="zh-CN" b="0" dirty="0" err="1"/>
              <a:t>MBBTree</a:t>
            </a:r>
            <a:r>
              <a:rPr lang="en-US" altLang="zh-CN" b="0" dirty="0"/>
              <a:t>{</a:t>
            </a:r>
            <a:endParaRPr lang="zh-CN" altLang="zh-CN" b="0" dirty="0"/>
          </a:p>
          <a:p>
            <a:pPr>
              <a:lnSpc>
                <a:spcPct val="140000"/>
              </a:lnSpc>
              <a:spcBef>
                <a:spcPts val="0"/>
              </a:spcBef>
            </a:pPr>
            <a:r>
              <a:rPr lang="en-US" altLang="zh-CN" b="0" dirty="0"/>
              <a:t>	Data</a:t>
            </a:r>
            <a:r>
              <a:rPr lang="zh-CN" altLang="en-US" b="0" dirty="0"/>
              <a:t>；</a:t>
            </a:r>
            <a:r>
              <a:rPr lang="en-US" altLang="zh-CN" b="0" dirty="0"/>
              <a:t>   //Data</a:t>
            </a:r>
            <a:r>
              <a:rPr lang="zh-CN" altLang="zh-CN" b="0" dirty="0"/>
              <a:t>是具有相同特性的数据元素的集合</a:t>
            </a:r>
          </a:p>
          <a:p>
            <a:pPr>
              <a:lnSpc>
                <a:spcPct val="140000"/>
              </a:lnSpc>
              <a:spcBef>
                <a:spcPts val="0"/>
              </a:spcBef>
            </a:pPr>
            <a:r>
              <a:rPr lang="en-US" altLang="zh-CN" b="0" dirty="0"/>
              <a:t>	</a:t>
            </a:r>
            <a:r>
              <a:rPr lang="en-US" altLang="zh-CN" b="0" dirty="0" err="1"/>
              <a:t>Opreation</a:t>
            </a:r>
            <a:r>
              <a:rPr lang="en-US" altLang="zh-CN" b="0" dirty="0"/>
              <a:t>:</a:t>
            </a:r>
            <a:endParaRPr lang="zh-CN" altLang="zh-CN" b="0" dirty="0"/>
          </a:p>
          <a:p>
            <a:pPr>
              <a:lnSpc>
                <a:spcPct val="140000"/>
              </a:lnSpc>
              <a:spcBef>
                <a:spcPts val="0"/>
              </a:spcBef>
            </a:pPr>
            <a:r>
              <a:rPr lang="en-US" altLang="zh-CN" b="0" dirty="0"/>
              <a:t>     	</a:t>
            </a:r>
            <a:r>
              <a:rPr lang="en-US" altLang="zh-CN" b="0" dirty="0" err="1"/>
              <a:t>MB_Tree</a:t>
            </a:r>
            <a:r>
              <a:rPr lang="en-US" altLang="zh-CN" b="0" dirty="0"/>
              <a:t>();              		//</a:t>
            </a:r>
            <a:r>
              <a:rPr lang="zh-CN" altLang="zh-CN" b="0" dirty="0"/>
              <a:t>构造函数</a:t>
            </a:r>
          </a:p>
          <a:p>
            <a:pPr>
              <a:lnSpc>
                <a:spcPct val="140000"/>
              </a:lnSpc>
              <a:spcBef>
                <a:spcPts val="0"/>
              </a:spcBef>
            </a:pPr>
            <a:r>
              <a:rPr lang="en-US" altLang="zh-CN" b="0" dirty="0"/>
              <a:t>		</a:t>
            </a:r>
            <a:r>
              <a:rPr lang="en-US" altLang="zh-CN" b="0" dirty="0" err="1"/>
              <a:t>int</a:t>
            </a:r>
            <a:r>
              <a:rPr lang="en-US" altLang="zh-CN" b="0" dirty="0"/>
              <a:t> </a:t>
            </a:r>
            <a:r>
              <a:rPr lang="en-US" altLang="zh-CN" b="0" dirty="0" err="1"/>
              <a:t>SearchMBTree</a:t>
            </a:r>
            <a:r>
              <a:rPr lang="en-US" altLang="zh-CN" b="0" dirty="0"/>
              <a:t>(</a:t>
            </a:r>
            <a:r>
              <a:rPr lang="en-US" altLang="zh-CN" b="0" dirty="0" err="1"/>
              <a:t>KeyType</a:t>
            </a:r>
            <a:r>
              <a:rPr lang="en-US" altLang="zh-CN" b="0" dirty="0"/>
              <a:t> K);   	//</a:t>
            </a:r>
            <a:r>
              <a:rPr lang="zh-CN" altLang="zh-CN" b="0" dirty="0"/>
              <a:t>查找</a:t>
            </a:r>
          </a:p>
          <a:p>
            <a:pPr>
              <a:lnSpc>
                <a:spcPct val="140000"/>
              </a:lnSpc>
              <a:spcBef>
                <a:spcPts val="0"/>
              </a:spcBef>
            </a:pPr>
            <a:r>
              <a:rPr lang="en-US" altLang="zh-CN" b="0" dirty="0"/>
              <a:t>     	</a:t>
            </a:r>
            <a:r>
              <a:rPr lang="en-US" altLang="zh-CN" b="0" dirty="0" err="1"/>
              <a:t>bool</a:t>
            </a:r>
            <a:r>
              <a:rPr lang="en-US" altLang="zh-CN" b="0" dirty="0"/>
              <a:t> </a:t>
            </a:r>
            <a:r>
              <a:rPr lang="en-US" altLang="zh-CN" b="0" dirty="0" err="1"/>
              <a:t>InsertMBTree</a:t>
            </a:r>
            <a:r>
              <a:rPr lang="en-US" altLang="zh-CN" b="0" dirty="0"/>
              <a:t>(</a:t>
            </a:r>
            <a:r>
              <a:rPr lang="en-US" altLang="zh-CN" b="0" dirty="0" err="1"/>
              <a:t>KeyType</a:t>
            </a:r>
            <a:r>
              <a:rPr lang="en-US" altLang="zh-CN" b="0" dirty="0"/>
              <a:t> K, </a:t>
            </a:r>
            <a:r>
              <a:rPr lang="en-US" altLang="zh-CN" b="0" dirty="0" err="1"/>
              <a:t>int</a:t>
            </a:r>
            <a:r>
              <a:rPr lang="en-US" altLang="zh-CN" b="0" dirty="0"/>
              <a:t> </a:t>
            </a:r>
            <a:r>
              <a:rPr lang="en-US" altLang="zh-CN" b="0" dirty="0" err="1"/>
              <a:t>addr</a:t>
            </a:r>
            <a:r>
              <a:rPr lang="en-US" altLang="zh-CN" b="0" dirty="0"/>
              <a:t>);  //</a:t>
            </a:r>
            <a:r>
              <a:rPr lang="zh-CN" altLang="zh-CN" b="0" dirty="0"/>
              <a:t>插入</a:t>
            </a:r>
          </a:p>
          <a:p>
            <a:pPr>
              <a:lnSpc>
                <a:spcPct val="140000"/>
              </a:lnSpc>
              <a:spcBef>
                <a:spcPts val="0"/>
              </a:spcBef>
            </a:pPr>
            <a:r>
              <a:rPr lang="en-US" altLang="zh-CN" b="0" dirty="0"/>
              <a:t>		</a:t>
            </a:r>
            <a:r>
              <a:rPr lang="en-US" altLang="zh-CN" b="0" dirty="0" err="1"/>
              <a:t>bool</a:t>
            </a:r>
            <a:r>
              <a:rPr lang="en-US" altLang="zh-CN" b="0" dirty="0"/>
              <a:t> </a:t>
            </a:r>
            <a:r>
              <a:rPr lang="en-US" altLang="zh-CN" b="0" dirty="0" err="1"/>
              <a:t>DeleteMBTree</a:t>
            </a:r>
            <a:r>
              <a:rPr lang="en-US" altLang="zh-CN" b="0" dirty="0"/>
              <a:t>(</a:t>
            </a:r>
            <a:r>
              <a:rPr lang="en-US" altLang="zh-CN" b="0" dirty="0" err="1"/>
              <a:t>KeyType</a:t>
            </a:r>
            <a:r>
              <a:rPr lang="en-US" altLang="zh-CN" b="0" dirty="0"/>
              <a:t> K);  	//</a:t>
            </a:r>
            <a:r>
              <a:rPr lang="zh-CN" altLang="en-US" b="0" dirty="0"/>
              <a:t>删除</a:t>
            </a:r>
            <a:endParaRPr lang="zh-CN" altLang="zh-CN" b="0" dirty="0"/>
          </a:p>
          <a:p>
            <a:pPr>
              <a:lnSpc>
                <a:spcPct val="140000"/>
              </a:lnSpc>
              <a:spcBef>
                <a:spcPts val="0"/>
              </a:spcBef>
            </a:pPr>
            <a:r>
              <a:rPr lang="en-US" altLang="zh-CN" b="0" dirty="0"/>
              <a:t>     	</a:t>
            </a:r>
            <a:r>
              <a:rPr lang="en-US" altLang="zh-CN" b="0" dirty="0" err="1"/>
              <a:t>int</a:t>
            </a:r>
            <a:r>
              <a:rPr lang="en-US" altLang="zh-CN" b="0" dirty="0"/>
              <a:t> </a:t>
            </a:r>
            <a:r>
              <a:rPr lang="en-US" altLang="zh-CN" b="0" dirty="0" err="1"/>
              <a:t>DepthMBTree</a:t>
            </a:r>
            <a:r>
              <a:rPr lang="en-US" altLang="zh-CN" b="0" dirty="0"/>
              <a:t>();                //</a:t>
            </a:r>
            <a:r>
              <a:rPr lang="zh-CN" altLang="zh-CN" b="0" dirty="0"/>
              <a:t>求深度</a:t>
            </a:r>
          </a:p>
          <a:p>
            <a:pPr>
              <a:lnSpc>
                <a:spcPct val="140000"/>
              </a:lnSpc>
              <a:spcBef>
                <a:spcPts val="0"/>
              </a:spcBef>
            </a:pPr>
            <a:r>
              <a:rPr lang="en-US" altLang="zh-CN" b="0" dirty="0"/>
              <a:t>     	</a:t>
            </a:r>
            <a:r>
              <a:rPr lang="en-US" altLang="zh-CN" b="0" dirty="0" err="1"/>
              <a:t>int</a:t>
            </a:r>
            <a:r>
              <a:rPr lang="en-US" altLang="zh-CN" b="0" dirty="0"/>
              <a:t> </a:t>
            </a:r>
            <a:r>
              <a:rPr lang="en-US" altLang="zh-CN" b="0" dirty="0" err="1"/>
              <a:t>CountMBTree</a:t>
            </a:r>
            <a:r>
              <a:rPr lang="en-US" altLang="zh-CN" b="0" dirty="0"/>
              <a:t>();                //</a:t>
            </a:r>
            <a:r>
              <a:rPr lang="zh-CN" altLang="zh-CN" b="0" dirty="0"/>
              <a:t>统计所有结点数</a:t>
            </a:r>
          </a:p>
          <a:p>
            <a:pPr>
              <a:lnSpc>
                <a:spcPct val="140000"/>
              </a:lnSpc>
              <a:spcBef>
                <a:spcPts val="0"/>
              </a:spcBef>
            </a:pPr>
            <a:r>
              <a:rPr lang="zh-CN" altLang="zh-CN" b="0" dirty="0"/>
              <a:t>｝</a:t>
            </a:r>
            <a:r>
              <a:rPr lang="en-US" altLang="zh-CN" b="0" dirty="0"/>
              <a:t>//ADT </a:t>
            </a:r>
            <a:r>
              <a:rPr lang="en-US" altLang="zh-CN" b="0" dirty="0" err="1"/>
              <a:t>MBTree</a:t>
            </a:r>
            <a:endParaRPr lang="zh-CN" altLang="zh-CN" b="0" dirty="0"/>
          </a:p>
        </p:txBody>
      </p:sp>
    </p:spTree>
    <p:extLst>
      <p:ext uri="{BB962C8B-B14F-4D97-AF65-F5344CB8AC3E}">
        <p14:creationId xmlns:p14="http://schemas.microsoft.com/office/powerpoint/2010/main" val="303875465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980728"/>
            <a:ext cx="8640960" cy="5184576"/>
          </a:xfrm>
        </p:spPr>
        <p:txBody>
          <a:bodyPr>
            <a:normAutofit/>
          </a:bodyPr>
          <a:lstStyle/>
          <a:p>
            <a:pPr>
              <a:lnSpc>
                <a:spcPct val="140000"/>
              </a:lnSpc>
              <a:spcBef>
                <a:spcPts val="0"/>
              </a:spcBef>
            </a:pPr>
            <a:r>
              <a:rPr lang="zh-CN" altLang="zh-CN" dirty="0"/>
              <a:t>用链式存储结构来存储</a:t>
            </a:r>
            <a:r>
              <a:rPr lang="en-US" altLang="zh-CN" dirty="0"/>
              <a:t>B</a:t>
            </a:r>
            <a:r>
              <a:rPr lang="zh-CN" altLang="zh-CN" dirty="0"/>
              <a:t>树，其结点和类声明如下所示：</a:t>
            </a:r>
          </a:p>
          <a:p>
            <a:pPr>
              <a:lnSpc>
                <a:spcPct val="140000"/>
              </a:lnSpc>
              <a:spcBef>
                <a:spcPts val="0"/>
              </a:spcBef>
            </a:pPr>
            <a:r>
              <a:rPr lang="en-US" altLang="zh-CN" b="0" dirty="0" err="1"/>
              <a:t>struct</a:t>
            </a:r>
            <a:r>
              <a:rPr lang="en-US" altLang="zh-CN" b="0" dirty="0"/>
              <a:t> </a:t>
            </a:r>
            <a:r>
              <a:rPr lang="en-US" altLang="zh-CN" b="0" dirty="0" err="1"/>
              <a:t>MBNode</a:t>
            </a:r>
            <a:r>
              <a:rPr lang="en-US" altLang="zh-CN" b="0" dirty="0"/>
              <a:t>{</a:t>
            </a:r>
            <a:endParaRPr lang="zh-CN" altLang="zh-CN" b="0" dirty="0"/>
          </a:p>
          <a:p>
            <a:pPr>
              <a:lnSpc>
                <a:spcPct val="140000"/>
              </a:lnSpc>
              <a:spcBef>
                <a:spcPts val="0"/>
              </a:spcBef>
            </a:pPr>
            <a:r>
              <a:rPr lang="en-US" altLang="zh-CN" b="0" dirty="0"/>
              <a:t>    </a:t>
            </a:r>
            <a:r>
              <a:rPr lang="en-US" altLang="zh-CN" b="0" dirty="0" err="1"/>
              <a:t>int</a:t>
            </a:r>
            <a:r>
              <a:rPr lang="en-US" altLang="zh-CN" b="0" dirty="0"/>
              <a:t> </a:t>
            </a:r>
            <a:r>
              <a:rPr lang="en-US" altLang="zh-CN" b="0" dirty="0" err="1"/>
              <a:t>keynum</a:t>
            </a:r>
            <a:r>
              <a:rPr lang="en-US" altLang="zh-CN" b="0" dirty="0"/>
              <a:t>;          	   //</a:t>
            </a:r>
            <a:r>
              <a:rPr lang="zh-CN" altLang="zh-CN" b="0" dirty="0"/>
              <a:t>关键字个数域</a:t>
            </a:r>
          </a:p>
          <a:p>
            <a:pPr>
              <a:lnSpc>
                <a:spcPct val="140000"/>
              </a:lnSpc>
              <a:spcBef>
                <a:spcPts val="0"/>
              </a:spcBef>
            </a:pPr>
            <a:r>
              <a:rPr lang="en-US" altLang="zh-CN" b="0" dirty="0"/>
              <a:t>    </a:t>
            </a:r>
            <a:r>
              <a:rPr lang="en-US" altLang="zh-CN" b="0" dirty="0" err="1"/>
              <a:t>MBNode</a:t>
            </a:r>
            <a:r>
              <a:rPr lang="en-US" altLang="zh-CN" b="0" dirty="0"/>
              <a:t> *parent;      //</a:t>
            </a:r>
            <a:r>
              <a:rPr lang="zh-CN" altLang="zh-CN" b="0" dirty="0"/>
              <a:t>指向父结点的指针域</a:t>
            </a:r>
          </a:p>
          <a:p>
            <a:pPr>
              <a:lnSpc>
                <a:spcPct val="140000"/>
              </a:lnSpc>
              <a:spcBef>
                <a:spcPts val="0"/>
              </a:spcBef>
            </a:pPr>
            <a:r>
              <a:rPr lang="en-US" altLang="zh-CN" b="0" dirty="0"/>
              <a:t>    </a:t>
            </a:r>
            <a:r>
              <a:rPr lang="en-US" altLang="zh-CN" b="0" dirty="0" err="1"/>
              <a:t>KeyType</a:t>
            </a:r>
            <a:r>
              <a:rPr lang="en-US" altLang="zh-CN" b="0" dirty="0"/>
              <a:t> key[n+1];    //</a:t>
            </a:r>
            <a:r>
              <a:rPr lang="zh-CN" altLang="zh-CN" b="0" dirty="0"/>
              <a:t>保存</a:t>
            </a:r>
            <a:r>
              <a:rPr lang="en-US" altLang="zh-CN" b="0" dirty="0"/>
              <a:t>n</a:t>
            </a:r>
            <a:r>
              <a:rPr lang="zh-CN" altLang="zh-CN" b="0" dirty="0"/>
              <a:t>个关键字的域，下标</a:t>
            </a:r>
            <a:r>
              <a:rPr lang="en-US" altLang="zh-CN" b="0" dirty="0"/>
              <a:t>0</a:t>
            </a:r>
            <a:r>
              <a:rPr lang="zh-CN" altLang="zh-CN" b="0" dirty="0"/>
              <a:t>位置未用</a:t>
            </a:r>
          </a:p>
          <a:p>
            <a:pPr>
              <a:lnSpc>
                <a:spcPct val="140000"/>
              </a:lnSpc>
              <a:spcBef>
                <a:spcPts val="0"/>
              </a:spcBef>
            </a:pPr>
            <a:r>
              <a:rPr lang="en-US" altLang="zh-CN" b="0" dirty="0"/>
              <a:t>    </a:t>
            </a:r>
            <a:r>
              <a:rPr lang="en-US" altLang="zh-CN" b="0" dirty="0" err="1"/>
              <a:t>MBNode</a:t>
            </a:r>
            <a:r>
              <a:rPr lang="en-US" altLang="zh-CN" b="0" dirty="0"/>
              <a:t> *</a:t>
            </a:r>
            <a:r>
              <a:rPr lang="en-US" altLang="zh-CN" b="0" dirty="0" err="1"/>
              <a:t>ptr</a:t>
            </a:r>
            <a:r>
              <a:rPr lang="en-US" altLang="zh-CN" b="0" dirty="0"/>
              <a:t>[n+1];   //</a:t>
            </a:r>
            <a:r>
              <a:rPr lang="zh-CN" altLang="zh-CN" b="0" dirty="0"/>
              <a:t>保存</a:t>
            </a:r>
            <a:r>
              <a:rPr lang="en-US" altLang="zh-CN" b="0" dirty="0"/>
              <a:t>n+1</a:t>
            </a:r>
            <a:r>
              <a:rPr lang="zh-CN" altLang="zh-CN" b="0" dirty="0"/>
              <a:t>个指向子树的指针域</a:t>
            </a:r>
          </a:p>
          <a:p>
            <a:pPr>
              <a:lnSpc>
                <a:spcPct val="140000"/>
              </a:lnSpc>
              <a:spcBef>
                <a:spcPts val="0"/>
              </a:spcBef>
            </a:pPr>
            <a:r>
              <a:rPr lang="en-US" altLang="zh-CN" b="0" dirty="0"/>
              <a:t>    </a:t>
            </a:r>
            <a:r>
              <a:rPr lang="en-US" altLang="zh-CN" b="0" dirty="0" err="1"/>
              <a:t>int</a:t>
            </a:r>
            <a:r>
              <a:rPr lang="en-US" altLang="zh-CN" b="0" dirty="0"/>
              <a:t> </a:t>
            </a:r>
            <a:r>
              <a:rPr lang="en-US" altLang="zh-CN" b="0" dirty="0" err="1"/>
              <a:t>recptr</a:t>
            </a:r>
            <a:r>
              <a:rPr lang="en-US" altLang="zh-CN" b="0" dirty="0"/>
              <a:t>[n+1];           //</a:t>
            </a:r>
            <a:r>
              <a:rPr lang="zh-CN" altLang="zh-CN" b="0" dirty="0"/>
              <a:t>保存每个关键字对应记录的存储位置</a:t>
            </a:r>
          </a:p>
          <a:p>
            <a:pPr>
              <a:lnSpc>
                <a:spcPct val="140000"/>
              </a:lnSpc>
              <a:spcBef>
                <a:spcPts val="0"/>
              </a:spcBef>
            </a:pPr>
            <a:r>
              <a:rPr lang="en-US" altLang="zh-CN" b="0" dirty="0"/>
              <a:t>};</a:t>
            </a:r>
            <a:endParaRPr lang="zh-CN" altLang="zh-CN" b="0" dirty="0"/>
          </a:p>
        </p:txBody>
      </p:sp>
    </p:spTree>
    <p:extLst>
      <p:ext uri="{BB962C8B-B14F-4D97-AF65-F5344CB8AC3E}">
        <p14:creationId xmlns:p14="http://schemas.microsoft.com/office/powerpoint/2010/main" val="314091397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908720"/>
            <a:ext cx="8136904" cy="5400600"/>
          </a:xfrm>
        </p:spPr>
        <p:txBody>
          <a:bodyPr>
            <a:normAutofit fontScale="77500" lnSpcReduction="20000"/>
          </a:bodyPr>
          <a:lstStyle/>
          <a:p>
            <a:pPr>
              <a:lnSpc>
                <a:spcPct val="140000"/>
              </a:lnSpc>
              <a:spcBef>
                <a:spcPts val="0"/>
              </a:spcBef>
            </a:pPr>
            <a:r>
              <a:rPr lang="en-US" altLang="zh-CN" b="0" dirty="0"/>
              <a:t>class </a:t>
            </a:r>
            <a:r>
              <a:rPr lang="en-US" altLang="zh-CN" b="0" dirty="0" err="1"/>
              <a:t>MBTree</a:t>
            </a:r>
            <a:r>
              <a:rPr lang="en-US" altLang="zh-CN" b="0" dirty="0"/>
              <a:t>{</a:t>
            </a:r>
            <a:endParaRPr lang="zh-CN" altLang="zh-CN" b="0" dirty="0"/>
          </a:p>
          <a:p>
            <a:pPr>
              <a:lnSpc>
                <a:spcPct val="140000"/>
              </a:lnSpc>
              <a:spcBef>
                <a:spcPts val="0"/>
              </a:spcBef>
            </a:pPr>
            <a:r>
              <a:rPr lang="en-US" altLang="zh-CN" b="0" dirty="0"/>
              <a:t>private:</a:t>
            </a:r>
            <a:endParaRPr lang="zh-CN" altLang="zh-CN" b="0" dirty="0"/>
          </a:p>
          <a:p>
            <a:pPr>
              <a:lnSpc>
                <a:spcPct val="140000"/>
              </a:lnSpc>
              <a:spcBef>
                <a:spcPts val="0"/>
              </a:spcBef>
            </a:pPr>
            <a:r>
              <a:rPr lang="en-US" altLang="zh-CN" b="0" dirty="0"/>
              <a:t>   </a:t>
            </a:r>
            <a:r>
              <a:rPr lang="en-US" altLang="zh-CN" b="0" dirty="0" err="1"/>
              <a:t>MBNode</a:t>
            </a:r>
            <a:r>
              <a:rPr lang="en-US" altLang="zh-CN" b="0" dirty="0"/>
              <a:t> *MT;</a:t>
            </a:r>
            <a:endParaRPr lang="zh-CN" altLang="zh-CN" b="0" dirty="0"/>
          </a:p>
          <a:p>
            <a:pPr>
              <a:lnSpc>
                <a:spcPct val="140000"/>
              </a:lnSpc>
              <a:spcBef>
                <a:spcPts val="0"/>
              </a:spcBef>
            </a:pPr>
            <a:r>
              <a:rPr lang="en-US" altLang="zh-CN" b="0" dirty="0"/>
              <a:t>public:</a:t>
            </a:r>
            <a:endParaRPr lang="zh-CN" altLang="zh-CN" b="0" dirty="0"/>
          </a:p>
          <a:p>
            <a:pPr>
              <a:lnSpc>
                <a:spcPct val="140000"/>
              </a:lnSpc>
              <a:spcBef>
                <a:spcPts val="0"/>
              </a:spcBef>
            </a:pPr>
            <a:r>
              <a:rPr lang="en-US" altLang="zh-CN" b="0" dirty="0"/>
              <a:t>   </a:t>
            </a:r>
            <a:r>
              <a:rPr lang="en-US" altLang="zh-CN" b="0" dirty="0" err="1"/>
              <a:t>MBTree</a:t>
            </a:r>
            <a:r>
              <a:rPr lang="en-US" altLang="zh-CN" b="0" dirty="0"/>
              <a:t>() { MT=NULL; }</a:t>
            </a:r>
            <a:endParaRPr lang="zh-CN" altLang="zh-CN" b="0" dirty="0"/>
          </a:p>
          <a:p>
            <a:pPr>
              <a:lnSpc>
                <a:spcPct val="140000"/>
              </a:lnSpc>
              <a:spcBef>
                <a:spcPts val="0"/>
              </a:spcBef>
            </a:pPr>
            <a:r>
              <a:rPr lang="en-US" altLang="zh-CN" b="0" dirty="0"/>
              <a:t>   </a:t>
            </a:r>
            <a:r>
              <a:rPr lang="en-US" altLang="zh-CN" b="0" dirty="0" err="1"/>
              <a:t>int</a:t>
            </a:r>
            <a:r>
              <a:rPr lang="en-US" altLang="zh-CN" b="0" dirty="0"/>
              <a:t> </a:t>
            </a:r>
            <a:r>
              <a:rPr lang="en-US" altLang="zh-CN" b="0" dirty="0" err="1"/>
              <a:t>SearchMBTree</a:t>
            </a:r>
            <a:r>
              <a:rPr lang="en-US" altLang="zh-CN" b="0" dirty="0"/>
              <a:t>(</a:t>
            </a:r>
            <a:r>
              <a:rPr lang="en-US" altLang="zh-CN" b="0" dirty="0" err="1"/>
              <a:t>KeyType</a:t>
            </a:r>
            <a:r>
              <a:rPr lang="en-US" altLang="zh-CN" b="0" dirty="0"/>
              <a:t> K);  //</a:t>
            </a:r>
            <a:r>
              <a:rPr lang="zh-CN" altLang="zh-CN" b="0" dirty="0"/>
              <a:t>查找关键字为</a:t>
            </a:r>
            <a:r>
              <a:rPr lang="en-US" altLang="zh-CN" b="0" dirty="0"/>
              <a:t>K</a:t>
            </a:r>
            <a:r>
              <a:rPr lang="zh-CN" altLang="zh-CN" b="0" dirty="0"/>
              <a:t>的对应记录的存储位置</a:t>
            </a:r>
          </a:p>
          <a:p>
            <a:pPr>
              <a:lnSpc>
                <a:spcPct val="140000"/>
              </a:lnSpc>
              <a:spcBef>
                <a:spcPts val="0"/>
              </a:spcBef>
            </a:pPr>
            <a:r>
              <a:rPr lang="en-US" altLang="zh-CN" b="0" dirty="0"/>
              <a:t>   bool </a:t>
            </a:r>
            <a:r>
              <a:rPr lang="en-US" altLang="zh-CN" b="0" dirty="0" err="1"/>
              <a:t>InsertMBTree</a:t>
            </a:r>
            <a:r>
              <a:rPr lang="en-US" altLang="zh-CN" b="0" dirty="0"/>
              <a:t>(</a:t>
            </a:r>
            <a:r>
              <a:rPr lang="en-US" altLang="zh-CN" b="0" dirty="0" err="1"/>
              <a:t>KeyType</a:t>
            </a:r>
            <a:r>
              <a:rPr lang="en-US" altLang="zh-CN" b="0" dirty="0"/>
              <a:t> </a:t>
            </a:r>
            <a:r>
              <a:rPr lang="en-US" altLang="zh-CN" b="0" dirty="0" err="1"/>
              <a:t>K,int</a:t>
            </a:r>
            <a:r>
              <a:rPr lang="en-US" altLang="zh-CN" b="0" dirty="0"/>
              <a:t> </a:t>
            </a:r>
            <a:r>
              <a:rPr lang="en-US" altLang="zh-CN" b="0" dirty="0" err="1"/>
              <a:t>num</a:t>
            </a:r>
            <a:r>
              <a:rPr lang="en-US" altLang="zh-CN" b="0" dirty="0"/>
              <a:t>);  //</a:t>
            </a:r>
            <a:r>
              <a:rPr lang="zh-CN" altLang="zh-CN" b="0" dirty="0"/>
              <a:t>插入索引项（</a:t>
            </a:r>
            <a:r>
              <a:rPr lang="en-US" altLang="zh-CN" b="0" dirty="0" err="1"/>
              <a:t>K,num,NULL</a:t>
            </a:r>
            <a:r>
              <a:rPr lang="en-US" altLang="zh-CN" b="0" dirty="0"/>
              <a:t>)</a:t>
            </a:r>
            <a:endParaRPr lang="zh-CN" altLang="zh-CN" b="0" dirty="0"/>
          </a:p>
          <a:p>
            <a:pPr>
              <a:lnSpc>
                <a:spcPct val="140000"/>
              </a:lnSpc>
              <a:spcBef>
                <a:spcPts val="0"/>
              </a:spcBef>
            </a:pPr>
            <a:r>
              <a:rPr lang="en-US" altLang="zh-CN" b="0" dirty="0"/>
              <a:t>   </a:t>
            </a:r>
            <a:r>
              <a:rPr lang="en-US" altLang="zh-CN" b="0" dirty="0" err="1"/>
              <a:t>bool</a:t>
            </a:r>
            <a:r>
              <a:rPr lang="en-US" altLang="zh-CN" b="0" dirty="0"/>
              <a:t> </a:t>
            </a:r>
            <a:r>
              <a:rPr lang="en-US" altLang="zh-CN" b="0" dirty="0" err="1"/>
              <a:t>DeleteMBTree</a:t>
            </a:r>
            <a:r>
              <a:rPr lang="en-US" altLang="zh-CN" b="0" dirty="0"/>
              <a:t>(</a:t>
            </a:r>
            <a:r>
              <a:rPr lang="en-US" altLang="zh-CN" b="0" dirty="0" err="1"/>
              <a:t>KeyType</a:t>
            </a:r>
            <a:r>
              <a:rPr lang="en-US" altLang="zh-CN" b="0" dirty="0"/>
              <a:t> K);  //</a:t>
            </a:r>
            <a:r>
              <a:rPr lang="zh-CN" altLang="en-US" b="0" dirty="0"/>
              <a:t>删除关键字为</a:t>
            </a:r>
            <a:r>
              <a:rPr lang="en-US" altLang="zh-CN" b="0" dirty="0"/>
              <a:t>K</a:t>
            </a:r>
            <a:r>
              <a:rPr lang="zh-CN" altLang="en-US" b="0" dirty="0"/>
              <a:t>的记录</a:t>
            </a:r>
            <a:endParaRPr lang="zh-CN" altLang="zh-CN" b="0" dirty="0"/>
          </a:p>
          <a:p>
            <a:pPr>
              <a:lnSpc>
                <a:spcPct val="140000"/>
              </a:lnSpc>
              <a:spcBef>
                <a:spcPts val="0"/>
              </a:spcBef>
            </a:pPr>
            <a:r>
              <a:rPr lang="en-US" altLang="zh-CN" b="0" dirty="0"/>
              <a:t>   </a:t>
            </a:r>
            <a:r>
              <a:rPr lang="en-US" altLang="zh-CN" b="0" dirty="0" err="1"/>
              <a:t>int</a:t>
            </a:r>
            <a:r>
              <a:rPr lang="en-US" altLang="zh-CN" b="0" dirty="0"/>
              <a:t> </a:t>
            </a:r>
            <a:r>
              <a:rPr lang="en-US" altLang="zh-CN" b="0" dirty="0" err="1"/>
              <a:t>DepthMBTree</a:t>
            </a:r>
            <a:r>
              <a:rPr lang="en-US" altLang="zh-CN" b="0" dirty="0"/>
              <a:t>(</a:t>
            </a:r>
            <a:r>
              <a:rPr lang="en-US" altLang="zh-CN" b="0" dirty="0" err="1"/>
              <a:t>MBNode</a:t>
            </a:r>
            <a:r>
              <a:rPr lang="en-US" altLang="zh-CN" b="0" dirty="0"/>
              <a:t> *T);       //</a:t>
            </a:r>
            <a:r>
              <a:rPr lang="zh-CN" altLang="zh-CN" b="0" dirty="0"/>
              <a:t>求深度</a:t>
            </a:r>
          </a:p>
          <a:p>
            <a:pPr>
              <a:lnSpc>
                <a:spcPct val="140000"/>
              </a:lnSpc>
              <a:spcBef>
                <a:spcPts val="0"/>
              </a:spcBef>
            </a:pPr>
            <a:r>
              <a:rPr lang="en-US" altLang="zh-CN" b="0" dirty="0"/>
              <a:t>   </a:t>
            </a:r>
            <a:r>
              <a:rPr lang="en-US" altLang="zh-CN" b="0" dirty="0" err="1"/>
              <a:t>int</a:t>
            </a:r>
            <a:r>
              <a:rPr lang="en-US" altLang="zh-CN" b="0" dirty="0"/>
              <a:t> </a:t>
            </a:r>
            <a:r>
              <a:rPr lang="en-US" altLang="zh-CN" b="0" dirty="0" err="1"/>
              <a:t>DepthMBTree</a:t>
            </a:r>
            <a:r>
              <a:rPr lang="en-US" altLang="zh-CN" b="0" dirty="0"/>
              <a:t>();</a:t>
            </a:r>
            <a:endParaRPr lang="zh-CN" altLang="zh-CN" b="0" dirty="0"/>
          </a:p>
          <a:p>
            <a:pPr>
              <a:lnSpc>
                <a:spcPct val="140000"/>
              </a:lnSpc>
              <a:spcBef>
                <a:spcPts val="0"/>
              </a:spcBef>
            </a:pPr>
            <a:r>
              <a:rPr lang="en-US" altLang="zh-CN" b="0" dirty="0"/>
              <a:t>   </a:t>
            </a:r>
            <a:r>
              <a:rPr lang="en-US" altLang="zh-CN" b="0" dirty="0" err="1"/>
              <a:t>int</a:t>
            </a:r>
            <a:r>
              <a:rPr lang="en-US" altLang="zh-CN" b="0" dirty="0"/>
              <a:t> </a:t>
            </a:r>
            <a:r>
              <a:rPr lang="en-US" altLang="zh-CN" b="0" dirty="0" err="1"/>
              <a:t>CountMBTree</a:t>
            </a:r>
            <a:r>
              <a:rPr lang="en-US" altLang="zh-CN" b="0" dirty="0"/>
              <a:t>(</a:t>
            </a:r>
            <a:r>
              <a:rPr lang="en-US" altLang="zh-CN" b="0" dirty="0" err="1"/>
              <a:t>MBNode</a:t>
            </a:r>
            <a:r>
              <a:rPr lang="en-US" altLang="zh-CN" b="0" dirty="0"/>
              <a:t> *T);       //</a:t>
            </a:r>
            <a:r>
              <a:rPr lang="zh-CN" altLang="zh-CN" b="0" dirty="0"/>
              <a:t>统计所有结点数</a:t>
            </a:r>
          </a:p>
          <a:p>
            <a:pPr>
              <a:lnSpc>
                <a:spcPct val="140000"/>
              </a:lnSpc>
              <a:spcBef>
                <a:spcPts val="0"/>
              </a:spcBef>
            </a:pPr>
            <a:r>
              <a:rPr lang="en-US" altLang="zh-CN" b="0" dirty="0"/>
              <a:t>   </a:t>
            </a:r>
            <a:r>
              <a:rPr lang="en-US" altLang="zh-CN" b="0" dirty="0" err="1"/>
              <a:t>int</a:t>
            </a:r>
            <a:r>
              <a:rPr lang="en-US" altLang="zh-CN" b="0" dirty="0"/>
              <a:t> </a:t>
            </a:r>
            <a:r>
              <a:rPr lang="en-US" altLang="zh-CN" b="0" dirty="0" err="1"/>
              <a:t>CountMBTree</a:t>
            </a:r>
            <a:r>
              <a:rPr lang="en-US" altLang="zh-CN" b="0" dirty="0"/>
              <a:t>();</a:t>
            </a:r>
            <a:endParaRPr lang="zh-CN" altLang="zh-CN" b="0" dirty="0"/>
          </a:p>
          <a:p>
            <a:pPr>
              <a:lnSpc>
                <a:spcPct val="140000"/>
              </a:lnSpc>
              <a:spcBef>
                <a:spcPts val="0"/>
              </a:spcBef>
            </a:pPr>
            <a:r>
              <a:rPr lang="en-US" altLang="zh-CN" b="0" dirty="0"/>
              <a:t>   void </a:t>
            </a:r>
            <a:r>
              <a:rPr lang="en-US" altLang="zh-CN" b="0" dirty="0" err="1"/>
              <a:t>PrintMBTree</a:t>
            </a:r>
            <a:r>
              <a:rPr lang="en-US" altLang="zh-CN" b="0" dirty="0"/>
              <a:t>(</a:t>
            </a:r>
            <a:r>
              <a:rPr lang="en-US" altLang="zh-CN" b="0" dirty="0" err="1"/>
              <a:t>MBNode</a:t>
            </a:r>
            <a:r>
              <a:rPr lang="en-US" altLang="zh-CN" b="0" dirty="0"/>
              <a:t> *T);</a:t>
            </a:r>
            <a:endParaRPr lang="zh-CN" altLang="zh-CN" b="0" dirty="0"/>
          </a:p>
          <a:p>
            <a:pPr>
              <a:lnSpc>
                <a:spcPct val="140000"/>
              </a:lnSpc>
              <a:spcBef>
                <a:spcPts val="0"/>
              </a:spcBef>
            </a:pPr>
            <a:r>
              <a:rPr lang="en-US" altLang="zh-CN" b="0" dirty="0"/>
              <a:t>   void </a:t>
            </a:r>
            <a:r>
              <a:rPr lang="en-US" altLang="zh-CN" b="0" dirty="0" err="1"/>
              <a:t>PrintMBTree</a:t>
            </a:r>
            <a:r>
              <a:rPr lang="en-US" altLang="zh-CN" b="0" dirty="0"/>
              <a:t>();</a:t>
            </a:r>
            <a:endParaRPr lang="zh-CN" altLang="zh-CN" b="0" dirty="0"/>
          </a:p>
          <a:p>
            <a:pPr>
              <a:lnSpc>
                <a:spcPct val="140000"/>
              </a:lnSpc>
              <a:spcBef>
                <a:spcPts val="0"/>
              </a:spcBef>
            </a:pPr>
            <a:r>
              <a:rPr lang="en-US" altLang="zh-CN" b="0" dirty="0"/>
              <a:t>};</a:t>
            </a:r>
            <a:endParaRPr lang="zh-CN" altLang="zh-CN" b="0" dirty="0"/>
          </a:p>
          <a:p>
            <a:pPr>
              <a:lnSpc>
                <a:spcPct val="140000"/>
              </a:lnSpc>
              <a:spcBef>
                <a:spcPts val="0"/>
              </a:spcBef>
            </a:pPr>
            <a:endParaRPr lang="zh-CN" altLang="en-US" dirty="0"/>
          </a:p>
        </p:txBody>
      </p:sp>
    </p:spTree>
    <p:extLst>
      <p:ext uri="{BB962C8B-B14F-4D97-AF65-F5344CB8AC3E}">
        <p14:creationId xmlns:p14="http://schemas.microsoft.com/office/powerpoint/2010/main" val="174726001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8D17009-C233-48D3-AB59-1617D35BB678}"/>
              </a:ext>
            </a:extLst>
          </p:cNvPr>
          <p:cNvSpPr>
            <a:spLocks noGrp="1"/>
          </p:cNvSpPr>
          <p:nvPr>
            <p:ph type="dt" sz="half" idx="10"/>
          </p:nvPr>
        </p:nvSpPr>
        <p:spPr/>
        <p:txBody>
          <a:bodyPr/>
          <a:lstStyle/>
          <a:p>
            <a:fld id="{9A6B2991-BBE5-4E69-A281-1A8B0AE9CDD7}" type="datetime1">
              <a:rPr lang="zh-CN" altLang="en-US" smtClean="0"/>
              <a:pPr/>
              <a:t>2025/6/3</a:t>
            </a:fld>
            <a:endParaRPr lang="zh-CN" altLang="en-US"/>
          </a:p>
        </p:txBody>
      </p:sp>
      <p:sp>
        <p:nvSpPr>
          <p:cNvPr id="3" name="标题 1">
            <a:extLst>
              <a:ext uri="{FF2B5EF4-FFF2-40B4-BE49-F238E27FC236}">
                <a16:creationId xmlns:a16="http://schemas.microsoft.com/office/drawing/2014/main" id="{E9394A5D-B217-479F-B523-16832A61A456}"/>
              </a:ext>
            </a:extLst>
          </p:cNvPr>
          <p:cNvSpPr txBox="1">
            <a:spLocks/>
          </p:cNvSpPr>
          <p:nvPr/>
        </p:nvSpPr>
        <p:spPr>
          <a:xfrm>
            <a:off x="827584" y="895706"/>
            <a:ext cx="7520940" cy="2389278"/>
          </a:xfrm>
          <a:prstGeom prst="rect">
            <a:avLst/>
          </a:prstGeom>
        </p:spPr>
        <p:txBody>
          <a:bodyPr/>
          <a:lstStyle>
            <a:lvl1pPr algn="l" defTabSz="914400" rtl="0" eaLnBrk="1" latinLnBrk="0" hangingPunct="1">
              <a:spcBef>
                <a:spcPct val="0"/>
              </a:spcBef>
              <a:buNone/>
              <a:defRPr sz="2800" kern="1200" cap="all" baseline="0">
                <a:solidFill>
                  <a:schemeClr val="tx1"/>
                </a:solidFill>
                <a:latin typeface="+mj-lt"/>
                <a:ea typeface="+mj-ea"/>
                <a:cs typeface="+mj-cs"/>
              </a:defRPr>
            </a:lvl1pPr>
          </a:lstStyle>
          <a:p>
            <a:pPr>
              <a:lnSpc>
                <a:spcPct val="150000"/>
              </a:lnSpc>
            </a:pPr>
            <a:r>
              <a:rPr lang="en-US" altLang="zh-CN" b="1" dirty="0">
                <a:solidFill>
                  <a:srgbClr val="FF0000"/>
                </a:solidFill>
              </a:rPr>
              <a:t>B</a:t>
            </a:r>
            <a:r>
              <a:rPr lang="zh-CN" altLang="zh-CN" b="1" dirty="0">
                <a:solidFill>
                  <a:srgbClr val="FF0000"/>
                </a:solidFill>
              </a:rPr>
              <a:t>树</a:t>
            </a:r>
            <a:r>
              <a:rPr lang="zh-CN" altLang="en-US" b="1" dirty="0">
                <a:solidFill>
                  <a:srgbClr val="FF0000"/>
                </a:solidFill>
              </a:rPr>
              <a:t>的查找、插入、删除算法可以借鉴</a:t>
            </a:r>
            <a:r>
              <a:rPr lang="en-US" altLang="zh-CN" b="1" dirty="0">
                <a:solidFill>
                  <a:srgbClr val="FF0000"/>
                </a:solidFill>
              </a:rPr>
              <a:t>2-3</a:t>
            </a:r>
            <a:r>
              <a:rPr lang="zh-CN" altLang="en-US" b="1" dirty="0">
                <a:solidFill>
                  <a:srgbClr val="FF0000"/>
                </a:solidFill>
              </a:rPr>
              <a:t>树相应的算法，后面的实现算法不一一探讨，感兴趣的同学，可以自学。</a:t>
            </a:r>
            <a:endParaRPr lang="zh-CN" altLang="zh-CN" dirty="0">
              <a:solidFill>
                <a:srgbClr val="FF0000"/>
              </a:solidFill>
            </a:endParaRPr>
          </a:p>
        </p:txBody>
      </p:sp>
    </p:spTree>
    <p:extLst>
      <p:ext uri="{BB962C8B-B14F-4D97-AF65-F5344CB8AC3E}">
        <p14:creationId xmlns:p14="http://schemas.microsoft.com/office/powerpoint/2010/main" val="82706373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827584" y="1071546"/>
            <a:ext cx="7520940" cy="4857784"/>
          </a:xfrm>
        </p:spPr>
        <p:txBody>
          <a:bodyPr>
            <a:normAutofit/>
          </a:bodyPr>
          <a:lstStyle/>
          <a:p>
            <a:r>
              <a:rPr lang="en-US" dirty="0"/>
              <a:t>1</a:t>
            </a:r>
            <a:r>
              <a:rPr lang="zh-CN" altLang="en-US" dirty="0"/>
              <a:t>．</a:t>
            </a:r>
            <a:r>
              <a:rPr lang="en-US" dirty="0"/>
              <a:t>B</a:t>
            </a:r>
            <a:r>
              <a:rPr lang="zh-CN" altLang="en-US" dirty="0"/>
              <a:t>树的查找分析</a:t>
            </a:r>
          </a:p>
          <a:p>
            <a:pPr>
              <a:buFont typeface="Arial" pitchFamily="34" charset="0"/>
              <a:buChar char="•"/>
            </a:pPr>
            <a:r>
              <a:rPr lang="en-US" dirty="0">
                <a:solidFill>
                  <a:srgbClr val="FF0000"/>
                </a:solidFill>
              </a:rPr>
              <a:t>B</a:t>
            </a:r>
            <a:r>
              <a:rPr lang="zh-CN" altLang="en-US" dirty="0">
                <a:solidFill>
                  <a:srgbClr val="FF0000"/>
                </a:solidFill>
              </a:rPr>
              <a:t>树的查找过程</a:t>
            </a:r>
            <a:r>
              <a:rPr lang="zh-CN" altLang="en-US" b="0" dirty="0"/>
              <a:t>是一个</a:t>
            </a:r>
            <a:r>
              <a:rPr lang="zh-CN" altLang="en-US" b="0" dirty="0">
                <a:solidFill>
                  <a:srgbClr val="FF0000"/>
                </a:solidFill>
              </a:rPr>
              <a:t>在结点内查找和顺着某一条路径向下一层查找交替进行的过程</a:t>
            </a:r>
            <a:r>
              <a:rPr lang="zh-CN" altLang="en-US" dirty="0"/>
              <a:t>。</a:t>
            </a:r>
            <a:endParaRPr lang="en-US" altLang="zh-CN" dirty="0"/>
          </a:p>
          <a:p>
            <a:pPr>
              <a:buFont typeface="Arial" pitchFamily="34" charset="0"/>
              <a:buChar char="•"/>
            </a:pPr>
            <a:r>
              <a:rPr lang="en-US" b="0" dirty="0"/>
              <a:t>B</a:t>
            </a:r>
            <a:r>
              <a:rPr lang="zh-CN" altLang="en-US" b="0" dirty="0"/>
              <a:t>树的</a:t>
            </a:r>
            <a:r>
              <a:rPr lang="zh-CN" altLang="en-US" b="0" dirty="0">
                <a:solidFill>
                  <a:srgbClr val="FF0000"/>
                </a:solidFill>
              </a:rPr>
              <a:t>查找时间复杂度与</a:t>
            </a:r>
            <a:r>
              <a:rPr lang="en-US" b="0" dirty="0">
                <a:solidFill>
                  <a:srgbClr val="FF0000"/>
                </a:solidFill>
              </a:rPr>
              <a:t>B</a:t>
            </a:r>
            <a:r>
              <a:rPr lang="zh-CN" altLang="en-US" b="0" dirty="0">
                <a:solidFill>
                  <a:srgbClr val="FF0000"/>
                </a:solidFill>
              </a:rPr>
              <a:t>树的阶数</a:t>
            </a:r>
            <a:r>
              <a:rPr lang="en-US" b="0" dirty="0">
                <a:solidFill>
                  <a:srgbClr val="FF0000"/>
                </a:solidFill>
              </a:rPr>
              <a:t>m</a:t>
            </a:r>
            <a:r>
              <a:rPr lang="zh-CN" altLang="en-US" b="0" dirty="0">
                <a:solidFill>
                  <a:srgbClr val="FF0000"/>
                </a:solidFill>
              </a:rPr>
              <a:t>和</a:t>
            </a:r>
            <a:r>
              <a:rPr lang="en-US" b="0" dirty="0">
                <a:solidFill>
                  <a:srgbClr val="FF0000"/>
                </a:solidFill>
              </a:rPr>
              <a:t>B</a:t>
            </a:r>
            <a:r>
              <a:rPr lang="zh-CN" altLang="en-US" b="0" dirty="0">
                <a:solidFill>
                  <a:srgbClr val="FF0000"/>
                </a:solidFill>
              </a:rPr>
              <a:t>树的高度</a:t>
            </a:r>
            <a:r>
              <a:rPr lang="en-US" b="0" dirty="0">
                <a:solidFill>
                  <a:srgbClr val="FF0000"/>
                </a:solidFill>
              </a:rPr>
              <a:t>h</a:t>
            </a:r>
            <a:r>
              <a:rPr lang="zh-CN" altLang="en-US" b="0" dirty="0">
                <a:solidFill>
                  <a:srgbClr val="FF0000"/>
                </a:solidFill>
              </a:rPr>
              <a:t>有关。</a:t>
            </a:r>
            <a:r>
              <a:rPr lang="zh-CN" altLang="en-US" b="0" dirty="0"/>
              <a:t>在</a:t>
            </a:r>
            <a:r>
              <a:rPr lang="en-US" b="0" dirty="0"/>
              <a:t>B</a:t>
            </a:r>
            <a:r>
              <a:rPr lang="zh-CN" altLang="en-US" b="0" dirty="0"/>
              <a:t>树上进行查找时，查找成功所需的时间取决于关键字所在的层次，查找不成功所需的时间取决于树的高度。</a:t>
            </a:r>
            <a:endParaRPr lang="en-US" altLang="zh-CN" b="0" dirty="0"/>
          </a:p>
          <a:p>
            <a:pPr>
              <a:buFont typeface="Arial" pitchFamily="34" charset="0"/>
              <a:buChar char="•"/>
            </a:pPr>
            <a:r>
              <a:rPr lang="zh-CN" altLang="en-US" b="0" dirty="0"/>
              <a:t>在含有</a:t>
            </a:r>
            <a:r>
              <a:rPr lang="en-US" altLang="en-US" b="0" dirty="0"/>
              <a:t>N</a:t>
            </a:r>
            <a:r>
              <a:rPr lang="zh-CN" altLang="en-US" b="0" dirty="0"/>
              <a:t>个关键字的</a:t>
            </a:r>
            <a:r>
              <a:rPr lang="en-US" altLang="en-US" b="0" dirty="0"/>
              <a:t>B</a:t>
            </a:r>
            <a:r>
              <a:rPr lang="zh-CN" altLang="en-US" b="0" dirty="0"/>
              <a:t>树上进行查找时，从根结点到关键字所在结点的路径上涉及的结点数不超过</a:t>
            </a:r>
            <a:r>
              <a:rPr lang="en-US" altLang="en-US" dirty="0" err="1">
                <a:solidFill>
                  <a:srgbClr val="FF0000"/>
                </a:solidFill>
              </a:rPr>
              <a:t>log</a:t>
            </a:r>
            <a:r>
              <a:rPr lang="en-US" altLang="en-US" baseline="-25000" dirty="0" err="1">
                <a:solidFill>
                  <a:srgbClr val="FF0000"/>
                </a:solidFill>
              </a:rPr>
              <a:t>⌈m</a:t>
            </a:r>
            <a:r>
              <a:rPr lang="en-US" altLang="en-US" baseline="-25000" dirty="0">
                <a:solidFill>
                  <a:srgbClr val="FF0000"/>
                </a:solidFill>
              </a:rPr>
              <a:t>/2⌉</a:t>
            </a:r>
            <a:r>
              <a:rPr lang="en-US" altLang="en-US" dirty="0">
                <a:solidFill>
                  <a:srgbClr val="FF0000"/>
                </a:solidFill>
              </a:rPr>
              <a:t>((</a:t>
            </a:r>
            <a:r>
              <a:rPr lang="en-US" altLang="zh-CN" dirty="0">
                <a:solidFill>
                  <a:srgbClr val="FF0000"/>
                </a:solidFill>
              </a:rPr>
              <a:t>N+1)/2</a:t>
            </a:r>
            <a:r>
              <a:rPr lang="en-US" altLang="en-US" dirty="0">
                <a:solidFill>
                  <a:srgbClr val="FF0000"/>
                </a:solidFill>
              </a:rPr>
              <a:t>)+1</a:t>
            </a:r>
            <a:r>
              <a:rPr lang="zh-CN" altLang="en-US" b="0" dirty="0"/>
              <a:t>。</a:t>
            </a:r>
          </a:p>
        </p:txBody>
      </p:sp>
    </p:spTree>
    <p:extLst>
      <p:ext uri="{BB962C8B-B14F-4D97-AF65-F5344CB8AC3E}">
        <p14:creationId xmlns:p14="http://schemas.microsoft.com/office/powerpoint/2010/main" val="313436979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836712"/>
            <a:ext cx="8064896" cy="5472608"/>
          </a:xfrm>
        </p:spPr>
        <p:txBody>
          <a:bodyPr>
            <a:normAutofit fontScale="85000" lnSpcReduction="20000"/>
          </a:bodyPr>
          <a:lstStyle/>
          <a:p>
            <a:pPr>
              <a:lnSpc>
                <a:spcPct val="140000"/>
              </a:lnSpc>
              <a:spcBef>
                <a:spcPts val="0"/>
              </a:spcBef>
            </a:pPr>
            <a:r>
              <a:rPr lang="zh-CN" altLang="zh-CN" dirty="0"/>
              <a:t>算法</a:t>
            </a:r>
            <a:r>
              <a:rPr lang="en-US" altLang="zh-CN" dirty="0"/>
              <a:t>8.10</a:t>
            </a:r>
            <a:r>
              <a:rPr lang="zh-CN" altLang="zh-CN" dirty="0"/>
              <a:t>：</a:t>
            </a:r>
            <a:r>
              <a:rPr lang="en-US" altLang="zh-CN" dirty="0">
                <a:solidFill>
                  <a:srgbClr val="FF0000"/>
                </a:solidFill>
              </a:rPr>
              <a:t>B</a:t>
            </a:r>
            <a:r>
              <a:rPr lang="zh-CN" altLang="zh-CN" dirty="0">
                <a:solidFill>
                  <a:srgbClr val="FF0000"/>
                </a:solidFill>
              </a:rPr>
              <a:t>树的查找算法</a:t>
            </a:r>
          </a:p>
          <a:p>
            <a:pPr>
              <a:lnSpc>
                <a:spcPct val="140000"/>
              </a:lnSpc>
              <a:spcBef>
                <a:spcPts val="0"/>
              </a:spcBef>
            </a:pPr>
            <a:r>
              <a:rPr lang="en-US" altLang="zh-CN" b="0" dirty="0" err="1"/>
              <a:t>int</a:t>
            </a:r>
            <a:r>
              <a:rPr lang="en-US" altLang="zh-CN" b="0" dirty="0"/>
              <a:t> </a:t>
            </a:r>
            <a:r>
              <a:rPr lang="en-US" altLang="zh-CN" b="0" dirty="0" err="1"/>
              <a:t>MBTree</a:t>
            </a:r>
            <a:r>
              <a:rPr lang="en-US" altLang="zh-CN" b="0" dirty="0"/>
              <a:t>::</a:t>
            </a:r>
            <a:r>
              <a:rPr lang="en-US" altLang="zh-CN" b="0" dirty="0" err="1"/>
              <a:t>SearchMBTree</a:t>
            </a:r>
            <a:r>
              <a:rPr lang="en-US" altLang="zh-CN" b="0" dirty="0"/>
              <a:t>(</a:t>
            </a:r>
            <a:r>
              <a:rPr lang="en-US" altLang="zh-CN" b="0" dirty="0" err="1"/>
              <a:t>KeyType</a:t>
            </a:r>
            <a:r>
              <a:rPr lang="en-US" altLang="zh-CN" b="0" dirty="0"/>
              <a:t> K){</a:t>
            </a:r>
            <a:endParaRPr lang="zh-CN" altLang="zh-CN" b="0" dirty="0"/>
          </a:p>
          <a:p>
            <a:pPr>
              <a:lnSpc>
                <a:spcPct val="140000"/>
              </a:lnSpc>
              <a:spcBef>
                <a:spcPts val="0"/>
              </a:spcBef>
            </a:pPr>
            <a:r>
              <a:rPr lang="en-US" altLang="zh-CN" b="0" dirty="0"/>
              <a:t>     //</a:t>
            </a:r>
            <a:r>
              <a:rPr lang="zh-CN" altLang="zh-CN" b="0" dirty="0"/>
              <a:t>从树根指针为</a:t>
            </a:r>
            <a:r>
              <a:rPr lang="en-US" altLang="zh-CN" b="0" dirty="0"/>
              <a:t>MT</a:t>
            </a:r>
            <a:r>
              <a:rPr lang="zh-CN" altLang="zh-CN" b="0" dirty="0"/>
              <a:t>的</a:t>
            </a:r>
            <a:r>
              <a:rPr lang="en-US" altLang="zh-CN" b="0" dirty="0"/>
              <a:t>B</a:t>
            </a:r>
            <a:r>
              <a:rPr lang="zh-CN" altLang="zh-CN" b="0" dirty="0"/>
              <a:t>树上查找关键字为</a:t>
            </a:r>
            <a:r>
              <a:rPr lang="en-US" altLang="zh-CN" b="0" dirty="0"/>
              <a:t>K</a:t>
            </a:r>
            <a:r>
              <a:rPr lang="zh-CN" altLang="zh-CN" b="0" dirty="0"/>
              <a:t>的对应记录的存储位置</a:t>
            </a:r>
          </a:p>
          <a:p>
            <a:pPr>
              <a:lnSpc>
                <a:spcPct val="140000"/>
              </a:lnSpc>
              <a:spcBef>
                <a:spcPts val="0"/>
              </a:spcBef>
            </a:pPr>
            <a:r>
              <a:rPr lang="en-US" altLang="zh-CN" b="0" dirty="0"/>
              <a:t>	</a:t>
            </a:r>
            <a:r>
              <a:rPr lang="en-US" altLang="zh-CN" b="0" dirty="0" err="1"/>
              <a:t>int</a:t>
            </a:r>
            <a:r>
              <a:rPr lang="en-US" altLang="zh-CN" b="0" dirty="0"/>
              <a:t> </a:t>
            </a:r>
            <a:r>
              <a:rPr lang="en-US" altLang="zh-CN" b="0" dirty="0" err="1"/>
              <a:t>i</a:t>
            </a:r>
            <a:r>
              <a:rPr lang="en-US" altLang="zh-CN" b="0" dirty="0"/>
              <a:t>;</a:t>
            </a:r>
            <a:endParaRPr lang="zh-CN" altLang="zh-CN" b="0" dirty="0"/>
          </a:p>
          <a:p>
            <a:pPr>
              <a:lnSpc>
                <a:spcPct val="140000"/>
              </a:lnSpc>
              <a:spcBef>
                <a:spcPts val="0"/>
              </a:spcBef>
            </a:pPr>
            <a:r>
              <a:rPr lang="en-US" altLang="zh-CN" b="0" dirty="0"/>
              <a:t>     </a:t>
            </a:r>
            <a:r>
              <a:rPr lang="en-US" altLang="zh-CN" b="0" dirty="0" err="1"/>
              <a:t>MBNode</a:t>
            </a:r>
            <a:r>
              <a:rPr lang="en-US" altLang="zh-CN" b="0" dirty="0"/>
              <a:t> *p=MT;</a:t>
            </a:r>
            <a:endParaRPr lang="zh-CN" altLang="zh-CN" b="0" dirty="0"/>
          </a:p>
          <a:p>
            <a:pPr>
              <a:lnSpc>
                <a:spcPct val="140000"/>
              </a:lnSpc>
              <a:spcBef>
                <a:spcPts val="0"/>
              </a:spcBef>
            </a:pPr>
            <a:r>
              <a:rPr lang="en-US" altLang="zh-CN" b="0" dirty="0"/>
              <a:t>	while(p != NULL){   //</a:t>
            </a:r>
            <a:r>
              <a:rPr lang="zh-CN" altLang="zh-CN" b="0" dirty="0"/>
              <a:t>从树根结点起依次向下一层查找</a:t>
            </a:r>
          </a:p>
          <a:p>
            <a:pPr>
              <a:lnSpc>
                <a:spcPct val="140000"/>
              </a:lnSpc>
              <a:spcBef>
                <a:spcPts val="0"/>
              </a:spcBef>
            </a:pPr>
            <a:r>
              <a:rPr lang="en-US" altLang="zh-CN" b="0" dirty="0"/>
              <a:t>        	</a:t>
            </a:r>
            <a:r>
              <a:rPr lang="en-US" altLang="zh-CN" b="0" dirty="0" err="1"/>
              <a:t>i</a:t>
            </a:r>
            <a:r>
              <a:rPr lang="en-US" altLang="zh-CN" b="0" dirty="0"/>
              <a:t>=1;                  //</a:t>
            </a:r>
            <a:r>
              <a:rPr lang="zh-CN" altLang="zh-CN" b="0" dirty="0"/>
              <a:t>用</a:t>
            </a:r>
            <a:r>
              <a:rPr lang="en-US" altLang="zh-CN" b="0" dirty="0" err="1"/>
              <a:t>i</a:t>
            </a:r>
            <a:r>
              <a:rPr lang="zh-CN" altLang="zh-CN" b="0" dirty="0"/>
              <a:t>表示待比较的关键字序号，初值为</a:t>
            </a:r>
            <a:r>
              <a:rPr lang="en-US" altLang="zh-CN" b="0" dirty="0"/>
              <a:t>1</a:t>
            </a:r>
            <a:endParaRPr lang="zh-CN" altLang="zh-CN" b="0" dirty="0"/>
          </a:p>
          <a:p>
            <a:pPr>
              <a:lnSpc>
                <a:spcPct val="140000"/>
              </a:lnSpc>
              <a:spcBef>
                <a:spcPts val="0"/>
              </a:spcBef>
            </a:pPr>
            <a:r>
              <a:rPr lang="en-US" altLang="zh-CN" b="0" dirty="0"/>
              <a:t>        	while(K &gt; p-&gt;key[</a:t>
            </a:r>
            <a:r>
              <a:rPr lang="en-US" altLang="zh-CN" b="0" dirty="0" err="1"/>
              <a:t>i</a:t>
            </a:r>
            <a:r>
              <a:rPr lang="en-US" altLang="zh-CN" b="0" dirty="0"/>
              <a:t>]) </a:t>
            </a:r>
            <a:r>
              <a:rPr lang="en-US" altLang="zh-CN" b="0" dirty="0" err="1"/>
              <a:t>i</a:t>
            </a:r>
            <a:r>
              <a:rPr lang="en-US" altLang="zh-CN" b="0" dirty="0"/>
              <a:t>++; //</a:t>
            </a:r>
            <a:r>
              <a:rPr lang="zh-CN" altLang="zh-CN" b="0" dirty="0"/>
              <a:t>用</a:t>
            </a:r>
            <a:r>
              <a:rPr lang="en-US" altLang="zh-CN" b="0" dirty="0"/>
              <a:t>K</a:t>
            </a:r>
            <a:r>
              <a:rPr lang="zh-CN" altLang="zh-CN" b="0" dirty="0"/>
              <a:t>顺序同结点内关键字进行比较</a:t>
            </a:r>
          </a:p>
          <a:p>
            <a:pPr>
              <a:lnSpc>
                <a:spcPct val="140000"/>
              </a:lnSpc>
              <a:spcBef>
                <a:spcPts val="0"/>
              </a:spcBef>
            </a:pPr>
            <a:r>
              <a:rPr lang="en-US" altLang="zh-CN" b="0" dirty="0"/>
              <a:t>		if (K == p-&gt;key[</a:t>
            </a:r>
            <a:r>
              <a:rPr lang="en-US" altLang="zh-CN" b="0" dirty="0" err="1"/>
              <a:t>i</a:t>
            </a:r>
            <a:r>
              <a:rPr lang="en-US" altLang="zh-CN" b="0" dirty="0"/>
              <a:t>])</a:t>
            </a:r>
            <a:endParaRPr lang="zh-CN" altLang="zh-CN" b="0" dirty="0"/>
          </a:p>
          <a:p>
            <a:pPr>
              <a:lnSpc>
                <a:spcPct val="140000"/>
              </a:lnSpc>
              <a:spcBef>
                <a:spcPts val="0"/>
              </a:spcBef>
            </a:pPr>
            <a:r>
              <a:rPr lang="en-US" altLang="zh-CN" b="0" dirty="0"/>
              <a:t>             		return p-&gt;</a:t>
            </a:r>
            <a:r>
              <a:rPr lang="en-US" altLang="zh-CN" b="0" dirty="0" err="1"/>
              <a:t>recptr</a:t>
            </a:r>
            <a:r>
              <a:rPr lang="en-US" altLang="zh-CN" b="0" dirty="0"/>
              <a:t>[</a:t>
            </a:r>
            <a:r>
              <a:rPr lang="en-US" altLang="zh-CN" b="0" dirty="0" err="1"/>
              <a:t>i</a:t>
            </a:r>
            <a:r>
              <a:rPr lang="en-US" altLang="zh-CN" b="0" dirty="0"/>
              <a:t>]; //</a:t>
            </a:r>
            <a:r>
              <a:rPr lang="zh-CN" altLang="zh-CN" b="0" dirty="0"/>
              <a:t>查找成功返回记录的存储位置</a:t>
            </a:r>
          </a:p>
          <a:p>
            <a:pPr>
              <a:lnSpc>
                <a:spcPct val="140000"/>
              </a:lnSpc>
              <a:spcBef>
                <a:spcPts val="0"/>
              </a:spcBef>
            </a:pPr>
            <a:r>
              <a:rPr lang="en-US" altLang="zh-CN" b="0" dirty="0"/>
              <a:t>        	else p=p-&gt;</a:t>
            </a:r>
            <a:r>
              <a:rPr lang="en-US" altLang="zh-CN" b="0" dirty="0" err="1"/>
              <a:t>ptr</a:t>
            </a:r>
            <a:r>
              <a:rPr lang="en-US" altLang="zh-CN" b="0" dirty="0"/>
              <a:t>[i-1];      //</a:t>
            </a:r>
            <a:r>
              <a:rPr lang="zh-CN" altLang="zh-CN" b="0" dirty="0"/>
              <a:t>继续向子树查找</a:t>
            </a:r>
          </a:p>
          <a:p>
            <a:pPr>
              <a:lnSpc>
                <a:spcPct val="140000"/>
              </a:lnSpc>
              <a:spcBef>
                <a:spcPts val="0"/>
              </a:spcBef>
            </a:pPr>
            <a:r>
              <a:rPr lang="en-US" altLang="zh-CN" b="0" dirty="0"/>
              <a:t>     }</a:t>
            </a:r>
            <a:endParaRPr lang="zh-CN" altLang="zh-CN" b="0" dirty="0"/>
          </a:p>
          <a:p>
            <a:pPr>
              <a:lnSpc>
                <a:spcPct val="140000"/>
              </a:lnSpc>
              <a:spcBef>
                <a:spcPts val="0"/>
              </a:spcBef>
            </a:pPr>
            <a:r>
              <a:rPr lang="en-US" altLang="zh-CN" b="0" dirty="0"/>
              <a:t>     return -1;               //</a:t>
            </a:r>
            <a:r>
              <a:rPr lang="zh-CN" altLang="zh-CN" b="0" dirty="0"/>
              <a:t>查找失败返回</a:t>
            </a:r>
            <a:r>
              <a:rPr lang="en-US" altLang="zh-CN" b="0" dirty="0"/>
              <a:t>-1</a:t>
            </a:r>
            <a:endParaRPr lang="zh-CN" altLang="zh-CN" b="0" dirty="0"/>
          </a:p>
          <a:p>
            <a:pPr>
              <a:lnSpc>
                <a:spcPct val="140000"/>
              </a:lnSpc>
              <a:spcBef>
                <a:spcPts val="0"/>
              </a:spcBef>
            </a:pPr>
            <a:r>
              <a:rPr lang="en-US" altLang="zh-CN" b="0" dirty="0"/>
              <a:t>  }</a:t>
            </a:r>
            <a:endParaRPr lang="zh-CN" altLang="zh-CN" b="0" dirty="0"/>
          </a:p>
        </p:txBody>
      </p:sp>
    </p:spTree>
    <p:extLst>
      <p:ext uri="{BB962C8B-B14F-4D97-AF65-F5344CB8AC3E}">
        <p14:creationId xmlns:p14="http://schemas.microsoft.com/office/powerpoint/2010/main" val="175831242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71600" y="1124744"/>
            <a:ext cx="7776864" cy="3579849"/>
          </a:xfrm>
        </p:spPr>
        <p:txBody>
          <a:bodyPr>
            <a:normAutofit/>
          </a:bodyPr>
          <a:lstStyle/>
          <a:p>
            <a:r>
              <a:rPr lang="en-US" altLang="zh-CN" dirty="0"/>
              <a:t>2</a:t>
            </a:r>
            <a:r>
              <a:rPr lang="zh-CN" altLang="zh-CN" dirty="0"/>
              <a:t>．</a:t>
            </a:r>
            <a:r>
              <a:rPr lang="en-US" altLang="zh-CN" dirty="0"/>
              <a:t> B</a:t>
            </a:r>
            <a:r>
              <a:rPr lang="zh-CN" altLang="zh-CN" dirty="0"/>
              <a:t>树的插入</a:t>
            </a:r>
          </a:p>
          <a:p>
            <a:r>
              <a:rPr lang="en-US" altLang="zh-CN" b="0" dirty="0"/>
              <a:t>		</a:t>
            </a:r>
            <a:r>
              <a:rPr lang="en-US" altLang="zh-CN" b="0" dirty="0">
                <a:solidFill>
                  <a:srgbClr val="FF0000"/>
                </a:solidFill>
              </a:rPr>
              <a:t>B</a:t>
            </a:r>
            <a:r>
              <a:rPr lang="zh-CN" altLang="zh-CN" b="0" dirty="0">
                <a:solidFill>
                  <a:srgbClr val="FF0000"/>
                </a:solidFill>
              </a:rPr>
              <a:t>树的生成也是从空树开始，逐个插入关键字而得。</a:t>
            </a:r>
            <a:r>
              <a:rPr lang="zh-CN" altLang="zh-CN" b="0" dirty="0"/>
              <a:t>但是由于</a:t>
            </a:r>
            <a:r>
              <a:rPr lang="en-US" altLang="zh-CN" dirty="0">
                <a:solidFill>
                  <a:srgbClr val="FF0000"/>
                </a:solidFill>
              </a:rPr>
              <a:t>m</a:t>
            </a:r>
            <a:r>
              <a:rPr lang="zh-CN" altLang="en-US" dirty="0">
                <a:solidFill>
                  <a:srgbClr val="FF0000"/>
                </a:solidFill>
              </a:rPr>
              <a:t>阶</a:t>
            </a:r>
            <a:r>
              <a:rPr lang="en-US" altLang="zh-CN" dirty="0">
                <a:solidFill>
                  <a:srgbClr val="FF0000"/>
                </a:solidFill>
              </a:rPr>
              <a:t>B</a:t>
            </a:r>
            <a:r>
              <a:rPr lang="zh-CN" altLang="zh-CN" dirty="0">
                <a:solidFill>
                  <a:srgbClr val="FF0000"/>
                </a:solidFill>
              </a:rPr>
              <a:t>树结点中的关键字个数必须</a:t>
            </a:r>
            <a:r>
              <a:rPr lang="en-US" altLang="zh-CN" dirty="0">
                <a:solidFill>
                  <a:srgbClr val="FF0000"/>
                </a:solidFill>
              </a:rPr>
              <a:t>≥⌈m/2⌉-1</a:t>
            </a:r>
            <a:r>
              <a:rPr lang="zh-CN" altLang="zh-CN" b="0" dirty="0"/>
              <a:t>，因此，每次插入一个关键字不是在树中添加一个叶子结点，而是首先在</a:t>
            </a:r>
            <a:r>
              <a:rPr lang="zh-CN" altLang="zh-CN" dirty="0">
                <a:solidFill>
                  <a:srgbClr val="FF0000"/>
                </a:solidFill>
              </a:rPr>
              <a:t>最低层的某个非终结点中添加一个关键字</a:t>
            </a:r>
            <a:r>
              <a:rPr lang="zh-CN" altLang="zh-CN" b="0" dirty="0"/>
              <a:t>，如果该结点的</a:t>
            </a:r>
            <a:r>
              <a:rPr lang="zh-CN" altLang="zh-CN" dirty="0">
                <a:solidFill>
                  <a:srgbClr val="FF0000"/>
                </a:solidFill>
              </a:rPr>
              <a:t>关键字个数不超过</a:t>
            </a:r>
            <a:r>
              <a:rPr lang="en-US" altLang="zh-CN" dirty="0">
                <a:solidFill>
                  <a:srgbClr val="FF0000"/>
                </a:solidFill>
              </a:rPr>
              <a:t>m-1</a:t>
            </a:r>
            <a:r>
              <a:rPr lang="zh-CN" altLang="zh-CN" b="0" dirty="0"/>
              <a:t>，则插入成功，否则需要</a:t>
            </a:r>
            <a:r>
              <a:rPr lang="zh-CN" altLang="zh-CN" b="0" dirty="0">
                <a:solidFill>
                  <a:srgbClr val="FF0000"/>
                </a:solidFill>
              </a:rPr>
              <a:t>产生结点的“</a:t>
            </a:r>
            <a:r>
              <a:rPr lang="zh-CN" altLang="zh-CN" dirty="0">
                <a:solidFill>
                  <a:srgbClr val="FF0000"/>
                </a:solidFill>
              </a:rPr>
              <a:t>分裂</a:t>
            </a:r>
            <a:r>
              <a:rPr lang="zh-CN" altLang="zh-CN" b="0" dirty="0">
                <a:solidFill>
                  <a:srgbClr val="FF0000"/>
                </a:solidFill>
              </a:rPr>
              <a:t>”</a:t>
            </a:r>
            <a:r>
              <a:rPr lang="zh-CN" altLang="en-US" b="0" dirty="0"/>
              <a:t>。</a:t>
            </a:r>
          </a:p>
        </p:txBody>
      </p:sp>
      <p:pic>
        <p:nvPicPr>
          <p:cNvPr id="5" name="图片 4"/>
          <p:cNvPicPr/>
          <p:nvPr/>
        </p:nvPicPr>
        <p:blipFill>
          <a:blip r:embed="rId2" cstate="print">
            <a:extLst>
              <a:ext uri="{28A0092B-C50C-407E-A947-70E740481C1C}">
                <a14:useLocalDpi xmlns:a14="http://schemas.microsoft.com/office/drawing/2010/main" val="0"/>
              </a:ext>
            </a:extLst>
          </a:blip>
          <a:stretch>
            <a:fillRect/>
          </a:stretch>
        </p:blipFill>
        <p:spPr>
          <a:xfrm>
            <a:off x="8143900" y="357166"/>
            <a:ext cx="566659" cy="566257"/>
          </a:xfrm>
          <a:prstGeom prst="rect">
            <a:avLst/>
          </a:prstGeom>
        </p:spPr>
      </p:pic>
    </p:spTree>
    <p:extLst>
      <p:ext uri="{BB962C8B-B14F-4D97-AF65-F5344CB8AC3E}">
        <p14:creationId xmlns:p14="http://schemas.microsoft.com/office/powerpoint/2010/main" val="243332979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124744"/>
            <a:ext cx="7632848" cy="4392488"/>
          </a:xfrm>
        </p:spPr>
        <p:txBody>
          <a:bodyPr>
            <a:normAutofit/>
          </a:bodyPr>
          <a:lstStyle/>
          <a:p>
            <a:r>
              <a:rPr lang="zh-CN" altLang="zh-CN" dirty="0">
                <a:solidFill>
                  <a:srgbClr val="FF0000"/>
                </a:solidFill>
              </a:rPr>
              <a:t>向</a:t>
            </a:r>
            <a:r>
              <a:rPr lang="en-US" altLang="zh-CN" dirty="0">
                <a:solidFill>
                  <a:srgbClr val="FF0000"/>
                </a:solidFill>
              </a:rPr>
              <a:t>B</a:t>
            </a:r>
            <a:r>
              <a:rPr lang="zh-CN" altLang="zh-CN" dirty="0">
                <a:solidFill>
                  <a:srgbClr val="FF0000"/>
                </a:solidFill>
              </a:rPr>
              <a:t>树中插入关键字的过程分两步完成</a:t>
            </a:r>
            <a:r>
              <a:rPr lang="zh-CN" altLang="zh-CN" dirty="0"/>
              <a:t>：</a:t>
            </a:r>
          </a:p>
          <a:p>
            <a:r>
              <a:rPr lang="zh-CN" altLang="zh-CN" b="0" dirty="0"/>
              <a:t>（</a:t>
            </a:r>
            <a:r>
              <a:rPr lang="en-US" altLang="zh-CN" b="0" dirty="0"/>
              <a:t>1</a:t>
            </a:r>
            <a:r>
              <a:rPr lang="zh-CN" altLang="zh-CN" b="0" dirty="0"/>
              <a:t>）</a:t>
            </a:r>
            <a:r>
              <a:rPr lang="zh-CN" altLang="zh-CN" b="0" dirty="0">
                <a:solidFill>
                  <a:srgbClr val="FF0000"/>
                </a:solidFill>
              </a:rPr>
              <a:t>利用前述的</a:t>
            </a:r>
            <a:r>
              <a:rPr lang="en-US" altLang="zh-CN" b="0" dirty="0">
                <a:solidFill>
                  <a:srgbClr val="FF0000"/>
                </a:solidFill>
              </a:rPr>
              <a:t>B</a:t>
            </a:r>
            <a:r>
              <a:rPr lang="zh-CN" altLang="zh-CN" b="0" dirty="0">
                <a:solidFill>
                  <a:srgbClr val="FF0000"/>
                </a:solidFill>
              </a:rPr>
              <a:t>树的查找算法查找关键字的插入位置</a:t>
            </a:r>
            <a:r>
              <a:rPr lang="zh-CN" altLang="zh-CN" b="0" dirty="0"/>
              <a:t>。若找到，则说明该关键字已经存在，直接返回。否则查找操作必失败于某个最底层的非终结点上。</a:t>
            </a:r>
          </a:p>
          <a:p>
            <a:r>
              <a:rPr lang="zh-CN" altLang="zh-CN" b="0" dirty="0"/>
              <a:t>（</a:t>
            </a:r>
            <a:r>
              <a:rPr lang="en-US" altLang="zh-CN" b="0" dirty="0"/>
              <a:t>2</a:t>
            </a:r>
            <a:r>
              <a:rPr lang="zh-CN" altLang="zh-CN" b="0" dirty="0"/>
              <a:t>）</a:t>
            </a:r>
            <a:r>
              <a:rPr lang="zh-CN" altLang="zh-CN" b="0" dirty="0">
                <a:solidFill>
                  <a:srgbClr val="FF0000"/>
                </a:solidFill>
              </a:rPr>
              <a:t>判断该结点是否还有空位置</a:t>
            </a:r>
            <a:r>
              <a:rPr lang="zh-CN" altLang="zh-CN" b="0" dirty="0"/>
              <a:t>。即判断该结点的关键字总数是否</a:t>
            </a:r>
            <a:r>
              <a:rPr lang="zh-CN" altLang="zh-CN" b="0" dirty="0">
                <a:solidFill>
                  <a:srgbClr val="FF0000"/>
                </a:solidFill>
              </a:rPr>
              <a:t>满足</a:t>
            </a:r>
            <a:r>
              <a:rPr lang="en-US" altLang="zh-CN" b="0" dirty="0">
                <a:solidFill>
                  <a:srgbClr val="FF0000"/>
                </a:solidFill>
              </a:rPr>
              <a:t>n≤m-1</a:t>
            </a:r>
            <a:r>
              <a:rPr lang="zh-CN" altLang="zh-CN" b="0" dirty="0"/>
              <a:t>。如果满足，则说明该结点还有空位置，直接把关键字</a:t>
            </a:r>
            <a:r>
              <a:rPr lang="en-US" altLang="zh-CN" b="0" dirty="0"/>
              <a:t>k</a:t>
            </a:r>
            <a:r>
              <a:rPr lang="zh-CN" altLang="zh-CN" b="0" dirty="0"/>
              <a:t>插入到该结点的合适位置上。若不满足，说明该结点已没有空位置，需要将结点分裂成两个。</a:t>
            </a:r>
            <a:endParaRPr lang="zh-CN" altLang="en-US" b="0" dirty="0"/>
          </a:p>
        </p:txBody>
      </p:sp>
    </p:spTree>
    <p:extLst>
      <p:ext uri="{BB962C8B-B14F-4D97-AF65-F5344CB8AC3E}">
        <p14:creationId xmlns:p14="http://schemas.microsoft.com/office/powerpoint/2010/main" val="342318653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1000100" y="1000108"/>
            <a:ext cx="7520940" cy="5286412"/>
          </a:xfrm>
        </p:spPr>
        <p:txBody>
          <a:bodyPr>
            <a:normAutofit fontScale="92500"/>
          </a:bodyPr>
          <a:lstStyle/>
          <a:p>
            <a:r>
              <a:rPr lang="zh-CN" altLang="en-US" dirty="0">
                <a:solidFill>
                  <a:srgbClr val="FF0000"/>
                </a:solidFill>
              </a:rPr>
              <a:t>分裂的方法：</a:t>
            </a:r>
            <a:endParaRPr lang="en-US" altLang="zh-CN" dirty="0">
              <a:solidFill>
                <a:srgbClr val="FF0000"/>
              </a:solidFill>
            </a:endParaRPr>
          </a:p>
          <a:p>
            <a:pPr>
              <a:buFont typeface="Arial" pitchFamily="34" charset="0"/>
              <a:buChar char="•"/>
            </a:pPr>
            <a:r>
              <a:rPr lang="zh-CN" altLang="en-US" b="0" dirty="0">
                <a:solidFill>
                  <a:srgbClr val="FF0000"/>
                </a:solidFill>
              </a:rPr>
              <a:t>生成一个新结点</a:t>
            </a:r>
            <a:r>
              <a:rPr lang="zh-CN" altLang="en-US" b="0" dirty="0"/>
              <a:t>。</a:t>
            </a:r>
            <a:endParaRPr lang="en-US" altLang="zh-CN" b="0" dirty="0"/>
          </a:p>
          <a:p>
            <a:pPr>
              <a:buFont typeface="Arial" pitchFamily="34" charset="0"/>
              <a:buChar char="•"/>
            </a:pPr>
            <a:r>
              <a:rPr lang="zh-CN" altLang="en-US" b="0" dirty="0"/>
              <a:t>把原结点上的关键字和插入的关键字</a:t>
            </a:r>
            <a:r>
              <a:rPr lang="en-US" b="0" dirty="0"/>
              <a:t>k</a:t>
            </a:r>
            <a:r>
              <a:rPr lang="zh-CN" altLang="en-US" b="0" dirty="0"/>
              <a:t>排序后，</a:t>
            </a:r>
            <a:r>
              <a:rPr lang="zh-CN" altLang="en-US" b="0" dirty="0">
                <a:solidFill>
                  <a:srgbClr val="FF0000"/>
                </a:solidFill>
              </a:rPr>
              <a:t>从中间位置把关键字序列（不包含中间位置的关键字）分成两部分</a:t>
            </a:r>
            <a:r>
              <a:rPr lang="zh-CN" altLang="en-US" b="0" dirty="0"/>
              <a:t>。</a:t>
            </a:r>
            <a:endParaRPr lang="en-US" altLang="zh-CN" b="0" dirty="0"/>
          </a:p>
          <a:p>
            <a:pPr>
              <a:buFont typeface="Arial" pitchFamily="34" charset="0"/>
              <a:buChar char="•"/>
            </a:pPr>
            <a:r>
              <a:rPr lang="zh-CN" altLang="en-US" b="0" dirty="0">
                <a:solidFill>
                  <a:srgbClr val="FF0000"/>
                </a:solidFill>
              </a:rPr>
              <a:t>左部分所含关键字放在旧结点中，右部分所含关键字放在新结点中，中间位置的关键字连同新结点的存储位置插入到双亲结点中。</a:t>
            </a:r>
            <a:endParaRPr lang="en-US" altLang="zh-CN" b="0" dirty="0">
              <a:solidFill>
                <a:srgbClr val="FF0000"/>
              </a:solidFill>
            </a:endParaRPr>
          </a:p>
          <a:p>
            <a:pPr marL="0" indent="0"/>
            <a:r>
              <a:rPr lang="zh-CN" altLang="en-US" b="0" dirty="0"/>
              <a:t>也就是说设结点</a:t>
            </a:r>
            <a:r>
              <a:rPr lang="en-US" b="0" dirty="0"/>
              <a:t>p</a:t>
            </a:r>
            <a:r>
              <a:rPr lang="zh-CN" altLang="en-US" b="0" dirty="0"/>
              <a:t>中已经有</a:t>
            </a:r>
            <a:r>
              <a:rPr lang="en-US" b="0" dirty="0"/>
              <a:t>m-1</a:t>
            </a:r>
            <a:r>
              <a:rPr lang="zh-CN" altLang="en-US" b="0" dirty="0"/>
              <a:t>个关键字，当再插入一个关键字后结点中的状态为：</a:t>
            </a:r>
          </a:p>
          <a:p>
            <a:pPr>
              <a:buFont typeface="Arial" pitchFamily="34" charset="0"/>
              <a:buChar char="•"/>
            </a:pPr>
            <a:endParaRPr lang="en-US" altLang="zh-CN" b="0" dirty="0"/>
          </a:p>
          <a:p>
            <a:r>
              <a:rPr lang="zh-CN" altLang="en-US" b="0" dirty="0"/>
              <a:t>               其中</a:t>
            </a:r>
            <a:r>
              <a:rPr lang="en-US" b="0" dirty="0" err="1"/>
              <a:t>K</a:t>
            </a:r>
            <a:r>
              <a:rPr lang="en-US" b="0" baseline="-25000" dirty="0" err="1"/>
              <a:t>i</a:t>
            </a:r>
            <a:r>
              <a:rPr lang="en-US" b="0" dirty="0"/>
              <a:t>&lt;K</a:t>
            </a:r>
            <a:r>
              <a:rPr lang="en-US" b="0" baseline="-25000" dirty="0"/>
              <a:t>i+1</a:t>
            </a:r>
            <a:r>
              <a:rPr lang="en-US" b="0" dirty="0"/>
              <a:t>,1≤i&lt;m</a:t>
            </a:r>
            <a:r>
              <a:rPr lang="zh-CN" altLang="en-US" b="0" dirty="0"/>
              <a:t>。</a:t>
            </a:r>
          </a:p>
        </p:txBody>
      </p:sp>
      <p:pic>
        <p:nvPicPr>
          <p:cNvPr id="1027" name="Picture 3"/>
          <p:cNvPicPr>
            <a:picLocks noChangeAspect="1" noChangeArrowheads="1"/>
          </p:cNvPicPr>
          <p:nvPr/>
        </p:nvPicPr>
        <p:blipFill>
          <a:blip r:embed="rId2" cstate="print"/>
          <a:srcRect/>
          <a:stretch>
            <a:fillRect/>
          </a:stretch>
        </p:blipFill>
        <p:spPr bwMode="auto">
          <a:xfrm>
            <a:off x="2643174" y="5072074"/>
            <a:ext cx="3981450" cy="485775"/>
          </a:xfrm>
          <a:prstGeom prst="rect">
            <a:avLst/>
          </a:prstGeom>
          <a:noFill/>
          <a:ln w="9525">
            <a:noFill/>
            <a:miter lim="800000"/>
            <a:headEnd/>
            <a:tailEnd/>
          </a:ln>
          <a:effectLst/>
        </p:spPr>
      </p:pic>
    </p:spTree>
    <p:extLst>
      <p:ext uri="{BB962C8B-B14F-4D97-AF65-F5344CB8AC3E}">
        <p14:creationId xmlns:p14="http://schemas.microsoft.com/office/powerpoint/2010/main" val="115388120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60" y="1340768"/>
            <a:ext cx="8208912" cy="4608512"/>
          </a:xfrm>
        </p:spPr>
        <p:txBody>
          <a:bodyPr>
            <a:normAutofit/>
          </a:bodyPr>
          <a:lstStyle/>
          <a:p>
            <a:pPr>
              <a:buFont typeface="Arial" pitchFamily="34" charset="0"/>
              <a:buChar char="•"/>
            </a:pPr>
            <a:r>
              <a:rPr lang="zh-CN" altLang="zh-CN" b="0" dirty="0">
                <a:solidFill>
                  <a:srgbClr val="FF0000"/>
                </a:solidFill>
              </a:rPr>
              <a:t>除</a:t>
            </a:r>
            <a:r>
              <a:rPr lang="en-US" altLang="zh-CN" b="0" dirty="0" err="1">
                <a:solidFill>
                  <a:srgbClr val="FF0000"/>
                </a:solidFill>
              </a:rPr>
              <a:t>K</a:t>
            </a:r>
            <a:r>
              <a:rPr lang="en-US" altLang="zh-CN" b="0" baseline="-25000" dirty="0" err="1">
                <a:solidFill>
                  <a:srgbClr val="FF0000"/>
                </a:solidFill>
              </a:rPr>
              <a:t>⌈m</a:t>
            </a:r>
            <a:r>
              <a:rPr lang="en-US" altLang="zh-CN" b="0" baseline="-25000" dirty="0">
                <a:solidFill>
                  <a:srgbClr val="FF0000"/>
                </a:solidFill>
              </a:rPr>
              <a:t>/2⌉</a:t>
            </a:r>
            <a:r>
              <a:rPr lang="zh-CN" altLang="zh-CN" b="0" dirty="0">
                <a:solidFill>
                  <a:srgbClr val="FF0000"/>
                </a:solidFill>
              </a:rPr>
              <a:t>结点之外，把</a:t>
            </a:r>
            <a:r>
              <a:rPr lang="en-US" altLang="zh-CN" b="0" dirty="0">
                <a:solidFill>
                  <a:srgbClr val="FF0000"/>
                </a:solidFill>
              </a:rPr>
              <a:t>p</a:t>
            </a:r>
            <a:r>
              <a:rPr lang="zh-CN" altLang="zh-CN" b="0" dirty="0">
                <a:solidFill>
                  <a:srgbClr val="FF0000"/>
                </a:solidFill>
              </a:rPr>
              <a:t>结点分为左右两部分</a:t>
            </a:r>
            <a:r>
              <a:rPr lang="zh-CN" altLang="zh-CN" b="0" dirty="0"/>
              <a:t>，左边的部分包含信息为</a:t>
            </a:r>
            <a:r>
              <a:rPr lang="en-US" altLang="zh-CN" sz="2000" b="0" dirty="0"/>
              <a:t>(⌈m/2⌉-1,P</a:t>
            </a:r>
            <a:r>
              <a:rPr lang="en-US" altLang="zh-CN" sz="2000" b="0" baseline="-25000" dirty="0"/>
              <a:t>0</a:t>
            </a:r>
            <a:r>
              <a:rPr lang="en-US" altLang="zh-CN" sz="2000" b="0" dirty="0"/>
              <a:t>,K</a:t>
            </a:r>
            <a:r>
              <a:rPr lang="en-US" altLang="zh-CN" sz="2000" b="0" baseline="-25000" dirty="0"/>
              <a:t>1</a:t>
            </a:r>
            <a:r>
              <a:rPr lang="en-US" altLang="zh-CN" sz="2000" b="0" dirty="0"/>
              <a:t>,P</a:t>
            </a:r>
            <a:r>
              <a:rPr lang="en-US" altLang="zh-CN" sz="2000" b="0" baseline="-25000" dirty="0"/>
              <a:t>1</a:t>
            </a:r>
            <a:r>
              <a:rPr lang="en-US" altLang="zh-CN" sz="2000" b="0" dirty="0"/>
              <a:t>, …,</a:t>
            </a:r>
            <a:r>
              <a:rPr lang="en-US" altLang="zh-CN" sz="2000" b="0" dirty="0" err="1"/>
              <a:t>K</a:t>
            </a:r>
            <a:r>
              <a:rPr lang="en-US" altLang="zh-CN" sz="2000" b="0" baseline="-25000" dirty="0" err="1"/>
              <a:t>⌈m</a:t>
            </a:r>
            <a:r>
              <a:rPr lang="en-US" altLang="zh-CN" sz="2000" b="0" baseline="-25000" dirty="0"/>
              <a:t>/2⌉-1</a:t>
            </a:r>
            <a:r>
              <a:rPr lang="en-US" altLang="zh-CN" sz="2000" b="0" dirty="0"/>
              <a:t>,P</a:t>
            </a:r>
            <a:r>
              <a:rPr lang="en-US" altLang="zh-CN" sz="2000" b="0" baseline="-25000" dirty="0"/>
              <a:t>⌈m/2⌉-1</a:t>
            </a:r>
            <a:r>
              <a:rPr lang="en-US" altLang="zh-CN" sz="2000" b="0" dirty="0"/>
              <a:t>)</a:t>
            </a:r>
            <a:r>
              <a:rPr lang="zh-CN" altLang="zh-CN" b="0" dirty="0"/>
              <a:t>，留在原</a:t>
            </a:r>
            <a:r>
              <a:rPr lang="en-US" altLang="zh-CN" b="0" dirty="0"/>
              <a:t>p</a:t>
            </a:r>
            <a:r>
              <a:rPr lang="zh-CN" altLang="zh-CN" b="0" dirty="0"/>
              <a:t>结点中；右边的部分包含信息为</a:t>
            </a:r>
            <a:r>
              <a:rPr lang="en-US" altLang="zh-CN" sz="2000" b="0" dirty="0"/>
              <a:t>(m-⌈m/2⌉,P</a:t>
            </a:r>
            <a:r>
              <a:rPr lang="en-US" altLang="zh-CN" sz="2000" b="0" baseline="-25000" dirty="0"/>
              <a:t>⌈m/2⌉</a:t>
            </a:r>
            <a:r>
              <a:rPr lang="en-US" altLang="zh-CN" sz="2000" b="0" dirty="0"/>
              <a:t>,K</a:t>
            </a:r>
            <a:r>
              <a:rPr lang="en-US" altLang="zh-CN" sz="2000" b="0" baseline="-25000" dirty="0"/>
              <a:t>⌈m/2⌉+1</a:t>
            </a:r>
            <a:r>
              <a:rPr lang="en-US" altLang="zh-CN" sz="2000" b="0" dirty="0"/>
              <a:t>,P</a:t>
            </a:r>
            <a:r>
              <a:rPr lang="en-US" altLang="zh-CN" sz="2000" b="0" baseline="-25000" dirty="0"/>
              <a:t>⌈m/2⌉+1</a:t>
            </a:r>
            <a:r>
              <a:rPr lang="en-US" altLang="zh-CN" sz="2000" b="0" dirty="0"/>
              <a:t>,…,</a:t>
            </a:r>
            <a:r>
              <a:rPr lang="en-US" altLang="zh-CN" sz="2000" b="0" dirty="0" err="1"/>
              <a:t>K</a:t>
            </a:r>
            <a:r>
              <a:rPr lang="en-US" altLang="zh-CN" sz="2000" b="0" baseline="-25000" dirty="0" err="1"/>
              <a:t>m</a:t>
            </a:r>
            <a:r>
              <a:rPr lang="en-US" altLang="zh-CN" sz="2000" b="0" dirty="0" err="1"/>
              <a:t>,P</a:t>
            </a:r>
            <a:r>
              <a:rPr lang="en-US" altLang="zh-CN" sz="2000" b="0" baseline="-25000" dirty="0" err="1"/>
              <a:t>m</a:t>
            </a:r>
            <a:r>
              <a:rPr lang="en-US" altLang="zh-CN" sz="2000" b="0" dirty="0"/>
              <a:t>)</a:t>
            </a:r>
            <a:r>
              <a:rPr lang="zh-CN" altLang="zh-CN" sz="2000" b="0" dirty="0"/>
              <a:t>，</a:t>
            </a:r>
            <a:r>
              <a:rPr lang="zh-CN" altLang="zh-CN" b="0" dirty="0"/>
              <a:t>存储到一个新建结点中，用指针</a:t>
            </a:r>
            <a:r>
              <a:rPr lang="en-US" altLang="zh-CN" b="0" dirty="0"/>
              <a:t>q</a:t>
            </a:r>
            <a:r>
              <a:rPr lang="zh-CN" altLang="zh-CN" b="0" dirty="0"/>
              <a:t>指向它；</a:t>
            </a:r>
            <a:endParaRPr lang="en-US" altLang="zh-CN" b="0" dirty="0"/>
          </a:p>
          <a:p>
            <a:pPr>
              <a:buFont typeface="Arial" pitchFamily="34" charset="0"/>
              <a:buChar char="•"/>
            </a:pPr>
            <a:r>
              <a:rPr lang="zh-CN" altLang="zh-CN" b="0" dirty="0">
                <a:solidFill>
                  <a:srgbClr val="FF0000"/>
                </a:solidFill>
              </a:rPr>
              <a:t>位于中间的关键字</a:t>
            </a:r>
            <a:r>
              <a:rPr lang="en-US" altLang="zh-CN" b="0" dirty="0" err="1">
                <a:solidFill>
                  <a:srgbClr val="FF0000"/>
                </a:solidFill>
              </a:rPr>
              <a:t>K</a:t>
            </a:r>
            <a:r>
              <a:rPr lang="en-US" altLang="zh-CN" b="0" baseline="-25000" dirty="0" err="1">
                <a:solidFill>
                  <a:srgbClr val="FF0000"/>
                </a:solidFill>
              </a:rPr>
              <a:t>⌈m</a:t>
            </a:r>
            <a:r>
              <a:rPr lang="en-US" altLang="zh-CN" b="0" baseline="-25000" dirty="0">
                <a:solidFill>
                  <a:srgbClr val="FF0000"/>
                </a:solidFill>
              </a:rPr>
              <a:t>/2⌉</a:t>
            </a:r>
            <a:r>
              <a:rPr lang="zh-CN" altLang="zh-CN" b="0" dirty="0">
                <a:solidFill>
                  <a:srgbClr val="FF0000"/>
                </a:solidFill>
              </a:rPr>
              <a:t>与指向新结点的指针</a:t>
            </a:r>
            <a:r>
              <a:rPr lang="en-US" altLang="zh-CN" b="0" dirty="0">
                <a:solidFill>
                  <a:srgbClr val="FF0000"/>
                </a:solidFill>
              </a:rPr>
              <a:t>q</a:t>
            </a:r>
            <a:r>
              <a:rPr lang="zh-CN" altLang="zh-CN" b="0" dirty="0">
                <a:solidFill>
                  <a:srgbClr val="FF0000"/>
                </a:solidFill>
              </a:rPr>
              <a:t>生成一个新二元组（</a:t>
            </a:r>
            <a:r>
              <a:rPr lang="en-US" altLang="zh-CN" b="0" dirty="0" err="1">
                <a:solidFill>
                  <a:srgbClr val="FF0000"/>
                </a:solidFill>
              </a:rPr>
              <a:t>K</a:t>
            </a:r>
            <a:r>
              <a:rPr lang="en-US" altLang="zh-CN" b="0" baseline="-25000" dirty="0" err="1">
                <a:solidFill>
                  <a:srgbClr val="FF0000"/>
                </a:solidFill>
              </a:rPr>
              <a:t>⌈m</a:t>
            </a:r>
            <a:r>
              <a:rPr lang="en-US" altLang="zh-CN" b="0" baseline="-25000" dirty="0">
                <a:solidFill>
                  <a:srgbClr val="FF0000"/>
                </a:solidFill>
              </a:rPr>
              <a:t>/2⌉</a:t>
            </a:r>
            <a:r>
              <a:rPr lang="zh-CN" altLang="zh-CN" b="0" dirty="0">
                <a:solidFill>
                  <a:srgbClr val="FF0000"/>
                </a:solidFill>
              </a:rPr>
              <a:t>，</a:t>
            </a:r>
            <a:r>
              <a:rPr lang="en-US" altLang="zh-CN" b="0" dirty="0">
                <a:solidFill>
                  <a:srgbClr val="FF0000"/>
                </a:solidFill>
              </a:rPr>
              <a:t>q</a:t>
            </a:r>
            <a:r>
              <a:rPr lang="zh-CN" altLang="zh-CN" b="0" dirty="0">
                <a:solidFill>
                  <a:srgbClr val="FF0000"/>
                </a:solidFill>
              </a:rPr>
              <a:t>）</a:t>
            </a:r>
            <a:r>
              <a:rPr lang="zh-CN" altLang="zh-CN" b="0" dirty="0"/>
              <a:t>按顺序插入到双亲结点当中。</a:t>
            </a:r>
            <a:endParaRPr lang="en-US" altLang="zh-CN" b="0" dirty="0"/>
          </a:p>
          <a:p>
            <a:pPr>
              <a:buFont typeface="Arial" pitchFamily="34" charset="0"/>
              <a:buChar char="•"/>
            </a:pPr>
            <a:r>
              <a:rPr lang="zh-CN" altLang="zh-CN" b="0" dirty="0">
                <a:solidFill>
                  <a:srgbClr val="FF0000"/>
                </a:solidFill>
              </a:rPr>
              <a:t>如果双亲结点的关键字个数也超过</a:t>
            </a:r>
            <a:r>
              <a:rPr lang="en-US" altLang="zh-CN" b="0" dirty="0">
                <a:solidFill>
                  <a:srgbClr val="FF0000"/>
                </a:solidFill>
              </a:rPr>
              <a:t>m-1</a:t>
            </a:r>
            <a:r>
              <a:rPr lang="zh-CN" altLang="zh-CN" b="0" dirty="0">
                <a:solidFill>
                  <a:srgbClr val="FF0000"/>
                </a:solidFill>
              </a:rPr>
              <a:t>，则要再分裂，再往上插。</a:t>
            </a:r>
            <a:r>
              <a:rPr lang="zh-CN" altLang="zh-CN" b="0" dirty="0"/>
              <a:t>直至这个过程传到根结点为止。</a:t>
            </a:r>
          </a:p>
        </p:txBody>
      </p:sp>
    </p:spTree>
    <p:extLst>
      <p:ext uri="{BB962C8B-B14F-4D97-AF65-F5344CB8AC3E}">
        <p14:creationId xmlns:p14="http://schemas.microsoft.com/office/powerpoint/2010/main" val="291005758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187624" y="1124744"/>
            <a:ext cx="6696744" cy="830997"/>
          </a:xfrm>
          <a:prstGeom prst="rect">
            <a:avLst/>
          </a:prstGeom>
        </p:spPr>
        <p:txBody>
          <a:bodyPr wrap="square">
            <a:spAutoFit/>
          </a:bodyPr>
          <a:lstStyle/>
          <a:p>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图</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8-13(a)</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所示为</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3</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阶的</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B</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树（图中略去叶子结点），假设需要依次插入关键字</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30</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26</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85</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和</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7</a:t>
            </a:r>
            <a:r>
              <a:rPr lang="zh-CN" altLang="zh-CN" dirty="0"/>
              <a:t>。</a:t>
            </a:r>
            <a:endParaRPr lang="zh-CN" altLang="en-US" dirty="0"/>
          </a:p>
        </p:txBody>
      </p:sp>
      <p:pic>
        <p:nvPicPr>
          <p:cNvPr id="5"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907704" y="2276872"/>
            <a:ext cx="5836640" cy="29115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矩形 5"/>
          <p:cNvSpPr/>
          <p:nvPr/>
        </p:nvSpPr>
        <p:spPr>
          <a:xfrm>
            <a:off x="3707904" y="4725144"/>
            <a:ext cx="1941557" cy="507831"/>
          </a:xfrm>
          <a:prstGeom prst="rect">
            <a:avLst/>
          </a:prstGeom>
          <a:solidFill>
            <a:schemeClr val="bg1"/>
          </a:solidFill>
        </p:spPr>
        <p:txBody>
          <a:bodyPr wrap="none">
            <a:spAutoFit/>
          </a:bodyPr>
          <a:lstStyle/>
          <a:p>
            <a:pPr>
              <a:lnSpc>
                <a:spcPct val="150000"/>
              </a:lnSpc>
            </a:pPr>
            <a:r>
              <a:rPr lang="zh-CN"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a</a:t>
            </a:r>
            <a:r>
              <a:rPr lang="zh-CN" altLang="zh-CN" dirty="0">
                <a:latin typeface="Times New Roman" panose="02020603050405020304" pitchFamily="18" charset="0"/>
                <a:cs typeface="Times New Roman" panose="02020603050405020304" pitchFamily="18" charset="0"/>
              </a:rPr>
              <a:t>）一棵</a:t>
            </a:r>
            <a:r>
              <a:rPr lang="en-US" altLang="zh-CN" dirty="0">
                <a:latin typeface="Times New Roman" panose="02020603050405020304" pitchFamily="18" charset="0"/>
                <a:cs typeface="Times New Roman" panose="02020603050405020304" pitchFamily="18" charset="0"/>
              </a:rPr>
              <a:t>3</a:t>
            </a:r>
            <a:r>
              <a:rPr lang="zh-CN" altLang="zh-CN" dirty="0">
                <a:latin typeface="Times New Roman" panose="02020603050405020304" pitchFamily="18" charset="0"/>
                <a:cs typeface="Times New Roman" panose="02020603050405020304" pitchFamily="18" charset="0"/>
              </a:rPr>
              <a:t>阶</a:t>
            </a:r>
            <a:r>
              <a:rPr lang="en-US" altLang="zh-CN" dirty="0">
                <a:latin typeface="Times New Roman" panose="02020603050405020304" pitchFamily="18" charset="0"/>
                <a:cs typeface="Times New Roman" panose="02020603050405020304" pitchFamily="18" charset="0"/>
              </a:rPr>
              <a:t>B</a:t>
            </a:r>
            <a:r>
              <a:rPr lang="zh-CN" altLang="zh-CN" dirty="0">
                <a:latin typeface="Times New Roman" panose="02020603050405020304" pitchFamily="18" charset="0"/>
                <a:cs typeface="Times New Roman" panose="02020603050405020304" pitchFamily="18" charset="0"/>
              </a:rPr>
              <a:t>树</a:t>
            </a:r>
            <a:endParaRPr lang="en-US" altLang="zh-C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051720" y="548680"/>
            <a:ext cx="5112568" cy="25503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23728" y="3861048"/>
            <a:ext cx="5158859" cy="24797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矩形 5"/>
          <p:cNvSpPr/>
          <p:nvPr/>
        </p:nvSpPr>
        <p:spPr>
          <a:xfrm>
            <a:off x="4788024" y="3356992"/>
            <a:ext cx="1338828" cy="369332"/>
          </a:xfrm>
          <a:prstGeom prst="rect">
            <a:avLst/>
          </a:prstGeom>
        </p:spPr>
        <p:txBody>
          <a:bodyPr wrap="none">
            <a:spAutoFit/>
          </a:bodyPr>
          <a:lstStyle/>
          <a:p>
            <a:r>
              <a:rPr lang="zh-CN" altLang="zh-CN" dirty="0">
                <a:latin typeface="Times New Roman" panose="02020603050405020304" pitchFamily="18" charset="0"/>
                <a:cs typeface="Times New Roman" panose="02020603050405020304" pitchFamily="18" charset="0"/>
              </a:rPr>
              <a:t>插入</a:t>
            </a:r>
            <a:r>
              <a:rPr lang="en-US" altLang="zh-CN" dirty="0">
                <a:latin typeface="Times New Roman" panose="02020603050405020304" pitchFamily="18" charset="0"/>
                <a:cs typeface="Times New Roman" panose="02020603050405020304" pitchFamily="18" charset="0"/>
              </a:rPr>
              <a:t>30</a:t>
            </a:r>
            <a:r>
              <a:rPr lang="zh-CN" altLang="zh-CN" dirty="0">
                <a:latin typeface="Times New Roman" panose="02020603050405020304" pitchFamily="18" charset="0"/>
                <a:cs typeface="Times New Roman" panose="02020603050405020304" pitchFamily="18" charset="0"/>
              </a:rPr>
              <a:t>之后</a:t>
            </a:r>
            <a:endParaRPr lang="zh-CN" altLang="en-US" dirty="0"/>
          </a:p>
        </p:txBody>
      </p:sp>
      <p:sp>
        <p:nvSpPr>
          <p:cNvPr id="7" name="下箭头 6"/>
          <p:cNvSpPr/>
          <p:nvPr/>
        </p:nvSpPr>
        <p:spPr>
          <a:xfrm>
            <a:off x="4139952" y="3212976"/>
            <a:ext cx="576064" cy="72008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67744" y="188640"/>
            <a:ext cx="4680520" cy="22498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矩形 5"/>
          <p:cNvSpPr/>
          <p:nvPr/>
        </p:nvSpPr>
        <p:spPr>
          <a:xfrm>
            <a:off x="5004048" y="2564904"/>
            <a:ext cx="2557110" cy="369332"/>
          </a:xfrm>
          <a:prstGeom prst="rect">
            <a:avLst/>
          </a:prstGeom>
        </p:spPr>
        <p:txBody>
          <a:bodyPr wrap="none">
            <a:spAutoFit/>
          </a:bodyPr>
          <a:lstStyle/>
          <a:p>
            <a:r>
              <a:rPr lang="zh-CN"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c</a:t>
            </a:r>
            <a:r>
              <a:rPr lang="zh-CN"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a:t>
            </a:r>
            <a:r>
              <a:rPr lang="zh-CN"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d</a:t>
            </a:r>
            <a:r>
              <a:rPr lang="zh-CN" altLang="zh-CN" dirty="0">
                <a:latin typeface="Times New Roman" panose="02020603050405020304" pitchFamily="18" charset="0"/>
                <a:cs typeface="Times New Roman" panose="02020603050405020304" pitchFamily="18" charset="0"/>
              </a:rPr>
              <a:t>）插入</a:t>
            </a:r>
            <a:r>
              <a:rPr lang="en-US" altLang="zh-CN" dirty="0">
                <a:latin typeface="Times New Roman" panose="02020603050405020304" pitchFamily="18" charset="0"/>
                <a:cs typeface="Times New Roman" panose="02020603050405020304" pitchFamily="18" charset="0"/>
              </a:rPr>
              <a:t>26</a:t>
            </a:r>
            <a:r>
              <a:rPr lang="zh-CN" altLang="zh-CN" dirty="0">
                <a:latin typeface="Times New Roman" panose="02020603050405020304" pitchFamily="18" charset="0"/>
                <a:cs typeface="Times New Roman" panose="02020603050405020304" pitchFamily="18" charset="0"/>
              </a:rPr>
              <a:t>之后</a:t>
            </a:r>
            <a:endParaRPr lang="zh-CN" altLang="en-US" dirty="0"/>
          </a:p>
        </p:txBody>
      </p:sp>
      <p:sp>
        <p:nvSpPr>
          <p:cNvPr id="7" name="下箭头 6"/>
          <p:cNvSpPr/>
          <p:nvPr/>
        </p:nvSpPr>
        <p:spPr>
          <a:xfrm>
            <a:off x="4355976" y="2492896"/>
            <a:ext cx="576064" cy="72008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1520" y="3501008"/>
            <a:ext cx="4248471" cy="2182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32040" y="3346148"/>
            <a:ext cx="4115432" cy="233782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4644008" y="2276872"/>
            <a:ext cx="2952328" cy="369332"/>
          </a:xfrm>
          <a:prstGeom prst="rect">
            <a:avLst/>
          </a:prstGeom>
        </p:spPr>
        <p:txBody>
          <a:bodyPr wrap="square">
            <a:spAutoFit/>
          </a:bodyPr>
          <a:lstStyle/>
          <a:p>
            <a:r>
              <a:rPr lang="zh-CN"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e</a:t>
            </a:r>
            <a:r>
              <a:rPr lang="zh-CN"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a:t>
            </a:r>
            <a:r>
              <a:rPr lang="zh-CN"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g</a:t>
            </a:r>
            <a:r>
              <a:rPr lang="zh-CN" altLang="zh-CN" dirty="0">
                <a:latin typeface="Times New Roman" panose="02020603050405020304" pitchFamily="18" charset="0"/>
                <a:cs typeface="Times New Roman" panose="02020603050405020304" pitchFamily="18" charset="0"/>
              </a:rPr>
              <a:t>）插入</a:t>
            </a:r>
            <a:r>
              <a:rPr lang="en-US" altLang="zh-CN" dirty="0">
                <a:latin typeface="Times New Roman" panose="02020603050405020304" pitchFamily="18" charset="0"/>
                <a:cs typeface="Times New Roman" panose="02020603050405020304" pitchFamily="18" charset="0"/>
              </a:rPr>
              <a:t>85</a:t>
            </a:r>
            <a:r>
              <a:rPr lang="zh-CN" altLang="zh-CN" dirty="0">
                <a:latin typeface="Times New Roman" panose="02020603050405020304" pitchFamily="18" charset="0"/>
                <a:cs typeface="Times New Roman" panose="02020603050405020304" pitchFamily="18" charset="0"/>
              </a:rPr>
              <a:t>之后</a:t>
            </a:r>
            <a:endParaRPr lang="zh-CN" altLang="en-US" dirty="0"/>
          </a:p>
        </p:txBody>
      </p:sp>
      <p:sp>
        <p:nvSpPr>
          <p:cNvPr id="7" name="下箭头 6"/>
          <p:cNvSpPr/>
          <p:nvPr/>
        </p:nvSpPr>
        <p:spPr>
          <a:xfrm>
            <a:off x="4211960" y="2276872"/>
            <a:ext cx="576064" cy="72008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99792" y="83065"/>
            <a:ext cx="3744416" cy="21270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2"/>
          <p:cNvPicPr>
            <a:picLocks noGrp="1" noChangeAspect="1" noChangeArrowheads="1"/>
          </p:cNvPicPr>
          <p:nvPr>
            <p:ph idx="1"/>
          </p:nvPr>
        </p:nvPicPr>
        <p:blipFill>
          <a:blip r:embed="rId3" cstate="print">
            <a:extLst>
              <a:ext uri="{28A0092B-C50C-407E-A947-70E740481C1C}">
                <a14:useLocalDpi xmlns:a14="http://schemas.microsoft.com/office/drawing/2010/main" val="0"/>
              </a:ext>
            </a:extLst>
          </a:blip>
          <a:srcRect/>
          <a:stretch>
            <a:fillRect/>
          </a:stretch>
        </p:blipFill>
        <p:spPr bwMode="auto">
          <a:xfrm>
            <a:off x="114968" y="2492896"/>
            <a:ext cx="3808960" cy="1800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50085" y="2755444"/>
            <a:ext cx="4114403" cy="18256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 name="Picture 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979712" y="4293096"/>
            <a:ext cx="4765526" cy="19903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4644008" y="2132856"/>
            <a:ext cx="2952328" cy="369332"/>
          </a:xfrm>
          <a:prstGeom prst="rect">
            <a:avLst/>
          </a:prstGeom>
        </p:spPr>
        <p:txBody>
          <a:bodyPr wrap="square">
            <a:spAutoFit/>
          </a:bodyPr>
          <a:lstStyle/>
          <a:p>
            <a:r>
              <a:rPr lang="zh-CN"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h</a:t>
            </a:r>
            <a:r>
              <a:rPr lang="zh-CN"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a:t>
            </a:r>
            <a:r>
              <a:rPr lang="zh-CN"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j</a:t>
            </a:r>
            <a:r>
              <a:rPr lang="zh-CN" altLang="zh-CN" dirty="0">
                <a:latin typeface="Times New Roman" panose="02020603050405020304" pitchFamily="18" charset="0"/>
                <a:cs typeface="Times New Roman" panose="02020603050405020304" pitchFamily="18" charset="0"/>
              </a:rPr>
              <a:t>）插入</a:t>
            </a:r>
            <a:r>
              <a:rPr lang="en-US" altLang="zh-CN" dirty="0">
                <a:latin typeface="Times New Roman" panose="02020603050405020304" pitchFamily="18" charset="0"/>
                <a:cs typeface="Times New Roman" panose="02020603050405020304" pitchFamily="18" charset="0"/>
              </a:rPr>
              <a:t>7</a:t>
            </a:r>
            <a:r>
              <a:rPr lang="zh-CN" altLang="zh-CN" dirty="0">
                <a:latin typeface="Times New Roman" panose="02020603050405020304" pitchFamily="18" charset="0"/>
                <a:cs typeface="Times New Roman" panose="02020603050405020304" pitchFamily="18" charset="0"/>
              </a:rPr>
              <a:t>之后</a:t>
            </a:r>
            <a:endParaRPr lang="zh-CN" altLang="en-US" dirty="0"/>
          </a:p>
        </p:txBody>
      </p:sp>
      <p:sp>
        <p:nvSpPr>
          <p:cNvPr id="7" name="下箭头 6"/>
          <p:cNvSpPr/>
          <p:nvPr/>
        </p:nvSpPr>
        <p:spPr>
          <a:xfrm>
            <a:off x="4211960" y="2132856"/>
            <a:ext cx="576064" cy="720080"/>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95736" y="142464"/>
            <a:ext cx="4680520" cy="19548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496" y="2564904"/>
            <a:ext cx="3970387" cy="17529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 name="Picture 2"/>
          <p:cNvPicPr>
            <a:picLocks noGrp="1" noChangeAspect="1" noChangeArrowheads="1"/>
          </p:cNvPicPr>
          <p:nvPr>
            <p:ph idx="1"/>
          </p:nvPr>
        </p:nvPicPr>
        <p:blipFill>
          <a:blip r:embed="rId4" cstate="print">
            <a:extLst>
              <a:ext uri="{28A0092B-C50C-407E-A947-70E740481C1C}">
                <a14:useLocalDpi xmlns:a14="http://schemas.microsoft.com/office/drawing/2010/main" val="0"/>
              </a:ext>
            </a:extLst>
          </a:blip>
          <a:srcRect/>
          <a:stretch>
            <a:fillRect/>
          </a:stretch>
        </p:blipFill>
        <p:spPr bwMode="auto">
          <a:xfrm>
            <a:off x="4910262" y="2492896"/>
            <a:ext cx="4233738" cy="19432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 name="Picture 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195736" y="4149080"/>
            <a:ext cx="5112568" cy="22406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836712"/>
            <a:ext cx="7848872" cy="5256584"/>
          </a:xfrm>
        </p:spPr>
        <p:txBody>
          <a:bodyPr>
            <a:normAutofit fontScale="85000" lnSpcReduction="20000"/>
          </a:bodyPr>
          <a:lstStyle/>
          <a:p>
            <a:pPr>
              <a:lnSpc>
                <a:spcPct val="140000"/>
              </a:lnSpc>
              <a:spcBef>
                <a:spcPts val="0"/>
              </a:spcBef>
            </a:pPr>
            <a:r>
              <a:rPr lang="zh-CN" altLang="zh-CN" dirty="0"/>
              <a:t>算法</a:t>
            </a:r>
            <a:r>
              <a:rPr lang="en-US" altLang="zh-CN" dirty="0"/>
              <a:t>8.11</a:t>
            </a:r>
            <a:r>
              <a:rPr lang="zh-CN" altLang="zh-CN" dirty="0"/>
              <a:t>：</a:t>
            </a:r>
            <a:r>
              <a:rPr lang="en-US" altLang="zh-CN" dirty="0">
                <a:solidFill>
                  <a:srgbClr val="FF0000"/>
                </a:solidFill>
              </a:rPr>
              <a:t>B</a:t>
            </a:r>
            <a:r>
              <a:rPr lang="zh-CN" altLang="zh-CN" dirty="0">
                <a:solidFill>
                  <a:srgbClr val="FF0000"/>
                </a:solidFill>
              </a:rPr>
              <a:t>树的插入算法</a:t>
            </a:r>
          </a:p>
          <a:p>
            <a:pPr>
              <a:lnSpc>
                <a:spcPct val="140000"/>
              </a:lnSpc>
              <a:spcBef>
                <a:spcPts val="0"/>
              </a:spcBef>
            </a:pPr>
            <a:r>
              <a:rPr lang="en-US" altLang="zh-CN" b="0" dirty="0" err="1"/>
              <a:t>bool</a:t>
            </a:r>
            <a:r>
              <a:rPr lang="en-US" altLang="zh-CN" b="0" dirty="0"/>
              <a:t> </a:t>
            </a:r>
            <a:r>
              <a:rPr lang="en-US" altLang="zh-CN" b="0" dirty="0" err="1"/>
              <a:t>MBTree</a:t>
            </a:r>
            <a:r>
              <a:rPr lang="en-US" altLang="zh-CN" b="0" dirty="0"/>
              <a:t> :: </a:t>
            </a:r>
            <a:r>
              <a:rPr lang="en-US" altLang="zh-CN" b="0" dirty="0" err="1"/>
              <a:t>InsertMBTree</a:t>
            </a:r>
            <a:r>
              <a:rPr lang="en-US" altLang="zh-CN" b="0" dirty="0"/>
              <a:t>(</a:t>
            </a:r>
            <a:r>
              <a:rPr lang="en-US" altLang="zh-CN" b="0" dirty="0" err="1"/>
              <a:t>KeyType</a:t>
            </a:r>
            <a:r>
              <a:rPr lang="en-US" altLang="zh-CN" b="0" dirty="0"/>
              <a:t> k, </a:t>
            </a:r>
            <a:r>
              <a:rPr lang="en-US" altLang="zh-CN" b="0" dirty="0" err="1"/>
              <a:t>int</a:t>
            </a:r>
            <a:r>
              <a:rPr lang="en-US" altLang="zh-CN" b="0" dirty="0"/>
              <a:t> </a:t>
            </a:r>
            <a:r>
              <a:rPr lang="en-US" altLang="zh-CN" b="0" dirty="0" err="1"/>
              <a:t>num</a:t>
            </a:r>
            <a:r>
              <a:rPr lang="en-US" altLang="zh-CN" b="0" dirty="0"/>
              <a:t>) {</a:t>
            </a:r>
            <a:endParaRPr lang="zh-CN" altLang="zh-CN" b="0" dirty="0"/>
          </a:p>
          <a:p>
            <a:pPr>
              <a:lnSpc>
                <a:spcPct val="140000"/>
              </a:lnSpc>
              <a:spcBef>
                <a:spcPts val="0"/>
              </a:spcBef>
            </a:pPr>
            <a:r>
              <a:rPr lang="en-US" altLang="zh-CN" b="0" dirty="0"/>
              <a:t>	//</a:t>
            </a:r>
            <a:r>
              <a:rPr lang="zh-CN" altLang="zh-CN" b="0" dirty="0"/>
              <a:t>插入索引项（</a:t>
            </a:r>
            <a:r>
              <a:rPr lang="en-US" altLang="zh-CN" b="0" dirty="0"/>
              <a:t>k, </a:t>
            </a:r>
            <a:r>
              <a:rPr lang="en-US" altLang="zh-CN" b="0" dirty="0" err="1"/>
              <a:t>num</a:t>
            </a:r>
            <a:r>
              <a:rPr lang="en-US" altLang="zh-CN" b="0" dirty="0"/>
              <a:t>, NULL)---</a:t>
            </a:r>
            <a:r>
              <a:rPr lang="zh-CN" altLang="en-US" b="0" dirty="0"/>
              <a:t>关键字、记录地址、双亲指针</a:t>
            </a:r>
            <a:endParaRPr lang="zh-CN" altLang="zh-CN" b="0" dirty="0"/>
          </a:p>
          <a:p>
            <a:pPr>
              <a:lnSpc>
                <a:spcPct val="140000"/>
              </a:lnSpc>
              <a:spcBef>
                <a:spcPts val="0"/>
              </a:spcBef>
            </a:pPr>
            <a:r>
              <a:rPr lang="en-US" altLang="zh-CN" b="0" dirty="0"/>
              <a:t>     </a:t>
            </a:r>
            <a:r>
              <a:rPr lang="en-US" altLang="zh-CN" b="0" dirty="0">
                <a:solidFill>
                  <a:srgbClr val="FF0000"/>
                </a:solidFill>
              </a:rPr>
              <a:t>//</a:t>
            </a:r>
            <a:r>
              <a:rPr lang="zh-CN" altLang="zh-CN" b="0" dirty="0">
                <a:solidFill>
                  <a:srgbClr val="FF0000"/>
                </a:solidFill>
              </a:rPr>
              <a:t>当</a:t>
            </a:r>
            <a:r>
              <a:rPr lang="en-US" altLang="zh-CN" b="0" dirty="0">
                <a:solidFill>
                  <a:srgbClr val="FF0000"/>
                </a:solidFill>
              </a:rPr>
              <a:t>B</a:t>
            </a:r>
            <a:r>
              <a:rPr lang="zh-CN" altLang="zh-CN" b="0" dirty="0">
                <a:solidFill>
                  <a:srgbClr val="FF0000"/>
                </a:solidFill>
              </a:rPr>
              <a:t>树为空时的处理情况</a:t>
            </a:r>
          </a:p>
          <a:p>
            <a:pPr>
              <a:lnSpc>
                <a:spcPct val="140000"/>
              </a:lnSpc>
              <a:spcBef>
                <a:spcPts val="0"/>
              </a:spcBef>
            </a:pPr>
            <a:r>
              <a:rPr lang="en-US" altLang="zh-CN" b="0" dirty="0"/>
              <a:t>	if(MT==NULL){</a:t>
            </a:r>
            <a:endParaRPr lang="zh-CN" altLang="zh-CN" b="0" dirty="0"/>
          </a:p>
          <a:p>
            <a:pPr>
              <a:lnSpc>
                <a:spcPct val="140000"/>
              </a:lnSpc>
              <a:spcBef>
                <a:spcPts val="0"/>
              </a:spcBef>
            </a:pPr>
            <a:r>
              <a:rPr lang="en-US" altLang="zh-CN" b="0" dirty="0"/>
              <a:t>		MT=new </a:t>
            </a:r>
            <a:r>
              <a:rPr lang="en-US" altLang="zh-CN" b="0" dirty="0" err="1"/>
              <a:t>MBNode</a:t>
            </a:r>
            <a:r>
              <a:rPr lang="en-US" altLang="zh-CN" b="0" dirty="0"/>
              <a:t>;</a:t>
            </a:r>
            <a:endParaRPr lang="zh-CN" altLang="zh-CN" b="0" dirty="0"/>
          </a:p>
          <a:p>
            <a:pPr>
              <a:lnSpc>
                <a:spcPct val="140000"/>
              </a:lnSpc>
              <a:spcBef>
                <a:spcPts val="0"/>
              </a:spcBef>
            </a:pPr>
            <a:r>
              <a:rPr lang="en-US" altLang="zh-CN" b="0" dirty="0"/>
              <a:t>		MT-&gt;</a:t>
            </a:r>
            <a:r>
              <a:rPr lang="en-US" altLang="zh-CN" b="0" dirty="0" err="1"/>
              <a:t>keynum</a:t>
            </a:r>
            <a:r>
              <a:rPr lang="en-US" altLang="zh-CN" b="0" dirty="0"/>
              <a:t>=1; </a:t>
            </a:r>
          </a:p>
          <a:p>
            <a:pPr>
              <a:lnSpc>
                <a:spcPct val="140000"/>
              </a:lnSpc>
              <a:spcBef>
                <a:spcPts val="0"/>
              </a:spcBef>
            </a:pPr>
            <a:r>
              <a:rPr lang="en-US" altLang="zh-CN" b="0" dirty="0"/>
              <a:t>		MT-&gt;parent=NULL;</a:t>
            </a:r>
            <a:endParaRPr lang="zh-CN" altLang="zh-CN" b="0" dirty="0"/>
          </a:p>
          <a:p>
            <a:pPr>
              <a:lnSpc>
                <a:spcPct val="140000"/>
              </a:lnSpc>
              <a:spcBef>
                <a:spcPts val="0"/>
              </a:spcBef>
            </a:pPr>
            <a:r>
              <a:rPr lang="en-US" altLang="zh-CN" b="0" dirty="0"/>
              <a:t>		MT-&gt;key[1]=k;</a:t>
            </a:r>
          </a:p>
          <a:p>
            <a:pPr>
              <a:lnSpc>
                <a:spcPct val="140000"/>
              </a:lnSpc>
              <a:spcBef>
                <a:spcPts val="0"/>
              </a:spcBef>
            </a:pPr>
            <a:r>
              <a:rPr lang="en-US" altLang="zh-CN" b="0" dirty="0"/>
              <a:t>		MT-&gt;key[2]=</a:t>
            </a:r>
            <a:r>
              <a:rPr lang="en-US" altLang="zh-CN" b="0" dirty="0" err="1"/>
              <a:t>MaxKey</a:t>
            </a:r>
            <a:r>
              <a:rPr lang="en-US" altLang="zh-CN" b="0" dirty="0"/>
              <a:t>;</a:t>
            </a:r>
            <a:endParaRPr lang="zh-CN" altLang="zh-CN" b="0" dirty="0"/>
          </a:p>
          <a:p>
            <a:pPr>
              <a:lnSpc>
                <a:spcPct val="140000"/>
              </a:lnSpc>
              <a:spcBef>
                <a:spcPts val="0"/>
              </a:spcBef>
            </a:pPr>
            <a:r>
              <a:rPr lang="en-US" altLang="zh-CN" b="0" dirty="0"/>
              <a:t>		MT-&gt;</a:t>
            </a:r>
            <a:r>
              <a:rPr lang="en-US" altLang="zh-CN" b="0" dirty="0" err="1"/>
              <a:t>recptr</a:t>
            </a:r>
            <a:r>
              <a:rPr lang="en-US" altLang="zh-CN" b="0" dirty="0"/>
              <a:t>[1]=</a:t>
            </a:r>
            <a:r>
              <a:rPr lang="en-US" altLang="zh-CN" b="0" dirty="0" err="1"/>
              <a:t>num</a:t>
            </a:r>
            <a:r>
              <a:rPr lang="en-US" altLang="zh-CN" b="0" dirty="0"/>
              <a:t>;</a:t>
            </a:r>
            <a:endParaRPr lang="zh-CN" altLang="zh-CN" b="0" dirty="0"/>
          </a:p>
          <a:p>
            <a:pPr>
              <a:lnSpc>
                <a:spcPct val="140000"/>
              </a:lnSpc>
              <a:spcBef>
                <a:spcPts val="0"/>
              </a:spcBef>
            </a:pPr>
            <a:r>
              <a:rPr lang="en-US" altLang="zh-CN" b="0" dirty="0"/>
              <a:t>		MT-&gt;</a:t>
            </a:r>
            <a:r>
              <a:rPr lang="en-US" altLang="zh-CN" b="0" dirty="0" err="1"/>
              <a:t>ptr</a:t>
            </a:r>
            <a:r>
              <a:rPr lang="en-US" altLang="zh-CN" b="0" dirty="0"/>
              <a:t>[0]=MT-&gt;</a:t>
            </a:r>
            <a:r>
              <a:rPr lang="en-US" altLang="zh-CN" b="0" dirty="0" err="1"/>
              <a:t>ptr</a:t>
            </a:r>
            <a:r>
              <a:rPr lang="en-US" altLang="zh-CN" b="0" dirty="0"/>
              <a:t>[1]=NULL;</a:t>
            </a:r>
            <a:endParaRPr lang="zh-CN" altLang="zh-CN" b="0" dirty="0"/>
          </a:p>
          <a:p>
            <a:pPr>
              <a:lnSpc>
                <a:spcPct val="140000"/>
              </a:lnSpc>
              <a:spcBef>
                <a:spcPts val="0"/>
              </a:spcBef>
            </a:pPr>
            <a:r>
              <a:rPr lang="en-US" altLang="zh-CN" b="0" dirty="0"/>
              <a:t>		return true;</a:t>
            </a:r>
            <a:endParaRPr lang="zh-CN" altLang="zh-CN" b="0" dirty="0"/>
          </a:p>
          <a:p>
            <a:pPr>
              <a:lnSpc>
                <a:spcPct val="140000"/>
              </a:lnSpc>
              <a:spcBef>
                <a:spcPts val="0"/>
              </a:spcBef>
            </a:pPr>
            <a:r>
              <a:rPr lang="en-US" altLang="zh-CN" b="0" dirty="0"/>
              <a:t>	}</a:t>
            </a:r>
            <a:endParaRPr lang="zh-CN" altLang="zh-CN" b="0" dirty="0"/>
          </a:p>
          <a:p>
            <a:pPr>
              <a:lnSpc>
                <a:spcPct val="140000"/>
              </a:lnSpc>
              <a:spcBef>
                <a:spcPts val="0"/>
              </a:spcBef>
            </a:pPr>
            <a:endParaRPr lang="zh-CN" altLang="en-US" dirty="0"/>
          </a:p>
        </p:txBody>
      </p:sp>
    </p:spTree>
    <p:extLst>
      <p:ext uri="{BB962C8B-B14F-4D97-AF65-F5344CB8AC3E}">
        <p14:creationId xmlns:p14="http://schemas.microsoft.com/office/powerpoint/2010/main" val="240551965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764704"/>
            <a:ext cx="8064896" cy="5472608"/>
          </a:xfrm>
        </p:spPr>
        <p:txBody>
          <a:bodyPr>
            <a:normAutofit fontScale="85000" lnSpcReduction="10000"/>
          </a:bodyPr>
          <a:lstStyle/>
          <a:p>
            <a:pPr>
              <a:lnSpc>
                <a:spcPct val="140000"/>
              </a:lnSpc>
              <a:spcBef>
                <a:spcPts val="0"/>
              </a:spcBef>
            </a:pPr>
            <a:r>
              <a:rPr lang="en-US" altLang="zh-CN" b="0" dirty="0">
                <a:solidFill>
                  <a:srgbClr val="FF0000"/>
                </a:solidFill>
              </a:rPr>
              <a:t>	//</a:t>
            </a:r>
            <a:r>
              <a:rPr lang="zh-CN" altLang="zh-CN" b="0" dirty="0">
                <a:solidFill>
                  <a:srgbClr val="FF0000"/>
                </a:solidFill>
              </a:rPr>
              <a:t>从</a:t>
            </a:r>
            <a:r>
              <a:rPr lang="en-US" altLang="zh-CN" b="0" dirty="0">
                <a:solidFill>
                  <a:srgbClr val="FF0000"/>
                </a:solidFill>
              </a:rPr>
              <a:t>B</a:t>
            </a:r>
            <a:r>
              <a:rPr lang="zh-CN" altLang="zh-CN" b="0" dirty="0">
                <a:solidFill>
                  <a:srgbClr val="FF0000"/>
                </a:solidFill>
              </a:rPr>
              <a:t>树上查找插入位置</a:t>
            </a:r>
          </a:p>
          <a:p>
            <a:pPr>
              <a:lnSpc>
                <a:spcPct val="140000"/>
              </a:lnSpc>
              <a:spcBef>
                <a:spcPts val="0"/>
              </a:spcBef>
            </a:pPr>
            <a:r>
              <a:rPr lang="en-US" altLang="zh-CN" b="0" dirty="0"/>
              <a:t>	</a:t>
            </a:r>
            <a:r>
              <a:rPr lang="en-US" altLang="zh-CN" b="0" dirty="0" err="1"/>
              <a:t>int</a:t>
            </a:r>
            <a:r>
              <a:rPr lang="en-US" altLang="zh-CN" b="0" dirty="0"/>
              <a:t> </a:t>
            </a:r>
            <a:r>
              <a:rPr lang="en-US" altLang="zh-CN" b="0" dirty="0" err="1"/>
              <a:t>i</a:t>
            </a:r>
            <a:r>
              <a:rPr lang="en-US" altLang="zh-CN" b="0" dirty="0"/>
              <a:t>;</a:t>
            </a:r>
            <a:endParaRPr lang="zh-CN" altLang="zh-CN" b="0" dirty="0"/>
          </a:p>
          <a:p>
            <a:pPr>
              <a:lnSpc>
                <a:spcPct val="140000"/>
              </a:lnSpc>
              <a:spcBef>
                <a:spcPts val="0"/>
              </a:spcBef>
            </a:pPr>
            <a:r>
              <a:rPr lang="en-US" altLang="zh-CN" b="0" dirty="0"/>
              <a:t>	</a:t>
            </a:r>
            <a:r>
              <a:rPr lang="en-US" altLang="zh-CN" b="0" dirty="0" err="1"/>
              <a:t>MBNode</a:t>
            </a:r>
            <a:r>
              <a:rPr lang="en-US" altLang="zh-CN" b="0" dirty="0"/>
              <a:t> *</a:t>
            </a:r>
            <a:r>
              <a:rPr lang="en-US" altLang="zh-CN" b="0" dirty="0" err="1"/>
              <a:t>xp</a:t>
            </a:r>
            <a:r>
              <a:rPr lang="en-US" altLang="zh-CN" b="0" dirty="0"/>
              <a:t>=MT, *p=NULL;     //</a:t>
            </a:r>
            <a:r>
              <a:rPr lang="en-US" altLang="zh-CN" b="0" dirty="0" err="1"/>
              <a:t>xp</a:t>
            </a:r>
            <a:r>
              <a:rPr lang="zh-CN" altLang="zh-CN" b="0" dirty="0"/>
              <a:t>和</a:t>
            </a:r>
            <a:r>
              <a:rPr lang="en-US" altLang="zh-CN" b="0" dirty="0"/>
              <a:t>p</a:t>
            </a:r>
            <a:r>
              <a:rPr lang="zh-CN" altLang="zh-CN" b="0" dirty="0"/>
              <a:t>分别指向当前结点和父结点</a:t>
            </a:r>
          </a:p>
          <a:p>
            <a:pPr>
              <a:lnSpc>
                <a:spcPct val="140000"/>
              </a:lnSpc>
              <a:spcBef>
                <a:spcPts val="0"/>
              </a:spcBef>
            </a:pPr>
            <a:r>
              <a:rPr lang="en-US" altLang="zh-CN" b="0" dirty="0"/>
              <a:t>	while(</a:t>
            </a:r>
            <a:r>
              <a:rPr lang="en-US" altLang="zh-CN" b="0" dirty="0" err="1"/>
              <a:t>xp</a:t>
            </a:r>
            <a:r>
              <a:rPr lang="en-US" altLang="zh-CN" b="0" dirty="0"/>
              <a:t> != NULL) {</a:t>
            </a:r>
            <a:endParaRPr lang="zh-CN" altLang="zh-CN" b="0" dirty="0"/>
          </a:p>
          <a:p>
            <a:pPr>
              <a:lnSpc>
                <a:spcPct val="140000"/>
              </a:lnSpc>
              <a:spcBef>
                <a:spcPts val="0"/>
              </a:spcBef>
            </a:pPr>
            <a:r>
              <a:rPr lang="en-US" altLang="zh-CN" b="0" dirty="0"/>
              <a:t>		</a:t>
            </a:r>
            <a:r>
              <a:rPr lang="en-US" altLang="zh-CN" b="0" dirty="0" err="1"/>
              <a:t>i</a:t>
            </a:r>
            <a:r>
              <a:rPr lang="en-US" altLang="zh-CN" b="0" dirty="0"/>
              <a:t>=1;</a:t>
            </a:r>
            <a:endParaRPr lang="zh-CN" altLang="zh-CN" b="0" dirty="0"/>
          </a:p>
          <a:p>
            <a:pPr>
              <a:lnSpc>
                <a:spcPct val="140000"/>
              </a:lnSpc>
              <a:spcBef>
                <a:spcPts val="0"/>
              </a:spcBef>
            </a:pPr>
            <a:r>
              <a:rPr lang="en-US" altLang="zh-CN" b="0" dirty="0"/>
              <a:t>		while( K &gt; </a:t>
            </a:r>
            <a:r>
              <a:rPr lang="en-US" altLang="zh-CN" b="0" dirty="0" err="1"/>
              <a:t>xp</a:t>
            </a:r>
            <a:r>
              <a:rPr lang="en-US" altLang="zh-CN" b="0" dirty="0"/>
              <a:t>-&gt;key[</a:t>
            </a:r>
            <a:r>
              <a:rPr lang="en-US" altLang="zh-CN" b="0" dirty="0" err="1"/>
              <a:t>i</a:t>
            </a:r>
            <a:r>
              <a:rPr lang="en-US" altLang="zh-CN" b="0" dirty="0"/>
              <a:t>] ) </a:t>
            </a:r>
            <a:r>
              <a:rPr lang="en-US" altLang="zh-CN" b="0" dirty="0" err="1"/>
              <a:t>i</a:t>
            </a:r>
            <a:r>
              <a:rPr lang="en-US" altLang="zh-CN" b="0" dirty="0"/>
              <a:t>++;</a:t>
            </a:r>
            <a:endParaRPr lang="zh-CN" altLang="zh-CN" b="0" dirty="0"/>
          </a:p>
          <a:p>
            <a:pPr>
              <a:lnSpc>
                <a:spcPct val="140000"/>
              </a:lnSpc>
              <a:spcBef>
                <a:spcPts val="0"/>
              </a:spcBef>
            </a:pPr>
            <a:r>
              <a:rPr lang="en-US" altLang="zh-CN" b="0" dirty="0"/>
              <a:t>		if(K == </a:t>
            </a:r>
            <a:r>
              <a:rPr lang="en-US" altLang="zh-CN" b="0" dirty="0" err="1"/>
              <a:t>xp</a:t>
            </a:r>
            <a:r>
              <a:rPr lang="en-US" altLang="zh-CN" b="0" dirty="0"/>
              <a:t>-&gt;key[</a:t>
            </a:r>
            <a:r>
              <a:rPr lang="en-US" altLang="zh-CN" b="0" dirty="0" err="1"/>
              <a:t>i</a:t>
            </a:r>
            <a:r>
              <a:rPr lang="en-US" altLang="zh-CN" b="0" dirty="0"/>
              <a:t>])          //</a:t>
            </a:r>
            <a:r>
              <a:rPr lang="zh-CN" altLang="zh-CN" b="0" dirty="0"/>
              <a:t>关键字已经存在，插入失败</a:t>
            </a:r>
          </a:p>
          <a:p>
            <a:pPr>
              <a:lnSpc>
                <a:spcPct val="140000"/>
              </a:lnSpc>
              <a:spcBef>
                <a:spcPts val="0"/>
              </a:spcBef>
            </a:pPr>
            <a:r>
              <a:rPr lang="en-US" altLang="zh-CN" b="0" dirty="0"/>
              <a:t>			return false;</a:t>
            </a:r>
            <a:endParaRPr lang="zh-CN" altLang="zh-CN" b="0" dirty="0"/>
          </a:p>
          <a:p>
            <a:pPr>
              <a:lnSpc>
                <a:spcPct val="140000"/>
              </a:lnSpc>
              <a:spcBef>
                <a:spcPts val="0"/>
              </a:spcBef>
            </a:pPr>
            <a:r>
              <a:rPr lang="en-US" altLang="zh-CN" b="0" dirty="0"/>
              <a:t>		else {</a:t>
            </a:r>
            <a:endParaRPr lang="zh-CN" altLang="zh-CN" b="0" dirty="0"/>
          </a:p>
          <a:p>
            <a:pPr>
              <a:lnSpc>
                <a:spcPct val="140000"/>
              </a:lnSpc>
              <a:spcBef>
                <a:spcPts val="0"/>
              </a:spcBef>
            </a:pPr>
            <a:r>
              <a:rPr lang="en-US" altLang="zh-CN" b="0" dirty="0"/>
              <a:t>			p=</a:t>
            </a:r>
            <a:r>
              <a:rPr lang="en-US" altLang="zh-CN" b="0" dirty="0" err="1"/>
              <a:t>xp</a:t>
            </a:r>
            <a:r>
              <a:rPr lang="en-US" altLang="zh-CN" b="0" dirty="0"/>
              <a:t>;</a:t>
            </a:r>
          </a:p>
          <a:p>
            <a:pPr>
              <a:lnSpc>
                <a:spcPct val="140000"/>
              </a:lnSpc>
              <a:spcBef>
                <a:spcPts val="0"/>
              </a:spcBef>
            </a:pPr>
            <a:r>
              <a:rPr lang="en-US" altLang="zh-CN" b="0" dirty="0"/>
              <a:t>			</a:t>
            </a:r>
            <a:r>
              <a:rPr lang="en-US" altLang="zh-CN" b="0" dirty="0" err="1"/>
              <a:t>xp</a:t>
            </a:r>
            <a:r>
              <a:rPr lang="en-US" altLang="zh-CN" b="0" dirty="0"/>
              <a:t>=</a:t>
            </a:r>
            <a:r>
              <a:rPr lang="en-US" altLang="zh-CN" b="0" dirty="0" err="1"/>
              <a:t>xp</a:t>
            </a:r>
            <a:r>
              <a:rPr lang="en-US" altLang="zh-CN" b="0" dirty="0"/>
              <a:t>-&gt;</a:t>
            </a:r>
            <a:r>
              <a:rPr lang="en-US" altLang="zh-CN" b="0" dirty="0" err="1"/>
              <a:t>ptr</a:t>
            </a:r>
            <a:r>
              <a:rPr lang="en-US" altLang="zh-CN" b="0" dirty="0"/>
              <a:t>[i-1];         //</a:t>
            </a:r>
            <a:r>
              <a:rPr lang="zh-CN" altLang="zh-CN" b="0" dirty="0"/>
              <a:t>下移一层查找</a:t>
            </a:r>
          </a:p>
          <a:p>
            <a:pPr>
              <a:lnSpc>
                <a:spcPct val="140000"/>
              </a:lnSpc>
              <a:spcBef>
                <a:spcPts val="0"/>
              </a:spcBef>
            </a:pPr>
            <a:r>
              <a:rPr lang="en-US" altLang="zh-CN" b="0" dirty="0"/>
              <a:t> 		}</a:t>
            </a:r>
            <a:endParaRPr lang="zh-CN" altLang="zh-CN" b="0" dirty="0"/>
          </a:p>
          <a:p>
            <a:pPr>
              <a:lnSpc>
                <a:spcPct val="140000"/>
              </a:lnSpc>
              <a:spcBef>
                <a:spcPts val="0"/>
              </a:spcBef>
            </a:pPr>
            <a:r>
              <a:rPr lang="en-US" altLang="zh-CN" b="0" dirty="0"/>
              <a:t> 	}</a:t>
            </a:r>
            <a:endParaRPr lang="zh-CN" altLang="zh-CN" b="0" dirty="0"/>
          </a:p>
          <a:p>
            <a:pPr>
              <a:lnSpc>
                <a:spcPct val="140000"/>
              </a:lnSpc>
              <a:spcBef>
                <a:spcPts val="0"/>
              </a:spcBef>
            </a:pPr>
            <a:endParaRPr lang="zh-CN" altLang="en-US" dirty="0"/>
          </a:p>
        </p:txBody>
      </p:sp>
    </p:spTree>
    <p:extLst>
      <p:ext uri="{BB962C8B-B14F-4D97-AF65-F5344CB8AC3E}">
        <p14:creationId xmlns:p14="http://schemas.microsoft.com/office/powerpoint/2010/main" val="289289657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7992888" cy="5184576"/>
          </a:xfrm>
        </p:spPr>
        <p:txBody>
          <a:bodyPr>
            <a:normAutofit fontScale="85000" lnSpcReduction="20000"/>
          </a:bodyPr>
          <a:lstStyle/>
          <a:p>
            <a:pPr>
              <a:lnSpc>
                <a:spcPct val="140000"/>
              </a:lnSpc>
              <a:spcBef>
                <a:spcPts val="0"/>
              </a:spcBef>
            </a:pPr>
            <a:r>
              <a:rPr lang="en-US" altLang="zh-CN" dirty="0"/>
              <a:t>	</a:t>
            </a:r>
            <a:r>
              <a:rPr lang="en-US" altLang="zh-CN" b="0" dirty="0">
                <a:solidFill>
                  <a:srgbClr val="FF0000"/>
                </a:solidFill>
              </a:rPr>
              <a:t>//</a:t>
            </a:r>
            <a:r>
              <a:rPr lang="zh-CN" altLang="zh-CN" b="0" dirty="0">
                <a:solidFill>
                  <a:srgbClr val="FF0000"/>
                </a:solidFill>
              </a:rPr>
              <a:t>向非空的</a:t>
            </a:r>
            <a:r>
              <a:rPr lang="en-US" altLang="zh-CN" b="0" dirty="0">
                <a:solidFill>
                  <a:srgbClr val="FF0000"/>
                </a:solidFill>
              </a:rPr>
              <a:t>B</a:t>
            </a:r>
            <a:r>
              <a:rPr lang="zh-CN" altLang="zh-CN" b="0" dirty="0">
                <a:solidFill>
                  <a:srgbClr val="FF0000"/>
                </a:solidFill>
              </a:rPr>
              <a:t>树中插入索引项（</a:t>
            </a:r>
            <a:r>
              <a:rPr lang="en-US" altLang="zh-CN" b="0" dirty="0">
                <a:solidFill>
                  <a:srgbClr val="FF0000"/>
                </a:solidFill>
              </a:rPr>
              <a:t>K, </a:t>
            </a:r>
            <a:r>
              <a:rPr lang="en-US" altLang="zh-CN" b="0" dirty="0" err="1">
                <a:solidFill>
                  <a:srgbClr val="FF0000"/>
                </a:solidFill>
              </a:rPr>
              <a:t>num</a:t>
            </a:r>
            <a:r>
              <a:rPr lang="en-US" altLang="zh-CN" b="0" dirty="0">
                <a:solidFill>
                  <a:srgbClr val="FF0000"/>
                </a:solidFill>
              </a:rPr>
              <a:t>, </a:t>
            </a:r>
            <a:r>
              <a:rPr lang="en-US" altLang="zh-CN" b="0" dirty="0" err="1">
                <a:solidFill>
                  <a:srgbClr val="FF0000"/>
                </a:solidFill>
              </a:rPr>
              <a:t>ap</a:t>
            </a:r>
            <a:r>
              <a:rPr lang="en-US" altLang="zh-CN" b="0" dirty="0">
                <a:solidFill>
                  <a:srgbClr val="FF0000"/>
                </a:solidFill>
              </a:rPr>
              <a:t>)</a:t>
            </a:r>
            <a:endParaRPr lang="zh-CN" altLang="zh-CN" b="0" dirty="0">
              <a:solidFill>
                <a:srgbClr val="FF0000"/>
              </a:solidFill>
            </a:endParaRPr>
          </a:p>
          <a:p>
            <a:pPr>
              <a:lnSpc>
                <a:spcPct val="140000"/>
              </a:lnSpc>
              <a:spcBef>
                <a:spcPts val="0"/>
              </a:spcBef>
            </a:pPr>
            <a:r>
              <a:rPr lang="en-US" altLang="zh-CN" b="0" dirty="0"/>
              <a:t>	</a:t>
            </a:r>
            <a:r>
              <a:rPr lang="en-US" altLang="zh-CN" b="0" dirty="0" err="1"/>
              <a:t>MBNode</a:t>
            </a:r>
            <a:r>
              <a:rPr lang="en-US" altLang="zh-CN" b="0" dirty="0"/>
              <a:t> *</a:t>
            </a:r>
            <a:r>
              <a:rPr lang="en-US" altLang="zh-CN" b="0" dirty="0" err="1"/>
              <a:t>ap</a:t>
            </a:r>
            <a:r>
              <a:rPr lang="en-US" altLang="zh-CN" b="0" dirty="0"/>
              <a:t> = </a:t>
            </a:r>
            <a:r>
              <a:rPr lang="en-US" altLang="zh-CN" b="0" dirty="0" err="1"/>
              <a:t>NUll</a:t>
            </a:r>
            <a:r>
              <a:rPr lang="en-US" altLang="zh-CN" b="0" dirty="0"/>
              <a:t>;      //</a:t>
            </a:r>
            <a:r>
              <a:rPr lang="en-US" altLang="zh-CN" b="0" dirty="0" err="1"/>
              <a:t>ap</a:t>
            </a:r>
            <a:r>
              <a:rPr lang="zh-CN" altLang="zh-CN" b="0" dirty="0"/>
              <a:t>的初值为空</a:t>
            </a:r>
          </a:p>
          <a:p>
            <a:pPr>
              <a:lnSpc>
                <a:spcPct val="140000"/>
              </a:lnSpc>
              <a:spcBef>
                <a:spcPts val="0"/>
              </a:spcBef>
            </a:pPr>
            <a:r>
              <a:rPr lang="en-US" altLang="zh-CN" b="0" dirty="0"/>
              <a:t>	while(1){</a:t>
            </a:r>
            <a:endParaRPr lang="zh-CN" altLang="zh-CN" b="0" dirty="0"/>
          </a:p>
          <a:p>
            <a:pPr>
              <a:lnSpc>
                <a:spcPct val="140000"/>
              </a:lnSpc>
              <a:spcBef>
                <a:spcPts val="0"/>
              </a:spcBef>
            </a:pPr>
            <a:r>
              <a:rPr lang="en-US" altLang="zh-CN" b="0" dirty="0"/>
              <a:t>		</a:t>
            </a:r>
            <a:r>
              <a:rPr lang="en-US" altLang="zh-CN" b="0" dirty="0" err="1"/>
              <a:t>int</a:t>
            </a:r>
            <a:r>
              <a:rPr lang="en-US" altLang="zh-CN" b="0" dirty="0"/>
              <a:t> j, c;   //</a:t>
            </a:r>
            <a:r>
              <a:rPr lang="zh-CN" altLang="zh-CN" b="0" dirty="0"/>
              <a:t>从最后到插入位置的所有索引项均后移一个位置</a:t>
            </a:r>
          </a:p>
          <a:p>
            <a:pPr>
              <a:lnSpc>
                <a:spcPct val="140000"/>
              </a:lnSpc>
              <a:spcBef>
                <a:spcPts val="0"/>
              </a:spcBef>
            </a:pPr>
            <a:r>
              <a:rPr lang="en-US" altLang="zh-CN" b="0" dirty="0"/>
              <a:t>		for(j=p-&gt;</a:t>
            </a:r>
            <a:r>
              <a:rPr lang="en-US" altLang="zh-CN" b="0" dirty="0" err="1"/>
              <a:t>keynum</a:t>
            </a:r>
            <a:r>
              <a:rPr lang="en-US" altLang="zh-CN" b="0" dirty="0"/>
              <a:t>; j&gt;=</a:t>
            </a:r>
            <a:r>
              <a:rPr lang="en-US" altLang="zh-CN" b="0" dirty="0" err="1"/>
              <a:t>i</a:t>
            </a:r>
            <a:r>
              <a:rPr lang="en-US" altLang="zh-CN" b="0" dirty="0"/>
              <a:t>; j--) {</a:t>
            </a:r>
            <a:endParaRPr lang="zh-CN" altLang="zh-CN" b="0" dirty="0"/>
          </a:p>
          <a:p>
            <a:pPr>
              <a:lnSpc>
                <a:spcPct val="140000"/>
              </a:lnSpc>
              <a:spcBef>
                <a:spcPts val="0"/>
              </a:spcBef>
            </a:pPr>
            <a:r>
              <a:rPr lang="en-US" altLang="zh-CN" b="0" dirty="0"/>
              <a:t>			p-&gt;key[j+1] = p-&gt;key[j];</a:t>
            </a:r>
            <a:endParaRPr lang="zh-CN" altLang="zh-CN" b="0" dirty="0"/>
          </a:p>
          <a:p>
            <a:pPr>
              <a:lnSpc>
                <a:spcPct val="140000"/>
              </a:lnSpc>
              <a:spcBef>
                <a:spcPts val="0"/>
              </a:spcBef>
            </a:pPr>
            <a:r>
              <a:rPr lang="en-US" altLang="zh-CN" b="0" dirty="0"/>
              <a:t>			p-&gt;</a:t>
            </a:r>
            <a:r>
              <a:rPr lang="en-US" altLang="zh-CN" b="0" dirty="0" err="1"/>
              <a:t>recptr</a:t>
            </a:r>
            <a:r>
              <a:rPr lang="en-US" altLang="zh-CN" b="0" dirty="0"/>
              <a:t>[j+1] = p-&gt;</a:t>
            </a:r>
            <a:r>
              <a:rPr lang="en-US" altLang="zh-CN" b="0" dirty="0" err="1"/>
              <a:t>recptr</a:t>
            </a:r>
            <a:r>
              <a:rPr lang="en-US" altLang="zh-CN" b="0" dirty="0"/>
              <a:t>[j];</a:t>
            </a:r>
            <a:endParaRPr lang="zh-CN" altLang="zh-CN" b="0" dirty="0"/>
          </a:p>
          <a:p>
            <a:pPr>
              <a:lnSpc>
                <a:spcPct val="140000"/>
              </a:lnSpc>
              <a:spcBef>
                <a:spcPts val="0"/>
              </a:spcBef>
            </a:pPr>
            <a:r>
              <a:rPr lang="en-US" altLang="zh-CN" b="0" dirty="0"/>
              <a:t>			p-&gt;</a:t>
            </a:r>
            <a:r>
              <a:rPr lang="en-US" altLang="zh-CN" b="0" dirty="0" err="1"/>
              <a:t>ptr</a:t>
            </a:r>
            <a:r>
              <a:rPr lang="en-US" altLang="zh-CN" b="0" dirty="0"/>
              <a:t>[j+1] = p-&gt;</a:t>
            </a:r>
            <a:r>
              <a:rPr lang="en-US" altLang="zh-CN" b="0" dirty="0" err="1"/>
              <a:t>ptr</a:t>
            </a:r>
            <a:r>
              <a:rPr lang="en-US" altLang="zh-CN" b="0" dirty="0"/>
              <a:t>[j];</a:t>
            </a:r>
            <a:endParaRPr lang="zh-CN" altLang="zh-CN" b="0" dirty="0"/>
          </a:p>
          <a:p>
            <a:pPr>
              <a:lnSpc>
                <a:spcPct val="140000"/>
              </a:lnSpc>
              <a:spcBef>
                <a:spcPts val="0"/>
              </a:spcBef>
            </a:pPr>
            <a:r>
              <a:rPr lang="en-US" altLang="zh-CN" b="0" dirty="0"/>
              <a:t>  		}</a:t>
            </a:r>
            <a:endParaRPr lang="zh-CN" altLang="zh-CN" b="0" dirty="0"/>
          </a:p>
          <a:p>
            <a:pPr>
              <a:lnSpc>
                <a:spcPct val="140000"/>
              </a:lnSpc>
              <a:spcBef>
                <a:spcPts val="0"/>
              </a:spcBef>
            </a:pPr>
            <a:r>
              <a:rPr lang="en-US" altLang="zh-CN" b="0" dirty="0"/>
              <a:t> 		//</a:t>
            </a:r>
            <a:r>
              <a:rPr lang="zh-CN" altLang="zh-CN" b="0" dirty="0"/>
              <a:t>把一个插入索引项（</a:t>
            </a:r>
            <a:r>
              <a:rPr lang="en-US" altLang="zh-CN" b="0" dirty="0" err="1"/>
              <a:t>K,num,ap</a:t>
            </a:r>
            <a:r>
              <a:rPr lang="zh-CN" altLang="zh-CN" b="0" dirty="0"/>
              <a:t>）放入</a:t>
            </a:r>
            <a:r>
              <a:rPr lang="en-US" altLang="zh-CN" b="0" dirty="0"/>
              <a:t>p</a:t>
            </a:r>
            <a:r>
              <a:rPr lang="zh-CN" altLang="zh-CN" b="0" dirty="0"/>
              <a:t>结点的</a:t>
            </a:r>
            <a:r>
              <a:rPr lang="en-US" altLang="zh-CN" b="0" dirty="0" err="1"/>
              <a:t>i</a:t>
            </a:r>
            <a:r>
              <a:rPr lang="zh-CN" altLang="zh-CN" b="0" dirty="0"/>
              <a:t>下标位置</a:t>
            </a:r>
          </a:p>
          <a:p>
            <a:pPr>
              <a:lnSpc>
                <a:spcPct val="140000"/>
              </a:lnSpc>
              <a:spcBef>
                <a:spcPts val="0"/>
              </a:spcBef>
            </a:pPr>
            <a:r>
              <a:rPr lang="en-US" altLang="zh-CN" b="0" dirty="0"/>
              <a:t>		p-&gt;key[</a:t>
            </a:r>
            <a:r>
              <a:rPr lang="en-US" altLang="zh-CN" b="0" dirty="0" err="1"/>
              <a:t>i</a:t>
            </a:r>
            <a:r>
              <a:rPr lang="en-US" altLang="zh-CN" b="0" dirty="0"/>
              <a:t>]=k; p-&gt;</a:t>
            </a:r>
            <a:r>
              <a:rPr lang="en-US" altLang="zh-CN" b="0" dirty="0" err="1"/>
              <a:t>recptr</a:t>
            </a:r>
            <a:r>
              <a:rPr lang="en-US" altLang="zh-CN" b="0" dirty="0"/>
              <a:t>[</a:t>
            </a:r>
            <a:r>
              <a:rPr lang="en-US" altLang="zh-CN" b="0" dirty="0" err="1"/>
              <a:t>i</a:t>
            </a:r>
            <a:r>
              <a:rPr lang="en-US" altLang="zh-CN" b="0" dirty="0"/>
              <a:t>]=</a:t>
            </a:r>
            <a:r>
              <a:rPr lang="en-US" altLang="zh-CN" b="0" dirty="0" err="1"/>
              <a:t>num</a:t>
            </a:r>
            <a:r>
              <a:rPr lang="en-US" altLang="zh-CN" b="0" dirty="0"/>
              <a:t>; p-&gt;</a:t>
            </a:r>
            <a:r>
              <a:rPr lang="en-US" altLang="zh-CN" b="0" dirty="0" err="1"/>
              <a:t>ptr</a:t>
            </a:r>
            <a:r>
              <a:rPr lang="en-US" altLang="zh-CN" b="0" dirty="0"/>
              <a:t>[</a:t>
            </a:r>
            <a:r>
              <a:rPr lang="en-US" altLang="zh-CN" b="0" dirty="0" err="1"/>
              <a:t>i</a:t>
            </a:r>
            <a:r>
              <a:rPr lang="en-US" altLang="zh-CN" b="0" dirty="0"/>
              <a:t>]=</a:t>
            </a:r>
            <a:r>
              <a:rPr lang="en-US" altLang="zh-CN" b="0" dirty="0" err="1"/>
              <a:t>ap</a:t>
            </a:r>
            <a:r>
              <a:rPr lang="en-US" altLang="zh-CN" b="0" dirty="0"/>
              <a:t>;</a:t>
            </a:r>
            <a:endParaRPr lang="zh-CN" altLang="zh-CN" b="0" dirty="0"/>
          </a:p>
          <a:p>
            <a:pPr>
              <a:lnSpc>
                <a:spcPct val="140000"/>
              </a:lnSpc>
              <a:spcBef>
                <a:spcPts val="0"/>
              </a:spcBef>
            </a:pPr>
            <a:r>
              <a:rPr lang="en-US" altLang="zh-CN" b="0" dirty="0"/>
              <a:t> 		//</a:t>
            </a:r>
            <a:r>
              <a:rPr lang="zh-CN" altLang="zh-CN" b="0" dirty="0"/>
              <a:t>使</a:t>
            </a:r>
            <a:r>
              <a:rPr lang="en-US" altLang="zh-CN" b="0" dirty="0"/>
              <a:t>p</a:t>
            </a:r>
            <a:r>
              <a:rPr lang="zh-CN" altLang="zh-CN" b="0" dirty="0"/>
              <a:t>结点的关键字个数增</a:t>
            </a:r>
            <a:r>
              <a:rPr lang="en-US" altLang="zh-CN" b="0" dirty="0"/>
              <a:t>1</a:t>
            </a:r>
          </a:p>
          <a:p>
            <a:pPr>
              <a:lnSpc>
                <a:spcPct val="140000"/>
              </a:lnSpc>
              <a:spcBef>
                <a:spcPts val="0"/>
              </a:spcBef>
            </a:pPr>
            <a:r>
              <a:rPr lang="en-US" altLang="zh-CN" b="0" dirty="0"/>
              <a:t>		p-&gt; </a:t>
            </a:r>
            <a:r>
              <a:rPr lang="en-US" altLang="zh-CN" b="0" dirty="0" err="1"/>
              <a:t>keynum</a:t>
            </a:r>
            <a:r>
              <a:rPr lang="en-US" altLang="zh-CN" b="0" dirty="0"/>
              <a:t> ++;</a:t>
            </a:r>
            <a:endParaRPr lang="zh-CN" altLang="zh-CN" b="0" dirty="0"/>
          </a:p>
        </p:txBody>
      </p:sp>
    </p:spTree>
    <p:extLst>
      <p:ext uri="{BB962C8B-B14F-4D97-AF65-F5344CB8AC3E}">
        <p14:creationId xmlns:p14="http://schemas.microsoft.com/office/powerpoint/2010/main" val="94143413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764704"/>
            <a:ext cx="8136904" cy="5472608"/>
          </a:xfrm>
        </p:spPr>
        <p:txBody>
          <a:bodyPr>
            <a:noAutofit/>
          </a:bodyPr>
          <a:lstStyle/>
          <a:p>
            <a:pPr>
              <a:spcBef>
                <a:spcPts val="0"/>
              </a:spcBef>
            </a:pPr>
            <a:r>
              <a:rPr lang="en-US" altLang="zh-CN" sz="1800" dirty="0"/>
              <a:t>	</a:t>
            </a:r>
            <a:r>
              <a:rPr lang="en-US" altLang="zh-CN" sz="1800" b="0" dirty="0"/>
              <a:t>	//</a:t>
            </a:r>
            <a:r>
              <a:rPr lang="zh-CN" altLang="zh-CN" sz="1800" b="0" dirty="0"/>
              <a:t>若插入后结点中关键字个数不超过所允许的最大值，则插入完成</a:t>
            </a:r>
          </a:p>
          <a:p>
            <a:pPr>
              <a:spcBef>
                <a:spcPts val="0"/>
              </a:spcBef>
            </a:pPr>
            <a:r>
              <a:rPr lang="en-US" altLang="zh-CN" sz="1800" b="0" dirty="0"/>
              <a:t>		if(p-&gt;</a:t>
            </a:r>
            <a:r>
              <a:rPr lang="en-US" altLang="zh-CN" sz="1800" b="0" dirty="0" err="1"/>
              <a:t>keynum</a:t>
            </a:r>
            <a:r>
              <a:rPr lang="en-US" altLang="zh-CN" sz="1800" b="0" dirty="0"/>
              <a:t>&lt;=m-1) {</a:t>
            </a:r>
            <a:endParaRPr lang="zh-CN" altLang="zh-CN" sz="1800" b="0" dirty="0"/>
          </a:p>
          <a:p>
            <a:pPr>
              <a:spcBef>
                <a:spcPts val="0"/>
              </a:spcBef>
            </a:pPr>
            <a:r>
              <a:rPr lang="en-US" altLang="zh-CN" sz="1800" b="0" dirty="0"/>
              <a:t>			p-&gt;key[p-&gt;keynum+1] = </a:t>
            </a:r>
            <a:r>
              <a:rPr lang="en-US" altLang="zh-CN" sz="1800" b="0" dirty="0" err="1"/>
              <a:t>MaxKey</a:t>
            </a:r>
            <a:r>
              <a:rPr lang="en-US" altLang="zh-CN" sz="1800" b="0" dirty="0"/>
              <a:t>;</a:t>
            </a:r>
          </a:p>
          <a:p>
            <a:pPr>
              <a:spcBef>
                <a:spcPts val="0"/>
              </a:spcBef>
            </a:pPr>
            <a:r>
              <a:rPr lang="en-US" altLang="zh-CN" sz="1800" b="0" dirty="0"/>
              <a:t>			return true;</a:t>
            </a:r>
            <a:endParaRPr lang="zh-CN" altLang="zh-CN" sz="1800" b="0" dirty="0"/>
          </a:p>
          <a:p>
            <a:pPr>
              <a:spcBef>
                <a:spcPts val="0"/>
              </a:spcBef>
            </a:pPr>
            <a:r>
              <a:rPr lang="en-US" altLang="zh-CN" sz="1800" b="0" dirty="0"/>
              <a:t> 		}</a:t>
            </a:r>
            <a:endParaRPr lang="zh-CN" altLang="zh-CN" sz="1800" b="0" dirty="0"/>
          </a:p>
          <a:p>
            <a:pPr>
              <a:spcBef>
                <a:spcPts val="0"/>
              </a:spcBef>
            </a:pPr>
            <a:r>
              <a:rPr lang="en-US" altLang="zh-CN" sz="1800" b="0" dirty="0"/>
              <a:t>		//</a:t>
            </a:r>
            <a:r>
              <a:rPr lang="zh-CN" altLang="zh-CN" sz="1800" b="0" dirty="0"/>
              <a:t>计算出</a:t>
            </a:r>
            <a:r>
              <a:rPr lang="en-US" altLang="zh-CN" sz="1800" b="0" dirty="0"/>
              <a:t>m/2</a:t>
            </a:r>
            <a:r>
              <a:rPr lang="zh-CN" altLang="zh-CN" sz="1800" b="0" dirty="0"/>
              <a:t>的向上取整值</a:t>
            </a:r>
          </a:p>
          <a:p>
            <a:pPr>
              <a:spcBef>
                <a:spcPts val="0"/>
              </a:spcBef>
            </a:pPr>
            <a:r>
              <a:rPr lang="en-US" altLang="zh-CN" sz="1800" b="0" dirty="0"/>
              <a:t>		c = (m%2 ? (m+1)/2 : m/2);</a:t>
            </a:r>
            <a:endParaRPr lang="zh-CN" altLang="zh-CN" sz="1800" b="0" dirty="0"/>
          </a:p>
          <a:p>
            <a:pPr>
              <a:spcBef>
                <a:spcPts val="0"/>
              </a:spcBef>
            </a:pPr>
            <a:r>
              <a:rPr lang="en-US" altLang="zh-CN" sz="1800" b="0" dirty="0"/>
              <a:t>		//</a:t>
            </a:r>
            <a:r>
              <a:rPr lang="zh-CN" altLang="zh-CN" sz="1800" b="0" dirty="0"/>
              <a:t>建立新分裂的结点，该结点含有</a:t>
            </a:r>
            <a:r>
              <a:rPr lang="en-US" altLang="zh-CN" sz="1800" b="0" dirty="0"/>
              <a:t>m-c</a:t>
            </a:r>
            <a:r>
              <a:rPr lang="zh-CN" altLang="zh-CN" sz="1800" b="0" dirty="0"/>
              <a:t>个索引项</a:t>
            </a:r>
          </a:p>
          <a:p>
            <a:pPr>
              <a:spcBef>
                <a:spcPts val="0"/>
              </a:spcBef>
            </a:pPr>
            <a:r>
              <a:rPr lang="en-US" altLang="zh-CN" sz="1800" b="0" dirty="0"/>
              <a:t>		</a:t>
            </a:r>
            <a:r>
              <a:rPr lang="en-US" altLang="zh-CN" sz="1800" b="0" dirty="0" err="1"/>
              <a:t>ap</a:t>
            </a:r>
            <a:r>
              <a:rPr lang="en-US" altLang="zh-CN" sz="1800" b="0" dirty="0"/>
              <a:t>=new </a:t>
            </a:r>
            <a:r>
              <a:rPr lang="en-US" altLang="zh-CN" sz="1800" b="0" dirty="0" err="1"/>
              <a:t>MBNode</a:t>
            </a:r>
            <a:r>
              <a:rPr lang="en-US" altLang="zh-CN" sz="1800" b="0" dirty="0"/>
              <a:t>;</a:t>
            </a:r>
            <a:endParaRPr lang="zh-CN" altLang="zh-CN" sz="1800" b="0" dirty="0"/>
          </a:p>
          <a:p>
            <a:pPr>
              <a:spcBef>
                <a:spcPts val="0"/>
              </a:spcBef>
            </a:pPr>
            <a:r>
              <a:rPr lang="en-US" altLang="zh-CN" sz="1800" b="0" dirty="0"/>
              <a:t>		</a:t>
            </a:r>
            <a:r>
              <a:rPr lang="en-US" altLang="zh-CN" sz="1800" b="0" dirty="0" err="1"/>
              <a:t>ap</a:t>
            </a:r>
            <a:r>
              <a:rPr lang="en-US" altLang="zh-CN" sz="1800" b="0" dirty="0"/>
              <a:t>-&gt;</a:t>
            </a:r>
            <a:r>
              <a:rPr lang="en-US" altLang="zh-CN" sz="1800" b="0" dirty="0" err="1"/>
              <a:t>keynum</a:t>
            </a:r>
            <a:r>
              <a:rPr lang="en-US" altLang="zh-CN" sz="1800" b="0" dirty="0"/>
              <a:t>=m-c;</a:t>
            </a:r>
            <a:endParaRPr lang="zh-CN" altLang="zh-CN" sz="1800" b="0" dirty="0"/>
          </a:p>
          <a:p>
            <a:pPr>
              <a:spcBef>
                <a:spcPts val="0"/>
              </a:spcBef>
            </a:pPr>
            <a:r>
              <a:rPr lang="en-US" altLang="zh-CN" sz="1800" b="0" dirty="0"/>
              <a:t>		</a:t>
            </a:r>
            <a:r>
              <a:rPr lang="en-US" altLang="zh-CN" sz="1800" b="0" dirty="0" err="1"/>
              <a:t>ap</a:t>
            </a:r>
            <a:r>
              <a:rPr lang="en-US" altLang="zh-CN" sz="1800" b="0" dirty="0"/>
              <a:t>-&gt;parent=p-&gt;parent;</a:t>
            </a:r>
            <a:endParaRPr lang="zh-CN" altLang="zh-CN" sz="1800" b="0" dirty="0"/>
          </a:p>
          <a:p>
            <a:pPr>
              <a:spcBef>
                <a:spcPts val="0"/>
              </a:spcBef>
            </a:pPr>
            <a:r>
              <a:rPr lang="en-US" altLang="zh-CN" sz="1800" b="0" dirty="0"/>
              <a:t>		for(j=1; j&lt;=</a:t>
            </a:r>
            <a:r>
              <a:rPr lang="en-US" altLang="zh-CN" sz="1800" b="0" dirty="0" err="1"/>
              <a:t>ap</a:t>
            </a:r>
            <a:r>
              <a:rPr lang="en-US" altLang="zh-CN" sz="1800" b="0" dirty="0"/>
              <a:t>-&gt;</a:t>
            </a:r>
            <a:r>
              <a:rPr lang="en-US" altLang="zh-CN" sz="1800" b="0" dirty="0" err="1"/>
              <a:t>keynum</a:t>
            </a:r>
            <a:r>
              <a:rPr lang="en-US" altLang="zh-CN" sz="1800" b="0" dirty="0"/>
              <a:t>; j++){       //</a:t>
            </a:r>
            <a:r>
              <a:rPr lang="zh-CN" altLang="zh-CN" sz="1800" b="0" dirty="0"/>
              <a:t>复制关键字和记录位置</a:t>
            </a:r>
          </a:p>
          <a:p>
            <a:pPr>
              <a:spcBef>
                <a:spcPts val="0"/>
              </a:spcBef>
            </a:pPr>
            <a:r>
              <a:rPr lang="en-US" altLang="zh-CN" sz="1800" b="0" dirty="0"/>
              <a:t>			</a:t>
            </a:r>
            <a:r>
              <a:rPr lang="en-US" altLang="zh-CN" sz="1800" b="0" dirty="0" err="1"/>
              <a:t>ap</a:t>
            </a:r>
            <a:r>
              <a:rPr lang="en-US" altLang="zh-CN" sz="1800" b="0" dirty="0"/>
              <a:t>-&gt;key[j] = p-&gt;key[</a:t>
            </a:r>
            <a:r>
              <a:rPr lang="en-US" altLang="zh-CN" sz="1800" b="0" dirty="0" err="1"/>
              <a:t>j+c</a:t>
            </a:r>
            <a:r>
              <a:rPr lang="en-US" altLang="zh-CN" sz="1800" b="0" dirty="0"/>
              <a:t>];</a:t>
            </a:r>
            <a:endParaRPr lang="zh-CN" altLang="zh-CN" sz="1800" b="0" dirty="0"/>
          </a:p>
          <a:p>
            <a:pPr>
              <a:spcBef>
                <a:spcPts val="0"/>
              </a:spcBef>
            </a:pPr>
            <a:r>
              <a:rPr lang="en-US" altLang="zh-CN" sz="1800" b="0" dirty="0"/>
              <a:t>			</a:t>
            </a:r>
            <a:r>
              <a:rPr lang="en-US" altLang="zh-CN" sz="1800" b="0" dirty="0" err="1"/>
              <a:t>ap</a:t>
            </a:r>
            <a:r>
              <a:rPr lang="en-US" altLang="zh-CN" sz="1800" b="0" dirty="0"/>
              <a:t>-&gt;</a:t>
            </a:r>
            <a:r>
              <a:rPr lang="en-US" altLang="zh-CN" sz="1800" b="0" dirty="0" err="1"/>
              <a:t>recptr</a:t>
            </a:r>
            <a:r>
              <a:rPr lang="en-US" altLang="zh-CN" sz="1800" b="0" dirty="0"/>
              <a:t>[j] = p-&gt;</a:t>
            </a:r>
            <a:r>
              <a:rPr lang="en-US" altLang="zh-CN" sz="1800" b="0" dirty="0" err="1"/>
              <a:t>recptr</a:t>
            </a:r>
            <a:r>
              <a:rPr lang="en-US" altLang="zh-CN" sz="1800" b="0" dirty="0"/>
              <a:t>[</a:t>
            </a:r>
            <a:r>
              <a:rPr lang="en-US" altLang="zh-CN" sz="1800" b="0" dirty="0" err="1"/>
              <a:t>j+c</a:t>
            </a:r>
            <a:r>
              <a:rPr lang="en-US" altLang="zh-CN" sz="1800" b="0" dirty="0"/>
              <a:t>];</a:t>
            </a:r>
          </a:p>
          <a:p>
            <a:pPr>
              <a:spcBef>
                <a:spcPts val="0"/>
              </a:spcBef>
            </a:pPr>
            <a:r>
              <a:rPr lang="en-US" altLang="zh-CN" sz="1800" b="0" dirty="0"/>
              <a:t> 		}</a:t>
            </a:r>
            <a:endParaRPr lang="zh-CN" altLang="zh-CN" sz="1800" b="0" dirty="0"/>
          </a:p>
        </p:txBody>
      </p:sp>
    </p:spTree>
    <p:extLst>
      <p:ext uri="{BB962C8B-B14F-4D97-AF65-F5344CB8AC3E}">
        <p14:creationId xmlns:p14="http://schemas.microsoft.com/office/powerpoint/2010/main" val="699170916"/>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764704"/>
            <a:ext cx="8208912" cy="5328592"/>
          </a:xfrm>
        </p:spPr>
        <p:txBody>
          <a:bodyPr>
            <a:normAutofit fontScale="92500" lnSpcReduction="20000"/>
          </a:bodyPr>
          <a:lstStyle/>
          <a:p>
            <a:r>
              <a:rPr lang="en-US" altLang="zh-CN" b="0" dirty="0"/>
              <a:t>		for(j=0; j&lt;=</a:t>
            </a:r>
            <a:r>
              <a:rPr lang="en-US" altLang="zh-CN" b="0" dirty="0" err="1"/>
              <a:t>ap</a:t>
            </a:r>
            <a:r>
              <a:rPr lang="en-US" altLang="zh-CN" b="0" dirty="0"/>
              <a:t>-&gt;</a:t>
            </a:r>
            <a:r>
              <a:rPr lang="en-US" altLang="zh-CN" b="0" dirty="0" err="1"/>
              <a:t>keynum</a:t>
            </a:r>
            <a:r>
              <a:rPr lang="en-US" altLang="zh-CN" b="0" dirty="0"/>
              <a:t>; j++) {          //</a:t>
            </a:r>
            <a:r>
              <a:rPr lang="zh-CN" altLang="zh-CN" b="0" dirty="0"/>
              <a:t>复制指针</a:t>
            </a:r>
          </a:p>
          <a:p>
            <a:r>
              <a:rPr lang="en-US" altLang="zh-CN" b="0" dirty="0"/>
              <a:t>			</a:t>
            </a:r>
            <a:r>
              <a:rPr lang="en-US" altLang="zh-CN" b="0" dirty="0" err="1"/>
              <a:t>ap</a:t>
            </a:r>
            <a:r>
              <a:rPr lang="en-US" altLang="zh-CN" b="0" dirty="0"/>
              <a:t>-&gt;</a:t>
            </a:r>
            <a:r>
              <a:rPr lang="en-US" altLang="zh-CN" b="0" dirty="0" err="1"/>
              <a:t>ptr</a:t>
            </a:r>
            <a:r>
              <a:rPr lang="en-US" altLang="zh-CN" b="0" dirty="0"/>
              <a:t>[j]=p-</a:t>
            </a:r>
            <a:r>
              <a:rPr lang="en-US" altLang="zh-CN" b="0" dirty="0" err="1"/>
              <a:t>ptr</a:t>
            </a:r>
            <a:r>
              <a:rPr lang="en-US" altLang="zh-CN" b="0" dirty="0"/>
              <a:t>[</a:t>
            </a:r>
            <a:r>
              <a:rPr lang="en-US" altLang="zh-CN" b="0" dirty="0" err="1"/>
              <a:t>j+c</a:t>
            </a:r>
            <a:r>
              <a:rPr lang="en-US" altLang="zh-CN" b="0" dirty="0"/>
              <a:t>];</a:t>
            </a:r>
            <a:endParaRPr lang="zh-CN" altLang="zh-CN" b="0" dirty="0"/>
          </a:p>
          <a:p>
            <a:r>
              <a:rPr lang="en-US" altLang="zh-CN" b="0" dirty="0"/>
              <a:t>			if(</a:t>
            </a:r>
            <a:r>
              <a:rPr lang="en-US" altLang="zh-CN" b="0" dirty="0" err="1"/>
              <a:t>ap</a:t>
            </a:r>
            <a:r>
              <a:rPr lang="en-US" altLang="zh-CN" b="0" dirty="0"/>
              <a:t>-&gt;</a:t>
            </a:r>
            <a:r>
              <a:rPr lang="en-US" altLang="zh-CN" b="0" dirty="0" err="1"/>
              <a:t>ptr</a:t>
            </a:r>
            <a:r>
              <a:rPr lang="en-US" altLang="zh-CN" b="0" dirty="0"/>
              <a:t>[j] != NULL)	</a:t>
            </a:r>
            <a:r>
              <a:rPr lang="en-US" altLang="zh-CN" b="0" dirty="0" err="1"/>
              <a:t>ap</a:t>
            </a:r>
            <a:r>
              <a:rPr lang="en-US" altLang="zh-CN" b="0" dirty="0"/>
              <a:t>-&gt;</a:t>
            </a:r>
            <a:r>
              <a:rPr lang="en-US" altLang="zh-CN" b="0" dirty="0" err="1"/>
              <a:t>ptr</a:t>
            </a:r>
            <a:r>
              <a:rPr lang="en-US" altLang="zh-CN" b="0" dirty="0"/>
              <a:t>[j]-&gt;parent=</a:t>
            </a:r>
            <a:r>
              <a:rPr lang="en-US" altLang="zh-CN" b="0" dirty="0" err="1"/>
              <a:t>ap</a:t>
            </a:r>
            <a:r>
              <a:rPr lang="en-US" altLang="zh-CN" b="0" dirty="0"/>
              <a:t>;</a:t>
            </a:r>
            <a:endParaRPr lang="zh-CN" altLang="zh-CN" b="0" dirty="0"/>
          </a:p>
          <a:p>
            <a:r>
              <a:rPr lang="en-US" altLang="zh-CN" b="0" dirty="0"/>
              <a:t> 		}</a:t>
            </a:r>
            <a:endParaRPr lang="zh-CN" altLang="zh-CN" b="0" dirty="0"/>
          </a:p>
          <a:p>
            <a:r>
              <a:rPr lang="en-US" altLang="zh-CN" b="0" dirty="0"/>
              <a:t>		</a:t>
            </a:r>
            <a:r>
              <a:rPr lang="en-US" altLang="zh-CN" b="0" dirty="0" err="1"/>
              <a:t>ap</a:t>
            </a:r>
            <a:r>
              <a:rPr lang="en-US" altLang="zh-CN" b="0" dirty="0"/>
              <a:t>-&gt;key[m-c+1]=</a:t>
            </a:r>
            <a:r>
              <a:rPr lang="en-US" altLang="zh-CN" b="0" dirty="0" err="1"/>
              <a:t>MaxKey</a:t>
            </a:r>
            <a:r>
              <a:rPr lang="en-US" altLang="zh-CN" b="0" dirty="0"/>
              <a:t>;    //</a:t>
            </a:r>
            <a:r>
              <a:rPr lang="zh-CN" altLang="zh-CN" b="0" dirty="0"/>
              <a:t>最大值放入所有关键字之后</a:t>
            </a:r>
          </a:p>
          <a:p>
            <a:r>
              <a:rPr lang="en-US" altLang="zh-CN" b="0" dirty="0"/>
              <a:t>		//</a:t>
            </a:r>
            <a:r>
              <a:rPr lang="zh-CN" altLang="zh-CN" b="0" dirty="0"/>
              <a:t>修改</a:t>
            </a:r>
            <a:r>
              <a:rPr lang="en-US" altLang="zh-CN" b="0" dirty="0"/>
              <a:t>p</a:t>
            </a:r>
            <a:r>
              <a:rPr lang="zh-CN" altLang="zh-CN" b="0" dirty="0"/>
              <a:t>结点中的关键字个数</a:t>
            </a:r>
          </a:p>
          <a:p>
            <a:r>
              <a:rPr lang="en-US" altLang="zh-CN" b="0" dirty="0"/>
              <a:t>		p-&gt;</a:t>
            </a:r>
            <a:r>
              <a:rPr lang="en-US" altLang="zh-CN" b="0" dirty="0" err="1"/>
              <a:t>keynum</a:t>
            </a:r>
            <a:r>
              <a:rPr lang="en-US" altLang="zh-CN" b="0" dirty="0"/>
              <a:t>=c-1;</a:t>
            </a:r>
            <a:endParaRPr lang="zh-CN" altLang="zh-CN" b="0" dirty="0"/>
          </a:p>
          <a:p>
            <a:r>
              <a:rPr lang="en-US" altLang="zh-CN" b="0" dirty="0"/>
              <a:t>		//</a:t>
            </a:r>
            <a:r>
              <a:rPr lang="zh-CN" altLang="zh-CN" b="0" dirty="0"/>
              <a:t>建立新的待向双亲结点插入的索引项（</a:t>
            </a:r>
            <a:r>
              <a:rPr lang="en-US" altLang="zh-CN" b="0" dirty="0" err="1"/>
              <a:t>K,num,ap</a:t>
            </a:r>
            <a:r>
              <a:rPr lang="en-US" altLang="zh-CN" b="0" dirty="0"/>
              <a:t>)</a:t>
            </a:r>
            <a:endParaRPr lang="zh-CN" altLang="zh-CN" b="0" dirty="0"/>
          </a:p>
          <a:p>
            <a:r>
              <a:rPr lang="en-US" altLang="zh-CN" b="0" dirty="0"/>
              <a:t>		K = p-&gt;key[c];</a:t>
            </a:r>
          </a:p>
          <a:p>
            <a:r>
              <a:rPr lang="en-US" altLang="zh-CN" b="0" dirty="0"/>
              <a:t>		</a:t>
            </a:r>
            <a:r>
              <a:rPr lang="en-US" altLang="zh-CN" b="0" dirty="0" err="1"/>
              <a:t>num</a:t>
            </a:r>
            <a:r>
              <a:rPr lang="en-US" altLang="zh-CN" b="0" dirty="0"/>
              <a:t>=p-&gt;</a:t>
            </a:r>
            <a:r>
              <a:rPr lang="en-US" altLang="zh-CN" b="0" dirty="0" err="1"/>
              <a:t>recptr</a:t>
            </a:r>
            <a:r>
              <a:rPr lang="en-US" altLang="zh-CN" b="0" dirty="0"/>
              <a:t>[c];</a:t>
            </a:r>
            <a:endParaRPr lang="zh-CN" altLang="zh-CN" b="0" dirty="0"/>
          </a:p>
          <a:p>
            <a:r>
              <a:rPr lang="en-US" altLang="zh-CN" b="0" dirty="0"/>
              <a:t>		//</a:t>
            </a:r>
            <a:r>
              <a:rPr lang="zh-CN" altLang="zh-CN" b="0" dirty="0"/>
              <a:t>在</a:t>
            </a:r>
            <a:r>
              <a:rPr lang="en-US" altLang="zh-CN" b="0" dirty="0"/>
              <a:t>p</a:t>
            </a:r>
            <a:r>
              <a:rPr lang="zh-CN" altLang="zh-CN" b="0" dirty="0"/>
              <a:t>结点的所有关键字最后放入最大关键字</a:t>
            </a:r>
          </a:p>
          <a:p>
            <a:r>
              <a:rPr lang="en-US" altLang="zh-CN" b="0" dirty="0"/>
              <a:t>		p-&gt;key[c]=</a:t>
            </a:r>
            <a:r>
              <a:rPr lang="en-US" altLang="zh-CN" b="0" dirty="0" err="1"/>
              <a:t>MaxKey</a:t>
            </a:r>
            <a:r>
              <a:rPr lang="en-US" altLang="zh-CN" b="0" dirty="0"/>
              <a:t>;</a:t>
            </a:r>
            <a:endParaRPr lang="zh-CN" altLang="zh-CN" b="0" dirty="0"/>
          </a:p>
        </p:txBody>
      </p:sp>
    </p:spTree>
    <p:extLst>
      <p:ext uri="{BB962C8B-B14F-4D97-AF65-F5344CB8AC3E}">
        <p14:creationId xmlns:p14="http://schemas.microsoft.com/office/powerpoint/2010/main" val="421921265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836712"/>
            <a:ext cx="7704856" cy="5472608"/>
          </a:xfrm>
        </p:spPr>
        <p:txBody>
          <a:bodyPr>
            <a:normAutofit fontScale="70000" lnSpcReduction="20000"/>
          </a:bodyPr>
          <a:lstStyle/>
          <a:p>
            <a:pPr>
              <a:lnSpc>
                <a:spcPct val="140000"/>
              </a:lnSpc>
              <a:spcBef>
                <a:spcPts val="0"/>
              </a:spcBef>
            </a:pPr>
            <a:r>
              <a:rPr lang="en-US" altLang="zh-CN" b="0" dirty="0"/>
              <a:t>		//</a:t>
            </a:r>
            <a:r>
              <a:rPr lang="zh-CN" altLang="zh-CN" b="0" dirty="0"/>
              <a:t>建立新的树根结点</a:t>
            </a:r>
          </a:p>
          <a:p>
            <a:pPr>
              <a:lnSpc>
                <a:spcPct val="140000"/>
              </a:lnSpc>
              <a:spcBef>
                <a:spcPts val="0"/>
              </a:spcBef>
            </a:pPr>
            <a:r>
              <a:rPr lang="en-US" altLang="zh-CN" b="0" dirty="0"/>
              <a:t>		if(p-&gt;parent==NULL)</a:t>
            </a:r>
            <a:endParaRPr lang="zh-CN" altLang="zh-CN" b="0" dirty="0"/>
          </a:p>
          <a:p>
            <a:pPr>
              <a:lnSpc>
                <a:spcPct val="140000"/>
              </a:lnSpc>
              <a:spcBef>
                <a:spcPts val="0"/>
              </a:spcBef>
            </a:pPr>
            <a:r>
              <a:rPr lang="en-US" altLang="zh-CN" b="0" dirty="0"/>
              <a:t> 		{</a:t>
            </a:r>
            <a:endParaRPr lang="zh-CN" altLang="zh-CN" b="0" dirty="0"/>
          </a:p>
          <a:p>
            <a:pPr>
              <a:lnSpc>
                <a:spcPct val="140000"/>
              </a:lnSpc>
              <a:spcBef>
                <a:spcPts val="0"/>
              </a:spcBef>
            </a:pPr>
            <a:r>
              <a:rPr lang="en-US" altLang="zh-CN" b="0" dirty="0"/>
              <a:t>			MT=new </a:t>
            </a:r>
            <a:r>
              <a:rPr lang="en-US" altLang="zh-CN" b="0" dirty="0" err="1"/>
              <a:t>MBNode</a:t>
            </a:r>
            <a:r>
              <a:rPr lang="en-US" altLang="zh-CN" b="0" dirty="0"/>
              <a:t>;</a:t>
            </a:r>
            <a:endParaRPr lang="zh-CN" altLang="zh-CN" b="0" dirty="0"/>
          </a:p>
          <a:p>
            <a:pPr>
              <a:lnSpc>
                <a:spcPct val="140000"/>
              </a:lnSpc>
              <a:spcBef>
                <a:spcPts val="0"/>
              </a:spcBef>
            </a:pPr>
            <a:r>
              <a:rPr lang="en-US" altLang="zh-CN" b="0" dirty="0"/>
              <a:t>			MT-&gt;</a:t>
            </a:r>
            <a:r>
              <a:rPr lang="en-US" altLang="zh-CN" b="0" dirty="0" err="1"/>
              <a:t>keynum</a:t>
            </a:r>
            <a:r>
              <a:rPr lang="en-US" altLang="zh-CN" b="0" dirty="0"/>
              <a:t> = 1;  	MT-&gt;parent = NULL;</a:t>
            </a:r>
            <a:endParaRPr lang="zh-CN" altLang="zh-CN" b="0" dirty="0"/>
          </a:p>
          <a:p>
            <a:pPr>
              <a:lnSpc>
                <a:spcPct val="140000"/>
              </a:lnSpc>
              <a:spcBef>
                <a:spcPts val="0"/>
              </a:spcBef>
            </a:pPr>
            <a:r>
              <a:rPr lang="en-US" altLang="zh-CN" b="0" dirty="0"/>
              <a:t>			MT-&gt;key[1] = K;	MT-&gt;key[2] = </a:t>
            </a:r>
            <a:r>
              <a:rPr lang="en-US" altLang="zh-CN" b="0" dirty="0" err="1"/>
              <a:t>MaxKey</a:t>
            </a:r>
            <a:r>
              <a:rPr lang="en-US" altLang="zh-CN" b="0" dirty="0"/>
              <a:t>;</a:t>
            </a:r>
            <a:endParaRPr lang="zh-CN" altLang="zh-CN" b="0" dirty="0"/>
          </a:p>
          <a:p>
            <a:pPr>
              <a:lnSpc>
                <a:spcPct val="140000"/>
              </a:lnSpc>
              <a:spcBef>
                <a:spcPts val="0"/>
              </a:spcBef>
            </a:pPr>
            <a:r>
              <a:rPr lang="en-US" altLang="zh-CN" b="0" dirty="0"/>
              <a:t>			MT-&gt;</a:t>
            </a:r>
            <a:r>
              <a:rPr lang="en-US" altLang="zh-CN" b="0" dirty="0" err="1"/>
              <a:t>recptr</a:t>
            </a:r>
            <a:r>
              <a:rPr lang="en-US" altLang="zh-CN" b="0" dirty="0"/>
              <a:t>[1] = </a:t>
            </a:r>
            <a:r>
              <a:rPr lang="en-US" altLang="zh-CN" b="0" dirty="0" err="1"/>
              <a:t>num</a:t>
            </a:r>
            <a:r>
              <a:rPr lang="en-US" altLang="zh-CN" b="0" dirty="0"/>
              <a:t>;</a:t>
            </a:r>
            <a:endParaRPr lang="zh-CN" altLang="zh-CN" b="0" dirty="0"/>
          </a:p>
          <a:p>
            <a:pPr>
              <a:lnSpc>
                <a:spcPct val="140000"/>
              </a:lnSpc>
              <a:spcBef>
                <a:spcPts val="0"/>
              </a:spcBef>
            </a:pPr>
            <a:r>
              <a:rPr lang="en-US" altLang="zh-CN" b="0" dirty="0"/>
              <a:t>			MT-&gt;</a:t>
            </a:r>
            <a:r>
              <a:rPr lang="en-US" altLang="zh-CN" b="0" dirty="0" err="1"/>
              <a:t>ptr</a:t>
            </a:r>
            <a:r>
              <a:rPr lang="en-US" altLang="zh-CN" b="0" dirty="0"/>
              <a:t>[0] = p;	MT-&gt;</a:t>
            </a:r>
            <a:r>
              <a:rPr lang="en-US" altLang="zh-CN" b="0" dirty="0" err="1"/>
              <a:t>ptr</a:t>
            </a:r>
            <a:r>
              <a:rPr lang="en-US" altLang="zh-CN" b="0" dirty="0"/>
              <a:t>[1] = </a:t>
            </a:r>
            <a:r>
              <a:rPr lang="en-US" altLang="zh-CN" b="0" dirty="0" err="1"/>
              <a:t>ap</a:t>
            </a:r>
            <a:r>
              <a:rPr lang="en-US" altLang="zh-CN" b="0" dirty="0"/>
              <a:t>;</a:t>
            </a:r>
            <a:endParaRPr lang="zh-CN" altLang="zh-CN" b="0" dirty="0"/>
          </a:p>
          <a:p>
            <a:pPr>
              <a:lnSpc>
                <a:spcPct val="140000"/>
              </a:lnSpc>
              <a:spcBef>
                <a:spcPts val="0"/>
              </a:spcBef>
            </a:pPr>
            <a:r>
              <a:rPr lang="en-US" altLang="zh-CN" b="0" dirty="0"/>
              <a:t>			p-&gt;parent=</a:t>
            </a:r>
            <a:r>
              <a:rPr lang="en-US" altLang="zh-CN" b="0" dirty="0" err="1"/>
              <a:t>ap</a:t>
            </a:r>
            <a:r>
              <a:rPr lang="en-US" altLang="zh-CN" b="0" dirty="0"/>
              <a:t>-&gt;parent = MT;</a:t>
            </a:r>
            <a:endParaRPr lang="zh-CN" altLang="zh-CN" b="0" dirty="0"/>
          </a:p>
          <a:p>
            <a:pPr>
              <a:lnSpc>
                <a:spcPct val="140000"/>
              </a:lnSpc>
              <a:spcBef>
                <a:spcPts val="0"/>
              </a:spcBef>
            </a:pPr>
            <a:r>
              <a:rPr lang="en-US" altLang="zh-CN" b="0" dirty="0"/>
              <a:t>			return true;</a:t>
            </a:r>
            <a:endParaRPr lang="zh-CN" altLang="zh-CN" b="0" dirty="0"/>
          </a:p>
          <a:p>
            <a:pPr>
              <a:lnSpc>
                <a:spcPct val="140000"/>
              </a:lnSpc>
              <a:spcBef>
                <a:spcPts val="0"/>
              </a:spcBef>
            </a:pPr>
            <a:r>
              <a:rPr lang="en-US" altLang="zh-CN" b="0" dirty="0"/>
              <a:t>  		}</a:t>
            </a:r>
            <a:endParaRPr lang="zh-CN" altLang="zh-CN" b="0" dirty="0"/>
          </a:p>
          <a:p>
            <a:pPr>
              <a:lnSpc>
                <a:spcPct val="140000"/>
              </a:lnSpc>
              <a:spcBef>
                <a:spcPts val="0"/>
              </a:spcBef>
            </a:pPr>
            <a:r>
              <a:rPr lang="en-US" altLang="zh-CN" b="0" dirty="0"/>
              <a:t> 		//</a:t>
            </a:r>
            <a:r>
              <a:rPr lang="zh-CN" altLang="zh-CN" b="0" dirty="0"/>
              <a:t>求出新的索引项（</a:t>
            </a:r>
            <a:r>
              <a:rPr lang="en-US" altLang="zh-CN" b="0" dirty="0"/>
              <a:t>K, </a:t>
            </a:r>
            <a:r>
              <a:rPr lang="en-US" altLang="zh-CN" b="0" dirty="0" err="1"/>
              <a:t>num</a:t>
            </a:r>
            <a:r>
              <a:rPr lang="en-US" altLang="zh-CN" b="0" dirty="0"/>
              <a:t>, </a:t>
            </a:r>
            <a:r>
              <a:rPr lang="en-US" altLang="zh-CN" b="0" dirty="0" err="1"/>
              <a:t>ap</a:t>
            </a:r>
            <a:r>
              <a:rPr lang="en-US" altLang="zh-CN" b="0" dirty="0"/>
              <a:t>)</a:t>
            </a:r>
            <a:r>
              <a:rPr lang="zh-CN" altLang="zh-CN" b="0" dirty="0"/>
              <a:t>在双亲结点的插入位置</a:t>
            </a:r>
          </a:p>
          <a:p>
            <a:pPr>
              <a:lnSpc>
                <a:spcPct val="140000"/>
              </a:lnSpc>
              <a:spcBef>
                <a:spcPts val="0"/>
              </a:spcBef>
            </a:pPr>
            <a:r>
              <a:rPr lang="en-US" altLang="zh-CN" b="0" dirty="0"/>
              <a:t> 		p=p-&gt;parent;</a:t>
            </a:r>
            <a:endParaRPr lang="zh-CN" altLang="zh-CN" b="0" dirty="0"/>
          </a:p>
          <a:p>
            <a:pPr>
              <a:lnSpc>
                <a:spcPct val="140000"/>
              </a:lnSpc>
              <a:spcBef>
                <a:spcPts val="0"/>
              </a:spcBef>
            </a:pPr>
            <a:r>
              <a:rPr lang="en-US" altLang="zh-CN" b="0" dirty="0"/>
              <a:t> 		</a:t>
            </a:r>
            <a:r>
              <a:rPr lang="en-US" altLang="zh-CN" b="0" dirty="0" err="1"/>
              <a:t>i</a:t>
            </a:r>
            <a:r>
              <a:rPr lang="en-US" altLang="zh-CN" b="0" dirty="0"/>
              <a:t>=1;</a:t>
            </a:r>
            <a:endParaRPr lang="zh-CN" altLang="zh-CN" b="0" dirty="0"/>
          </a:p>
          <a:p>
            <a:pPr>
              <a:lnSpc>
                <a:spcPct val="140000"/>
              </a:lnSpc>
              <a:spcBef>
                <a:spcPts val="0"/>
              </a:spcBef>
            </a:pPr>
            <a:r>
              <a:rPr lang="en-US" altLang="zh-CN" b="0" dirty="0"/>
              <a:t>		while(K&gt;p-&gt;key[</a:t>
            </a:r>
            <a:r>
              <a:rPr lang="en-US" altLang="zh-CN" b="0" dirty="0" err="1"/>
              <a:t>i</a:t>
            </a:r>
            <a:r>
              <a:rPr lang="en-US" altLang="zh-CN" b="0" dirty="0"/>
              <a:t>]) </a:t>
            </a:r>
            <a:r>
              <a:rPr lang="en-US" altLang="zh-CN" b="0" dirty="0" err="1"/>
              <a:t>i</a:t>
            </a:r>
            <a:r>
              <a:rPr lang="en-US" altLang="zh-CN" b="0" dirty="0"/>
              <a:t>++;</a:t>
            </a:r>
            <a:endParaRPr lang="zh-CN" altLang="zh-CN" b="0" dirty="0"/>
          </a:p>
          <a:p>
            <a:pPr>
              <a:lnSpc>
                <a:spcPct val="140000"/>
              </a:lnSpc>
              <a:spcBef>
                <a:spcPts val="0"/>
              </a:spcBef>
            </a:pPr>
            <a:r>
              <a:rPr lang="en-US" altLang="zh-CN" b="0" dirty="0"/>
              <a:t> 	}</a:t>
            </a:r>
            <a:endParaRPr lang="zh-CN" altLang="zh-CN" b="0" dirty="0"/>
          </a:p>
          <a:p>
            <a:pPr>
              <a:lnSpc>
                <a:spcPct val="140000"/>
              </a:lnSpc>
              <a:spcBef>
                <a:spcPts val="0"/>
              </a:spcBef>
            </a:pPr>
            <a:r>
              <a:rPr lang="en-US" altLang="zh-CN" b="0" dirty="0"/>
              <a:t> }</a:t>
            </a:r>
            <a:endParaRPr lang="zh-CN" altLang="zh-CN" b="0" dirty="0"/>
          </a:p>
          <a:p>
            <a:pPr>
              <a:lnSpc>
                <a:spcPct val="140000"/>
              </a:lnSpc>
              <a:spcBef>
                <a:spcPts val="0"/>
              </a:spcBef>
            </a:pPr>
            <a:endParaRPr lang="zh-CN" altLang="en-US" dirty="0"/>
          </a:p>
        </p:txBody>
      </p:sp>
    </p:spTree>
    <p:extLst>
      <p:ext uri="{BB962C8B-B14F-4D97-AF65-F5344CB8AC3E}">
        <p14:creationId xmlns:p14="http://schemas.microsoft.com/office/powerpoint/2010/main" val="406574301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08720"/>
            <a:ext cx="7488832" cy="5256584"/>
          </a:xfrm>
        </p:spPr>
        <p:txBody>
          <a:bodyPr>
            <a:normAutofit/>
          </a:bodyPr>
          <a:lstStyle/>
          <a:p>
            <a:r>
              <a:rPr lang="en-US" altLang="zh-CN" dirty="0"/>
              <a:t>3</a:t>
            </a:r>
            <a:r>
              <a:rPr lang="zh-CN" altLang="zh-CN" dirty="0"/>
              <a:t>．</a:t>
            </a:r>
            <a:r>
              <a:rPr lang="en-US" altLang="zh-CN" dirty="0"/>
              <a:t> B</a:t>
            </a:r>
            <a:r>
              <a:rPr lang="zh-CN" altLang="zh-CN" dirty="0"/>
              <a:t>树的删除</a:t>
            </a:r>
          </a:p>
          <a:p>
            <a:r>
              <a:rPr lang="en-US" altLang="zh-CN" b="0" dirty="0"/>
              <a:t>		</a:t>
            </a:r>
            <a:r>
              <a:rPr lang="zh-CN" altLang="zh-CN" b="0" dirty="0">
                <a:solidFill>
                  <a:srgbClr val="FF0000"/>
                </a:solidFill>
              </a:rPr>
              <a:t>在</a:t>
            </a:r>
            <a:r>
              <a:rPr lang="en-US" altLang="zh-CN" b="0" dirty="0">
                <a:solidFill>
                  <a:srgbClr val="FF0000"/>
                </a:solidFill>
              </a:rPr>
              <a:t>B</a:t>
            </a:r>
            <a:r>
              <a:rPr lang="zh-CN" altLang="zh-CN" b="0" dirty="0">
                <a:solidFill>
                  <a:srgbClr val="FF0000"/>
                </a:solidFill>
              </a:rPr>
              <a:t>树上删除一个关键字</a:t>
            </a:r>
            <a:r>
              <a:rPr lang="zh-CN" altLang="zh-CN" b="0" dirty="0"/>
              <a:t>，则首先应该利用前述的</a:t>
            </a:r>
            <a:r>
              <a:rPr lang="en-US" altLang="zh-CN" b="0" dirty="0"/>
              <a:t>B</a:t>
            </a:r>
            <a:r>
              <a:rPr lang="zh-CN" altLang="zh-CN" b="0" dirty="0"/>
              <a:t>树的查找算法</a:t>
            </a:r>
            <a:r>
              <a:rPr lang="zh-CN" altLang="zh-CN" dirty="0">
                <a:solidFill>
                  <a:srgbClr val="FF0000"/>
                </a:solidFill>
              </a:rPr>
              <a:t>找出该关键字所在的结点</a:t>
            </a:r>
            <a:r>
              <a:rPr lang="zh-CN" altLang="zh-CN" b="0" dirty="0"/>
              <a:t>，并从中删除之</a:t>
            </a:r>
            <a:r>
              <a:rPr lang="zh-CN" altLang="en-US" b="0" dirty="0"/>
              <a:t>。</a:t>
            </a:r>
            <a:endParaRPr lang="en-US" altLang="zh-CN" b="0" dirty="0"/>
          </a:p>
          <a:p>
            <a:r>
              <a:rPr lang="en-US" altLang="zh-CN" b="0" dirty="0"/>
              <a:t>		</a:t>
            </a:r>
            <a:r>
              <a:rPr lang="zh-CN" altLang="zh-CN" b="0" dirty="0"/>
              <a:t>若该结点为</a:t>
            </a:r>
            <a:r>
              <a:rPr lang="zh-CN" altLang="zh-CN" dirty="0">
                <a:solidFill>
                  <a:srgbClr val="FF0000"/>
                </a:solidFill>
              </a:rPr>
              <a:t>最下层的非终结点</a:t>
            </a:r>
            <a:r>
              <a:rPr lang="zh-CN" altLang="zh-CN" b="0" dirty="0"/>
              <a:t>，且该结点内的</a:t>
            </a:r>
            <a:r>
              <a:rPr lang="zh-CN" altLang="zh-CN" b="0" dirty="0">
                <a:solidFill>
                  <a:srgbClr val="FF0000"/>
                </a:solidFill>
              </a:rPr>
              <a:t>关键字个数不少于</a:t>
            </a:r>
            <a:r>
              <a:rPr lang="en-US" altLang="zh-CN" b="0" dirty="0">
                <a:solidFill>
                  <a:srgbClr val="FF0000"/>
                </a:solidFill>
              </a:rPr>
              <a:t>⌈m/2⌉</a:t>
            </a:r>
            <a:r>
              <a:rPr lang="zh-CN" altLang="zh-CN" b="0" dirty="0">
                <a:solidFill>
                  <a:srgbClr val="FF0000"/>
                </a:solidFill>
              </a:rPr>
              <a:t>，则删除完成</a:t>
            </a:r>
            <a:r>
              <a:rPr lang="zh-CN" altLang="zh-CN" b="0" dirty="0"/>
              <a:t>，否则需要进行</a:t>
            </a:r>
            <a:r>
              <a:rPr lang="zh-CN" altLang="zh-CN" dirty="0">
                <a:solidFill>
                  <a:srgbClr val="FF0000"/>
                </a:solidFill>
              </a:rPr>
              <a:t>“合并”结点</a:t>
            </a:r>
            <a:r>
              <a:rPr lang="zh-CN" altLang="zh-CN" b="0" dirty="0"/>
              <a:t>的操作。</a:t>
            </a:r>
            <a:endParaRPr lang="en-US" altLang="zh-CN" b="0" dirty="0"/>
          </a:p>
          <a:p>
            <a:r>
              <a:rPr lang="en-US" altLang="zh-CN" b="0" dirty="0"/>
              <a:t>		</a:t>
            </a:r>
            <a:r>
              <a:rPr lang="zh-CN" altLang="zh-CN" b="0" dirty="0"/>
              <a:t>假如所删关键字为</a:t>
            </a:r>
            <a:r>
              <a:rPr lang="zh-CN" altLang="zh-CN" dirty="0">
                <a:solidFill>
                  <a:srgbClr val="FF0000"/>
                </a:solidFill>
              </a:rPr>
              <a:t>非</a:t>
            </a:r>
            <a:r>
              <a:rPr lang="zh-CN" altLang="en-US" dirty="0">
                <a:solidFill>
                  <a:srgbClr val="FF0000"/>
                </a:solidFill>
              </a:rPr>
              <a:t>底层</a:t>
            </a:r>
            <a:r>
              <a:rPr lang="zh-CN" altLang="zh-CN" dirty="0">
                <a:solidFill>
                  <a:srgbClr val="FF0000"/>
                </a:solidFill>
              </a:rPr>
              <a:t>结点</a:t>
            </a:r>
            <a:r>
              <a:rPr lang="zh-CN" altLang="zh-CN" b="0" dirty="0">
                <a:solidFill>
                  <a:srgbClr val="FF0000"/>
                </a:solidFill>
              </a:rPr>
              <a:t>中的</a:t>
            </a:r>
            <a:r>
              <a:rPr lang="en-US" altLang="zh-CN" b="0" dirty="0">
                <a:solidFill>
                  <a:srgbClr val="FF0000"/>
                </a:solidFill>
              </a:rPr>
              <a:t>K</a:t>
            </a:r>
            <a:r>
              <a:rPr lang="en-US" altLang="zh-CN" b="0" baseline="-25000" dirty="0">
                <a:solidFill>
                  <a:srgbClr val="FF0000"/>
                </a:solidFill>
              </a:rPr>
              <a:t>i</a:t>
            </a:r>
            <a:r>
              <a:rPr lang="zh-CN" altLang="zh-CN" b="0" dirty="0"/>
              <a:t>，则可以将</a:t>
            </a:r>
            <a:r>
              <a:rPr lang="en-US" altLang="zh-CN" b="0" dirty="0"/>
              <a:t>A</a:t>
            </a:r>
            <a:r>
              <a:rPr lang="en-US" altLang="zh-CN" b="0" baseline="-25000" dirty="0"/>
              <a:t>i</a:t>
            </a:r>
            <a:r>
              <a:rPr lang="zh-CN" altLang="zh-CN" b="0" dirty="0"/>
              <a:t>所指子树中的</a:t>
            </a:r>
            <a:r>
              <a:rPr lang="zh-CN" altLang="zh-CN" dirty="0">
                <a:solidFill>
                  <a:srgbClr val="FF0000"/>
                </a:solidFill>
              </a:rPr>
              <a:t>最小关键字</a:t>
            </a:r>
            <a:r>
              <a:rPr lang="en-US" altLang="zh-CN" b="0" dirty="0">
                <a:solidFill>
                  <a:srgbClr val="FF0000"/>
                </a:solidFill>
              </a:rPr>
              <a:t>Y</a:t>
            </a:r>
            <a:r>
              <a:rPr lang="zh-CN" altLang="zh-CN" b="0" dirty="0">
                <a:solidFill>
                  <a:srgbClr val="FF0000"/>
                </a:solidFill>
              </a:rPr>
              <a:t>替代</a:t>
            </a:r>
            <a:r>
              <a:rPr lang="en-US" altLang="zh-CN" b="0" dirty="0">
                <a:solidFill>
                  <a:srgbClr val="FF0000"/>
                </a:solidFill>
              </a:rPr>
              <a:t>K</a:t>
            </a:r>
            <a:r>
              <a:rPr lang="en-US" altLang="zh-CN" b="0" baseline="-25000" dirty="0">
                <a:solidFill>
                  <a:srgbClr val="FF0000"/>
                </a:solidFill>
              </a:rPr>
              <a:t>i</a:t>
            </a:r>
            <a:r>
              <a:rPr lang="zh-CN" altLang="zh-CN" b="0" dirty="0"/>
              <a:t>，然后在相应的结点中</a:t>
            </a:r>
            <a:r>
              <a:rPr lang="zh-CN" altLang="zh-CN" b="0" dirty="0">
                <a:solidFill>
                  <a:srgbClr val="FF0000"/>
                </a:solidFill>
              </a:rPr>
              <a:t>删去</a:t>
            </a:r>
            <a:r>
              <a:rPr lang="en-US" altLang="zh-CN" b="0" dirty="0">
                <a:solidFill>
                  <a:srgbClr val="FF0000"/>
                </a:solidFill>
              </a:rPr>
              <a:t>Y</a:t>
            </a:r>
            <a:r>
              <a:rPr lang="zh-CN" altLang="zh-CN" b="0" dirty="0"/>
              <a:t>。</a:t>
            </a:r>
            <a:endParaRPr lang="zh-CN" altLang="en-US" b="0" dirty="0"/>
          </a:p>
        </p:txBody>
      </p:sp>
      <p:pic>
        <p:nvPicPr>
          <p:cNvPr id="4" name="图片 3"/>
          <p:cNvPicPr/>
          <p:nvPr/>
        </p:nvPicPr>
        <p:blipFill>
          <a:blip r:embed="rId2" cstate="print">
            <a:extLst>
              <a:ext uri="{28A0092B-C50C-407E-A947-70E740481C1C}">
                <a14:useLocalDpi xmlns:a14="http://schemas.microsoft.com/office/drawing/2010/main" val="0"/>
              </a:ext>
            </a:extLst>
          </a:blip>
          <a:stretch>
            <a:fillRect/>
          </a:stretch>
        </p:blipFill>
        <p:spPr>
          <a:xfrm>
            <a:off x="8143900" y="285728"/>
            <a:ext cx="511110" cy="511729"/>
          </a:xfrm>
          <a:prstGeom prst="rect">
            <a:avLst/>
          </a:prstGeom>
        </p:spPr>
      </p:pic>
    </p:spTree>
    <p:extLst>
      <p:ext uri="{BB962C8B-B14F-4D97-AF65-F5344CB8AC3E}">
        <p14:creationId xmlns:p14="http://schemas.microsoft.com/office/powerpoint/2010/main" val="3825743256"/>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60" y="764704"/>
            <a:ext cx="8280920" cy="2736304"/>
          </a:xfrm>
        </p:spPr>
        <p:txBody>
          <a:bodyPr>
            <a:normAutofit fontScale="92500"/>
          </a:bodyPr>
          <a:lstStyle/>
          <a:p>
            <a:r>
              <a:rPr lang="en-US" altLang="zh-CN" b="0" dirty="0"/>
              <a:t>	</a:t>
            </a:r>
            <a:r>
              <a:rPr lang="zh-CN" altLang="zh-CN" b="0" dirty="0"/>
              <a:t>讨论</a:t>
            </a:r>
            <a:r>
              <a:rPr lang="zh-CN" altLang="zh-CN" dirty="0">
                <a:solidFill>
                  <a:srgbClr val="FF0000"/>
                </a:solidFill>
              </a:rPr>
              <a:t>删除最下层非终端结点</a:t>
            </a:r>
            <a:r>
              <a:rPr lang="zh-CN" altLang="zh-CN" b="0" dirty="0"/>
              <a:t>中关键字的情形。</a:t>
            </a:r>
            <a:endParaRPr lang="en-US" altLang="zh-CN" b="0" dirty="0"/>
          </a:p>
          <a:p>
            <a:r>
              <a:rPr lang="zh-CN" altLang="zh-CN" dirty="0">
                <a:solidFill>
                  <a:srgbClr val="FF0000"/>
                </a:solidFill>
              </a:rPr>
              <a:t>有下列三种可能</a:t>
            </a:r>
            <a:r>
              <a:rPr lang="zh-CN" altLang="zh-CN" b="0" dirty="0">
                <a:solidFill>
                  <a:srgbClr val="FF0000"/>
                </a:solidFill>
              </a:rPr>
              <a:t>：</a:t>
            </a:r>
            <a:endParaRPr lang="en-US" altLang="zh-CN" b="0" dirty="0">
              <a:solidFill>
                <a:srgbClr val="FF0000"/>
              </a:solidFill>
            </a:endParaRPr>
          </a:p>
          <a:p>
            <a:r>
              <a:rPr lang="zh-CN" altLang="zh-CN" b="0" dirty="0"/>
              <a:t>（</a:t>
            </a:r>
            <a:r>
              <a:rPr lang="en-US" altLang="zh-CN" b="0" dirty="0"/>
              <a:t>1</a:t>
            </a:r>
            <a:r>
              <a:rPr lang="zh-CN" altLang="zh-CN" b="0" dirty="0"/>
              <a:t>）被删除关键字所在结点中的</a:t>
            </a:r>
            <a:r>
              <a:rPr lang="zh-CN" altLang="zh-CN" dirty="0">
                <a:solidFill>
                  <a:srgbClr val="FF0000"/>
                </a:solidFill>
              </a:rPr>
              <a:t>关键字数目</a:t>
            </a:r>
            <a:r>
              <a:rPr lang="zh-CN" altLang="en-US" dirty="0">
                <a:solidFill>
                  <a:srgbClr val="FF0000"/>
                </a:solidFill>
              </a:rPr>
              <a:t>不小于</a:t>
            </a:r>
            <a:r>
              <a:rPr lang="en-US" altLang="zh-CN" dirty="0">
                <a:solidFill>
                  <a:srgbClr val="FF0000"/>
                </a:solidFill>
              </a:rPr>
              <a:t>⌈m/2⌉</a:t>
            </a:r>
            <a:r>
              <a:rPr lang="zh-CN" altLang="zh-CN" b="0" dirty="0"/>
              <a:t>，则只需从该结点中删去该关键字</a:t>
            </a:r>
            <a:r>
              <a:rPr lang="en-US" altLang="zh-CN" b="0" dirty="0"/>
              <a:t>K</a:t>
            </a:r>
            <a:r>
              <a:rPr lang="en-US" altLang="zh-CN" b="0" baseline="-25000" dirty="0"/>
              <a:t>i</a:t>
            </a:r>
            <a:r>
              <a:rPr lang="zh-CN" altLang="zh-CN" b="0" dirty="0"/>
              <a:t>和相应指针</a:t>
            </a:r>
            <a:r>
              <a:rPr lang="en-US" altLang="zh-CN" b="0" dirty="0"/>
              <a:t>A</a:t>
            </a:r>
            <a:r>
              <a:rPr lang="en-US" altLang="zh-CN" b="0" baseline="-25000" dirty="0"/>
              <a:t>i</a:t>
            </a:r>
            <a:r>
              <a:rPr lang="zh-CN" altLang="zh-CN" b="0" dirty="0"/>
              <a:t>，树的其它部分不变。</a:t>
            </a:r>
            <a:endParaRPr lang="en-US" altLang="zh-CN" b="0" dirty="0"/>
          </a:p>
          <a:p>
            <a:r>
              <a:rPr lang="zh-CN" altLang="zh-CN" b="0" dirty="0"/>
              <a:t>例如，</a:t>
            </a:r>
            <a:r>
              <a:rPr lang="zh-CN" altLang="en-US" b="0" dirty="0"/>
              <a:t>从左图</a:t>
            </a:r>
            <a:r>
              <a:rPr lang="en-US" altLang="zh-CN" b="0" dirty="0"/>
              <a:t>B</a:t>
            </a:r>
            <a:r>
              <a:rPr lang="zh-CN" altLang="zh-CN" b="0" dirty="0"/>
              <a:t>树中</a:t>
            </a:r>
            <a:r>
              <a:rPr lang="zh-CN" altLang="zh-CN" dirty="0"/>
              <a:t>删去关键字</a:t>
            </a:r>
            <a:r>
              <a:rPr lang="en-US" altLang="zh-CN" dirty="0"/>
              <a:t>12</a:t>
            </a:r>
            <a:r>
              <a:rPr lang="zh-CN" altLang="zh-CN" b="0" dirty="0"/>
              <a:t>，删除后的</a:t>
            </a:r>
            <a:r>
              <a:rPr lang="en-US" altLang="zh-CN" b="0" dirty="0"/>
              <a:t>B</a:t>
            </a:r>
            <a:r>
              <a:rPr lang="zh-CN" altLang="zh-CN" b="0" dirty="0"/>
              <a:t>树如图（</a:t>
            </a:r>
            <a:r>
              <a:rPr lang="en-US" altLang="zh-CN" b="0" dirty="0"/>
              <a:t>a</a:t>
            </a:r>
            <a:r>
              <a:rPr lang="zh-CN" altLang="zh-CN" b="0" dirty="0"/>
              <a:t>）所示。</a:t>
            </a:r>
          </a:p>
          <a:p>
            <a:endParaRPr lang="zh-CN" altLang="en-US" dirty="0"/>
          </a:p>
        </p:txBody>
      </p:sp>
      <p:pic>
        <p:nvPicPr>
          <p:cNvPr id="2355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13895" y="3789040"/>
            <a:ext cx="4222601" cy="22866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4" name="Picture 2"/>
          <p:cNvPicPr>
            <a:picLocks noChangeAspect="1" noChangeArrowheads="1"/>
          </p:cNvPicPr>
          <p:nvPr/>
        </p:nvPicPr>
        <p:blipFill>
          <a:blip r:embed="rId3" cstate="print"/>
          <a:srcRect/>
          <a:stretch>
            <a:fillRect/>
          </a:stretch>
        </p:blipFill>
        <p:spPr bwMode="auto">
          <a:xfrm>
            <a:off x="35496" y="3861048"/>
            <a:ext cx="4312780" cy="1792044"/>
          </a:xfrm>
          <a:prstGeom prst="rect">
            <a:avLst/>
          </a:prstGeom>
          <a:noFill/>
          <a:ln w="9525">
            <a:noFill/>
            <a:miter lim="800000"/>
            <a:headEnd/>
            <a:tailEnd/>
          </a:ln>
          <a:effectLst/>
        </p:spPr>
      </p:pic>
      <p:sp>
        <p:nvSpPr>
          <p:cNvPr id="5" name="燕尾形箭头 4"/>
          <p:cNvSpPr/>
          <p:nvPr/>
        </p:nvSpPr>
        <p:spPr>
          <a:xfrm>
            <a:off x="4067944" y="4653136"/>
            <a:ext cx="864096" cy="288032"/>
          </a:xfrm>
          <a:prstGeom prst="notched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3635896" y="4221088"/>
            <a:ext cx="1608133" cy="369332"/>
          </a:xfrm>
          <a:prstGeom prst="rect">
            <a:avLst/>
          </a:prstGeom>
        </p:spPr>
        <p:txBody>
          <a:bodyPr wrap="none">
            <a:spAutoFit/>
          </a:bodyPr>
          <a:lstStyle/>
          <a:p>
            <a:r>
              <a:rPr lang="zh-CN" altLang="zh-CN" dirty="0"/>
              <a:t>删去关键字</a:t>
            </a:r>
            <a:r>
              <a:rPr lang="en-US" altLang="zh-CN" dirty="0"/>
              <a:t>12</a:t>
            </a:r>
            <a:endParaRPr lang="zh-CN" altLang="en-US" dirty="0"/>
          </a:p>
        </p:txBody>
      </p:sp>
    </p:spTree>
    <p:extLst>
      <p:ext uri="{BB962C8B-B14F-4D97-AF65-F5344CB8AC3E}">
        <p14:creationId xmlns:p14="http://schemas.microsoft.com/office/powerpoint/2010/main" val="373755480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1520" y="1052736"/>
            <a:ext cx="8640960" cy="2952328"/>
          </a:xfrm>
        </p:spPr>
        <p:txBody>
          <a:bodyPr>
            <a:normAutofit/>
          </a:bodyPr>
          <a:lstStyle/>
          <a:p>
            <a:r>
              <a:rPr lang="zh-CN" altLang="zh-CN" b="0" dirty="0"/>
              <a:t>（</a:t>
            </a:r>
            <a:r>
              <a:rPr lang="en-US" altLang="zh-CN" b="0" dirty="0"/>
              <a:t>2</a:t>
            </a:r>
            <a:r>
              <a:rPr lang="zh-CN" altLang="zh-CN" b="0" dirty="0"/>
              <a:t>）被删除关键字所在结点中的</a:t>
            </a:r>
            <a:r>
              <a:rPr lang="zh-CN" altLang="zh-CN" dirty="0">
                <a:solidFill>
                  <a:srgbClr val="FF0000"/>
                </a:solidFill>
              </a:rPr>
              <a:t>关键字数目等于</a:t>
            </a:r>
            <a:r>
              <a:rPr lang="en-US" altLang="zh-CN" dirty="0">
                <a:solidFill>
                  <a:srgbClr val="FF0000"/>
                </a:solidFill>
              </a:rPr>
              <a:t>⌈m/2⌉-1</a:t>
            </a:r>
            <a:r>
              <a:rPr lang="zh-CN" altLang="zh-CN" b="0" dirty="0"/>
              <a:t>，而与该结点相邻的</a:t>
            </a:r>
            <a:r>
              <a:rPr lang="zh-CN" altLang="zh-CN" b="0" dirty="0">
                <a:solidFill>
                  <a:srgbClr val="FF0000"/>
                </a:solidFill>
              </a:rPr>
              <a:t>右兄弟（或左兄弟）结点中的关键字数目大于</a:t>
            </a:r>
            <a:r>
              <a:rPr lang="en-US" altLang="zh-CN" b="0" dirty="0">
                <a:solidFill>
                  <a:srgbClr val="FF0000"/>
                </a:solidFill>
              </a:rPr>
              <a:t>⌈m/2⌉-1</a:t>
            </a:r>
            <a:r>
              <a:rPr lang="zh-CN" altLang="zh-CN" b="0" dirty="0"/>
              <a:t>，则需将其兄弟结点中的最小（或最大）的关键字上移至双亲结点中，而将双亲结点中小于（或大于）且紧靠该上移关键字的关键字下移至被删关键字所在结点中。</a:t>
            </a:r>
            <a:endParaRPr lang="en-US" altLang="zh-CN" b="0" dirty="0"/>
          </a:p>
          <a:p>
            <a:r>
              <a:rPr lang="en-US" altLang="zh-CN" b="0" dirty="0"/>
              <a:t>	</a:t>
            </a:r>
            <a:r>
              <a:rPr lang="zh-CN" altLang="zh-CN" b="0" dirty="0"/>
              <a:t>例如</a:t>
            </a:r>
            <a:r>
              <a:rPr lang="zh-CN" altLang="en-US" b="0" dirty="0"/>
              <a:t>，在图</a:t>
            </a:r>
            <a:r>
              <a:rPr lang="en-US" altLang="zh-CN" b="0" dirty="0"/>
              <a:t>(a)</a:t>
            </a:r>
            <a:r>
              <a:rPr lang="zh-CN" altLang="en-US" b="0" dirty="0"/>
              <a:t>中删除</a:t>
            </a:r>
            <a:r>
              <a:rPr lang="en-US" altLang="zh-CN" b="0" dirty="0"/>
              <a:t>50</a:t>
            </a:r>
            <a:r>
              <a:rPr lang="zh-CN" altLang="en-US" b="0" dirty="0"/>
              <a:t>之后，得到图</a:t>
            </a:r>
            <a:r>
              <a:rPr lang="en-US" altLang="zh-CN" b="0" dirty="0"/>
              <a:t>(b)</a:t>
            </a:r>
            <a:r>
              <a:rPr lang="zh-CN" altLang="en-US" b="0" dirty="0"/>
              <a:t>。</a:t>
            </a:r>
          </a:p>
        </p:txBody>
      </p:sp>
      <p:pic>
        <p:nvPicPr>
          <p:cNvPr id="2050" name="Picture 2"/>
          <p:cNvPicPr>
            <a:picLocks noChangeAspect="1" noChangeArrowheads="1"/>
          </p:cNvPicPr>
          <p:nvPr/>
        </p:nvPicPr>
        <p:blipFill>
          <a:blip r:embed="rId2" cstate="print"/>
          <a:srcRect/>
          <a:stretch>
            <a:fillRect/>
          </a:stretch>
        </p:blipFill>
        <p:spPr bwMode="auto">
          <a:xfrm>
            <a:off x="4929158" y="4077072"/>
            <a:ext cx="4214842" cy="2123808"/>
          </a:xfrm>
          <a:prstGeom prst="rect">
            <a:avLst/>
          </a:prstGeom>
          <a:noFill/>
          <a:ln w="9525">
            <a:noFill/>
            <a:miter lim="800000"/>
            <a:headEnd/>
            <a:tailEnd/>
          </a:ln>
          <a:effectLst/>
        </p:spPr>
      </p:pic>
      <p:pic>
        <p:nvPicPr>
          <p:cNvPr id="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1520" y="4131663"/>
            <a:ext cx="3888432" cy="21056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燕尾形箭头 4"/>
          <p:cNvSpPr/>
          <p:nvPr/>
        </p:nvSpPr>
        <p:spPr>
          <a:xfrm>
            <a:off x="4067944" y="4941168"/>
            <a:ext cx="864096" cy="288032"/>
          </a:xfrm>
          <a:prstGeom prst="notched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4016405" y="4509120"/>
            <a:ext cx="915635" cy="369332"/>
          </a:xfrm>
          <a:prstGeom prst="rect">
            <a:avLst/>
          </a:prstGeom>
        </p:spPr>
        <p:txBody>
          <a:bodyPr wrap="none">
            <a:spAutoFit/>
          </a:bodyPr>
          <a:lstStyle/>
          <a:p>
            <a:r>
              <a:rPr lang="zh-CN" altLang="zh-CN" dirty="0"/>
              <a:t>删除</a:t>
            </a:r>
            <a:r>
              <a:rPr lang="en-US" altLang="zh-CN" dirty="0"/>
              <a:t>50</a:t>
            </a:r>
            <a:endParaRPr lang="zh-CN" altLang="en-US" dirty="0"/>
          </a:p>
        </p:txBody>
      </p:sp>
    </p:spTree>
    <p:extLst>
      <p:ext uri="{BB962C8B-B14F-4D97-AF65-F5344CB8AC3E}">
        <p14:creationId xmlns:p14="http://schemas.microsoft.com/office/powerpoint/2010/main" val="2049770077"/>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980728"/>
            <a:ext cx="8964488" cy="2880320"/>
          </a:xfrm>
        </p:spPr>
        <p:txBody>
          <a:bodyPr>
            <a:normAutofit/>
          </a:bodyPr>
          <a:lstStyle/>
          <a:p>
            <a:r>
              <a:rPr lang="zh-CN" altLang="zh-CN" b="0" dirty="0"/>
              <a:t>（</a:t>
            </a:r>
            <a:r>
              <a:rPr lang="en-US" altLang="zh-CN" b="0" dirty="0"/>
              <a:t>3</a:t>
            </a:r>
            <a:r>
              <a:rPr lang="zh-CN" altLang="zh-CN" b="0" dirty="0"/>
              <a:t>）被删除关键字所在结点和</a:t>
            </a:r>
            <a:r>
              <a:rPr lang="zh-CN" altLang="zh-CN" b="0" dirty="0">
                <a:solidFill>
                  <a:srgbClr val="FF0000"/>
                </a:solidFill>
              </a:rPr>
              <a:t>其相邻的兄弟结点中的</a:t>
            </a:r>
            <a:r>
              <a:rPr lang="zh-CN" altLang="zh-CN" dirty="0">
                <a:solidFill>
                  <a:srgbClr val="FF0000"/>
                </a:solidFill>
              </a:rPr>
              <a:t>关键字数目均等于</a:t>
            </a:r>
            <a:r>
              <a:rPr lang="en-US" altLang="zh-CN" dirty="0">
                <a:solidFill>
                  <a:srgbClr val="FF0000"/>
                </a:solidFill>
              </a:rPr>
              <a:t>⌈m/2⌉-1</a:t>
            </a:r>
            <a:r>
              <a:rPr lang="zh-CN" altLang="zh-CN" b="0" dirty="0"/>
              <a:t>。假设该结点有右兄弟，且其右兄弟结点地址由双亲结点中的关键字</a:t>
            </a:r>
            <a:r>
              <a:rPr lang="en-US" altLang="zh-CN" b="0" dirty="0"/>
              <a:t>A</a:t>
            </a:r>
            <a:r>
              <a:rPr lang="en-US" altLang="zh-CN" b="0" baseline="-25000" dirty="0"/>
              <a:t>i</a:t>
            </a:r>
            <a:r>
              <a:rPr lang="zh-CN" altLang="zh-CN" b="0" dirty="0"/>
              <a:t>所指，则在删去关键字之后，它所在结点中剩余的关键字和指针，加上双亲结点中的关键字</a:t>
            </a:r>
            <a:r>
              <a:rPr lang="en-US" altLang="zh-CN" b="0" dirty="0"/>
              <a:t>K</a:t>
            </a:r>
            <a:r>
              <a:rPr lang="en-US" altLang="zh-CN" b="0" baseline="-25000" dirty="0"/>
              <a:t>i</a:t>
            </a:r>
            <a:r>
              <a:rPr lang="zh-CN" altLang="zh-CN" b="0" dirty="0"/>
              <a:t>一起，合并到</a:t>
            </a:r>
            <a:r>
              <a:rPr lang="en-US" altLang="zh-CN" b="0" dirty="0"/>
              <a:t>A</a:t>
            </a:r>
            <a:r>
              <a:rPr lang="en-US" altLang="zh-CN" b="0" baseline="-25000" dirty="0"/>
              <a:t>i</a:t>
            </a:r>
            <a:r>
              <a:rPr lang="zh-CN" altLang="zh-CN" b="0" dirty="0"/>
              <a:t>所指兄弟结点中（</a:t>
            </a:r>
            <a:r>
              <a:rPr lang="zh-CN" altLang="zh-CN" b="0" dirty="0">
                <a:solidFill>
                  <a:srgbClr val="FF0000"/>
                </a:solidFill>
              </a:rPr>
              <a:t>若没有右兄弟，则合并至左兄弟</a:t>
            </a:r>
            <a:r>
              <a:rPr lang="zh-CN" altLang="zh-CN" b="0" dirty="0"/>
              <a:t>）。例如，</a:t>
            </a:r>
            <a:r>
              <a:rPr lang="zh-CN" altLang="en-US" b="0" dirty="0"/>
              <a:t>图</a:t>
            </a:r>
            <a:r>
              <a:rPr lang="en-US" altLang="zh-CN" b="0" dirty="0"/>
              <a:t>(b)B</a:t>
            </a:r>
            <a:r>
              <a:rPr lang="zh-CN" altLang="zh-CN" b="0" dirty="0"/>
              <a:t>树中</a:t>
            </a:r>
            <a:r>
              <a:rPr lang="zh-CN" altLang="zh-CN" dirty="0">
                <a:solidFill>
                  <a:srgbClr val="FF0000"/>
                </a:solidFill>
              </a:rPr>
              <a:t>删去</a:t>
            </a:r>
            <a:r>
              <a:rPr lang="en-US" altLang="zh-CN" dirty="0">
                <a:solidFill>
                  <a:srgbClr val="FF0000"/>
                </a:solidFill>
              </a:rPr>
              <a:t>53</a:t>
            </a:r>
            <a:r>
              <a:rPr lang="zh-CN" altLang="en-US" b="0" dirty="0"/>
              <a:t>之后，得到结果图</a:t>
            </a:r>
            <a:r>
              <a:rPr lang="en-US" altLang="zh-CN" b="0" dirty="0"/>
              <a:t>(c)</a:t>
            </a:r>
            <a:r>
              <a:rPr lang="zh-CN" altLang="en-US" dirty="0"/>
              <a:t>。</a:t>
            </a:r>
            <a:endParaRPr lang="zh-CN" altLang="en-US" b="0" dirty="0"/>
          </a:p>
        </p:txBody>
      </p:sp>
      <p:pic>
        <p:nvPicPr>
          <p:cNvPr id="2560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48064" y="3861048"/>
            <a:ext cx="3971323" cy="23042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2"/>
          <p:cNvPicPr>
            <a:picLocks noChangeAspect="1" noChangeArrowheads="1"/>
          </p:cNvPicPr>
          <p:nvPr/>
        </p:nvPicPr>
        <p:blipFill>
          <a:blip r:embed="rId3" cstate="print"/>
          <a:srcRect/>
          <a:stretch>
            <a:fillRect/>
          </a:stretch>
        </p:blipFill>
        <p:spPr bwMode="auto">
          <a:xfrm>
            <a:off x="323528" y="4005064"/>
            <a:ext cx="4214842" cy="2123808"/>
          </a:xfrm>
          <a:prstGeom prst="rect">
            <a:avLst/>
          </a:prstGeom>
          <a:noFill/>
          <a:ln w="9525">
            <a:noFill/>
            <a:miter lim="800000"/>
            <a:headEnd/>
            <a:tailEnd/>
          </a:ln>
          <a:effectLst/>
        </p:spPr>
      </p:pic>
      <p:sp>
        <p:nvSpPr>
          <p:cNvPr id="5" name="燕尾形箭头 4"/>
          <p:cNvSpPr/>
          <p:nvPr/>
        </p:nvSpPr>
        <p:spPr>
          <a:xfrm>
            <a:off x="4479523" y="4941168"/>
            <a:ext cx="864096" cy="288032"/>
          </a:xfrm>
          <a:prstGeom prst="notched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4427984" y="4509120"/>
            <a:ext cx="915635" cy="369332"/>
          </a:xfrm>
          <a:prstGeom prst="rect">
            <a:avLst/>
          </a:prstGeom>
        </p:spPr>
        <p:txBody>
          <a:bodyPr wrap="none">
            <a:spAutoFit/>
          </a:bodyPr>
          <a:lstStyle/>
          <a:p>
            <a:r>
              <a:rPr lang="zh-CN" altLang="zh-CN" dirty="0"/>
              <a:t>删除</a:t>
            </a:r>
            <a:r>
              <a:rPr lang="en-US" altLang="zh-CN" dirty="0"/>
              <a:t>53</a:t>
            </a:r>
            <a:endParaRPr lang="zh-CN" altLang="en-US" dirty="0"/>
          </a:p>
        </p:txBody>
      </p:sp>
    </p:spTree>
    <p:extLst>
      <p:ext uri="{BB962C8B-B14F-4D97-AF65-F5344CB8AC3E}">
        <p14:creationId xmlns:p14="http://schemas.microsoft.com/office/powerpoint/2010/main" val="349782940"/>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552" y="1052736"/>
            <a:ext cx="8064896" cy="1440160"/>
          </a:xfrm>
        </p:spPr>
        <p:txBody>
          <a:bodyPr>
            <a:normAutofit/>
          </a:bodyPr>
          <a:lstStyle/>
          <a:p>
            <a:r>
              <a:rPr lang="en-US" altLang="zh-CN" b="0" dirty="0"/>
              <a:t>    </a:t>
            </a:r>
            <a:r>
              <a:rPr lang="zh-CN" altLang="zh-CN" b="0" dirty="0"/>
              <a:t>在</a:t>
            </a:r>
            <a:r>
              <a:rPr lang="zh-CN" altLang="en-US" b="0" dirty="0"/>
              <a:t>图</a:t>
            </a:r>
            <a:r>
              <a:rPr lang="en-US" altLang="zh-CN" b="0" dirty="0"/>
              <a:t>(c)B</a:t>
            </a:r>
            <a:r>
              <a:rPr lang="zh-CN" altLang="zh-CN" b="0" dirty="0"/>
              <a:t>树中</a:t>
            </a:r>
            <a:r>
              <a:rPr lang="zh-CN" altLang="zh-CN" dirty="0">
                <a:solidFill>
                  <a:srgbClr val="FF0000"/>
                </a:solidFill>
              </a:rPr>
              <a:t>删去关键字</a:t>
            </a:r>
            <a:r>
              <a:rPr lang="en-US" altLang="zh-CN" dirty="0">
                <a:solidFill>
                  <a:srgbClr val="FF0000"/>
                </a:solidFill>
              </a:rPr>
              <a:t>37</a:t>
            </a:r>
            <a:r>
              <a:rPr lang="zh-CN" altLang="zh-CN" b="0" dirty="0"/>
              <a:t>之后，双亲</a:t>
            </a:r>
            <a:r>
              <a:rPr lang="en-US" altLang="zh-CN" b="0" dirty="0"/>
              <a:t>B</a:t>
            </a:r>
            <a:r>
              <a:rPr lang="zh-CN" altLang="zh-CN" b="0" dirty="0"/>
              <a:t>结点中剩余信息（</a:t>
            </a:r>
            <a:r>
              <a:rPr lang="en-US" altLang="zh-CN" b="0" dirty="0"/>
              <a:t>“</a:t>
            </a:r>
            <a:r>
              <a:rPr lang="zh-CN" altLang="zh-CN" b="0" dirty="0"/>
              <a:t>指针</a:t>
            </a:r>
            <a:r>
              <a:rPr lang="en-US" altLang="zh-CN" b="0" dirty="0"/>
              <a:t>C”</a:t>
            </a:r>
            <a:r>
              <a:rPr lang="zh-CN" altLang="zh-CN" b="0" dirty="0"/>
              <a:t>）应和其双亲</a:t>
            </a:r>
            <a:r>
              <a:rPr lang="en-US" altLang="zh-CN" b="0" dirty="0"/>
              <a:t>*A</a:t>
            </a:r>
            <a:r>
              <a:rPr lang="zh-CN" altLang="zh-CN" b="0" dirty="0"/>
              <a:t>结点中关键字</a:t>
            </a:r>
            <a:r>
              <a:rPr lang="en-US" altLang="zh-CN" b="0" dirty="0"/>
              <a:t>45</a:t>
            </a:r>
            <a:r>
              <a:rPr lang="zh-CN" altLang="zh-CN" b="0" dirty="0"/>
              <a:t>一起合并至右兄弟结点</a:t>
            </a:r>
            <a:r>
              <a:rPr lang="en-US" altLang="zh-CN" b="0" dirty="0"/>
              <a:t>*E</a:t>
            </a:r>
            <a:r>
              <a:rPr lang="zh-CN" altLang="zh-CN" b="0" dirty="0"/>
              <a:t>中。</a:t>
            </a:r>
            <a:r>
              <a:rPr lang="zh-CN" altLang="en-US" b="0" dirty="0"/>
              <a:t>从而导致跟被合并，树的高度降低。</a:t>
            </a:r>
            <a:endParaRPr lang="zh-CN" altLang="zh-CN" b="0" dirty="0"/>
          </a:p>
          <a:p>
            <a:endParaRPr lang="zh-CN" altLang="en-US" dirty="0"/>
          </a:p>
        </p:txBody>
      </p:sp>
      <p:grpSp>
        <p:nvGrpSpPr>
          <p:cNvPr id="2" name="组合 24"/>
          <p:cNvGrpSpPr/>
          <p:nvPr/>
        </p:nvGrpSpPr>
        <p:grpSpPr>
          <a:xfrm>
            <a:off x="5652120" y="3231786"/>
            <a:ext cx="3096344" cy="2141430"/>
            <a:chOff x="4929190" y="3429000"/>
            <a:chExt cx="3500462" cy="2357454"/>
          </a:xfrm>
        </p:grpSpPr>
        <p:sp>
          <p:nvSpPr>
            <p:cNvPr id="5" name="矩形 4"/>
            <p:cNvSpPr/>
            <p:nvPr/>
          </p:nvSpPr>
          <p:spPr>
            <a:xfrm>
              <a:off x="6215074" y="4214818"/>
              <a:ext cx="1143008" cy="35719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45   90</a:t>
              </a:r>
              <a:endParaRPr lang="zh-CN" altLang="en-US" dirty="0"/>
            </a:p>
          </p:txBody>
        </p:sp>
        <p:cxnSp>
          <p:nvCxnSpPr>
            <p:cNvPr id="7" name="直接连接符 6"/>
            <p:cNvCxnSpPr>
              <a:stCxn id="5" idx="0"/>
            </p:cNvCxnSpPr>
            <p:nvPr/>
          </p:nvCxnSpPr>
          <p:spPr>
            <a:xfrm rot="16200000" flipV="1">
              <a:off x="6072199" y="3500439"/>
              <a:ext cx="500066" cy="928692"/>
            </a:xfrm>
            <a:prstGeom prst="line">
              <a:avLst/>
            </a:prstGeom>
          </p:spPr>
          <p:style>
            <a:lnRef idx="2">
              <a:schemeClr val="dk1"/>
            </a:lnRef>
            <a:fillRef idx="0">
              <a:schemeClr val="dk1"/>
            </a:fillRef>
            <a:effectRef idx="1">
              <a:schemeClr val="dk1"/>
            </a:effectRef>
            <a:fontRef idx="minor">
              <a:schemeClr val="tx1"/>
            </a:fontRef>
          </p:style>
        </p:cxnSp>
        <p:sp>
          <p:nvSpPr>
            <p:cNvPr id="8" name="矩形 7"/>
            <p:cNvSpPr/>
            <p:nvPr/>
          </p:nvSpPr>
          <p:spPr>
            <a:xfrm>
              <a:off x="5429256" y="3429000"/>
              <a:ext cx="571504" cy="285752"/>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err="1"/>
                <a:t>bt</a:t>
              </a:r>
              <a:endParaRPr lang="zh-CN" altLang="en-US" dirty="0"/>
            </a:p>
          </p:txBody>
        </p:sp>
        <p:sp>
          <p:nvSpPr>
            <p:cNvPr id="9" name="矩形 8"/>
            <p:cNvSpPr/>
            <p:nvPr/>
          </p:nvSpPr>
          <p:spPr>
            <a:xfrm>
              <a:off x="6572264" y="5500702"/>
              <a:ext cx="571504" cy="285752"/>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G</a:t>
              </a:r>
              <a:endParaRPr lang="zh-CN" altLang="en-US" dirty="0"/>
            </a:p>
          </p:txBody>
        </p:sp>
        <p:cxnSp>
          <p:nvCxnSpPr>
            <p:cNvPr id="11" name="直接连接符 10"/>
            <p:cNvCxnSpPr/>
            <p:nvPr/>
          </p:nvCxnSpPr>
          <p:spPr>
            <a:xfrm rot="10800000" flipV="1">
              <a:off x="5500694" y="4572007"/>
              <a:ext cx="785818" cy="428627"/>
            </a:xfrm>
            <a:prstGeom prst="line">
              <a:avLst/>
            </a:prstGeom>
          </p:spPr>
          <p:style>
            <a:lnRef idx="2">
              <a:schemeClr val="dk1"/>
            </a:lnRef>
            <a:fillRef idx="0">
              <a:schemeClr val="dk1"/>
            </a:fillRef>
            <a:effectRef idx="1">
              <a:schemeClr val="dk1"/>
            </a:effectRef>
            <a:fontRef idx="minor">
              <a:schemeClr val="tx1"/>
            </a:fontRef>
          </p:style>
        </p:cxnSp>
        <p:cxnSp>
          <p:nvCxnSpPr>
            <p:cNvPr id="14" name="直接连接符 13"/>
            <p:cNvCxnSpPr>
              <a:stCxn id="5" idx="2"/>
            </p:cNvCxnSpPr>
            <p:nvPr/>
          </p:nvCxnSpPr>
          <p:spPr>
            <a:xfrm rot="16200000" flipH="1">
              <a:off x="6500825" y="4857761"/>
              <a:ext cx="642942" cy="71436"/>
            </a:xfrm>
            <a:prstGeom prst="line">
              <a:avLst/>
            </a:prstGeom>
          </p:spPr>
          <p:style>
            <a:lnRef idx="2">
              <a:schemeClr val="dk1"/>
            </a:lnRef>
            <a:fillRef idx="0">
              <a:schemeClr val="dk1"/>
            </a:fillRef>
            <a:effectRef idx="1">
              <a:schemeClr val="dk1"/>
            </a:effectRef>
            <a:fontRef idx="minor">
              <a:schemeClr val="tx1"/>
            </a:fontRef>
          </p:style>
        </p:cxnSp>
        <p:cxnSp>
          <p:nvCxnSpPr>
            <p:cNvPr id="16" name="直接连接符 15"/>
            <p:cNvCxnSpPr/>
            <p:nvPr/>
          </p:nvCxnSpPr>
          <p:spPr>
            <a:xfrm>
              <a:off x="7358082" y="4572008"/>
              <a:ext cx="642942" cy="428628"/>
            </a:xfrm>
            <a:prstGeom prst="line">
              <a:avLst/>
            </a:prstGeom>
          </p:spPr>
          <p:style>
            <a:lnRef idx="2">
              <a:schemeClr val="dk1"/>
            </a:lnRef>
            <a:fillRef idx="0">
              <a:schemeClr val="dk1"/>
            </a:fillRef>
            <a:effectRef idx="1">
              <a:schemeClr val="dk1"/>
            </a:effectRef>
            <a:fontRef idx="minor">
              <a:schemeClr val="tx1"/>
            </a:fontRef>
          </p:style>
        </p:cxnSp>
        <p:sp>
          <p:nvSpPr>
            <p:cNvPr id="17" name="矩形 16"/>
            <p:cNvSpPr/>
            <p:nvPr/>
          </p:nvSpPr>
          <p:spPr>
            <a:xfrm>
              <a:off x="4929190" y="5000636"/>
              <a:ext cx="1000132" cy="35719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3   24</a:t>
              </a:r>
              <a:endParaRPr lang="zh-CN" altLang="en-US" dirty="0"/>
            </a:p>
          </p:txBody>
        </p:sp>
        <p:sp>
          <p:nvSpPr>
            <p:cNvPr id="18" name="矩形 17"/>
            <p:cNvSpPr/>
            <p:nvPr/>
          </p:nvSpPr>
          <p:spPr>
            <a:xfrm>
              <a:off x="6357950" y="5072074"/>
              <a:ext cx="1000132" cy="35719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61  70</a:t>
              </a:r>
              <a:endParaRPr lang="zh-CN" altLang="en-US" dirty="0"/>
            </a:p>
          </p:txBody>
        </p:sp>
        <p:sp>
          <p:nvSpPr>
            <p:cNvPr id="19" name="矩形 18"/>
            <p:cNvSpPr/>
            <p:nvPr/>
          </p:nvSpPr>
          <p:spPr>
            <a:xfrm>
              <a:off x="7715272" y="5072074"/>
              <a:ext cx="714380" cy="35719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100</a:t>
              </a:r>
              <a:endParaRPr lang="zh-CN" altLang="en-US" dirty="0"/>
            </a:p>
          </p:txBody>
        </p:sp>
        <p:sp>
          <p:nvSpPr>
            <p:cNvPr id="22" name="矩形 21"/>
            <p:cNvSpPr/>
            <p:nvPr/>
          </p:nvSpPr>
          <p:spPr>
            <a:xfrm>
              <a:off x="5143504" y="5500702"/>
              <a:ext cx="571504" cy="285752"/>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C</a:t>
              </a:r>
              <a:endParaRPr lang="zh-CN" altLang="en-US" dirty="0"/>
            </a:p>
          </p:txBody>
        </p:sp>
        <p:sp>
          <p:nvSpPr>
            <p:cNvPr id="23" name="矩形 22"/>
            <p:cNvSpPr/>
            <p:nvPr/>
          </p:nvSpPr>
          <p:spPr>
            <a:xfrm>
              <a:off x="5581656" y="4367218"/>
              <a:ext cx="571504" cy="285752"/>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E</a:t>
              </a:r>
              <a:endParaRPr lang="zh-CN" altLang="en-US" dirty="0"/>
            </a:p>
          </p:txBody>
        </p:sp>
        <p:sp>
          <p:nvSpPr>
            <p:cNvPr id="24" name="矩形 23"/>
            <p:cNvSpPr/>
            <p:nvPr/>
          </p:nvSpPr>
          <p:spPr>
            <a:xfrm>
              <a:off x="7858148" y="5500702"/>
              <a:ext cx="571504" cy="285752"/>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H</a:t>
              </a:r>
              <a:endParaRPr lang="zh-CN" altLang="en-US" dirty="0"/>
            </a:p>
          </p:txBody>
        </p:sp>
      </p:grpSp>
      <p:pic>
        <p:nvPicPr>
          <p:cNvPr id="2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3528" y="3068960"/>
            <a:ext cx="4095427" cy="23762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1" name="燕尾形箭头 20"/>
          <p:cNvSpPr/>
          <p:nvPr/>
        </p:nvSpPr>
        <p:spPr>
          <a:xfrm>
            <a:off x="4407515" y="4077072"/>
            <a:ext cx="864096" cy="288032"/>
          </a:xfrm>
          <a:prstGeom prst="notched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4355976" y="3645024"/>
            <a:ext cx="904158" cy="369332"/>
          </a:xfrm>
          <a:prstGeom prst="rect">
            <a:avLst/>
          </a:prstGeom>
        </p:spPr>
        <p:txBody>
          <a:bodyPr wrap="none">
            <a:spAutoFit/>
          </a:bodyPr>
          <a:lstStyle/>
          <a:p>
            <a:r>
              <a:rPr lang="zh-CN" altLang="zh-CN" dirty="0"/>
              <a:t>删除</a:t>
            </a:r>
            <a:r>
              <a:rPr lang="en-US" altLang="zh-CN" dirty="0"/>
              <a:t>37</a:t>
            </a:r>
            <a:endParaRPr lang="zh-CN" altLang="en-US" dirty="0"/>
          </a:p>
        </p:txBody>
      </p:sp>
    </p:spTree>
    <p:extLst>
      <p:ext uri="{BB962C8B-B14F-4D97-AF65-F5344CB8AC3E}">
        <p14:creationId xmlns:p14="http://schemas.microsoft.com/office/powerpoint/2010/main" val="3445887135"/>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8.5.3 B</a:t>
            </a:r>
            <a:r>
              <a:rPr lang="en-US" altLang="zh-CN" b="1" baseline="30000" dirty="0"/>
              <a:t>+</a:t>
            </a:r>
            <a:r>
              <a:rPr lang="zh-CN" altLang="zh-CN" b="1" dirty="0"/>
              <a:t>树</a:t>
            </a:r>
            <a:endParaRPr lang="zh-CN" altLang="en-US" dirty="0"/>
          </a:p>
        </p:txBody>
      </p:sp>
      <p:sp>
        <p:nvSpPr>
          <p:cNvPr id="3" name="内容占位符 2"/>
          <p:cNvSpPr>
            <a:spLocks noGrp="1"/>
          </p:cNvSpPr>
          <p:nvPr>
            <p:ph idx="1"/>
          </p:nvPr>
        </p:nvSpPr>
        <p:spPr>
          <a:xfrm>
            <a:off x="827584" y="1628800"/>
            <a:ext cx="8136904" cy="4320480"/>
          </a:xfrm>
        </p:spPr>
        <p:txBody>
          <a:bodyPr>
            <a:normAutofit/>
          </a:bodyPr>
          <a:lstStyle/>
          <a:p>
            <a:r>
              <a:rPr lang="zh-CN" altLang="zh-CN" b="0" dirty="0">
                <a:solidFill>
                  <a:srgbClr val="FF0000"/>
                </a:solidFill>
              </a:rPr>
              <a:t>一棵</a:t>
            </a:r>
            <a:r>
              <a:rPr lang="en-US" altLang="zh-CN" b="0" dirty="0">
                <a:solidFill>
                  <a:srgbClr val="FF0000"/>
                </a:solidFill>
              </a:rPr>
              <a:t>m</a:t>
            </a:r>
            <a:r>
              <a:rPr lang="zh-CN" altLang="zh-CN" b="0" dirty="0">
                <a:solidFill>
                  <a:srgbClr val="FF0000"/>
                </a:solidFill>
              </a:rPr>
              <a:t>阶</a:t>
            </a:r>
            <a:r>
              <a:rPr lang="en-US" altLang="zh-CN" b="0" dirty="0">
                <a:solidFill>
                  <a:srgbClr val="FF0000"/>
                </a:solidFill>
              </a:rPr>
              <a:t>B</a:t>
            </a:r>
            <a:r>
              <a:rPr lang="en-US" altLang="zh-CN" b="0" baseline="30000" dirty="0">
                <a:solidFill>
                  <a:srgbClr val="FF0000"/>
                </a:solidFill>
              </a:rPr>
              <a:t>+</a:t>
            </a:r>
            <a:r>
              <a:rPr lang="zh-CN" altLang="zh-CN" b="0" dirty="0">
                <a:solidFill>
                  <a:srgbClr val="FF0000"/>
                </a:solidFill>
              </a:rPr>
              <a:t>树可以定义如下：</a:t>
            </a:r>
          </a:p>
          <a:p>
            <a:r>
              <a:rPr lang="zh-CN" altLang="zh-CN" b="0" dirty="0"/>
              <a:t>（</a:t>
            </a:r>
            <a:r>
              <a:rPr lang="en-US" altLang="zh-CN" b="0" dirty="0"/>
              <a:t>1</a:t>
            </a:r>
            <a:r>
              <a:rPr lang="zh-CN" altLang="zh-CN" b="0" dirty="0"/>
              <a:t>）每个结点</a:t>
            </a:r>
            <a:r>
              <a:rPr lang="zh-CN" altLang="zh-CN" b="0" dirty="0">
                <a:solidFill>
                  <a:srgbClr val="FF0000"/>
                </a:solidFill>
              </a:rPr>
              <a:t>至多有</a:t>
            </a:r>
            <a:r>
              <a:rPr lang="en-US" altLang="zh-CN" b="0" dirty="0">
                <a:solidFill>
                  <a:srgbClr val="FF0000"/>
                </a:solidFill>
              </a:rPr>
              <a:t>m</a:t>
            </a:r>
            <a:r>
              <a:rPr lang="zh-CN" altLang="zh-CN" b="0" dirty="0">
                <a:solidFill>
                  <a:srgbClr val="FF0000"/>
                </a:solidFill>
              </a:rPr>
              <a:t>个子结点</a:t>
            </a:r>
            <a:r>
              <a:rPr lang="zh-CN" altLang="zh-CN" b="0" dirty="0"/>
              <a:t>。</a:t>
            </a:r>
          </a:p>
          <a:p>
            <a:r>
              <a:rPr lang="zh-CN" altLang="zh-CN" b="0" dirty="0"/>
              <a:t>（</a:t>
            </a:r>
            <a:r>
              <a:rPr lang="en-US" altLang="zh-CN" b="0" dirty="0"/>
              <a:t>2</a:t>
            </a:r>
            <a:r>
              <a:rPr lang="zh-CN" altLang="zh-CN" b="0" dirty="0"/>
              <a:t>）每个结点</a:t>
            </a:r>
            <a:r>
              <a:rPr lang="zh-CN" altLang="zh-CN" b="0" dirty="0">
                <a:solidFill>
                  <a:srgbClr val="FF0000"/>
                </a:solidFill>
              </a:rPr>
              <a:t>（除根结点外）至少有</a:t>
            </a:r>
            <a:r>
              <a:rPr lang="en-US" altLang="zh-CN" b="0" dirty="0">
                <a:solidFill>
                  <a:srgbClr val="FF0000"/>
                </a:solidFill>
              </a:rPr>
              <a:t>⌈m/2⌉</a:t>
            </a:r>
            <a:r>
              <a:rPr lang="zh-CN" altLang="zh-CN" b="0" dirty="0">
                <a:solidFill>
                  <a:srgbClr val="FF0000"/>
                </a:solidFill>
              </a:rPr>
              <a:t>个子结点</a:t>
            </a:r>
            <a:r>
              <a:rPr lang="zh-CN" altLang="zh-CN" b="0" dirty="0"/>
              <a:t>。</a:t>
            </a:r>
          </a:p>
          <a:p>
            <a:r>
              <a:rPr lang="zh-CN" altLang="zh-CN" b="0" dirty="0"/>
              <a:t>（</a:t>
            </a:r>
            <a:r>
              <a:rPr lang="en-US" altLang="zh-CN" b="0" dirty="0"/>
              <a:t>3</a:t>
            </a:r>
            <a:r>
              <a:rPr lang="zh-CN" altLang="zh-CN" b="0" dirty="0"/>
              <a:t>）</a:t>
            </a:r>
            <a:r>
              <a:rPr lang="zh-CN" altLang="zh-CN" b="0" dirty="0">
                <a:solidFill>
                  <a:srgbClr val="FF0000"/>
                </a:solidFill>
              </a:rPr>
              <a:t>根结点至少有两个子结点</a:t>
            </a:r>
            <a:r>
              <a:rPr lang="zh-CN" altLang="zh-CN" b="0" dirty="0"/>
              <a:t>（空树或独根的情况除外）。</a:t>
            </a:r>
          </a:p>
          <a:p>
            <a:r>
              <a:rPr lang="zh-CN" altLang="zh-CN" b="0" dirty="0"/>
              <a:t>（</a:t>
            </a:r>
            <a:r>
              <a:rPr lang="en-US" altLang="zh-CN" b="0" dirty="0"/>
              <a:t>4</a:t>
            </a:r>
            <a:r>
              <a:rPr lang="zh-CN" altLang="zh-CN" b="0" dirty="0"/>
              <a:t>）</a:t>
            </a:r>
            <a:r>
              <a:rPr lang="zh-CN" altLang="zh-CN" b="0" dirty="0">
                <a:solidFill>
                  <a:srgbClr val="FF0000"/>
                </a:solidFill>
              </a:rPr>
              <a:t>所有的终端结点在同一层</a:t>
            </a:r>
            <a:r>
              <a:rPr lang="zh-CN" altLang="zh-CN" b="0" dirty="0"/>
              <a:t>，可以有</a:t>
            </a:r>
            <a:r>
              <a:rPr lang="en-US" altLang="zh-CN" b="0" dirty="0"/>
              <a:t>⌈m/2⌉~m</a:t>
            </a:r>
            <a:r>
              <a:rPr lang="zh-CN" altLang="zh-CN" b="0" dirty="0"/>
              <a:t>个关键字，终端结点包含全部关键字以及相应的记录信息，终端结点之间可以用双链表顺序链接。</a:t>
            </a:r>
          </a:p>
          <a:p>
            <a:r>
              <a:rPr lang="zh-CN" altLang="zh-CN" b="0" dirty="0"/>
              <a:t>（</a:t>
            </a:r>
            <a:r>
              <a:rPr lang="en-US" altLang="zh-CN" b="0" dirty="0"/>
              <a:t>5</a:t>
            </a:r>
            <a:r>
              <a:rPr lang="zh-CN" altLang="zh-CN" b="0" dirty="0"/>
              <a:t>）</a:t>
            </a:r>
            <a:r>
              <a:rPr lang="zh-CN" altLang="zh-CN" b="0" dirty="0">
                <a:solidFill>
                  <a:srgbClr val="FF0000"/>
                </a:solidFill>
              </a:rPr>
              <a:t>有</a:t>
            </a:r>
            <a:r>
              <a:rPr lang="en-US" altLang="zh-CN" b="0" dirty="0">
                <a:solidFill>
                  <a:srgbClr val="FF0000"/>
                </a:solidFill>
              </a:rPr>
              <a:t>k</a:t>
            </a:r>
            <a:r>
              <a:rPr lang="zh-CN" altLang="zh-CN" b="0" dirty="0">
                <a:solidFill>
                  <a:srgbClr val="FF0000"/>
                </a:solidFill>
              </a:rPr>
              <a:t>个子结点的结点（分支结点）必有</a:t>
            </a:r>
            <a:r>
              <a:rPr lang="en-US" altLang="zh-CN" b="0" dirty="0">
                <a:solidFill>
                  <a:srgbClr val="FF0000"/>
                </a:solidFill>
              </a:rPr>
              <a:t>k</a:t>
            </a:r>
            <a:r>
              <a:rPr lang="zh-CN" altLang="zh-CN" b="0" dirty="0">
                <a:solidFill>
                  <a:srgbClr val="FF0000"/>
                </a:solidFill>
              </a:rPr>
              <a:t>个关键字</a:t>
            </a:r>
            <a:r>
              <a:rPr lang="zh-CN" altLang="zh-CN" b="0" dirty="0"/>
              <a:t>。</a:t>
            </a:r>
          </a:p>
        </p:txBody>
      </p:sp>
    </p:spTree>
    <p:extLst>
      <p:ext uri="{BB962C8B-B14F-4D97-AF65-F5344CB8AC3E}">
        <p14:creationId xmlns:p14="http://schemas.microsoft.com/office/powerpoint/2010/main" val="44542540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0569BFA-AA42-4659-9E03-8C3CCDB22894}"/>
              </a:ext>
            </a:extLst>
          </p:cNvPr>
          <p:cNvSpPr>
            <a:spLocks noGrp="1"/>
          </p:cNvSpPr>
          <p:nvPr>
            <p:ph type="dt" sz="half" idx="10"/>
          </p:nvPr>
        </p:nvSpPr>
        <p:spPr/>
        <p:txBody>
          <a:bodyPr/>
          <a:lstStyle/>
          <a:p>
            <a:fld id="{9A6B2991-BBE5-4E69-A281-1A8B0AE9CDD7}" type="datetime1">
              <a:rPr lang="zh-CN" altLang="en-US" smtClean="0"/>
              <a:pPr/>
              <a:t>2025/6/3</a:t>
            </a:fld>
            <a:endParaRPr lang="zh-CN" altLang="en-US"/>
          </a:p>
        </p:txBody>
      </p:sp>
      <p:pic>
        <p:nvPicPr>
          <p:cNvPr id="12290" name="Picture 2">
            <a:extLst>
              <a:ext uri="{FF2B5EF4-FFF2-40B4-BE49-F238E27FC236}">
                <a16:creationId xmlns:a16="http://schemas.microsoft.com/office/drawing/2014/main" id="{9026D6C5-B334-4874-95BD-7634FD7D2E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44624"/>
            <a:ext cx="6987099" cy="3384376"/>
          </a:xfrm>
          <a:prstGeom prst="rect">
            <a:avLst/>
          </a:prstGeom>
          <a:noFill/>
          <a:extLst>
            <a:ext uri="{909E8E84-426E-40DD-AFC4-6F175D3DCCD1}">
              <a14:hiddenFill xmlns:a14="http://schemas.microsoft.com/office/drawing/2010/main">
                <a:solidFill>
                  <a:srgbClr val="FFFFFF"/>
                </a:solidFill>
              </a14:hiddenFill>
            </a:ext>
          </a:extLst>
        </p:spPr>
      </p:pic>
      <p:pic>
        <p:nvPicPr>
          <p:cNvPr id="12292" name="Picture 4">
            <a:extLst>
              <a:ext uri="{FF2B5EF4-FFF2-40B4-BE49-F238E27FC236}">
                <a16:creationId xmlns:a16="http://schemas.microsoft.com/office/drawing/2014/main" id="{F8B4E19A-EED4-4D5C-A2B7-7320A33550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2081" y="3573017"/>
            <a:ext cx="7077919" cy="32403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5470976"/>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EC3AB95-1C1E-4696-888E-7E7C25325AB5}"/>
              </a:ext>
            </a:extLst>
          </p:cNvPr>
          <p:cNvSpPr>
            <a:spLocks noGrp="1"/>
          </p:cNvSpPr>
          <p:nvPr>
            <p:ph type="dt" sz="half" idx="10"/>
          </p:nvPr>
        </p:nvSpPr>
        <p:spPr/>
        <p:txBody>
          <a:bodyPr/>
          <a:lstStyle/>
          <a:p>
            <a:fld id="{9A6B2991-BBE5-4E69-A281-1A8B0AE9CDD7}" type="datetime1">
              <a:rPr lang="zh-CN" altLang="en-US" smtClean="0"/>
              <a:pPr/>
              <a:t>2025/6/3</a:t>
            </a:fld>
            <a:endParaRPr lang="zh-CN" altLang="en-US"/>
          </a:p>
        </p:txBody>
      </p:sp>
      <p:sp>
        <p:nvSpPr>
          <p:cNvPr id="14" name="文本框 13">
            <a:extLst>
              <a:ext uri="{FF2B5EF4-FFF2-40B4-BE49-F238E27FC236}">
                <a16:creationId xmlns:a16="http://schemas.microsoft.com/office/drawing/2014/main" id="{831E272D-7F5E-4066-8471-B08F2BD9AC8E}"/>
              </a:ext>
            </a:extLst>
          </p:cNvPr>
          <p:cNvSpPr txBox="1"/>
          <p:nvPr/>
        </p:nvSpPr>
        <p:spPr>
          <a:xfrm>
            <a:off x="107504" y="44624"/>
            <a:ext cx="9036496" cy="6555641"/>
          </a:xfrm>
          <a:prstGeom prst="rect">
            <a:avLst/>
          </a:prstGeom>
          <a:solidFill>
            <a:schemeClr val="bg1"/>
          </a:solidFill>
        </p:spPr>
        <p:txBody>
          <a:bodyPr wrap="square">
            <a:spAutoFit/>
          </a:bodyPr>
          <a:lstStyle/>
          <a:p>
            <a:r>
              <a:rPr lang="en-US" altLang="zh-CN" sz="2800" b="1" dirty="0"/>
              <a:t>B</a:t>
            </a:r>
            <a:r>
              <a:rPr lang="zh-CN" altLang="en-US" sz="2800" b="1" dirty="0"/>
              <a:t>树（即</a:t>
            </a:r>
            <a:r>
              <a:rPr lang="en-US" altLang="zh-CN" sz="2800" b="1" dirty="0"/>
              <a:t>B-</a:t>
            </a:r>
            <a:r>
              <a:rPr lang="zh-CN" altLang="en-US" sz="2800" b="1" dirty="0"/>
              <a:t>树）与</a:t>
            </a:r>
            <a:r>
              <a:rPr lang="en-US" altLang="zh-CN" sz="2800" b="1" dirty="0"/>
              <a:t>B+</a:t>
            </a:r>
            <a:r>
              <a:rPr lang="zh-CN" altLang="en-US" sz="2800" b="1" dirty="0"/>
              <a:t>树的主要区别在于数据结构差异</a:t>
            </a:r>
            <a:endParaRPr lang="en-US" altLang="zh-CN" sz="2800" b="1" dirty="0"/>
          </a:p>
          <a:p>
            <a:r>
              <a:rPr lang="zh-CN" altLang="en-US" sz="2800" b="1" dirty="0"/>
              <a:t>‌</a:t>
            </a:r>
            <a:r>
              <a:rPr lang="en-US" altLang="zh-CN" sz="2800" b="1" dirty="0"/>
              <a:t>1</a:t>
            </a:r>
            <a:r>
              <a:rPr lang="zh-CN" altLang="en-US" sz="2800" b="1" dirty="0"/>
              <a:t>、节点数据存储‌</a:t>
            </a:r>
            <a:r>
              <a:rPr lang="en-US" altLang="zh-CN" sz="2800" b="1" dirty="0"/>
              <a:t>:</a:t>
            </a:r>
          </a:p>
          <a:p>
            <a:pPr lvl="1"/>
            <a:r>
              <a:rPr lang="en-US" altLang="zh-CN" sz="2800" b="1" dirty="0"/>
              <a:t>B</a:t>
            </a:r>
            <a:r>
              <a:rPr lang="zh-CN" altLang="en-US" sz="2800" b="1" dirty="0"/>
              <a:t>树（</a:t>
            </a:r>
            <a:r>
              <a:rPr lang="en-US" altLang="zh-CN" sz="2800" b="1" dirty="0"/>
              <a:t>B-</a:t>
            </a:r>
            <a:r>
              <a:rPr lang="zh-CN" altLang="en-US" sz="2800" b="1" dirty="0"/>
              <a:t>树）的所有节点（包括内部节点和叶子节点）均存储数据记录。‌‌</a:t>
            </a:r>
          </a:p>
          <a:p>
            <a:pPr lvl="1"/>
            <a:r>
              <a:rPr lang="en-US" altLang="zh-CN" sz="2800" b="1" dirty="0"/>
              <a:t>B+</a:t>
            </a:r>
            <a:r>
              <a:rPr lang="zh-CN" altLang="en-US" sz="2800" b="1" dirty="0"/>
              <a:t>树只在叶子节点存储完整数据，内部节点仅存储键值作为索引，不包含实际数据。‌‌</a:t>
            </a:r>
          </a:p>
          <a:p>
            <a:r>
              <a:rPr lang="en-US" altLang="zh-CN" sz="2800" b="1" dirty="0"/>
              <a:t>2</a:t>
            </a:r>
            <a:r>
              <a:rPr lang="zh-CN" altLang="en-US" sz="2800" b="1" dirty="0"/>
              <a:t>、</a:t>
            </a:r>
            <a:r>
              <a:rPr lang="en-US" altLang="zh-CN" sz="2800" b="1" dirty="0"/>
              <a:t>‌</a:t>
            </a:r>
            <a:r>
              <a:rPr lang="zh-CN" altLang="en-US" sz="2800" b="1" dirty="0"/>
              <a:t>叶子节点结构‌</a:t>
            </a:r>
            <a:r>
              <a:rPr lang="en-US" altLang="zh-CN" sz="2800" b="1" dirty="0"/>
              <a:t>:</a:t>
            </a:r>
          </a:p>
          <a:p>
            <a:pPr lvl="1"/>
            <a:r>
              <a:rPr lang="en-US" altLang="zh-CN" sz="2800" b="1" dirty="0"/>
              <a:t>B</a:t>
            </a:r>
            <a:r>
              <a:rPr lang="zh-CN" altLang="en-US" sz="2800" b="1" dirty="0"/>
              <a:t>树的叶子节点独立存在，无链表连接，范围查询需遍历整树。‌‌</a:t>
            </a:r>
          </a:p>
          <a:p>
            <a:pPr lvl="1"/>
            <a:r>
              <a:rPr lang="en-US" altLang="zh-CN" sz="2800" b="1" dirty="0"/>
              <a:t>B+</a:t>
            </a:r>
            <a:r>
              <a:rPr lang="zh-CN" altLang="en-US" sz="2800" b="1" dirty="0"/>
              <a:t>树的叶子节点通过双向链表连接，支持顺序遍历，范围查询效率显著提升。‌‌</a:t>
            </a:r>
          </a:p>
          <a:p>
            <a:r>
              <a:rPr lang="en-US" altLang="zh-CN" sz="2800" b="1" dirty="0"/>
              <a:t>3</a:t>
            </a:r>
            <a:r>
              <a:rPr lang="zh-CN" altLang="en-US" sz="2800" b="1" dirty="0"/>
              <a:t>、</a:t>
            </a:r>
            <a:r>
              <a:rPr lang="en-US" altLang="zh-CN" sz="2800" b="1" dirty="0"/>
              <a:t>‌</a:t>
            </a:r>
            <a:r>
              <a:rPr lang="zh-CN" altLang="en-US" sz="2800" b="1" dirty="0"/>
              <a:t>查询路径与稳定性‌</a:t>
            </a:r>
            <a:r>
              <a:rPr lang="en-US" altLang="zh-CN" sz="2800" b="1" dirty="0"/>
              <a:t>:</a:t>
            </a:r>
          </a:p>
          <a:p>
            <a:pPr lvl="1"/>
            <a:r>
              <a:rPr lang="en-US" altLang="zh-CN" sz="2800" b="1" dirty="0"/>
              <a:t>B</a:t>
            </a:r>
            <a:r>
              <a:rPr lang="zh-CN" altLang="en-US" sz="2800" b="1" dirty="0"/>
              <a:t>树查询可能在内部节点终止，不同查询路径长度可能差异较大。‌‌</a:t>
            </a:r>
          </a:p>
          <a:p>
            <a:r>
              <a:rPr lang="en-US" altLang="zh-CN" sz="2800" b="1" dirty="0"/>
              <a:t>      B+</a:t>
            </a:r>
            <a:r>
              <a:rPr lang="zh-CN" altLang="en-US" sz="2800" b="1" dirty="0"/>
              <a:t>树查询必须到达叶子节点，路径长度一致且稳定。‌‌</a:t>
            </a:r>
          </a:p>
        </p:txBody>
      </p:sp>
    </p:spTree>
    <p:extLst>
      <p:ext uri="{BB962C8B-B14F-4D97-AF65-F5344CB8AC3E}">
        <p14:creationId xmlns:p14="http://schemas.microsoft.com/office/powerpoint/2010/main" val="683829977"/>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zh-CN" dirty="0">
                <a:solidFill>
                  <a:srgbClr val="FF0000"/>
                </a:solidFill>
              </a:rPr>
              <a:t>一棵</a:t>
            </a:r>
            <a:r>
              <a:rPr lang="en-US" altLang="zh-CN" dirty="0">
                <a:solidFill>
                  <a:srgbClr val="FF0000"/>
                </a:solidFill>
              </a:rPr>
              <a:t>m</a:t>
            </a:r>
            <a:r>
              <a:rPr lang="zh-CN" altLang="zh-CN" dirty="0">
                <a:solidFill>
                  <a:srgbClr val="FF0000"/>
                </a:solidFill>
              </a:rPr>
              <a:t>阶的</a:t>
            </a:r>
            <a:r>
              <a:rPr lang="en-US" altLang="zh-CN" dirty="0">
                <a:solidFill>
                  <a:srgbClr val="FF0000"/>
                </a:solidFill>
              </a:rPr>
              <a:t>B</a:t>
            </a:r>
            <a:r>
              <a:rPr lang="en-US" altLang="zh-CN" baseline="30000" dirty="0">
                <a:solidFill>
                  <a:srgbClr val="FF0000"/>
                </a:solidFill>
              </a:rPr>
              <a:t>+</a:t>
            </a:r>
            <a:r>
              <a:rPr lang="zh-CN" altLang="zh-CN" dirty="0">
                <a:solidFill>
                  <a:srgbClr val="FF0000"/>
                </a:solidFill>
              </a:rPr>
              <a:t>树和</a:t>
            </a:r>
            <a:r>
              <a:rPr lang="en-US" altLang="zh-CN" dirty="0">
                <a:solidFill>
                  <a:srgbClr val="FF0000"/>
                </a:solidFill>
              </a:rPr>
              <a:t>m</a:t>
            </a:r>
            <a:r>
              <a:rPr lang="zh-CN" altLang="zh-CN" dirty="0">
                <a:solidFill>
                  <a:srgbClr val="FF0000"/>
                </a:solidFill>
              </a:rPr>
              <a:t>阶的</a:t>
            </a:r>
            <a:r>
              <a:rPr lang="en-US" altLang="zh-CN" dirty="0">
                <a:solidFill>
                  <a:srgbClr val="FF0000"/>
                </a:solidFill>
              </a:rPr>
              <a:t>B</a:t>
            </a:r>
            <a:r>
              <a:rPr lang="zh-CN" altLang="zh-CN" dirty="0">
                <a:solidFill>
                  <a:srgbClr val="FF0000"/>
                </a:solidFill>
              </a:rPr>
              <a:t>树的差异在于：</a:t>
            </a:r>
          </a:p>
          <a:p>
            <a:r>
              <a:rPr lang="zh-CN" altLang="zh-CN" b="0" dirty="0"/>
              <a:t>（</a:t>
            </a:r>
            <a:r>
              <a:rPr lang="en-US" altLang="zh-CN" b="0" dirty="0"/>
              <a:t>1</a:t>
            </a:r>
            <a:r>
              <a:rPr lang="zh-CN" altLang="zh-CN" b="0" dirty="0"/>
              <a:t>）有</a:t>
            </a:r>
            <a:r>
              <a:rPr lang="en-US" altLang="zh-CN" b="0" dirty="0"/>
              <a:t>n</a:t>
            </a:r>
            <a:r>
              <a:rPr lang="zh-CN" altLang="zh-CN" b="0" dirty="0"/>
              <a:t>棵子树的结点中含有</a:t>
            </a:r>
            <a:r>
              <a:rPr lang="en-US" altLang="zh-CN" b="0" dirty="0"/>
              <a:t>n</a:t>
            </a:r>
            <a:r>
              <a:rPr lang="zh-CN" altLang="zh-CN" b="0" dirty="0"/>
              <a:t>个关键字；</a:t>
            </a:r>
          </a:p>
          <a:p>
            <a:r>
              <a:rPr lang="zh-CN" altLang="zh-CN" b="0" dirty="0"/>
              <a:t>（</a:t>
            </a:r>
            <a:r>
              <a:rPr lang="en-US" altLang="zh-CN" b="0" dirty="0"/>
              <a:t>2</a:t>
            </a:r>
            <a:r>
              <a:rPr lang="zh-CN" altLang="zh-CN" b="0" dirty="0"/>
              <a:t>）</a:t>
            </a:r>
            <a:r>
              <a:rPr lang="zh-CN" altLang="zh-CN" b="0" dirty="0">
                <a:solidFill>
                  <a:srgbClr val="FF0000"/>
                </a:solidFill>
              </a:rPr>
              <a:t>所有的叶子结点中包含了全部关键字的信息</a:t>
            </a:r>
            <a:r>
              <a:rPr lang="zh-CN" altLang="zh-CN" b="0" dirty="0"/>
              <a:t>，及指向含这些关键字记录的指针，且叶子结点本身依关键字的大小自小到大顺序链接；</a:t>
            </a:r>
          </a:p>
          <a:p>
            <a:r>
              <a:rPr lang="zh-CN" altLang="zh-CN" b="0" dirty="0"/>
              <a:t>（</a:t>
            </a:r>
            <a:r>
              <a:rPr lang="en-US" altLang="zh-CN" b="0" dirty="0"/>
              <a:t>3</a:t>
            </a:r>
            <a:r>
              <a:rPr lang="zh-CN" altLang="zh-CN" b="0" dirty="0"/>
              <a:t>）</a:t>
            </a:r>
            <a:r>
              <a:rPr lang="zh-CN" altLang="zh-CN" b="0" dirty="0">
                <a:solidFill>
                  <a:srgbClr val="FF0000"/>
                </a:solidFill>
              </a:rPr>
              <a:t>所有的非终结点可以看成是索引部分</a:t>
            </a:r>
            <a:r>
              <a:rPr lang="zh-CN" altLang="zh-CN" b="0" dirty="0"/>
              <a:t>，结点中仅含有其子树（根结点）中的最大（或最小）关键字。</a:t>
            </a:r>
          </a:p>
        </p:txBody>
      </p:sp>
    </p:spTree>
    <p:extLst>
      <p:ext uri="{BB962C8B-B14F-4D97-AF65-F5344CB8AC3E}">
        <p14:creationId xmlns:p14="http://schemas.microsoft.com/office/powerpoint/2010/main" val="1455950926"/>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08720"/>
            <a:ext cx="7992888" cy="5400600"/>
          </a:xfrm>
        </p:spPr>
        <p:txBody>
          <a:bodyPr>
            <a:normAutofit/>
          </a:bodyPr>
          <a:lstStyle/>
          <a:p>
            <a:pPr>
              <a:buFont typeface="Wingdings" panose="05000000000000000000" pitchFamily="2" charset="2"/>
              <a:buChar char="Ø"/>
            </a:pPr>
            <a:r>
              <a:rPr lang="zh-CN" altLang="zh-CN" b="0" dirty="0">
                <a:solidFill>
                  <a:srgbClr val="FF0000"/>
                </a:solidFill>
              </a:rPr>
              <a:t>在</a:t>
            </a:r>
            <a:r>
              <a:rPr lang="en-US" altLang="zh-CN" b="0" dirty="0">
                <a:solidFill>
                  <a:srgbClr val="FF0000"/>
                </a:solidFill>
              </a:rPr>
              <a:t>B</a:t>
            </a:r>
            <a:r>
              <a:rPr lang="en-US" altLang="zh-CN" b="0" baseline="30000" dirty="0">
                <a:solidFill>
                  <a:srgbClr val="FF0000"/>
                </a:solidFill>
              </a:rPr>
              <a:t>+</a:t>
            </a:r>
            <a:r>
              <a:rPr lang="zh-CN" altLang="zh-CN" b="0" dirty="0">
                <a:solidFill>
                  <a:srgbClr val="FF0000"/>
                </a:solidFill>
              </a:rPr>
              <a:t>树上进行随机查找时，不管查找成功与否，每次查找都是走了一条从根到终端结点的路径。</a:t>
            </a:r>
            <a:endParaRPr lang="en-US" altLang="zh-CN" b="0" dirty="0">
              <a:solidFill>
                <a:srgbClr val="FF0000"/>
              </a:solidFill>
            </a:endParaRPr>
          </a:p>
          <a:p>
            <a:pPr>
              <a:buFont typeface="Wingdings" panose="05000000000000000000" pitchFamily="2" charset="2"/>
              <a:buChar char="Ø"/>
            </a:pPr>
            <a:r>
              <a:rPr lang="en-US" altLang="zh-CN" b="0" dirty="0">
                <a:solidFill>
                  <a:srgbClr val="FF0000"/>
                </a:solidFill>
              </a:rPr>
              <a:t>B</a:t>
            </a:r>
            <a:r>
              <a:rPr lang="en-US" altLang="zh-CN" b="0" baseline="30000" dirty="0">
                <a:solidFill>
                  <a:srgbClr val="FF0000"/>
                </a:solidFill>
              </a:rPr>
              <a:t>+</a:t>
            </a:r>
            <a:r>
              <a:rPr lang="zh-CN" altLang="zh-CN" b="0" dirty="0">
                <a:solidFill>
                  <a:srgbClr val="FF0000"/>
                </a:solidFill>
              </a:rPr>
              <a:t>树的插入仅在终端结点上进行</a:t>
            </a:r>
            <a:r>
              <a:rPr lang="zh-CN" altLang="zh-CN" b="0" dirty="0"/>
              <a:t>，当结点中的关键字个数大于</a:t>
            </a:r>
            <a:r>
              <a:rPr lang="en-US" altLang="zh-CN" b="0" dirty="0"/>
              <a:t>m</a:t>
            </a:r>
            <a:r>
              <a:rPr lang="zh-CN" altLang="zh-CN" b="0" dirty="0"/>
              <a:t>时要分裂成两个结点，它们所含关键字的个数分别为</a:t>
            </a:r>
            <a:r>
              <a:rPr lang="en-US" altLang="zh-CN" b="0" dirty="0"/>
              <a:t>⌈(m+1)/2⌉</a:t>
            </a:r>
            <a:r>
              <a:rPr lang="zh-CN" altLang="zh-CN" b="0" dirty="0"/>
              <a:t>和</a:t>
            </a:r>
            <a:r>
              <a:rPr lang="en-US" altLang="zh-CN" b="0" dirty="0"/>
              <a:t>⌊(m+1)/2⌋</a:t>
            </a:r>
            <a:r>
              <a:rPr lang="zh-CN" altLang="zh-CN" b="0" dirty="0"/>
              <a:t>。并且，它们的双亲结点中应同时包含这两个结点中的最大关键字。</a:t>
            </a:r>
            <a:endParaRPr lang="en-US" altLang="zh-CN" b="0" dirty="0"/>
          </a:p>
          <a:p>
            <a:pPr>
              <a:buFont typeface="Wingdings" panose="05000000000000000000" pitchFamily="2" charset="2"/>
              <a:buChar char="Ø"/>
            </a:pPr>
            <a:r>
              <a:rPr lang="en-US" altLang="zh-CN" b="0" dirty="0">
                <a:solidFill>
                  <a:srgbClr val="FF0000"/>
                </a:solidFill>
              </a:rPr>
              <a:t>B</a:t>
            </a:r>
            <a:r>
              <a:rPr lang="en-US" altLang="zh-CN" b="0" baseline="30000" dirty="0">
                <a:solidFill>
                  <a:srgbClr val="FF0000"/>
                </a:solidFill>
              </a:rPr>
              <a:t>+</a:t>
            </a:r>
            <a:r>
              <a:rPr lang="zh-CN" altLang="zh-CN" b="0" dirty="0">
                <a:solidFill>
                  <a:srgbClr val="FF0000"/>
                </a:solidFill>
              </a:rPr>
              <a:t>树的删除也仅在终端结点上进行</a:t>
            </a:r>
            <a:r>
              <a:rPr lang="zh-CN" altLang="zh-CN" b="0" dirty="0"/>
              <a:t>，当终端结点中的最大关键字被删除时，其在非终结点中的值可以作为一个“</a:t>
            </a:r>
            <a:r>
              <a:rPr lang="zh-CN" altLang="zh-CN" b="0" dirty="0">
                <a:solidFill>
                  <a:srgbClr val="FF0000"/>
                </a:solidFill>
              </a:rPr>
              <a:t>分界关键字</a:t>
            </a:r>
            <a:r>
              <a:rPr lang="zh-CN" altLang="zh-CN" b="0" dirty="0"/>
              <a:t>”存在。如果因删除而使得结点中的关键字个数少于</a:t>
            </a:r>
            <a:r>
              <a:rPr lang="en-US" altLang="zh-CN" b="0" dirty="0"/>
              <a:t>⌈m/2⌉</a:t>
            </a:r>
            <a:r>
              <a:rPr lang="zh-CN" altLang="zh-CN" b="0" dirty="0"/>
              <a:t>时，其和兄弟结点的合并过程也与</a:t>
            </a:r>
            <a:r>
              <a:rPr lang="en-US" altLang="zh-CN" b="0" dirty="0"/>
              <a:t>B</a:t>
            </a:r>
            <a:r>
              <a:rPr lang="zh-CN" altLang="zh-CN" b="0" dirty="0"/>
              <a:t>树类似。</a:t>
            </a:r>
            <a:endParaRPr lang="en-US" altLang="zh-CN" b="0" dirty="0"/>
          </a:p>
        </p:txBody>
      </p:sp>
    </p:spTree>
    <p:extLst>
      <p:ext uri="{BB962C8B-B14F-4D97-AF65-F5344CB8AC3E}">
        <p14:creationId xmlns:p14="http://schemas.microsoft.com/office/powerpoint/2010/main" val="55613894"/>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p:cNvSpPr txBox="1">
            <a:spLocks noChangeArrowheads="1"/>
          </p:cNvSpPr>
          <p:nvPr/>
        </p:nvSpPr>
        <p:spPr bwMode="auto">
          <a:xfrm>
            <a:off x="876300" y="2620962"/>
            <a:ext cx="7391400" cy="161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l" rtl="0" fontAlgn="base">
              <a:spcBef>
                <a:spcPct val="0"/>
              </a:spcBef>
              <a:spcAft>
                <a:spcPct val="0"/>
              </a:spcAft>
              <a:defRPr kumimoji="1" sz="2400" b="1" kern="1200">
                <a:solidFill>
                  <a:schemeClr val="tx1"/>
                </a:solidFill>
                <a:latin typeface="Tahoma" panose="020B0604030504040204" pitchFamily="34" charset="0"/>
                <a:ea typeface="宋体" panose="02010600030101010101" pitchFamily="2" charset="-122"/>
                <a:cs typeface="+mn-cs"/>
              </a:defRPr>
            </a:lvl1pPr>
            <a:lvl2pPr marL="457200" algn="l" rtl="0" fontAlgn="base">
              <a:spcBef>
                <a:spcPct val="0"/>
              </a:spcBef>
              <a:spcAft>
                <a:spcPct val="0"/>
              </a:spcAft>
              <a:defRPr kumimoji="1" sz="2400" b="1" kern="1200">
                <a:solidFill>
                  <a:schemeClr val="tx1"/>
                </a:solidFill>
                <a:latin typeface="Tahoma" panose="020B0604030504040204" pitchFamily="34" charset="0"/>
                <a:ea typeface="宋体" panose="02010600030101010101" pitchFamily="2" charset="-122"/>
                <a:cs typeface="+mn-cs"/>
              </a:defRPr>
            </a:lvl2pPr>
            <a:lvl3pPr marL="914400" algn="l" rtl="0" fontAlgn="base">
              <a:spcBef>
                <a:spcPct val="0"/>
              </a:spcBef>
              <a:spcAft>
                <a:spcPct val="0"/>
              </a:spcAft>
              <a:defRPr kumimoji="1" sz="2400" b="1" kern="1200">
                <a:solidFill>
                  <a:schemeClr val="tx1"/>
                </a:solidFill>
                <a:latin typeface="Tahoma" panose="020B0604030504040204" pitchFamily="34" charset="0"/>
                <a:ea typeface="宋体" panose="02010600030101010101" pitchFamily="2" charset="-122"/>
                <a:cs typeface="+mn-cs"/>
              </a:defRPr>
            </a:lvl3pPr>
            <a:lvl4pPr marL="1371600" algn="l" rtl="0" fontAlgn="base">
              <a:spcBef>
                <a:spcPct val="0"/>
              </a:spcBef>
              <a:spcAft>
                <a:spcPct val="0"/>
              </a:spcAft>
              <a:defRPr kumimoji="1" sz="2400" b="1" kern="1200">
                <a:solidFill>
                  <a:schemeClr val="tx1"/>
                </a:solidFill>
                <a:latin typeface="Tahoma" panose="020B0604030504040204" pitchFamily="34" charset="0"/>
                <a:ea typeface="宋体" panose="02010600030101010101" pitchFamily="2" charset="-122"/>
                <a:cs typeface="+mn-cs"/>
              </a:defRPr>
            </a:lvl4pPr>
            <a:lvl5pPr marL="1828800" algn="l" rtl="0" fontAlgn="base">
              <a:spcBef>
                <a:spcPct val="0"/>
              </a:spcBef>
              <a:spcAft>
                <a:spcPct val="0"/>
              </a:spcAft>
              <a:defRPr kumimoji="1" sz="2400" b="1"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kumimoji="1" sz="2400" b="1"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kumimoji="1" sz="2400" b="1"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kumimoji="1" sz="2400" b="1"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kumimoji="1" sz="2400" b="1" kern="1200">
                <a:solidFill>
                  <a:schemeClr val="tx1"/>
                </a:solidFill>
                <a:latin typeface="Tahoma" panose="020B0604030504040204" pitchFamily="34" charset="0"/>
                <a:ea typeface="宋体" panose="02010600030101010101" pitchFamily="2" charset="-122"/>
                <a:cs typeface="+mn-cs"/>
              </a:defRPr>
            </a:lvl9pPr>
          </a:lstStyle>
          <a:p>
            <a:pPr algn="ctr">
              <a:spcBef>
                <a:spcPct val="50000"/>
              </a:spcBef>
            </a:pPr>
            <a:r>
              <a:rPr lang="zh-CN" altLang="en-US" sz="4000" dirty="0">
                <a:solidFill>
                  <a:srgbClr val="FF0000"/>
                </a:solidFill>
              </a:rPr>
              <a:t>本课程授课到此结束！</a:t>
            </a:r>
          </a:p>
          <a:p>
            <a:pPr algn="ctr">
              <a:spcBef>
                <a:spcPct val="50000"/>
              </a:spcBef>
            </a:pPr>
            <a:r>
              <a:rPr lang="zh-CN" altLang="en-US" sz="4000" dirty="0">
                <a:solidFill>
                  <a:srgbClr val="FF0000"/>
                </a:solidFill>
              </a:rPr>
              <a:t>谢谢大家！</a:t>
            </a:r>
          </a:p>
        </p:txBody>
      </p:sp>
    </p:spTree>
    <p:extLst>
      <p:ext uri="{BB962C8B-B14F-4D97-AF65-F5344CB8AC3E}">
        <p14:creationId xmlns:p14="http://schemas.microsoft.com/office/powerpoint/2010/main" val="3840728285"/>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B0FDC49C-76C3-4E6A-B59D-64F59D136D69}"/>
              </a:ext>
            </a:extLst>
          </p:cNvPr>
          <p:cNvSpPr>
            <a:spLocks noGrp="1"/>
          </p:cNvSpPr>
          <p:nvPr>
            <p:ph type="dt" sz="half" idx="10"/>
          </p:nvPr>
        </p:nvSpPr>
        <p:spPr/>
        <p:txBody>
          <a:bodyPr/>
          <a:lstStyle/>
          <a:p>
            <a:fld id="{9A6B2991-BBE5-4E69-A281-1A8B0AE9CDD7}" type="datetime1">
              <a:rPr lang="zh-CN" altLang="en-US" smtClean="0"/>
              <a:pPr/>
              <a:t>2025/6/3</a:t>
            </a:fld>
            <a:endParaRPr lang="zh-CN" altLang="en-US"/>
          </a:p>
        </p:txBody>
      </p:sp>
      <p:pic>
        <p:nvPicPr>
          <p:cNvPr id="10242" name="Picture 2">
            <a:extLst>
              <a:ext uri="{FF2B5EF4-FFF2-40B4-BE49-F238E27FC236}">
                <a16:creationId xmlns:a16="http://schemas.microsoft.com/office/drawing/2014/main" id="{3A53FB47-F452-44BC-8019-EC70FD3031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35" y="1957760"/>
            <a:ext cx="9169477" cy="4783608"/>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402F1786-945A-4D72-B867-524F8DF230F2}"/>
              </a:ext>
            </a:extLst>
          </p:cNvPr>
          <p:cNvSpPr txBox="1"/>
          <p:nvPr/>
        </p:nvSpPr>
        <p:spPr>
          <a:xfrm>
            <a:off x="395536" y="-27385"/>
            <a:ext cx="8568952" cy="1938992"/>
          </a:xfrm>
          <a:prstGeom prst="rect">
            <a:avLst/>
          </a:prstGeom>
          <a:noFill/>
        </p:spPr>
        <p:txBody>
          <a:bodyPr wrap="square">
            <a:spAutoFit/>
          </a:bodyPr>
          <a:lstStyle/>
          <a:p>
            <a:r>
              <a:rPr lang="zh-CN" altLang="en-US" sz="2400" b="1" i="0" dirty="0">
                <a:solidFill>
                  <a:srgbClr val="191B1F"/>
                </a:solidFill>
                <a:effectLst/>
                <a:latin typeface="-apple-system"/>
              </a:rPr>
              <a:t>图中从根节点出发，查找数据</a:t>
            </a:r>
            <a:r>
              <a:rPr lang="en-US" altLang="zh-CN" sz="2400" b="1" i="0" dirty="0">
                <a:solidFill>
                  <a:srgbClr val="191B1F"/>
                </a:solidFill>
                <a:effectLst/>
                <a:latin typeface="-apple-system"/>
              </a:rPr>
              <a:t>14</a:t>
            </a:r>
            <a:r>
              <a:rPr lang="zh-CN" altLang="en-US" sz="2400" b="1" i="0" dirty="0">
                <a:solidFill>
                  <a:srgbClr val="191B1F"/>
                </a:solidFill>
                <a:effectLst/>
                <a:latin typeface="-apple-system"/>
              </a:rPr>
              <a:t>的过程中，经过的第二个节点中有键值</a:t>
            </a:r>
            <a:r>
              <a:rPr lang="en-US" altLang="zh-CN" sz="2400" b="1" i="0" dirty="0">
                <a:solidFill>
                  <a:srgbClr val="191B1F"/>
                </a:solidFill>
                <a:effectLst/>
                <a:latin typeface="-apple-system"/>
              </a:rPr>
              <a:t>[3,7,13]</a:t>
            </a:r>
            <a:r>
              <a:rPr lang="zh-CN" altLang="en-US" sz="2400" b="1" i="0" dirty="0">
                <a:solidFill>
                  <a:srgbClr val="191B1F"/>
                </a:solidFill>
                <a:effectLst/>
                <a:latin typeface="-apple-system"/>
              </a:rPr>
              <a:t>，这三个值在“逻辑”上是相邻的，如果它们在磁盘上的存储也能做到在“物理”上相邻，那么只需要一次读操作就能把这个节点的数据从磁盘上加载到内存中进行数据比较，这样整个查找过程就只需要两次磁盘读操作。</a:t>
            </a:r>
            <a:endParaRPr lang="zh-CN" altLang="en-US" sz="2400" b="1" dirty="0"/>
          </a:p>
        </p:txBody>
      </p:sp>
    </p:spTree>
    <p:extLst>
      <p:ext uri="{BB962C8B-B14F-4D97-AF65-F5344CB8AC3E}">
        <p14:creationId xmlns:p14="http://schemas.microsoft.com/office/powerpoint/2010/main" val="2797395853"/>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087AC67-F25C-4249-B682-0A8296E15E85}"/>
              </a:ext>
            </a:extLst>
          </p:cNvPr>
          <p:cNvSpPr>
            <a:spLocks noGrp="1"/>
          </p:cNvSpPr>
          <p:nvPr>
            <p:ph type="dt" sz="half" idx="10"/>
          </p:nvPr>
        </p:nvSpPr>
        <p:spPr/>
        <p:txBody>
          <a:bodyPr/>
          <a:lstStyle/>
          <a:p>
            <a:fld id="{9A6B2991-BBE5-4E69-A281-1A8B0AE9CDD7}" type="datetime1">
              <a:rPr lang="zh-CN" altLang="en-US" smtClean="0"/>
              <a:pPr/>
              <a:t>2025/6/3</a:t>
            </a:fld>
            <a:endParaRPr lang="zh-CN" altLang="en-US"/>
          </a:p>
        </p:txBody>
      </p:sp>
      <p:sp>
        <p:nvSpPr>
          <p:cNvPr id="3" name="文本框 2">
            <a:extLst>
              <a:ext uri="{FF2B5EF4-FFF2-40B4-BE49-F238E27FC236}">
                <a16:creationId xmlns:a16="http://schemas.microsoft.com/office/drawing/2014/main" id="{40E732D7-0FDA-4C63-9320-5DBAA2A2D646}"/>
              </a:ext>
            </a:extLst>
          </p:cNvPr>
          <p:cNvSpPr txBox="1"/>
          <p:nvPr/>
        </p:nvSpPr>
        <p:spPr>
          <a:xfrm>
            <a:off x="251520" y="188640"/>
            <a:ext cx="8640960" cy="1938992"/>
          </a:xfrm>
          <a:prstGeom prst="rect">
            <a:avLst/>
          </a:prstGeom>
          <a:noFill/>
        </p:spPr>
        <p:txBody>
          <a:bodyPr wrap="square" rtlCol="0">
            <a:spAutoFit/>
          </a:bodyPr>
          <a:lstStyle/>
          <a:p>
            <a:pPr algn="l"/>
            <a:r>
              <a:rPr lang="zh-CN" altLang="en-US" sz="2400" b="1" i="0" dirty="0">
                <a:solidFill>
                  <a:srgbClr val="191B1F"/>
                </a:solidFill>
                <a:effectLst/>
                <a:latin typeface="+mj-ea"/>
                <a:ea typeface="+mj-ea"/>
              </a:rPr>
              <a:t>二叉搜索树：</a:t>
            </a:r>
          </a:p>
          <a:p>
            <a:pPr algn="l"/>
            <a:r>
              <a:rPr lang="en-US" altLang="zh-CN" sz="2400" b="1" i="0" dirty="0">
                <a:solidFill>
                  <a:srgbClr val="191B1F"/>
                </a:solidFill>
                <a:effectLst/>
                <a:latin typeface="+mj-ea"/>
                <a:ea typeface="+mj-ea"/>
              </a:rPr>
              <a:t>1.</a:t>
            </a:r>
            <a:r>
              <a:rPr lang="zh-CN" altLang="en-US" sz="2400" b="1" i="0" dirty="0">
                <a:solidFill>
                  <a:srgbClr val="191B1F"/>
                </a:solidFill>
                <a:effectLst/>
                <a:latin typeface="+mj-ea"/>
                <a:ea typeface="+mj-ea"/>
              </a:rPr>
              <a:t>所有非叶子结点至多拥有两个儿子（</a:t>
            </a:r>
            <a:r>
              <a:rPr lang="en-US" altLang="zh-CN" sz="2400" b="1" i="0" dirty="0">
                <a:solidFill>
                  <a:srgbClr val="191B1F"/>
                </a:solidFill>
                <a:effectLst/>
                <a:latin typeface="+mj-ea"/>
                <a:ea typeface="+mj-ea"/>
              </a:rPr>
              <a:t>Left</a:t>
            </a:r>
            <a:r>
              <a:rPr lang="zh-CN" altLang="en-US" sz="2400" b="1" i="0" dirty="0">
                <a:solidFill>
                  <a:srgbClr val="191B1F"/>
                </a:solidFill>
                <a:effectLst/>
                <a:latin typeface="+mj-ea"/>
                <a:ea typeface="+mj-ea"/>
              </a:rPr>
              <a:t>和</a:t>
            </a:r>
            <a:r>
              <a:rPr lang="en-US" altLang="zh-CN" sz="2400" b="1" i="0" dirty="0">
                <a:solidFill>
                  <a:srgbClr val="191B1F"/>
                </a:solidFill>
                <a:effectLst/>
                <a:latin typeface="+mj-ea"/>
                <a:ea typeface="+mj-ea"/>
              </a:rPr>
              <a:t>Right</a:t>
            </a:r>
            <a:r>
              <a:rPr lang="zh-CN" altLang="en-US" sz="2400" b="1" i="0" dirty="0">
                <a:solidFill>
                  <a:srgbClr val="191B1F"/>
                </a:solidFill>
                <a:effectLst/>
                <a:latin typeface="+mj-ea"/>
                <a:ea typeface="+mj-ea"/>
              </a:rPr>
              <a:t>）；</a:t>
            </a:r>
          </a:p>
          <a:p>
            <a:pPr algn="l"/>
            <a:r>
              <a:rPr lang="en-US" altLang="zh-CN" sz="2400" b="1" i="0" dirty="0">
                <a:solidFill>
                  <a:srgbClr val="191B1F"/>
                </a:solidFill>
                <a:effectLst/>
                <a:latin typeface="+mj-ea"/>
                <a:ea typeface="+mj-ea"/>
              </a:rPr>
              <a:t>2.</a:t>
            </a:r>
            <a:r>
              <a:rPr lang="zh-CN" altLang="en-US" sz="2400" b="1" i="0" dirty="0">
                <a:solidFill>
                  <a:srgbClr val="191B1F"/>
                </a:solidFill>
                <a:effectLst/>
                <a:latin typeface="+mj-ea"/>
                <a:ea typeface="+mj-ea"/>
              </a:rPr>
              <a:t>所有结点存储一个关键字；</a:t>
            </a:r>
          </a:p>
          <a:p>
            <a:pPr algn="l"/>
            <a:r>
              <a:rPr lang="en-US" altLang="zh-CN" sz="2400" b="1" i="0" dirty="0">
                <a:solidFill>
                  <a:srgbClr val="191B1F"/>
                </a:solidFill>
                <a:effectLst/>
                <a:latin typeface="+mj-ea"/>
                <a:ea typeface="+mj-ea"/>
              </a:rPr>
              <a:t>3.</a:t>
            </a:r>
            <a:r>
              <a:rPr lang="zh-CN" altLang="en-US" sz="2400" b="1" i="0" dirty="0">
                <a:solidFill>
                  <a:srgbClr val="191B1F"/>
                </a:solidFill>
                <a:effectLst/>
                <a:latin typeface="+mj-ea"/>
                <a:ea typeface="+mj-ea"/>
              </a:rPr>
              <a:t>非叶子结点的左指针指向小于其关键字的子树，右指针指向大于其关键字的子树；</a:t>
            </a:r>
          </a:p>
        </p:txBody>
      </p:sp>
      <p:pic>
        <p:nvPicPr>
          <p:cNvPr id="5" name="图片 4">
            <a:extLst>
              <a:ext uri="{FF2B5EF4-FFF2-40B4-BE49-F238E27FC236}">
                <a16:creationId xmlns:a16="http://schemas.microsoft.com/office/drawing/2014/main" id="{7D40593D-DBA1-473C-926E-DB8C5BF722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60566" y="2404499"/>
            <a:ext cx="4180241" cy="4264861"/>
          </a:xfrm>
          <a:prstGeom prst="rect">
            <a:avLst/>
          </a:prstGeom>
        </p:spPr>
      </p:pic>
    </p:spTree>
    <p:extLst>
      <p:ext uri="{BB962C8B-B14F-4D97-AF65-F5344CB8AC3E}">
        <p14:creationId xmlns:p14="http://schemas.microsoft.com/office/powerpoint/2010/main" val="4138024935"/>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23AB62E-ED3F-4FFA-B727-D33B08DD6919}"/>
              </a:ext>
            </a:extLst>
          </p:cNvPr>
          <p:cNvSpPr>
            <a:spLocks noGrp="1"/>
          </p:cNvSpPr>
          <p:nvPr>
            <p:ph type="dt" sz="half" idx="10"/>
          </p:nvPr>
        </p:nvSpPr>
        <p:spPr/>
        <p:txBody>
          <a:bodyPr/>
          <a:lstStyle/>
          <a:p>
            <a:fld id="{9A6B2991-BBE5-4E69-A281-1A8B0AE9CDD7}" type="datetime1">
              <a:rPr lang="zh-CN" altLang="en-US" smtClean="0"/>
              <a:pPr/>
              <a:t>2025/6/3</a:t>
            </a:fld>
            <a:endParaRPr lang="zh-CN" altLang="en-US"/>
          </a:p>
        </p:txBody>
      </p:sp>
      <p:pic>
        <p:nvPicPr>
          <p:cNvPr id="6" name="图片 5">
            <a:extLst>
              <a:ext uri="{FF2B5EF4-FFF2-40B4-BE49-F238E27FC236}">
                <a16:creationId xmlns:a16="http://schemas.microsoft.com/office/drawing/2014/main" id="{6EDFBA6F-D0EB-4F4F-B464-C5FD11CCC3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036" y="2314972"/>
            <a:ext cx="9152476" cy="4392488"/>
          </a:xfrm>
          <a:prstGeom prst="rect">
            <a:avLst/>
          </a:prstGeom>
        </p:spPr>
      </p:pic>
      <p:sp>
        <p:nvSpPr>
          <p:cNvPr id="7" name="文本框 6">
            <a:extLst>
              <a:ext uri="{FF2B5EF4-FFF2-40B4-BE49-F238E27FC236}">
                <a16:creationId xmlns:a16="http://schemas.microsoft.com/office/drawing/2014/main" id="{CECECD35-70C7-424B-84C9-CAFF89F8269A}"/>
              </a:ext>
            </a:extLst>
          </p:cNvPr>
          <p:cNvSpPr txBox="1"/>
          <p:nvPr/>
        </p:nvSpPr>
        <p:spPr>
          <a:xfrm>
            <a:off x="251520" y="44624"/>
            <a:ext cx="8712968" cy="2246769"/>
          </a:xfrm>
          <a:prstGeom prst="rect">
            <a:avLst/>
          </a:prstGeom>
          <a:noFill/>
        </p:spPr>
        <p:txBody>
          <a:bodyPr wrap="square" rtlCol="0">
            <a:spAutoFit/>
          </a:bodyPr>
          <a:lstStyle/>
          <a:p>
            <a:r>
              <a:rPr lang="zh-CN" altLang="en-US" sz="2800" b="1" i="0" dirty="0">
                <a:solidFill>
                  <a:srgbClr val="FF0000"/>
                </a:solidFill>
                <a:effectLst/>
                <a:latin typeface="+mj-ea"/>
                <a:ea typeface="+mj-ea"/>
              </a:rPr>
              <a:t>如果</a:t>
            </a:r>
            <a:r>
              <a:rPr lang="en-US" altLang="zh-CN" sz="2800" b="1" i="0" dirty="0">
                <a:solidFill>
                  <a:srgbClr val="FF0000"/>
                </a:solidFill>
                <a:effectLst/>
                <a:latin typeface="+mj-ea"/>
                <a:ea typeface="+mj-ea"/>
              </a:rPr>
              <a:t>B</a:t>
            </a:r>
            <a:r>
              <a:rPr lang="zh-CN" altLang="en-US" sz="2800" b="1" i="0" dirty="0">
                <a:solidFill>
                  <a:srgbClr val="FF0000"/>
                </a:solidFill>
                <a:effectLst/>
                <a:latin typeface="+mj-ea"/>
                <a:ea typeface="+mj-ea"/>
              </a:rPr>
              <a:t>树的所有非叶子结点的左右子树的结点数目均保持差不多（平衡），那么</a:t>
            </a:r>
            <a:r>
              <a:rPr lang="en-US" altLang="zh-CN" sz="2800" b="1" i="0" dirty="0">
                <a:solidFill>
                  <a:srgbClr val="FF0000"/>
                </a:solidFill>
                <a:effectLst/>
                <a:latin typeface="+mj-ea"/>
                <a:ea typeface="+mj-ea"/>
              </a:rPr>
              <a:t>B</a:t>
            </a:r>
            <a:r>
              <a:rPr lang="zh-CN" altLang="en-US" sz="2800" b="1" i="0" dirty="0">
                <a:solidFill>
                  <a:srgbClr val="FF0000"/>
                </a:solidFill>
                <a:effectLst/>
                <a:latin typeface="+mj-ea"/>
                <a:ea typeface="+mj-ea"/>
              </a:rPr>
              <a:t>树的搜索性能逼近</a:t>
            </a:r>
            <a:r>
              <a:rPr lang="zh-CN" altLang="en-US" sz="2800" b="1" i="0" u="none" strike="noStrike" dirty="0">
                <a:solidFill>
                  <a:srgbClr val="FF0000"/>
                </a:solidFill>
                <a:effectLst/>
                <a:latin typeface="+mj-ea"/>
                <a:ea typeface="+mj-ea"/>
                <a:hlinkClick r:id="rId3">
                  <a:extLst>
                    <a:ext uri="{A12FA001-AC4F-418D-AE19-62706E023703}">
                      <ahyp:hlinkClr xmlns:ahyp="http://schemas.microsoft.com/office/drawing/2018/hyperlinkcolor" val="tx"/>
                    </a:ext>
                  </a:extLst>
                </a:hlinkClick>
              </a:rPr>
              <a:t>二分查找</a:t>
            </a:r>
            <a:r>
              <a:rPr lang="zh-CN" altLang="en-US" sz="2800" b="1" i="0" dirty="0">
                <a:solidFill>
                  <a:srgbClr val="FF0000"/>
                </a:solidFill>
                <a:effectLst/>
                <a:latin typeface="+mj-ea"/>
                <a:ea typeface="+mj-ea"/>
              </a:rPr>
              <a:t>；但它比连续内存空间的二分查找的优点是，改变</a:t>
            </a:r>
            <a:r>
              <a:rPr lang="en-US" altLang="zh-CN" sz="2800" b="1" i="0" dirty="0">
                <a:solidFill>
                  <a:srgbClr val="FF0000"/>
                </a:solidFill>
                <a:effectLst/>
                <a:latin typeface="+mj-ea"/>
                <a:ea typeface="+mj-ea"/>
              </a:rPr>
              <a:t>B</a:t>
            </a:r>
            <a:r>
              <a:rPr lang="zh-CN" altLang="en-US" sz="2800" b="1" i="0" dirty="0">
                <a:solidFill>
                  <a:srgbClr val="FF0000"/>
                </a:solidFill>
                <a:effectLst/>
                <a:latin typeface="+mj-ea"/>
                <a:ea typeface="+mj-ea"/>
              </a:rPr>
              <a:t>树结构（插入与删除结点）不需要移动大段的内存数据，甚至通常是常数开销；</a:t>
            </a:r>
            <a:endParaRPr lang="zh-CN" altLang="en-US" sz="2800" b="1" dirty="0">
              <a:solidFill>
                <a:srgbClr val="FF0000"/>
              </a:solidFill>
              <a:latin typeface="+mj-ea"/>
              <a:ea typeface="+mj-ea"/>
            </a:endParaRPr>
          </a:p>
        </p:txBody>
      </p:sp>
    </p:spTree>
    <p:extLst>
      <p:ext uri="{BB962C8B-B14F-4D97-AF65-F5344CB8AC3E}">
        <p14:creationId xmlns:p14="http://schemas.microsoft.com/office/powerpoint/2010/main" val="1123358440"/>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1768827-8EB1-4AD1-A090-6F2D9A1F4676}"/>
              </a:ext>
            </a:extLst>
          </p:cNvPr>
          <p:cNvSpPr>
            <a:spLocks noGrp="1"/>
          </p:cNvSpPr>
          <p:nvPr>
            <p:ph type="dt" sz="half" idx="10"/>
          </p:nvPr>
        </p:nvSpPr>
        <p:spPr/>
        <p:txBody>
          <a:bodyPr/>
          <a:lstStyle/>
          <a:p>
            <a:fld id="{9A6B2991-BBE5-4E69-A281-1A8B0AE9CDD7}" type="datetime1">
              <a:rPr lang="zh-CN" altLang="en-US" smtClean="0"/>
              <a:pPr/>
              <a:t>2025/6/3</a:t>
            </a:fld>
            <a:endParaRPr lang="zh-CN" altLang="en-US"/>
          </a:p>
        </p:txBody>
      </p:sp>
      <p:pic>
        <p:nvPicPr>
          <p:cNvPr id="4" name="图片 3">
            <a:extLst>
              <a:ext uri="{FF2B5EF4-FFF2-40B4-BE49-F238E27FC236}">
                <a16:creationId xmlns:a16="http://schemas.microsoft.com/office/drawing/2014/main" id="{3CDA5BB0-43E9-4785-8711-3B13738DDC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7337" y="2573920"/>
            <a:ext cx="8290872" cy="4239456"/>
          </a:xfrm>
          <a:prstGeom prst="rect">
            <a:avLst/>
          </a:prstGeom>
        </p:spPr>
      </p:pic>
      <p:sp>
        <p:nvSpPr>
          <p:cNvPr id="5" name="文本框 4">
            <a:extLst>
              <a:ext uri="{FF2B5EF4-FFF2-40B4-BE49-F238E27FC236}">
                <a16:creationId xmlns:a16="http://schemas.microsoft.com/office/drawing/2014/main" id="{02FF1461-F290-40B7-B029-7511E3110C0C}"/>
              </a:ext>
            </a:extLst>
          </p:cNvPr>
          <p:cNvSpPr txBox="1"/>
          <p:nvPr/>
        </p:nvSpPr>
        <p:spPr>
          <a:xfrm>
            <a:off x="251520" y="44624"/>
            <a:ext cx="8712968" cy="1938992"/>
          </a:xfrm>
          <a:prstGeom prst="rect">
            <a:avLst/>
          </a:prstGeom>
          <a:noFill/>
        </p:spPr>
        <p:txBody>
          <a:bodyPr wrap="square" rtlCol="0">
            <a:spAutoFit/>
          </a:bodyPr>
          <a:lstStyle/>
          <a:p>
            <a:r>
              <a:rPr lang="zh-CN" altLang="en-US" sz="2400" b="1" i="0" dirty="0">
                <a:solidFill>
                  <a:srgbClr val="191B1F"/>
                </a:solidFill>
                <a:effectLst/>
                <a:latin typeface="+mj-ea"/>
                <a:ea typeface="+mj-ea"/>
              </a:rPr>
              <a:t>但</a:t>
            </a:r>
            <a:r>
              <a:rPr lang="en-US" altLang="zh-CN" sz="2400" b="1" i="0" dirty="0">
                <a:solidFill>
                  <a:srgbClr val="191B1F"/>
                </a:solidFill>
                <a:effectLst/>
                <a:latin typeface="+mj-ea"/>
                <a:ea typeface="+mj-ea"/>
              </a:rPr>
              <a:t>B</a:t>
            </a:r>
            <a:r>
              <a:rPr lang="zh-CN" altLang="en-US" sz="2400" b="1" i="0" dirty="0">
                <a:solidFill>
                  <a:srgbClr val="191B1F"/>
                </a:solidFill>
                <a:effectLst/>
                <a:latin typeface="+mj-ea"/>
                <a:ea typeface="+mj-ea"/>
              </a:rPr>
              <a:t>树在经过多次插入与删除后，有可能导致不同的结构：</a:t>
            </a:r>
            <a:endParaRPr lang="en-US" altLang="zh-CN" sz="2400" b="1" i="0" dirty="0">
              <a:solidFill>
                <a:srgbClr val="191B1F"/>
              </a:solidFill>
              <a:effectLst/>
              <a:latin typeface="+mj-ea"/>
              <a:ea typeface="+mj-ea"/>
            </a:endParaRPr>
          </a:p>
          <a:p>
            <a:r>
              <a:rPr lang="zh-CN" altLang="en-US" sz="2400" b="1" i="0" dirty="0">
                <a:solidFill>
                  <a:srgbClr val="191B1F"/>
                </a:solidFill>
                <a:effectLst/>
                <a:latin typeface="+mj-ea"/>
                <a:ea typeface="+mj-ea"/>
              </a:rPr>
              <a:t>右边也是一个</a:t>
            </a:r>
            <a:r>
              <a:rPr lang="en-US" altLang="zh-CN" sz="2400" b="1" i="0" dirty="0">
                <a:solidFill>
                  <a:srgbClr val="191B1F"/>
                </a:solidFill>
                <a:effectLst/>
                <a:latin typeface="+mj-ea"/>
                <a:ea typeface="+mj-ea"/>
              </a:rPr>
              <a:t>B</a:t>
            </a:r>
            <a:r>
              <a:rPr lang="zh-CN" altLang="en-US" sz="2400" b="1" i="0" dirty="0">
                <a:solidFill>
                  <a:srgbClr val="191B1F"/>
                </a:solidFill>
                <a:effectLst/>
                <a:latin typeface="+mj-ea"/>
                <a:ea typeface="+mj-ea"/>
              </a:rPr>
              <a:t>树，但它的搜索性能已经是线性的了；同样的关键字集合有可能导致不同的树结构索引；</a:t>
            </a:r>
            <a:endParaRPr lang="en-US" altLang="zh-CN" sz="2400" b="1" dirty="0">
              <a:solidFill>
                <a:srgbClr val="191B1F"/>
              </a:solidFill>
              <a:latin typeface="+mj-ea"/>
              <a:ea typeface="+mj-ea"/>
            </a:endParaRPr>
          </a:p>
          <a:p>
            <a:r>
              <a:rPr lang="zh-CN" altLang="en-US" sz="2400" b="1" i="0" dirty="0">
                <a:solidFill>
                  <a:srgbClr val="191B1F"/>
                </a:solidFill>
                <a:effectLst/>
                <a:latin typeface="+mj-ea"/>
                <a:ea typeface="+mj-ea"/>
              </a:rPr>
              <a:t>实际使用的</a:t>
            </a:r>
            <a:r>
              <a:rPr lang="en-US" altLang="zh-CN" sz="2400" b="1" i="0" dirty="0">
                <a:solidFill>
                  <a:srgbClr val="191B1F"/>
                </a:solidFill>
                <a:effectLst/>
                <a:latin typeface="+mj-ea"/>
                <a:ea typeface="+mj-ea"/>
              </a:rPr>
              <a:t>B</a:t>
            </a:r>
            <a:r>
              <a:rPr lang="zh-CN" altLang="en-US" sz="2400" b="1" i="0" dirty="0">
                <a:solidFill>
                  <a:srgbClr val="191B1F"/>
                </a:solidFill>
                <a:effectLst/>
                <a:latin typeface="+mj-ea"/>
                <a:ea typeface="+mj-ea"/>
              </a:rPr>
              <a:t>树都是在原</a:t>
            </a:r>
            <a:r>
              <a:rPr lang="en-US" altLang="zh-CN" sz="2400" b="1" i="0" dirty="0">
                <a:solidFill>
                  <a:srgbClr val="191B1F"/>
                </a:solidFill>
                <a:effectLst/>
                <a:latin typeface="+mj-ea"/>
                <a:ea typeface="+mj-ea"/>
              </a:rPr>
              <a:t>B</a:t>
            </a:r>
            <a:r>
              <a:rPr lang="zh-CN" altLang="en-US" sz="2400" b="1" i="0" dirty="0">
                <a:solidFill>
                  <a:srgbClr val="191B1F"/>
                </a:solidFill>
                <a:effectLst/>
                <a:latin typeface="+mj-ea"/>
                <a:ea typeface="+mj-ea"/>
              </a:rPr>
              <a:t>树的基础上加上平衡算法，即“</a:t>
            </a:r>
            <a:r>
              <a:rPr lang="zh-CN" altLang="en-US" sz="2400" b="1" i="0" u="none" strike="noStrike" dirty="0">
                <a:solidFill>
                  <a:srgbClr val="09408E"/>
                </a:solidFill>
                <a:effectLst/>
                <a:latin typeface="+mj-ea"/>
                <a:ea typeface="+mj-ea"/>
                <a:hlinkClick r:id="rId3"/>
              </a:rPr>
              <a:t>平衡二叉树</a:t>
            </a:r>
            <a:r>
              <a:rPr lang="zh-CN" altLang="en-US" sz="2400" b="1" i="0" dirty="0">
                <a:solidFill>
                  <a:srgbClr val="191B1F"/>
                </a:solidFill>
                <a:effectLst/>
                <a:latin typeface="+mj-ea"/>
                <a:ea typeface="+mj-ea"/>
              </a:rPr>
              <a:t>“</a:t>
            </a:r>
            <a:endParaRPr lang="zh-CN" altLang="en-US" sz="2400" b="1" dirty="0">
              <a:latin typeface="+mj-ea"/>
              <a:ea typeface="+mj-ea"/>
            </a:endParaRPr>
          </a:p>
        </p:txBody>
      </p:sp>
    </p:spTree>
    <p:extLst>
      <p:ext uri="{BB962C8B-B14F-4D97-AF65-F5344CB8AC3E}">
        <p14:creationId xmlns:p14="http://schemas.microsoft.com/office/powerpoint/2010/main" val="629610956"/>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B4172A38-789B-4FB2-A52C-8DD074EA2226}"/>
              </a:ext>
            </a:extLst>
          </p:cNvPr>
          <p:cNvSpPr>
            <a:spLocks noGrp="1"/>
          </p:cNvSpPr>
          <p:nvPr>
            <p:ph type="dt" sz="half" idx="10"/>
          </p:nvPr>
        </p:nvSpPr>
        <p:spPr/>
        <p:txBody>
          <a:bodyPr/>
          <a:lstStyle/>
          <a:p>
            <a:fld id="{9A6B2991-BBE5-4E69-A281-1A8B0AE9CDD7}" type="datetime1">
              <a:rPr lang="zh-CN" altLang="en-US" smtClean="0"/>
              <a:pPr/>
              <a:t>2025/6/3</a:t>
            </a:fld>
            <a:endParaRPr lang="zh-CN" altLang="en-US"/>
          </a:p>
        </p:txBody>
      </p:sp>
      <p:sp>
        <p:nvSpPr>
          <p:cNvPr id="4" name="文本框 3">
            <a:extLst>
              <a:ext uri="{FF2B5EF4-FFF2-40B4-BE49-F238E27FC236}">
                <a16:creationId xmlns:a16="http://schemas.microsoft.com/office/drawing/2014/main" id="{7075E9AF-B129-4ADA-9522-279DC485B576}"/>
              </a:ext>
            </a:extLst>
          </p:cNvPr>
          <p:cNvSpPr txBox="1"/>
          <p:nvPr/>
        </p:nvSpPr>
        <p:spPr>
          <a:xfrm>
            <a:off x="323528" y="87015"/>
            <a:ext cx="4572000" cy="523220"/>
          </a:xfrm>
          <a:prstGeom prst="rect">
            <a:avLst/>
          </a:prstGeom>
          <a:noFill/>
        </p:spPr>
        <p:txBody>
          <a:bodyPr wrap="square">
            <a:spAutoFit/>
          </a:bodyPr>
          <a:lstStyle/>
          <a:p>
            <a:pPr algn="l"/>
            <a:r>
              <a:rPr lang="en-US" altLang="zh-CN" sz="2800" b="1" i="0" dirty="0">
                <a:solidFill>
                  <a:srgbClr val="191B1F"/>
                </a:solidFill>
                <a:effectLst/>
                <a:latin typeface="+mj-ea"/>
                <a:ea typeface="+mj-ea"/>
              </a:rPr>
              <a:t>B</a:t>
            </a:r>
            <a:r>
              <a:rPr lang="zh-CN" altLang="en-US" sz="2800" b="1" i="0" dirty="0">
                <a:solidFill>
                  <a:srgbClr val="191B1F"/>
                </a:solidFill>
                <a:effectLst/>
                <a:latin typeface="+mj-ea"/>
                <a:ea typeface="+mj-ea"/>
              </a:rPr>
              <a:t>树的定义及性质</a:t>
            </a:r>
          </a:p>
        </p:txBody>
      </p:sp>
      <p:sp>
        <p:nvSpPr>
          <p:cNvPr id="6" name="文本框 5">
            <a:extLst>
              <a:ext uri="{FF2B5EF4-FFF2-40B4-BE49-F238E27FC236}">
                <a16:creationId xmlns:a16="http://schemas.microsoft.com/office/drawing/2014/main" id="{C8FC99CD-CC5E-4834-8160-9DA6CB421EF4}"/>
              </a:ext>
            </a:extLst>
          </p:cNvPr>
          <p:cNvSpPr txBox="1"/>
          <p:nvPr/>
        </p:nvSpPr>
        <p:spPr>
          <a:xfrm>
            <a:off x="-36512" y="692341"/>
            <a:ext cx="9505056" cy="6121035"/>
          </a:xfrm>
          <a:prstGeom prst="rect">
            <a:avLst/>
          </a:prstGeom>
          <a:solidFill>
            <a:schemeClr val="bg1"/>
          </a:solidFill>
        </p:spPr>
        <p:txBody>
          <a:bodyPr wrap="square">
            <a:spAutoFit/>
          </a:bodyPr>
          <a:lstStyle/>
          <a:p>
            <a:pPr algn="l">
              <a:lnSpc>
                <a:spcPct val="150000"/>
              </a:lnSpc>
              <a:buFont typeface="Arial" panose="020B0604020202020204" pitchFamily="34" charset="0"/>
              <a:buChar char="•"/>
            </a:pPr>
            <a:r>
              <a:rPr lang="zh-CN" altLang="en-US" sz="2400" b="1" i="0" dirty="0">
                <a:solidFill>
                  <a:srgbClr val="191B1F"/>
                </a:solidFill>
                <a:effectLst/>
                <a:latin typeface="+mj-ea"/>
                <a:ea typeface="+mj-ea"/>
              </a:rPr>
              <a:t>在每个节点上的键值，以递增顺序排列，即</a:t>
            </a:r>
            <a:r>
              <a:rPr lang="en-US" altLang="zh-CN" sz="2400" b="1" i="0" dirty="0" err="1">
                <a:solidFill>
                  <a:srgbClr val="191B1F"/>
                </a:solidFill>
                <a:effectLst/>
                <a:latin typeface="+mj-ea"/>
                <a:ea typeface="+mj-ea"/>
              </a:rPr>
              <a:t>node.keys</a:t>
            </a:r>
            <a:r>
              <a:rPr lang="en-US" altLang="zh-CN" sz="2400" b="1" i="0" dirty="0">
                <a:solidFill>
                  <a:srgbClr val="191B1F"/>
                </a:solidFill>
                <a:effectLst/>
                <a:latin typeface="+mj-ea"/>
                <a:ea typeface="+mj-ea"/>
              </a:rPr>
              <a:t>[</a:t>
            </a:r>
            <a:r>
              <a:rPr lang="en-US" altLang="zh-CN" sz="2400" b="1" i="0" dirty="0" err="1">
                <a:solidFill>
                  <a:srgbClr val="191B1F"/>
                </a:solidFill>
                <a:effectLst/>
                <a:latin typeface="+mj-ea"/>
                <a:ea typeface="+mj-ea"/>
              </a:rPr>
              <a:t>i</a:t>
            </a:r>
            <a:r>
              <a:rPr lang="en-US" altLang="zh-CN" sz="2400" b="1" i="0" dirty="0">
                <a:solidFill>
                  <a:srgbClr val="191B1F"/>
                </a:solidFill>
                <a:effectLst/>
                <a:latin typeface="+mj-ea"/>
                <a:ea typeface="+mj-ea"/>
              </a:rPr>
              <a:t>] &lt;= </a:t>
            </a:r>
            <a:r>
              <a:rPr lang="en-US" altLang="zh-CN" sz="2400" b="1" i="0" dirty="0" err="1">
                <a:solidFill>
                  <a:srgbClr val="191B1F"/>
                </a:solidFill>
                <a:effectLst/>
                <a:latin typeface="+mj-ea"/>
                <a:ea typeface="+mj-ea"/>
              </a:rPr>
              <a:t>node.keys</a:t>
            </a:r>
            <a:r>
              <a:rPr lang="en-US" altLang="zh-CN" sz="2400" b="1" i="0" dirty="0">
                <a:solidFill>
                  <a:srgbClr val="191B1F"/>
                </a:solidFill>
                <a:effectLst/>
                <a:latin typeface="+mj-ea"/>
                <a:ea typeface="+mj-ea"/>
              </a:rPr>
              <a:t>[i+1]</a:t>
            </a:r>
            <a:endParaRPr lang="zh-CN" altLang="en-US" sz="2400" b="1" i="0" dirty="0">
              <a:solidFill>
                <a:srgbClr val="191B1F"/>
              </a:solidFill>
              <a:effectLst/>
              <a:latin typeface="+mj-ea"/>
              <a:ea typeface="+mj-ea"/>
            </a:endParaRPr>
          </a:p>
          <a:p>
            <a:pPr algn="l">
              <a:lnSpc>
                <a:spcPct val="150000"/>
              </a:lnSpc>
              <a:buFont typeface="Arial" panose="020B0604020202020204" pitchFamily="34" charset="0"/>
              <a:buChar char="•"/>
            </a:pPr>
            <a:r>
              <a:rPr lang="zh-CN" altLang="en-US" sz="2400" b="1" i="0" dirty="0">
                <a:solidFill>
                  <a:srgbClr val="191B1F"/>
                </a:solidFill>
                <a:effectLst/>
                <a:latin typeface="+mj-ea"/>
                <a:ea typeface="+mj-ea"/>
              </a:rPr>
              <a:t>在一个键值左边的子树，其键值大于该键值右边子树的所有键值，即</a:t>
            </a:r>
            <a:r>
              <a:rPr lang="en-US" altLang="zh-CN" sz="2400" b="1" i="0" dirty="0" err="1">
                <a:solidFill>
                  <a:srgbClr val="191B1F"/>
                </a:solidFill>
                <a:effectLst/>
                <a:latin typeface="+mj-ea"/>
                <a:ea typeface="+mj-ea"/>
              </a:rPr>
              <a:t>node.keys</a:t>
            </a:r>
            <a:r>
              <a:rPr lang="en-US" altLang="zh-CN" sz="2400" b="1" i="0" dirty="0">
                <a:solidFill>
                  <a:srgbClr val="191B1F"/>
                </a:solidFill>
                <a:effectLst/>
                <a:latin typeface="+mj-ea"/>
                <a:ea typeface="+mj-ea"/>
              </a:rPr>
              <a:t>[</a:t>
            </a:r>
            <a:r>
              <a:rPr lang="en-US" altLang="zh-CN" sz="2400" b="1" i="0" dirty="0" err="1">
                <a:solidFill>
                  <a:srgbClr val="191B1F"/>
                </a:solidFill>
                <a:effectLst/>
                <a:latin typeface="+mj-ea"/>
                <a:ea typeface="+mj-ea"/>
              </a:rPr>
              <a:t>i</a:t>
            </a:r>
            <a:r>
              <a:rPr lang="en-US" altLang="zh-CN" sz="2400" b="1" i="0" dirty="0">
                <a:solidFill>
                  <a:srgbClr val="191B1F"/>
                </a:solidFill>
                <a:effectLst/>
                <a:latin typeface="+mj-ea"/>
                <a:ea typeface="+mj-ea"/>
              </a:rPr>
              <a:t>] &gt; max(</a:t>
            </a:r>
            <a:r>
              <a:rPr lang="en-US" altLang="zh-CN" sz="2400" b="1" i="0" dirty="0" err="1">
                <a:solidFill>
                  <a:srgbClr val="191B1F"/>
                </a:solidFill>
                <a:effectLst/>
                <a:latin typeface="+mj-ea"/>
                <a:ea typeface="+mj-ea"/>
              </a:rPr>
              <a:t>node.child</a:t>
            </a:r>
            <a:r>
              <a:rPr lang="en-US" altLang="zh-CN" sz="2400" b="1" i="0" dirty="0">
                <a:solidFill>
                  <a:srgbClr val="191B1F"/>
                </a:solidFill>
                <a:effectLst/>
                <a:latin typeface="+mj-ea"/>
                <a:ea typeface="+mj-ea"/>
              </a:rPr>
              <a:t>[</a:t>
            </a:r>
            <a:r>
              <a:rPr lang="en-US" altLang="zh-CN" sz="2400" b="1" i="0" dirty="0" err="1">
                <a:solidFill>
                  <a:srgbClr val="191B1F"/>
                </a:solidFill>
                <a:effectLst/>
                <a:latin typeface="+mj-ea"/>
                <a:ea typeface="+mj-ea"/>
              </a:rPr>
              <a:t>i</a:t>
            </a:r>
            <a:r>
              <a:rPr lang="en-US" altLang="zh-CN" sz="2400" b="1" i="0" dirty="0">
                <a:solidFill>
                  <a:srgbClr val="191B1F"/>
                </a:solidFill>
                <a:effectLst/>
                <a:latin typeface="+mj-ea"/>
                <a:ea typeface="+mj-ea"/>
              </a:rPr>
              <a:t>]</a:t>
            </a:r>
            <a:r>
              <a:rPr lang="zh-CN" altLang="en-US" sz="2400" b="1" i="0" dirty="0">
                <a:solidFill>
                  <a:srgbClr val="191B1F"/>
                </a:solidFill>
                <a:effectLst/>
                <a:latin typeface="+mj-ea"/>
                <a:ea typeface="+mj-ea"/>
              </a:rPr>
              <a:t>的所有键值</a:t>
            </a:r>
            <a:r>
              <a:rPr lang="en-US" altLang="zh-CN" sz="2400" b="1" i="0" dirty="0">
                <a:solidFill>
                  <a:srgbClr val="191B1F"/>
                </a:solidFill>
                <a:effectLst/>
                <a:latin typeface="+mj-ea"/>
                <a:ea typeface="+mj-ea"/>
              </a:rPr>
              <a:t>)</a:t>
            </a:r>
            <a:r>
              <a:rPr lang="zh-CN" altLang="en-US" sz="2400" b="1" i="0" dirty="0">
                <a:solidFill>
                  <a:srgbClr val="191B1F"/>
                </a:solidFill>
                <a:effectLst/>
                <a:latin typeface="+mj-ea"/>
                <a:ea typeface="+mj-ea"/>
              </a:rPr>
              <a:t>；同时，在一个键值右边的子树，其键值的最小值都不小于该键值，即</a:t>
            </a:r>
            <a:r>
              <a:rPr lang="en-US" altLang="zh-CN" sz="2400" b="1" i="0" dirty="0" err="1">
                <a:solidFill>
                  <a:srgbClr val="191B1F"/>
                </a:solidFill>
                <a:effectLst/>
                <a:latin typeface="+mj-ea"/>
                <a:ea typeface="+mj-ea"/>
              </a:rPr>
              <a:t>node.keys</a:t>
            </a:r>
            <a:r>
              <a:rPr lang="en-US" altLang="zh-CN" sz="2400" b="1" i="0" dirty="0">
                <a:solidFill>
                  <a:srgbClr val="191B1F"/>
                </a:solidFill>
                <a:effectLst/>
                <a:latin typeface="+mj-ea"/>
                <a:ea typeface="+mj-ea"/>
              </a:rPr>
              <a:t>[</a:t>
            </a:r>
            <a:r>
              <a:rPr lang="en-US" altLang="zh-CN" sz="2400" b="1" i="0" dirty="0" err="1">
                <a:solidFill>
                  <a:srgbClr val="191B1F"/>
                </a:solidFill>
                <a:effectLst/>
                <a:latin typeface="+mj-ea"/>
                <a:ea typeface="+mj-ea"/>
              </a:rPr>
              <a:t>i</a:t>
            </a:r>
            <a:r>
              <a:rPr lang="en-US" altLang="zh-CN" sz="2400" b="1" i="0" dirty="0">
                <a:solidFill>
                  <a:srgbClr val="191B1F"/>
                </a:solidFill>
                <a:effectLst/>
                <a:latin typeface="+mj-ea"/>
                <a:ea typeface="+mj-ea"/>
              </a:rPr>
              <a:t>] &lt;= min(</a:t>
            </a:r>
            <a:r>
              <a:rPr lang="en-US" altLang="zh-CN" sz="2400" b="1" i="0" dirty="0" err="1">
                <a:solidFill>
                  <a:srgbClr val="191B1F"/>
                </a:solidFill>
                <a:effectLst/>
                <a:latin typeface="+mj-ea"/>
                <a:ea typeface="+mj-ea"/>
              </a:rPr>
              <a:t>node.child</a:t>
            </a:r>
            <a:r>
              <a:rPr lang="en-US" altLang="zh-CN" sz="2400" b="1" i="0" dirty="0">
                <a:solidFill>
                  <a:srgbClr val="191B1F"/>
                </a:solidFill>
                <a:effectLst/>
                <a:latin typeface="+mj-ea"/>
                <a:ea typeface="+mj-ea"/>
              </a:rPr>
              <a:t>[</a:t>
            </a:r>
            <a:r>
              <a:rPr lang="en-US" altLang="zh-CN" sz="2400" b="1" i="0" dirty="0" err="1">
                <a:solidFill>
                  <a:srgbClr val="191B1F"/>
                </a:solidFill>
                <a:effectLst/>
                <a:latin typeface="+mj-ea"/>
                <a:ea typeface="+mj-ea"/>
              </a:rPr>
              <a:t>i</a:t>
            </a:r>
            <a:r>
              <a:rPr lang="en-US" altLang="zh-CN" sz="2400" b="1" i="0" dirty="0">
                <a:solidFill>
                  <a:srgbClr val="191B1F"/>
                </a:solidFill>
                <a:effectLst/>
                <a:latin typeface="+mj-ea"/>
                <a:ea typeface="+mj-ea"/>
              </a:rPr>
              <a:t> + 1]</a:t>
            </a:r>
            <a:r>
              <a:rPr lang="zh-CN" altLang="en-US" sz="2400" b="1" i="0" dirty="0">
                <a:solidFill>
                  <a:srgbClr val="191B1F"/>
                </a:solidFill>
                <a:effectLst/>
                <a:latin typeface="+mj-ea"/>
                <a:ea typeface="+mj-ea"/>
              </a:rPr>
              <a:t>的所有键值</a:t>
            </a:r>
            <a:r>
              <a:rPr lang="en-US" altLang="zh-CN" sz="2400" b="1" i="0" dirty="0">
                <a:solidFill>
                  <a:srgbClr val="191B1F"/>
                </a:solidFill>
                <a:effectLst/>
                <a:latin typeface="+mj-ea"/>
                <a:ea typeface="+mj-ea"/>
              </a:rPr>
              <a:t>)</a:t>
            </a:r>
            <a:r>
              <a:rPr lang="zh-CN" altLang="en-US" sz="2400" b="1" i="0" dirty="0">
                <a:solidFill>
                  <a:srgbClr val="191B1F"/>
                </a:solidFill>
                <a:effectLst/>
                <a:latin typeface="+mj-ea"/>
                <a:ea typeface="+mj-ea"/>
              </a:rPr>
              <a:t>。具体情况可以在下面的图中进行说明</a:t>
            </a:r>
          </a:p>
          <a:p>
            <a:pPr algn="l">
              <a:lnSpc>
                <a:spcPct val="150000"/>
              </a:lnSpc>
              <a:buFont typeface="Arial" panose="020B0604020202020204" pitchFamily="34" charset="0"/>
              <a:buChar char="•"/>
            </a:pPr>
            <a:r>
              <a:rPr lang="zh-CN" altLang="en-US" sz="2400" b="1" i="0" dirty="0">
                <a:solidFill>
                  <a:srgbClr val="191B1F"/>
                </a:solidFill>
                <a:effectLst/>
                <a:latin typeface="+mj-ea"/>
                <a:ea typeface="+mj-ea"/>
              </a:rPr>
              <a:t>在内部节点中，指向子节点的指针数量总是存储数据节点的数量</a:t>
            </a:r>
            <a:r>
              <a:rPr lang="en-US" altLang="zh-CN" sz="2400" b="1" i="0" dirty="0">
                <a:solidFill>
                  <a:srgbClr val="191B1F"/>
                </a:solidFill>
                <a:effectLst/>
                <a:latin typeface="+mj-ea"/>
                <a:ea typeface="+mj-ea"/>
              </a:rPr>
              <a:t>+1</a:t>
            </a:r>
            <a:endParaRPr lang="zh-CN" altLang="en-US" sz="2400" b="1" i="0" dirty="0">
              <a:solidFill>
                <a:srgbClr val="191B1F"/>
              </a:solidFill>
              <a:effectLst/>
              <a:latin typeface="+mj-ea"/>
              <a:ea typeface="+mj-ea"/>
            </a:endParaRPr>
          </a:p>
          <a:p>
            <a:pPr algn="l">
              <a:lnSpc>
                <a:spcPct val="150000"/>
              </a:lnSpc>
              <a:buFont typeface="Arial" panose="020B0604020202020204" pitchFamily="34" charset="0"/>
              <a:buChar char="•"/>
            </a:pPr>
            <a:r>
              <a:rPr lang="zh-CN" altLang="en-US" sz="2400" b="1" i="0" dirty="0">
                <a:solidFill>
                  <a:srgbClr val="191B1F"/>
                </a:solidFill>
                <a:effectLst/>
                <a:latin typeface="+mj-ea"/>
                <a:ea typeface="+mj-ea"/>
              </a:rPr>
              <a:t>所有叶子节点的高度一致</a:t>
            </a:r>
          </a:p>
          <a:p>
            <a:pPr algn="l">
              <a:lnSpc>
                <a:spcPct val="150000"/>
              </a:lnSpc>
              <a:buFont typeface="Arial" panose="020B0604020202020204" pitchFamily="34" charset="0"/>
              <a:buChar char="•"/>
            </a:pPr>
            <a:r>
              <a:rPr lang="zh-CN" altLang="en-US" sz="2400" b="1" i="0" dirty="0">
                <a:solidFill>
                  <a:srgbClr val="191B1F"/>
                </a:solidFill>
                <a:effectLst/>
                <a:latin typeface="+mj-ea"/>
                <a:ea typeface="+mj-ea"/>
              </a:rPr>
              <a:t>无论是内部节点还是叶子节点，其存储的键值数量在</a:t>
            </a:r>
            <a:r>
              <a:rPr lang="en-US" altLang="zh-CN" sz="2400" b="1" i="0" dirty="0">
                <a:solidFill>
                  <a:srgbClr val="191B1F"/>
                </a:solidFill>
                <a:effectLst/>
                <a:latin typeface="+mj-ea"/>
                <a:ea typeface="+mj-ea"/>
              </a:rPr>
              <a:t>[t-1,2t-1]</a:t>
            </a:r>
            <a:r>
              <a:rPr lang="zh-CN" altLang="en-US" sz="2400" b="1" i="0" dirty="0">
                <a:solidFill>
                  <a:srgbClr val="191B1F"/>
                </a:solidFill>
                <a:effectLst/>
                <a:latin typeface="+mj-ea"/>
                <a:ea typeface="+mj-ea"/>
              </a:rPr>
              <a:t>之间，如果数量不满足此条件，需要做重平衡操作</a:t>
            </a:r>
          </a:p>
        </p:txBody>
      </p:sp>
    </p:spTree>
    <p:extLst>
      <p:ext uri="{BB962C8B-B14F-4D97-AF65-F5344CB8AC3E}">
        <p14:creationId xmlns:p14="http://schemas.microsoft.com/office/powerpoint/2010/main" val="29143106"/>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2F355D7-276E-4E52-9AB2-EFA0924C2FED}"/>
              </a:ext>
            </a:extLst>
          </p:cNvPr>
          <p:cNvSpPr>
            <a:spLocks noGrp="1"/>
          </p:cNvSpPr>
          <p:nvPr>
            <p:ph type="dt" sz="half" idx="10"/>
          </p:nvPr>
        </p:nvSpPr>
        <p:spPr/>
        <p:txBody>
          <a:bodyPr/>
          <a:lstStyle/>
          <a:p>
            <a:fld id="{9A6B2991-BBE5-4E69-A281-1A8B0AE9CDD7}" type="datetime1">
              <a:rPr lang="zh-CN" altLang="en-US" smtClean="0"/>
              <a:pPr/>
              <a:t>2025/6/3</a:t>
            </a:fld>
            <a:endParaRPr lang="zh-CN" altLang="en-US"/>
          </a:p>
        </p:txBody>
      </p:sp>
      <p:sp>
        <p:nvSpPr>
          <p:cNvPr id="4" name="文本框 3">
            <a:extLst>
              <a:ext uri="{FF2B5EF4-FFF2-40B4-BE49-F238E27FC236}">
                <a16:creationId xmlns:a16="http://schemas.microsoft.com/office/drawing/2014/main" id="{4B55B113-B18D-4BAF-A7CD-D025258AFEA3}"/>
              </a:ext>
            </a:extLst>
          </p:cNvPr>
          <p:cNvSpPr txBox="1"/>
          <p:nvPr/>
        </p:nvSpPr>
        <p:spPr>
          <a:xfrm>
            <a:off x="-36512" y="260648"/>
            <a:ext cx="8928992" cy="1200329"/>
          </a:xfrm>
          <a:prstGeom prst="rect">
            <a:avLst/>
          </a:prstGeom>
          <a:noFill/>
        </p:spPr>
        <p:txBody>
          <a:bodyPr wrap="square">
            <a:spAutoFit/>
          </a:bodyPr>
          <a:lstStyle/>
          <a:p>
            <a:r>
              <a:rPr lang="zh-CN" altLang="en-US" sz="2400" b="1" i="0" dirty="0">
                <a:solidFill>
                  <a:srgbClr val="191B1F"/>
                </a:solidFill>
                <a:effectLst/>
                <a:latin typeface="-apple-system"/>
              </a:rPr>
              <a:t>该图中的</a:t>
            </a:r>
            <a:r>
              <a:rPr lang="en-US" altLang="zh-CN" sz="2400" b="1" i="0" dirty="0">
                <a:solidFill>
                  <a:srgbClr val="191B1F"/>
                </a:solidFill>
                <a:effectLst/>
                <a:latin typeface="-apple-system"/>
              </a:rPr>
              <a:t>B</a:t>
            </a:r>
            <a:r>
              <a:rPr lang="zh-CN" altLang="en-US" sz="2400" b="1" i="0" dirty="0">
                <a:solidFill>
                  <a:srgbClr val="191B1F"/>
                </a:solidFill>
                <a:effectLst/>
                <a:latin typeface="-apple-system"/>
              </a:rPr>
              <a:t>树，</a:t>
            </a:r>
            <a:r>
              <a:rPr lang="en-US" altLang="zh-CN" sz="2400" b="1" i="0" dirty="0">
                <a:solidFill>
                  <a:srgbClr val="191B1F"/>
                </a:solidFill>
                <a:effectLst/>
                <a:latin typeface="-apple-system"/>
              </a:rPr>
              <a:t>t</a:t>
            </a:r>
            <a:r>
              <a:rPr lang="zh-CN" altLang="en-US" sz="2400" b="1" i="0" dirty="0">
                <a:solidFill>
                  <a:srgbClr val="191B1F"/>
                </a:solidFill>
                <a:effectLst/>
                <a:latin typeface="-apple-system"/>
              </a:rPr>
              <a:t>参数的值为</a:t>
            </a:r>
            <a:r>
              <a:rPr lang="en-US" altLang="zh-CN" sz="2400" b="1" i="0" dirty="0">
                <a:solidFill>
                  <a:srgbClr val="191B1F"/>
                </a:solidFill>
                <a:effectLst/>
                <a:latin typeface="-apple-system"/>
              </a:rPr>
              <a:t>2</a:t>
            </a:r>
            <a:r>
              <a:rPr lang="zh-CN" altLang="en-US" sz="2400" b="1" i="0" dirty="0">
                <a:solidFill>
                  <a:srgbClr val="191B1F"/>
                </a:solidFill>
                <a:effectLst/>
                <a:latin typeface="-apple-system"/>
              </a:rPr>
              <a:t>（需要特别说明的是，一棵树中每个存储数据的地方，应该既有键值（</a:t>
            </a:r>
            <a:r>
              <a:rPr lang="en-US" altLang="zh-CN" sz="2400" b="1" i="0" dirty="0">
                <a:solidFill>
                  <a:srgbClr val="191B1F"/>
                </a:solidFill>
                <a:effectLst/>
                <a:latin typeface="-apple-system"/>
              </a:rPr>
              <a:t>key</a:t>
            </a:r>
            <a:r>
              <a:rPr lang="zh-CN" altLang="en-US" sz="2400" b="1" i="0" dirty="0">
                <a:solidFill>
                  <a:srgbClr val="191B1F"/>
                </a:solidFill>
                <a:effectLst/>
                <a:latin typeface="-apple-system"/>
              </a:rPr>
              <a:t>）也有数据（</a:t>
            </a:r>
            <a:r>
              <a:rPr lang="en-US" altLang="zh-CN" sz="2400" b="1" i="0" dirty="0">
                <a:solidFill>
                  <a:srgbClr val="191B1F"/>
                </a:solidFill>
                <a:effectLst/>
                <a:latin typeface="-apple-system"/>
              </a:rPr>
              <a:t>value</a:t>
            </a:r>
            <a:r>
              <a:rPr lang="zh-CN" altLang="en-US" sz="2400" b="1" i="0" dirty="0">
                <a:solidFill>
                  <a:srgbClr val="191B1F"/>
                </a:solidFill>
                <a:effectLst/>
                <a:latin typeface="-apple-system"/>
              </a:rPr>
              <a:t>），本文中为了简单起见，存储的数据只有键值。）</a:t>
            </a:r>
            <a:endParaRPr lang="zh-CN" altLang="en-US" sz="2400" b="1" dirty="0"/>
          </a:p>
        </p:txBody>
      </p:sp>
      <p:pic>
        <p:nvPicPr>
          <p:cNvPr id="11266" name="Picture 2">
            <a:extLst>
              <a:ext uri="{FF2B5EF4-FFF2-40B4-BE49-F238E27FC236}">
                <a16:creationId xmlns:a16="http://schemas.microsoft.com/office/drawing/2014/main" id="{E606D9CA-EE24-4E6A-ADA0-D367CE7251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12" y="1916833"/>
            <a:ext cx="9212759" cy="47525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4349542"/>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E6FF830-C791-4EA0-BBC7-5F53ECC3F79E}"/>
              </a:ext>
            </a:extLst>
          </p:cNvPr>
          <p:cNvSpPr>
            <a:spLocks noGrp="1"/>
          </p:cNvSpPr>
          <p:nvPr>
            <p:ph type="dt" sz="half" idx="10"/>
          </p:nvPr>
        </p:nvSpPr>
        <p:spPr/>
        <p:txBody>
          <a:bodyPr/>
          <a:lstStyle/>
          <a:p>
            <a:fld id="{9A6B2991-BBE5-4E69-A281-1A8B0AE9CDD7}" type="datetime1">
              <a:rPr lang="zh-CN" altLang="en-US" smtClean="0"/>
              <a:pPr/>
              <a:t>2025/6/3</a:t>
            </a:fld>
            <a:endParaRPr lang="zh-CN" altLang="en-US"/>
          </a:p>
        </p:txBody>
      </p:sp>
      <p:pic>
        <p:nvPicPr>
          <p:cNvPr id="7170" name="Picture 2">
            <a:extLst>
              <a:ext uri="{FF2B5EF4-FFF2-40B4-BE49-F238E27FC236}">
                <a16:creationId xmlns:a16="http://schemas.microsoft.com/office/drawing/2014/main" id="{FB4C1B25-5135-4E74-98D3-7DEB8BD7F8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552" y="186037"/>
            <a:ext cx="8280920" cy="6659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1575795"/>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D4ACC2C-35FF-427F-8F60-E999DBC0821C}"/>
              </a:ext>
            </a:extLst>
          </p:cNvPr>
          <p:cNvSpPr>
            <a:spLocks noGrp="1"/>
          </p:cNvSpPr>
          <p:nvPr>
            <p:ph type="dt" sz="half" idx="10"/>
          </p:nvPr>
        </p:nvSpPr>
        <p:spPr/>
        <p:txBody>
          <a:bodyPr/>
          <a:lstStyle/>
          <a:p>
            <a:fld id="{9A6B2991-BBE5-4E69-A281-1A8B0AE9CDD7}" type="datetime1">
              <a:rPr lang="zh-CN" altLang="en-US" smtClean="0"/>
              <a:pPr/>
              <a:t>2025/6/3</a:t>
            </a:fld>
            <a:endParaRPr lang="zh-CN" altLang="en-US"/>
          </a:p>
        </p:txBody>
      </p:sp>
      <p:pic>
        <p:nvPicPr>
          <p:cNvPr id="8194" name="Picture 2">
            <a:extLst>
              <a:ext uri="{FF2B5EF4-FFF2-40B4-BE49-F238E27FC236}">
                <a16:creationId xmlns:a16="http://schemas.microsoft.com/office/drawing/2014/main" id="{66EEEABC-A1AD-4C89-8954-AA3486789E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228" y="142349"/>
            <a:ext cx="8173544" cy="65733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7804983"/>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5D02B64-2F2A-4FE0-951F-2876138E8480}"/>
              </a:ext>
            </a:extLst>
          </p:cNvPr>
          <p:cNvSpPr>
            <a:spLocks noGrp="1"/>
          </p:cNvSpPr>
          <p:nvPr>
            <p:ph type="dt" sz="half" idx="10"/>
          </p:nvPr>
        </p:nvSpPr>
        <p:spPr/>
        <p:txBody>
          <a:bodyPr/>
          <a:lstStyle/>
          <a:p>
            <a:fld id="{9A6B2991-BBE5-4E69-A281-1A8B0AE9CDD7}" type="datetime1">
              <a:rPr lang="zh-CN" altLang="en-US" smtClean="0"/>
              <a:pPr/>
              <a:t>2025/6/3</a:t>
            </a:fld>
            <a:endParaRPr lang="zh-CN" altLang="en-US"/>
          </a:p>
        </p:txBody>
      </p:sp>
      <p:pic>
        <p:nvPicPr>
          <p:cNvPr id="4" name="图片 3">
            <a:extLst>
              <a:ext uri="{FF2B5EF4-FFF2-40B4-BE49-F238E27FC236}">
                <a16:creationId xmlns:a16="http://schemas.microsoft.com/office/drawing/2014/main" id="{09E452C4-E478-4C63-9361-A3E51A8CCB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504" y="2975791"/>
            <a:ext cx="8942335" cy="3845205"/>
          </a:xfrm>
          <a:prstGeom prst="rect">
            <a:avLst/>
          </a:prstGeom>
        </p:spPr>
      </p:pic>
      <p:sp>
        <p:nvSpPr>
          <p:cNvPr id="5" name="文本框 4">
            <a:extLst>
              <a:ext uri="{FF2B5EF4-FFF2-40B4-BE49-F238E27FC236}">
                <a16:creationId xmlns:a16="http://schemas.microsoft.com/office/drawing/2014/main" id="{8EFADB44-3282-4A9A-82B7-D6AF8F5D7D3F}"/>
              </a:ext>
            </a:extLst>
          </p:cNvPr>
          <p:cNvSpPr txBox="1"/>
          <p:nvPr/>
        </p:nvSpPr>
        <p:spPr>
          <a:xfrm>
            <a:off x="0" y="-27384"/>
            <a:ext cx="9144000" cy="3170099"/>
          </a:xfrm>
          <a:prstGeom prst="rect">
            <a:avLst/>
          </a:prstGeom>
          <a:noFill/>
        </p:spPr>
        <p:txBody>
          <a:bodyPr wrap="square" rtlCol="0">
            <a:spAutoFit/>
          </a:bodyPr>
          <a:lstStyle/>
          <a:p>
            <a:pPr algn="l"/>
            <a:r>
              <a:rPr lang="en-US" altLang="zh-CN" sz="2000" b="1" i="0" dirty="0">
                <a:solidFill>
                  <a:srgbClr val="191B1F"/>
                </a:solidFill>
                <a:effectLst/>
                <a:latin typeface="-apple-system"/>
              </a:rPr>
              <a:t>B-</a:t>
            </a:r>
            <a:r>
              <a:rPr lang="zh-CN" altLang="en-US" sz="2000" b="1" i="0" dirty="0">
                <a:solidFill>
                  <a:srgbClr val="191B1F"/>
                </a:solidFill>
                <a:effectLst/>
                <a:latin typeface="-apple-system"/>
              </a:rPr>
              <a:t>树：一种多路搜索树（并不是二叉的）：</a:t>
            </a:r>
          </a:p>
          <a:p>
            <a:pPr algn="l"/>
            <a:r>
              <a:rPr lang="en-US" altLang="zh-CN" sz="2000" b="1" i="0" dirty="0">
                <a:solidFill>
                  <a:srgbClr val="191B1F"/>
                </a:solidFill>
                <a:effectLst/>
                <a:latin typeface="-apple-system"/>
              </a:rPr>
              <a:t>1.</a:t>
            </a:r>
            <a:r>
              <a:rPr lang="zh-CN" altLang="en-US" sz="2000" b="1" i="0" dirty="0">
                <a:solidFill>
                  <a:srgbClr val="191B1F"/>
                </a:solidFill>
                <a:effectLst/>
                <a:latin typeface="-apple-system"/>
              </a:rPr>
              <a:t>定义任意非叶子结点最多只有</a:t>
            </a:r>
            <a:r>
              <a:rPr lang="en-US" altLang="zh-CN" sz="2000" b="1" i="0" dirty="0">
                <a:solidFill>
                  <a:srgbClr val="191B1F"/>
                </a:solidFill>
                <a:effectLst/>
                <a:latin typeface="-apple-system"/>
              </a:rPr>
              <a:t>M</a:t>
            </a:r>
            <a:r>
              <a:rPr lang="zh-CN" altLang="en-US" sz="2000" b="1" i="0" dirty="0">
                <a:solidFill>
                  <a:srgbClr val="191B1F"/>
                </a:solidFill>
                <a:effectLst/>
                <a:latin typeface="-apple-system"/>
              </a:rPr>
              <a:t>个儿子；且</a:t>
            </a:r>
            <a:r>
              <a:rPr lang="en-US" altLang="zh-CN" sz="2000" b="1" i="0" dirty="0">
                <a:solidFill>
                  <a:srgbClr val="191B1F"/>
                </a:solidFill>
                <a:effectLst/>
                <a:latin typeface="-apple-system"/>
              </a:rPr>
              <a:t>M&gt;2</a:t>
            </a:r>
            <a:r>
              <a:rPr lang="zh-CN" altLang="en-US" sz="2000" b="1" i="0" dirty="0">
                <a:solidFill>
                  <a:srgbClr val="191B1F"/>
                </a:solidFill>
                <a:effectLst/>
                <a:latin typeface="-apple-system"/>
              </a:rPr>
              <a:t>；</a:t>
            </a:r>
          </a:p>
          <a:p>
            <a:pPr algn="l"/>
            <a:r>
              <a:rPr lang="en-US" altLang="zh-CN" sz="2000" b="1" i="0" dirty="0">
                <a:solidFill>
                  <a:srgbClr val="191B1F"/>
                </a:solidFill>
                <a:effectLst/>
                <a:latin typeface="-apple-system"/>
              </a:rPr>
              <a:t>2.</a:t>
            </a:r>
            <a:r>
              <a:rPr lang="zh-CN" altLang="en-US" sz="2000" b="1" i="0" dirty="0">
                <a:solidFill>
                  <a:srgbClr val="191B1F"/>
                </a:solidFill>
                <a:effectLst/>
                <a:latin typeface="-apple-system"/>
              </a:rPr>
              <a:t>根结点的儿子数为</a:t>
            </a:r>
            <a:r>
              <a:rPr lang="en-US" altLang="zh-CN" sz="2000" b="1" i="0" dirty="0">
                <a:solidFill>
                  <a:srgbClr val="191B1F"/>
                </a:solidFill>
                <a:effectLst/>
                <a:latin typeface="-apple-system"/>
              </a:rPr>
              <a:t>[2, M]</a:t>
            </a:r>
            <a:r>
              <a:rPr lang="zh-CN" altLang="en-US" sz="2000" b="1" i="0" dirty="0">
                <a:solidFill>
                  <a:srgbClr val="191B1F"/>
                </a:solidFill>
                <a:effectLst/>
                <a:latin typeface="-apple-system"/>
              </a:rPr>
              <a:t>；</a:t>
            </a:r>
          </a:p>
          <a:p>
            <a:pPr algn="l"/>
            <a:r>
              <a:rPr lang="en-US" altLang="zh-CN" sz="2000" b="1" i="0" dirty="0">
                <a:solidFill>
                  <a:srgbClr val="191B1F"/>
                </a:solidFill>
                <a:effectLst/>
                <a:latin typeface="-apple-system"/>
              </a:rPr>
              <a:t>3.</a:t>
            </a:r>
            <a:r>
              <a:rPr lang="zh-CN" altLang="en-US" sz="2000" b="1" i="0" dirty="0">
                <a:solidFill>
                  <a:srgbClr val="191B1F"/>
                </a:solidFill>
                <a:effectLst/>
                <a:latin typeface="-apple-system"/>
              </a:rPr>
              <a:t>除根结点以外的非叶子结点的儿子数为</a:t>
            </a:r>
            <a:r>
              <a:rPr lang="en-US" altLang="zh-CN" sz="2000" b="1" i="0" dirty="0">
                <a:solidFill>
                  <a:srgbClr val="191B1F"/>
                </a:solidFill>
                <a:effectLst/>
                <a:latin typeface="-apple-system"/>
              </a:rPr>
              <a:t>[M/2, M]</a:t>
            </a:r>
            <a:r>
              <a:rPr lang="zh-CN" altLang="en-US" sz="2000" b="1" i="0" dirty="0">
                <a:solidFill>
                  <a:srgbClr val="191B1F"/>
                </a:solidFill>
                <a:effectLst/>
                <a:latin typeface="-apple-system"/>
              </a:rPr>
              <a:t>；</a:t>
            </a:r>
          </a:p>
          <a:p>
            <a:pPr algn="l"/>
            <a:r>
              <a:rPr lang="en-US" altLang="zh-CN" sz="2000" b="1" i="0" dirty="0">
                <a:solidFill>
                  <a:srgbClr val="191B1F"/>
                </a:solidFill>
                <a:effectLst/>
                <a:latin typeface="-apple-system"/>
              </a:rPr>
              <a:t>4.</a:t>
            </a:r>
            <a:r>
              <a:rPr lang="zh-CN" altLang="en-US" sz="2000" b="1" i="0" dirty="0">
                <a:solidFill>
                  <a:srgbClr val="191B1F"/>
                </a:solidFill>
                <a:effectLst/>
                <a:latin typeface="-apple-system"/>
              </a:rPr>
              <a:t>每个结点存放至少</a:t>
            </a:r>
            <a:r>
              <a:rPr lang="en-US" altLang="zh-CN" sz="2000" b="1" i="0" dirty="0">
                <a:solidFill>
                  <a:srgbClr val="191B1F"/>
                </a:solidFill>
                <a:effectLst/>
                <a:latin typeface="-apple-system"/>
              </a:rPr>
              <a:t>M/2-1</a:t>
            </a:r>
            <a:r>
              <a:rPr lang="zh-CN" altLang="en-US" sz="2000" b="1" i="0" dirty="0">
                <a:solidFill>
                  <a:srgbClr val="191B1F"/>
                </a:solidFill>
                <a:effectLst/>
                <a:latin typeface="-apple-system"/>
              </a:rPr>
              <a:t>（取上整）和至多</a:t>
            </a:r>
            <a:r>
              <a:rPr lang="en-US" altLang="zh-CN" sz="2000" b="1" i="0" dirty="0">
                <a:solidFill>
                  <a:srgbClr val="191B1F"/>
                </a:solidFill>
                <a:effectLst/>
                <a:latin typeface="-apple-system"/>
              </a:rPr>
              <a:t>M-1</a:t>
            </a:r>
            <a:r>
              <a:rPr lang="zh-CN" altLang="en-US" sz="2000" b="1" i="0" dirty="0">
                <a:solidFill>
                  <a:srgbClr val="191B1F"/>
                </a:solidFill>
                <a:effectLst/>
                <a:latin typeface="-apple-system"/>
              </a:rPr>
              <a:t>个关键字；（至少</a:t>
            </a:r>
            <a:r>
              <a:rPr lang="en-US" altLang="zh-CN" sz="2000" b="1" i="0" dirty="0">
                <a:solidFill>
                  <a:srgbClr val="191B1F"/>
                </a:solidFill>
                <a:effectLst/>
                <a:latin typeface="-apple-system"/>
              </a:rPr>
              <a:t>2</a:t>
            </a:r>
            <a:r>
              <a:rPr lang="zh-CN" altLang="en-US" sz="2000" b="1" i="0" dirty="0">
                <a:solidFill>
                  <a:srgbClr val="191B1F"/>
                </a:solidFill>
                <a:effectLst/>
                <a:latin typeface="-apple-system"/>
              </a:rPr>
              <a:t>个关键字）</a:t>
            </a:r>
          </a:p>
          <a:p>
            <a:pPr algn="l"/>
            <a:r>
              <a:rPr lang="en-US" altLang="zh-CN" sz="2000" b="1" i="0" dirty="0">
                <a:solidFill>
                  <a:srgbClr val="191B1F"/>
                </a:solidFill>
                <a:effectLst/>
                <a:latin typeface="-apple-system"/>
              </a:rPr>
              <a:t>5.</a:t>
            </a:r>
            <a:r>
              <a:rPr lang="zh-CN" altLang="en-US" sz="2000" b="1" i="0" dirty="0">
                <a:solidFill>
                  <a:srgbClr val="191B1F"/>
                </a:solidFill>
                <a:effectLst/>
                <a:latin typeface="-apple-system"/>
              </a:rPr>
              <a:t>非叶子结点的关键字个数</a:t>
            </a:r>
            <a:r>
              <a:rPr lang="en-US" altLang="zh-CN" sz="2000" b="1" i="0" dirty="0">
                <a:solidFill>
                  <a:srgbClr val="191B1F"/>
                </a:solidFill>
                <a:effectLst/>
                <a:latin typeface="-apple-system"/>
              </a:rPr>
              <a:t>=</a:t>
            </a:r>
            <a:r>
              <a:rPr lang="zh-CN" altLang="en-US" sz="2000" b="1" i="0" dirty="0">
                <a:solidFill>
                  <a:srgbClr val="191B1F"/>
                </a:solidFill>
                <a:effectLst/>
                <a:latin typeface="-apple-system"/>
              </a:rPr>
              <a:t>指向儿子的指针个数</a:t>
            </a:r>
            <a:r>
              <a:rPr lang="en-US" altLang="zh-CN" sz="2000" b="1" i="0" dirty="0">
                <a:solidFill>
                  <a:srgbClr val="191B1F"/>
                </a:solidFill>
                <a:effectLst/>
                <a:latin typeface="-apple-system"/>
              </a:rPr>
              <a:t>-1</a:t>
            </a:r>
            <a:r>
              <a:rPr lang="zh-CN" altLang="en-US" sz="2000" b="1" i="0" dirty="0">
                <a:solidFill>
                  <a:srgbClr val="191B1F"/>
                </a:solidFill>
                <a:effectLst/>
                <a:latin typeface="-apple-system"/>
              </a:rPr>
              <a:t>；</a:t>
            </a:r>
          </a:p>
          <a:p>
            <a:pPr algn="l"/>
            <a:r>
              <a:rPr lang="en-US" altLang="zh-CN" sz="2000" b="1" i="0" dirty="0">
                <a:solidFill>
                  <a:srgbClr val="191B1F"/>
                </a:solidFill>
                <a:effectLst/>
                <a:latin typeface="-apple-system"/>
              </a:rPr>
              <a:t>6.</a:t>
            </a:r>
            <a:r>
              <a:rPr lang="zh-CN" altLang="en-US" sz="2000" b="1" i="0" dirty="0">
                <a:solidFill>
                  <a:srgbClr val="191B1F"/>
                </a:solidFill>
                <a:effectLst/>
                <a:latin typeface="-apple-system"/>
              </a:rPr>
              <a:t>非叶子结点的关键字：</a:t>
            </a:r>
            <a:r>
              <a:rPr lang="en-US" altLang="zh-CN" sz="2000" b="1" i="0" dirty="0">
                <a:solidFill>
                  <a:srgbClr val="191B1F"/>
                </a:solidFill>
                <a:effectLst/>
                <a:latin typeface="-apple-system"/>
              </a:rPr>
              <a:t>K[1], K[2], …, K[M-1]</a:t>
            </a:r>
            <a:r>
              <a:rPr lang="zh-CN" altLang="en-US" sz="2000" b="1" i="0" dirty="0">
                <a:solidFill>
                  <a:srgbClr val="191B1F"/>
                </a:solidFill>
                <a:effectLst/>
                <a:latin typeface="-apple-system"/>
              </a:rPr>
              <a:t>；且</a:t>
            </a:r>
            <a:r>
              <a:rPr lang="en-US" altLang="zh-CN" sz="2000" b="1" i="0" dirty="0">
                <a:solidFill>
                  <a:srgbClr val="191B1F"/>
                </a:solidFill>
                <a:effectLst/>
                <a:latin typeface="-apple-system"/>
              </a:rPr>
              <a:t>K[</a:t>
            </a:r>
            <a:r>
              <a:rPr lang="en-US" altLang="zh-CN" sz="2000" b="1" i="0" dirty="0" err="1">
                <a:solidFill>
                  <a:srgbClr val="191B1F"/>
                </a:solidFill>
                <a:effectLst/>
                <a:latin typeface="-apple-system"/>
              </a:rPr>
              <a:t>i</a:t>
            </a:r>
            <a:r>
              <a:rPr lang="en-US" altLang="zh-CN" sz="2000" b="1" i="0" dirty="0">
                <a:solidFill>
                  <a:srgbClr val="191B1F"/>
                </a:solidFill>
                <a:effectLst/>
                <a:latin typeface="-apple-system"/>
              </a:rPr>
              <a:t>] &lt; K[i+1]</a:t>
            </a:r>
            <a:r>
              <a:rPr lang="zh-CN" altLang="en-US" sz="2000" b="1" i="0" dirty="0">
                <a:solidFill>
                  <a:srgbClr val="191B1F"/>
                </a:solidFill>
                <a:effectLst/>
                <a:latin typeface="-apple-system"/>
              </a:rPr>
              <a:t>；</a:t>
            </a:r>
          </a:p>
          <a:p>
            <a:pPr algn="l"/>
            <a:r>
              <a:rPr lang="en-US" altLang="zh-CN" sz="2000" b="1" i="0" dirty="0">
                <a:solidFill>
                  <a:srgbClr val="191B1F"/>
                </a:solidFill>
                <a:effectLst/>
                <a:latin typeface="-apple-system"/>
              </a:rPr>
              <a:t>7.</a:t>
            </a:r>
            <a:r>
              <a:rPr lang="zh-CN" altLang="en-US" sz="2000" b="1" i="0" dirty="0">
                <a:solidFill>
                  <a:srgbClr val="191B1F"/>
                </a:solidFill>
                <a:effectLst/>
                <a:latin typeface="-apple-system"/>
              </a:rPr>
              <a:t>非叶子结点的指针：</a:t>
            </a:r>
            <a:r>
              <a:rPr lang="en-US" altLang="zh-CN" sz="2000" b="1" i="0" dirty="0">
                <a:solidFill>
                  <a:srgbClr val="191B1F"/>
                </a:solidFill>
                <a:effectLst/>
                <a:latin typeface="-apple-system"/>
              </a:rPr>
              <a:t>P[1], P[2], …, P[M]</a:t>
            </a:r>
            <a:r>
              <a:rPr lang="zh-CN" altLang="en-US" sz="2000" b="1" i="0" dirty="0">
                <a:solidFill>
                  <a:srgbClr val="191B1F"/>
                </a:solidFill>
                <a:effectLst/>
                <a:latin typeface="-apple-system"/>
              </a:rPr>
              <a:t>；其中</a:t>
            </a:r>
            <a:r>
              <a:rPr lang="en-US" altLang="zh-CN" sz="2000" b="1" i="0" dirty="0">
                <a:solidFill>
                  <a:srgbClr val="191B1F"/>
                </a:solidFill>
                <a:effectLst/>
                <a:latin typeface="-apple-system"/>
              </a:rPr>
              <a:t>P[1]</a:t>
            </a:r>
            <a:r>
              <a:rPr lang="zh-CN" altLang="en-US" sz="2000" b="1" i="0" dirty="0">
                <a:solidFill>
                  <a:srgbClr val="191B1F"/>
                </a:solidFill>
                <a:effectLst/>
                <a:latin typeface="-apple-system"/>
              </a:rPr>
              <a:t>指向关键字小于</a:t>
            </a:r>
            <a:r>
              <a:rPr lang="en-US" altLang="zh-CN" sz="2000" b="1" i="0" dirty="0">
                <a:solidFill>
                  <a:srgbClr val="191B1F"/>
                </a:solidFill>
                <a:effectLst/>
                <a:latin typeface="-apple-system"/>
              </a:rPr>
              <a:t>K[1]</a:t>
            </a:r>
            <a:r>
              <a:rPr lang="zh-CN" altLang="en-US" sz="2000" b="1" i="0" dirty="0">
                <a:solidFill>
                  <a:srgbClr val="191B1F"/>
                </a:solidFill>
                <a:effectLst/>
                <a:latin typeface="-apple-system"/>
              </a:rPr>
              <a:t>的子树，</a:t>
            </a:r>
            <a:r>
              <a:rPr lang="en-US" altLang="zh-CN" sz="2000" b="1" i="0" dirty="0">
                <a:solidFill>
                  <a:srgbClr val="191B1F"/>
                </a:solidFill>
                <a:effectLst/>
                <a:latin typeface="-apple-system"/>
              </a:rPr>
              <a:t>P[M]</a:t>
            </a:r>
            <a:r>
              <a:rPr lang="zh-CN" altLang="en-US" sz="2000" b="1" i="0" dirty="0">
                <a:solidFill>
                  <a:srgbClr val="191B1F"/>
                </a:solidFill>
                <a:effectLst/>
                <a:latin typeface="-apple-system"/>
              </a:rPr>
              <a:t>指向关键字大于</a:t>
            </a:r>
            <a:r>
              <a:rPr lang="en-US" altLang="zh-CN" sz="2000" b="1" i="0" dirty="0">
                <a:solidFill>
                  <a:srgbClr val="191B1F"/>
                </a:solidFill>
                <a:effectLst/>
                <a:latin typeface="-apple-system"/>
              </a:rPr>
              <a:t>K[M-1]</a:t>
            </a:r>
            <a:r>
              <a:rPr lang="zh-CN" altLang="en-US" sz="2000" b="1" i="0" dirty="0">
                <a:solidFill>
                  <a:srgbClr val="191B1F"/>
                </a:solidFill>
                <a:effectLst/>
                <a:latin typeface="-apple-system"/>
              </a:rPr>
              <a:t>的子树，其它</a:t>
            </a:r>
            <a:r>
              <a:rPr lang="en-US" altLang="zh-CN" sz="2000" b="1" i="0" dirty="0">
                <a:solidFill>
                  <a:srgbClr val="191B1F"/>
                </a:solidFill>
                <a:effectLst/>
                <a:latin typeface="-apple-system"/>
              </a:rPr>
              <a:t>P[</a:t>
            </a:r>
            <a:r>
              <a:rPr lang="en-US" altLang="zh-CN" sz="2000" b="1" i="0" dirty="0" err="1">
                <a:solidFill>
                  <a:srgbClr val="191B1F"/>
                </a:solidFill>
                <a:effectLst/>
                <a:latin typeface="-apple-system"/>
              </a:rPr>
              <a:t>i</a:t>
            </a:r>
            <a:r>
              <a:rPr lang="en-US" altLang="zh-CN" sz="2000" b="1" i="0" dirty="0">
                <a:solidFill>
                  <a:srgbClr val="191B1F"/>
                </a:solidFill>
                <a:effectLst/>
                <a:latin typeface="-apple-system"/>
              </a:rPr>
              <a:t>]</a:t>
            </a:r>
            <a:r>
              <a:rPr lang="zh-CN" altLang="en-US" sz="2000" b="1" i="0" dirty="0">
                <a:solidFill>
                  <a:srgbClr val="191B1F"/>
                </a:solidFill>
                <a:effectLst/>
                <a:latin typeface="-apple-system"/>
              </a:rPr>
              <a:t>指向关键字属于</a:t>
            </a:r>
            <a:r>
              <a:rPr lang="en-US" altLang="zh-CN" sz="2000" b="1" i="0" dirty="0">
                <a:solidFill>
                  <a:srgbClr val="191B1F"/>
                </a:solidFill>
                <a:effectLst/>
                <a:latin typeface="-apple-system"/>
              </a:rPr>
              <a:t>(K[i-1], K[</a:t>
            </a:r>
            <a:r>
              <a:rPr lang="en-US" altLang="zh-CN" sz="2000" b="1" i="0" dirty="0" err="1">
                <a:solidFill>
                  <a:srgbClr val="191B1F"/>
                </a:solidFill>
                <a:effectLst/>
                <a:latin typeface="-apple-system"/>
              </a:rPr>
              <a:t>i</a:t>
            </a:r>
            <a:r>
              <a:rPr lang="en-US" altLang="zh-CN" sz="2000" b="1" i="0" dirty="0">
                <a:solidFill>
                  <a:srgbClr val="191B1F"/>
                </a:solidFill>
                <a:effectLst/>
                <a:latin typeface="-apple-system"/>
              </a:rPr>
              <a:t>])</a:t>
            </a:r>
            <a:r>
              <a:rPr lang="zh-CN" altLang="en-US" sz="2000" b="1" i="0" dirty="0">
                <a:solidFill>
                  <a:srgbClr val="191B1F"/>
                </a:solidFill>
                <a:effectLst/>
                <a:latin typeface="-apple-system"/>
              </a:rPr>
              <a:t>的子树；</a:t>
            </a:r>
          </a:p>
          <a:p>
            <a:pPr algn="l"/>
            <a:r>
              <a:rPr lang="en-US" altLang="zh-CN" sz="2000" b="1" i="0" dirty="0">
                <a:solidFill>
                  <a:srgbClr val="191B1F"/>
                </a:solidFill>
                <a:effectLst/>
                <a:latin typeface="-apple-system"/>
              </a:rPr>
              <a:t>8.</a:t>
            </a:r>
            <a:r>
              <a:rPr lang="zh-CN" altLang="en-US" sz="2000" b="1" i="0" dirty="0">
                <a:solidFill>
                  <a:srgbClr val="191B1F"/>
                </a:solidFill>
                <a:effectLst/>
                <a:latin typeface="-apple-system"/>
              </a:rPr>
              <a:t>所有叶子结点位于同一层；</a:t>
            </a:r>
          </a:p>
        </p:txBody>
      </p:sp>
    </p:spTree>
    <p:extLst>
      <p:ext uri="{BB962C8B-B14F-4D97-AF65-F5344CB8AC3E}">
        <p14:creationId xmlns:p14="http://schemas.microsoft.com/office/powerpoint/2010/main" val="581431889"/>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A4D66E9-10EB-4BA7-AA31-D000613426E4}"/>
              </a:ext>
            </a:extLst>
          </p:cNvPr>
          <p:cNvSpPr>
            <a:spLocks noGrp="1"/>
          </p:cNvSpPr>
          <p:nvPr>
            <p:ph type="dt" sz="half" idx="10"/>
          </p:nvPr>
        </p:nvSpPr>
        <p:spPr/>
        <p:txBody>
          <a:bodyPr/>
          <a:lstStyle/>
          <a:p>
            <a:fld id="{9A6B2991-BBE5-4E69-A281-1A8B0AE9CDD7}" type="datetime1">
              <a:rPr lang="zh-CN" altLang="en-US" smtClean="0"/>
              <a:pPr/>
              <a:t>2025/6/3</a:t>
            </a:fld>
            <a:endParaRPr lang="zh-CN" altLang="en-US"/>
          </a:p>
        </p:txBody>
      </p:sp>
      <p:sp>
        <p:nvSpPr>
          <p:cNvPr id="4" name="文本框 3">
            <a:extLst>
              <a:ext uri="{FF2B5EF4-FFF2-40B4-BE49-F238E27FC236}">
                <a16:creationId xmlns:a16="http://schemas.microsoft.com/office/drawing/2014/main" id="{01DFAAD8-F637-4E82-87F9-5BC67EEB06D0}"/>
              </a:ext>
            </a:extLst>
          </p:cNvPr>
          <p:cNvSpPr txBox="1"/>
          <p:nvPr/>
        </p:nvSpPr>
        <p:spPr>
          <a:xfrm>
            <a:off x="395536" y="44624"/>
            <a:ext cx="6912768" cy="2246769"/>
          </a:xfrm>
          <a:prstGeom prst="rect">
            <a:avLst/>
          </a:prstGeom>
          <a:noFill/>
        </p:spPr>
        <p:txBody>
          <a:bodyPr wrap="square">
            <a:spAutoFit/>
          </a:bodyPr>
          <a:lstStyle/>
          <a:p>
            <a:pPr algn="l"/>
            <a:r>
              <a:rPr lang="en-US" altLang="zh-CN" sz="2000" b="1" i="0" dirty="0">
                <a:solidFill>
                  <a:srgbClr val="191B1F"/>
                </a:solidFill>
                <a:effectLst/>
                <a:latin typeface="-apple-system"/>
              </a:rPr>
              <a:t>B+</a:t>
            </a:r>
            <a:r>
              <a:rPr lang="zh-CN" altLang="en-US" sz="2000" b="1" i="0" dirty="0">
                <a:solidFill>
                  <a:srgbClr val="191B1F"/>
                </a:solidFill>
                <a:effectLst/>
                <a:latin typeface="-apple-system"/>
              </a:rPr>
              <a:t>树是</a:t>
            </a:r>
            <a:r>
              <a:rPr lang="en-US" altLang="zh-CN" sz="2000" b="1" i="0" dirty="0">
                <a:solidFill>
                  <a:srgbClr val="191B1F"/>
                </a:solidFill>
                <a:effectLst/>
                <a:latin typeface="-apple-system"/>
              </a:rPr>
              <a:t>B-</a:t>
            </a:r>
            <a:r>
              <a:rPr lang="zh-CN" altLang="en-US" sz="2000" b="1" i="0" dirty="0">
                <a:solidFill>
                  <a:srgbClr val="191B1F"/>
                </a:solidFill>
                <a:effectLst/>
                <a:latin typeface="-apple-system"/>
              </a:rPr>
              <a:t>树的变体，也是一种多路搜索树：</a:t>
            </a:r>
          </a:p>
          <a:p>
            <a:pPr algn="l"/>
            <a:r>
              <a:rPr lang="en-US" altLang="zh-CN" sz="2000" b="1" i="0" dirty="0">
                <a:solidFill>
                  <a:srgbClr val="191B1F"/>
                </a:solidFill>
                <a:effectLst/>
                <a:latin typeface="-apple-system"/>
              </a:rPr>
              <a:t>1.</a:t>
            </a:r>
            <a:r>
              <a:rPr lang="zh-CN" altLang="en-US" sz="2000" b="1" i="0" dirty="0">
                <a:solidFill>
                  <a:srgbClr val="191B1F"/>
                </a:solidFill>
                <a:effectLst/>
                <a:latin typeface="-apple-system"/>
              </a:rPr>
              <a:t>其定义基本与</a:t>
            </a:r>
            <a:r>
              <a:rPr lang="en-US" altLang="zh-CN" sz="2000" b="1" i="0" dirty="0">
                <a:solidFill>
                  <a:srgbClr val="191B1F"/>
                </a:solidFill>
                <a:effectLst/>
                <a:latin typeface="-apple-system"/>
              </a:rPr>
              <a:t>B-</a:t>
            </a:r>
            <a:r>
              <a:rPr lang="zh-CN" altLang="en-US" sz="2000" b="1" i="0" dirty="0">
                <a:solidFill>
                  <a:srgbClr val="191B1F"/>
                </a:solidFill>
                <a:effectLst/>
                <a:latin typeface="-apple-system"/>
              </a:rPr>
              <a:t>树相同</a:t>
            </a:r>
          </a:p>
          <a:p>
            <a:pPr algn="l"/>
            <a:r>
              <a:rPr lang="en-US" altLang="zh-CN" sz="2000" b="1" i="0" dirty="0">
                <a:solidFill>
                  <a:srgbClr val="191B1F"/>
                </a:solidFill>
                <a:effectLst/>
                <a:latin typeface="-apple-system"/>
              </a:rPr>
              <a:t>2.</a:t>
            </a:r>
            <a:r>
              <a:rPr lang="zh-CN" altLang="en-US" sz="2000" b="1" i="0" dirty="0">
                <a:solidFill>
                  <a:srgbClr val="191B1F"/>
                </a:solidFill>
                <a:effectLst/>
                <a:latin typeface="-apple-system"/>
              </a:rPr>
              <a:t>非叶子结点的子树指针与关键字个数相同；</a:t>
            </a:r>
          </a:p>
          <a:p>
            <a:pPr algn="l"/>
            <a:r>
              <a:rPr lang="en-US" altLang="zh-CN" sz="2000" b="1" i="0" dirty="0">
                <a:solidFill>
                  <a:srgbClr val="191B1F"/>
                </a:solidFill>
                <a:effectLst/>
                <a:latin typeface="-apple-system"/>
              </a:rPr>
              <a:t>3.</a:t>
            </a:r>
            <a:r>
              <a:rPr lang="zh-CN" altLang="en-US" sz="2000" b="1" i="0" dirty="0">
                <a:solidFill>
                  <a:srgbClr val="191B1F"/>
                </a:solidFill>
                <a:effectLst/>
                <a:latin typeface="-apple-system"/>
              </a:rPr>
              <a:t>非叶子结点的子树指针</a:t>
            </a:r>
            <a:r>
              <a:rPr lang="en-US" altLang="zh-CN" sz="2000" b="1" i="0" dirty="0">
                <a:solidFill>
                  <a:srgbClr val="191B1F"/>
                </a:solidFill>
                <a:effectLst/>
                <a:latin typeface="-apple-system"/>
              </a:rPr>
              <a:t>P[</a:t>
            </a:r>
            <a:r>
              <a:rPr lang="en-US" altLang="zh-CN" sz="2000" b="1" i="0" dirty="0" err="1">
                <a:solidFill>
                  <a:srgbClr val="191B1F"/>
                </a:solidFill>
                <a:effectLst/>
                <a:latin typeface="-apple-system"/>
              </a:rPr>
              <a:t>i</a:t>
            </a:r>
            <a:r>
              <a:rPr lang="en-US" altLang="zh-CN" sz="2000" b="1" i="0" dirty="0">
                <a:solidFill>
                  <a:srgbClr val="191B1F"/>
                </a:solidFill>
                <a:effectLst/>
                <a:latin typeface="-apple-system"/>
              </a:rPr>
              <a:t>]</a:t>
            </a:r>
            <a:r>
              <a:rPr lang="zh-CN" altLang="en-US" sz="2000" b="1" i="0" dirty="0">
                <a:solidFill>
                  <a:srgbClr val="191B1F"/>
                </a:solidFill>
                <a:effectLst/>
                <a:latin typeface="-apple-system"/>
              </a:rPr>
              <a:t>，指向关键字值属于</a:t>
            </a:r>
            <a:r>
              <a:rPr lang="en-US" altLang="zh-CN" sz="2000" b="1" i="0" dirty="0">
                <a:solidFill>
                  <a:srgbClr val="191B1F"/>
                </a:solidFill>
                <a:effectLst/>
                <a:latin typeface="-apple-system"/>
              </a:rPr>
              <a:t>[K[</a:t>
            </a:r>
            <a:r>
              <a:rPr lang="en-US" altLang="zh-CN" sz="2000" b="1" i="0" dirty="0" err="1">
                <a:solidFill>
                  <a:srgbClr val="191B1F"/>
                </a:solidFill>
                <a:effectLst/>
                <a:latin typeface="-apple-system"/>
              </a:rPr>
              <a:t>i</a:t>
            </a:r>
            <a:r>
              <a:rPr lang="en-US" altLang="zh-CN" sz="2000" b="1" i="0" dirty="0">
                <a:solidFill>
                  <a:srgbClr val="191B1F"/>
                </a:solidFill>
                <a:effectLst/>
                <a:latin typeface="-apple-system"/>
              </a:rPr>
              <a:t>], K[i+1])</a:t>
            </a:r>
            <a:r>
              <a:rPr lang="zh-CN" altLang="en-US" sz="2000" b="1" i="0" dirty="0">
                <a:solidFill>
                  <a:srgbClr val="191B1F"/>
                </a:solidFill>
                <a:effectLst/>
                <a:latin typeface="-apple-system"/>
              </a:rPr>
              <a:t>的子树（</a:t>
            </a:r>
            <a:r>
              <a:rPr lang="en-US" altLang="zh-CN" sz="2000" b="1" i="0" dirty="0">
                <a:solidFill>
                  <a:srgbClr val="191B1F"/>
                </a:solidFill>
                <a:effectLst/>
                <a:latin typeface="-apple-system"/>
              </a:rPr>
              <a:t>B-</a:t>
            </a:r>
            <a:r>
              <a:rPr lang="zh-CN" altLang="en-US" sz="2000" b="1" i="0" dirty="0">
                <a:solidFill>
                  <a:srgbClr val="191B1F"/>
                </a:solidFill>
                <a:effectLst/>
                <a:latin typeface="-apple-system"/>
              </a:rPr>
              <a:t>树是开区间）；</a:t>
            </a:r>
          </a:p>
          <a:p>
            <a:pPr algn="l"/>
            <a:r>
              <a:rPr lang="en-US" altLang="zh-CN" sz="2000" b="1" i="0" dirty="0">
                <a:solidFill>
                  <a:srgbClr val="191B1F"/>
                </a:solidFill>
                <a:effectLst/>
                <a:latin typeface="-apple-system"/>
              </a:rPr>
              <a:t>5.</a:t>
            </a:r>
            <a:r>
              <a:rPr lang="zh-CN" altLang="en-US" sz="2000" b="1" i="0" dirty="0">
                <a:solidFill>
                  <a:srgbClr val="191B1F"/>
                </a:solidFill>
                <a:effectLst/>
                <a:latin typeface="-apple-system"/>
              </a:rPr>
              <a:t>为所有叶子结点增加一个链指针；</a:t>
            </a:r>
          </a:p>
          <a:p>
            <a:pPr algn="l"/>
            <a:r>
              <a:rPr lang="en-US" altLang="zh-CN" sz="2000" b="1" i="0" dirty="0">
                <a:solidFill>
                  <a:srgbClr val="191B1F"/>
                </a:solidFill>
                <a:effectLst/>
                <a:latin typeface="-apple-system"/>
              </a:rPr>
              <a:t>6.</a:t>
            </a:r>
            <a:r>
              <a:rPr lang="zh-CN" altLang="en-US" sz="2000" b="1" i="0" dirty="0">
                <a:solidFill>
                  <a:srgbClr val="191B1F"/>
                </a:solidFill>
                <a:effectLst/>
                <a:latin typeface="-apple-system"/>
              </a:rPr>
              <a:t>所有关键字都在叶子结点出现；</a:t>
            </a:r>
          </a:p>
        </p:txBody>
      </p:sp>
      <p:pic>
        <p:nvPicPr>
          <p:cNvPr id="6" name="图片 5">
            <a:extLst>
              <a:ext uri="{FF2B5EF4-FFF2-40B4-BE49-F238E27FC236}">
                <a16:creationId xmlns:a16="http://schemas.microsoft.com/office/drawing/2014/main" id="{FF7C19B4-542C-4032-B528-640132BFFA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8026" y="2430878"/>
            <a:ext cx="7227947" cy="4382498"/>
          </a:xfrm>
          <a:prstGeom prst="rect">
            <a:avLst/>
          </a:prstGeom>
        </p:spPr>
      </p:pic>
    </p:spTree>
    <p:extLst>
      <p:ext uri="{BB962C8B-B14F-4D97-AF65-F5344CB8AC3E}">
        <p14:creationId xmlns:p14="http://schemas.microsoft.com/office/powerpoint/2010/main" val="2361755203"/>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4B30707-CB1F-4357-8E3B-EE97F4A876DD}"/>
              </a:ext>
            </a:extLst>
          </p:cNvPr>
          <p:cNvSpPr>
            <a:spLocks noGrp="1"/>
          </p:cNvSpPr>
          <p:nvPr>
            <p:ph type="dt" sz="half" idx="10"/>
          </p:nvPr>
        </p:nvSpPr>
        <p:spPr/>
        <p:txBody>
          <a:bodyPr/>
          <a:lstStyle/>
          <a:p>
            <a:fld id="{9A6B2991-BBE5-4E69-A281-1A8B0AE9CDD7}" type="datetime1">
              <a:rPr lang="zh-CN" altLang="en-US" smtClean="0"/>
              <a:pPr/>
              <a:t>2025/6/3</a:t>
            </a:fld>
            <a:endParaRPr lang="zh-CN" altLang="en-US"/>
          </a:p>
        </p:txBody>
      </p:sp>
      <p:sp>
        <p:nvSpPr>
          <p:cNvPr id="4" name="文本框 3">
            <a:extLst>
              <a:ext uri="{FF2B5EF4-FFF2-40B4-BE49-F238E27FC236}">
                <a16:creationId xmlns:a16="http://schemas.microsoft.com/office/drawing/2014/main" id="{260712DD-5E52-49C9-9134-30B63C4CB906}"/>
              </a:ext>
            </a:extLst>
          </p:cNvPr>
          <p:cNvSpPr txBox="1"/>
          <p:nvPr/>
        </p:nvSpPr>
        <p:spPr>
          <a:xfrm>
            <a:off x="971600" y="1484784"/>
            <a:ext cx="7344816" cy="400110"/>
          </a:xfrm>
          <a:prstGeom prst="rect">
            <a:avLst/>
          </a:prstGeom>
          <a:noFill/>
        </p:spPr>
        <p:txBody>
          <a:bodyPr wrap="square">
            <a:spAutoFit/>
          </a:bodyPr>
          <a:lstStyle/>
          <a:p>
            <a:r>
              <a:rPr lang="zh-CN" altLang="en-US" sz="2000" dirty="0">
                <a:latin typeface="Arial Black" panose="020B0A04020102020204" pitchFamily="34" charset="0"/>
              </a:rPr>
              <a:t>0      1      2      3       4      5      6       7       8      9</a:t>
            </a:r>
          </a:p>
        </p:txBody>
      </p:sp>
      <p:graphicFrame>
        <p:nvGraphicFramePr>
          <p:cNvPr id="5" name="表格 5">
            <a:extLst>
              <a:ext uri="{FF2B5EF4-FFF2-40B4-BE49-F238E27FC236}">
                <a16:creationId xmlns:a16="http://schemas.microsoft.com/office/drawing/2014/main" id="{B98ED105-4F09-468D-8AE1-6C7E438F0511}"/>
              </a:ext>
            </a:extLst>
          </p:cNvPr>
          <p:cNvGraphicFramePr>
            <a:graphicFrameLocks noGrp="1"/>
          </p:cNvGraphicFramePr>
          <p:nvPr/>
        </p:nvGraphicFramePr>
        <p:xfrm>
          <a:off x="827584" y="1897088"/>
          <a:ext cx="7056780" cy="707886"/>
        </p:xfrm>
        <a:graphic>
          <a:graphicData uri="http://schemas.openxmlformats.org/drawingml/2006/table">
            <a:tbl>
              <a:tblPr firstRow="1" bandRow="1">
                <a:tableStyleId>{5C22544A-7EE6-4342-B048-85BDC9FD1C3A}</a:tableStyleId>
              </a:tblPr>
              <a:tblGrid>
                <a:gridCol w="705678">
                  <a:extLst>
                    <a:ext uri="{9D8B030D-6E8A-4147-A177-3AD203B41FA5}">
                      <a16:colId xmlns:a16="http://schemas.microsoft.com/office/drawing/2014/main" val="1171980984"/>
                    </a:ext>
                  </a:extLst>
                </a:gridCol>
                <a:gridCol w="705678">
                  <a:extLst>
                    <a:ext uri="{9D8B030D-6E8A-4147-A177-3AD203B41FA5}">
                      <a16:colId xmlns:a16="http://schemas.microsoft.com/office/drawing/2014/main" val="2503194978"/>
                    </a:ext>
                  </a:extLst>
                </a:gridCol>
                <a:gridCol w="705678">
                  <a:extLst>
                    <a:ext uri="{9D8B030D-6E8A-4147-A177-3AD203B41FA5}">
                      <a16:colId xmlns:a16="http://schemas.microsoft.com/office/drawing/2014/main" val="939977632"/>
                    </a:ext>
                  </a:extLst>
                </a:gridCol>
                <a:gridCol w="705678">
                  <a:extLst>
                    <a:ext uri="{9D8B030D-6E8A-4147-A177-3AD203B41FA5}">
                      <a16:colId xmlns:a16="http://schemas.microsoft.com/office/drawing/2014/main" val="3229396349"/>
                    </a:ext>
                  </a:extLst>
                </a:gridCol>
                <a:gridCol w="705678">
                  <a:extLst>
                    <a:ext uri="{9D8B030D-6E8A-4147-A177-3AD203B41FA5}">
                      <a16:colId xmlns:a16="http://schemas.microsoft.com/office/drawing/2014/main" val="3596236929"/>
                    </a:ext>
                  </a:extLst>
                </a:gridCol>
                <a:gridCol w="705678">
                  <a:extLst>
                    <a:ext uri="{9D8B030D-6E8A-4147-A177-3AD203B41FA5}">
                      <a16:colId xmlns:a16="http://schemas.microsoft.com/office/drawing/2014/main" val="1995735317"/>
                    </a:ext>
                  </a:extLst>
                </a:gridCol>
                <a:gridCol w="705678">
                  <a:extLst>
                    <a:ext uri="{9D8B030D-6E8A-4147-A177-3AD203B41FA5}">
                      <a16:colId xmlns:a16="http://schemas.microsoft.com/office/drawing/2014/main" val="489352475"/>
                    </a:ext>
                  </a:extLst>
                </a:gridCol>
                <a:gridCol w="705678">
                  <a:extLst>
                    <a:ext uri="{9D8B030D-6E8A-4147-A177-3AD203B41FA5}">
                      <a16:colId xmlns:a16="http://schemas.microsoft.com/office/drawing/2014/main" val="4098136232"/>
                    </a:ext>
                  </a:extLst>
                </a:gridCol>
                <a:gridCol w="705678">
                  <a:extLst>
                    <a:ext uri="{9D8B030D-6E8A-4147-A177-3AD203B41FA5}">
                      <a16:colId xmlns:a16="http://schemas.microsoft.com/office/drawing/2014/main" val="2864950872"/>
                    </a:ext>
                  </a:extLst>
                </a:gridCol>
                <a:gridCol w="705678">
                  <a:extLst>
                    <a:ext uri="{9D8B030D-6E8A-4147-A177-3AD203B41FA5}">
                      <a16:colId xmlns:a16="http://schemas.microsoft.com/office/drawing/2014/main" val="260069394"/>
                    </a:ext>
                  </a:extLst>
                </a:gridCol>
              </a:tblGrid>
              <a:tr h="707886">
                <a:tc>
                  <a:txBody>
                    <a:bodyPr/>
                    <a:lstStyle/>
                    <a:p>
                      <a:pPr algn="ctr"/>
                      <a:r>
                        <a:rPr lang="en-US" altLang="zh-CN" sz="2800" dirty="0">
                          <a:solidFill>
                            <a:schemeClr val="tx1"/>
                          </a:solidFill>
                          <a:latin typeface="Arial Black" panose="020B0A04020102020204" pitchFamily="34" charset="0"/>
                        </a:rPr>
                        <a:t>38</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71</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32</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42</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22</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55</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21</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-1</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18</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68</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extLst>
                  <a:ext uri="{0D108BD9-81ED-4DB2-BD59-A6C34878D82A}">
                    <a16:rowId xmlns:a16="http://schemas.microsoft.com/office/drawing/2014/main" val="3289424096"/>
                  </a:ext>
                </a:extLst>
              </a:tr>
            </a:tbl>
          </a:graphicData>
        </a:graphic>
      </p:graphicFrame>
      <p:graphicFrame>
        <p:nvGraphicFramePr>
          <p:cNvPr id="7" name="表格 5">
            <a:extLst>
              <a:ext uri="{FF2B5EF4-FFF2-40B4-BE49-F238E27FC236}">
                <a16:creationId xmlns:a16="http://schemas.microsoft.com/office/drawing/2014/main" id="{19DEDAF3-7826-4EEF-853E-62EFAD1FF01C}"/>
              </a:ext>
            </a:extLst>
          </p:cNvPr>
          <p:cNvGraphicFramePr>
            <a:graphicFrameLocks noGrp="1"/>
          </p:cNvGraphicFramePr>
          <p:nvPr/>
        </p:nvGraphicFramePr>
        <p:xfrm>
          <a:off x="827584" y="4881354"/>
          <a:ext cx="7056780" cy="707886"/>
        </p:xfrm>
        <a:graphic>
          <a:graphicData uri="http://schemas.openxmlformats.org/drawingml/2006/table">
            <a:tbl>
              <a:tblPr firstRow="1" bandRow="1">
                <a:tableStyleId>{5C22544A-7EE6-4342-B048-85BDC9FD1C3A}</a:tableStyleId>
              </a:tblPr>
              <a:tblGrid>
                <a:gridCol w="705678">
                  <a:extLst>
                    <a:ext uri="{9D8B030D-6E8A-4147-A177-3AD203B41FA5}">
                      <a16:colId xmlns:a16="http://schemas.microsoft.com/office/drawing/2014/main" val="1171980984"/>
                    </a:ext>
                  </a:extLst>
                </a:gridCol>
                <a:gridCol w="705678">
                  <a:extLst>
                    <a:ext uri="{9D8B030D-6E8A-4147-A177-3AD203B41FA5}">
                      <a16:colId xmlns:a16="http://schemas.microsoft.com/office/drawing/2014/main" val="2503194978"/>
                    </a:ext>
                  </a:extLst>
                </a:gridCol>
                <a:gridCol w="705678">
                  <a:extLst>
                    <a:ext uri="{9D8B030D-6E8A-4147-A177-3AD203B41FA5}">
                      <a16:colId xmlns:a16="http://schemas.microsoft.com/office/drawing/2014/main" val="939977632"/>
                    </a:ext>
                  </a:extLst>
                </a:gridCol>
                <a:gridCol w="705678">
                  <a:extLst>
                    <a:ext uri="{9D8B030D-6E8A-4147-A177-3AD203B41FA5}">
                      <a16:colId xmlns:a16="http://schemas.microsoft.com/office/drawing/2014/main" val="3229396349"/>
                    </a:ext>
                  </a:extLst>
                </a:gridCol>
                <a:gridCol w="705678">
                  <a:extLst>
                    <a:ext uri="{9D8B030D-6E8A-4147-A177-3AD203B41FA5}">
                      <a16:colId xmlns:a16="http://schemas.microsoft.com/office/drawing/2014/main" val="3596236929"/>
                    </a:ext>
                  </a:extLst>
                </a:gridCol>
                <a:gridCol w="705678">
                  <a:extLst>
                    <a:ext uri="{9D8B030D-6E8A-4147-A177-3AD203B41FA5}">
                      <a16:colId xmlns:a16="http://schemas.microsoft.com/office/drawing/2014/main" val="1995735317"/>
                    </a:ext>
                  </a:extLst>
                </a:gridCol>
                <a:gridCol w="705678">
                  <a:extLst>
                    <a:ext uri="{9D8B030D-6E8A-4147-A177-3AD203B41FA5}">
                      <a16:colId xmlns:a16="http://schemas.microsoft.com/office/drawing/2014/main" val="489352475"/>
                    </a:ext>
                  </a:extLst>
                </a:gridCol>
                <a:gridCol w="705678">
                  <a:extLst>
                    <a:ext uri="{9D8B030D-6E8A-4147-A177-3AD203B41FA5}">
                      <a16:colId xmlns:a16="http://schemas.microsoft.com/office/drawing/2014/main" val="4098136232"/>
                    </a:ext>
                  </a:extLst>
                </a:gridCol>
                <a:gridCol w="705678">
                  <a:extLst>
                    <a:ext uri="{9D8B030D-6E8A-4147-A177-3AD203B41FA5}">
                      <a16:colId xmlns:a16="http://schemas.microsoft.com/office/drawing/2014/main" val="2864950872"/>
                    </a:ext>
                  </a:extLst>
                </a:gridCol>
                <a:gridCol w="705678">
                  <a:extLst>
                    <a:ext uri="{9D8B030D-6E8A-4147-A177-3AD203B41FA5}">
                      <a16:colId xmlns:a16="http://schemas.microsoft.com/office/drawing/2014/main" val="260069394"/>
                    </a:ext>
                  </a:extLst>
                </a:gridCol>
              </a:tblGrid>
              <a:tr h="707886">
                <a:tc>
                  <a:txBody>
                    <a:bodyPr/>
                    <a:lstStyle/>
                    <a:p>
                      <a:pPr algn="ctr"/>
                      <a:r>
                        <a:rPr lang="en-US" altLang="zh-CN" sz="2800" dirty="0">
                          <a:solidFill>
                            <a:schemeClr val="tx1"/>
                          </a:solidFill>
                          <a:latin typeface="Arial Black" panose="020B0A04020102020204" pitchFamily="34" charset="0"/>
                        </a:rPr>
                        <a:t>21</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71</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32</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42</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22</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55</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-1</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38</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18</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68</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extLst>
                  <a:ext uri="{0D108BD9-81ED-4DB2-BD59-A6C34878D82A}">
                    <a16:rowId xmlns:a16="http://schemas.microsoft.com/office/drawing/2014/main" val="3289424096"/>
                  </a:ext>
                </a:extLst>
              </a:tr>
            </a:tbl>
          </a:graphicData>
        </a:graphic>
      </p:graphicFrame>
      <p:sp>
        <p:nvSpPr>
          <p:cNvPr id="8" name="文本框 7">
            <a:extLst>
              <a:ext uri="{FF2B5EF4-FFF2-40B4-BE49-F238E27FC236}">
                <a16:creationId xmlns:a16="http://schemas.microsoft.com/office/drawing/2014/main" id="{D85C8AA0-EF35-4BEF-84BA-46BE4F24F338}"/>
              </a:ext>
            </a:extLst>
          </p:cNvPr>
          <p:cNvSpPr txBox="1"/>
          <p:nvPr/>
        </p:nvSpPr>
        <p:spPr>
          <a:xfrm>
            <a:off x="899592" y="836712"/>
            <a:ext cx="5904656" cy="523220"/>
          </a:xfrm>
          <a:prstGeom prst="rect">
            <a:avLst/>
          </a:prstGeom>
          <a:noFill/>
        </p:spPr>
        <p:txBody>
          <a:bodyPr wrap="square" rtlCol="0">
            <a:spAutoFit/>
          </a:bodyPr>
          <a:lstStyle/>
          <a:p>
            <a:r>
              <a:rPr lang="zh-CN" altLang="en-US" sz="2800" b="1" dirty="0">
                <a:solidFill>
                  <a:srgbClr val="FF0000"/>
                </a:solidFill>
              </a:rPr>
              <a:t>单向线性探测再散列，创建哈希表</a:t>
            </a:r>
          </a:p>
        </p:txBody>
      </p:sp>
      <p:sp>
        <p:nvSpPr>
          <p:cNvPr id="9" name="文本框 8">
            <a:extLst>
              <a:ext uri="{FF2B5EF4-FFF2-40B4-BE49-F238E27FC236}">
                <a16:creationId xmlns:a16="http://schemas.microsoft.com/office/drawing/2014/main" id="{26E8507A-178C-45F0-BA2C-3F516DDF6125}"/>
              </a:ext>
            </a:extLst>
          </p:cNvPr>
          <p:cNvSpPr txBox="1"/>
          <p:nvPr/>
        </p:nvSpPr>
        <p:spPr>
          <a:xfrm>
            <a:off x="971600" y="4469050"/>
            <a:ext cx="7344816" cy="400110"/>
          </a:xfrm>
          <a:prstGeom prst="rect">
            <a:avLst/>
          </a:prstGeom>
          <a:noFill/>
        </p:spPr>
        <p:txBody>
          <a:bodyPr wrap="square">
            <a:spAutoFit/>
          </a:bodyPr>
          <a:lstStyle/>
          <a:p>
            <a:r>
              <a:rPr lang="zh-CN" altLang="en-US" sz="2000" dirty="0">
                <a:latin typeface="Arial Black" panose="020B0A04020102020204" pitchFamily="34" charset="0"/>
              </a:rPr>
              <a:t>0      1      2      3       4      5      6       7       8      9</a:t>
            </a:r>
          </a:p>
        </p:txBody>
      </p:sp>
      <p:sp>
        <p:nvSpPr>
          <p:cNvPr id="10" name="文本框 9">
            <a:extLst>
              <a:ext uri="{FF2B5EF4-FFF2-40B4-BE49-F238E27FC236}">
                <a16:creationId xmlns:a16="http://schemas.microsoft.com/office/drawing/2014/main" id="{FF5652A9-634E-4D9E-B4C0-F2ACBEE3C3A6}"/>
              </a:ext>
            </a:extLst>
          </p:cNvPr>
          <p:cNvSpPr txBox="1"/>
          <p:nvPr/>
        </p:nvSpPr>
        <p:spPr>
          <a:xfrm>
            <a:off x="899592" y="3697868"/>
            <a:ext cx="5904656" cy="523220"/>
          </a:xfrm>
          <a:prstGeom prst="rect">
            <a:avLst/>
          </a:prstGeom>
          <a:noFill/>
        </p:spPr>
        <p:txBody>
          <a:bodyPr wrap="square" rtlCol="0">
            <a:spAutoFit/>
          </a:bodyPr>
          <a:lstStyle/>
          <a:p>
            <a:r>
              <a:rPr lang="zh-CN" altLang="en-US" sz="2800" b="1" dirty="0">
                <a:solidFill>
                  <a:srgbClr val="FF0000"/>
                </a:solidFill>
              </a:rPr>
              <a:t>双向线性探测再散列，创建哈希表</a:t>
            </a:r>
          </a:p>
        </p:txBody>
      </p:sp>
      <p:sp>
        <p:nvSpPr>
          <p:cNvPr id="11" name="文本框 10">
            <a:extLst>
              <a:ext uri="{FF2B5EF4-FFF2-40B4-BE49-F238E27FC236}">
                <a16:creationId xmlns:a16="http://schemas.microsoft.com/office/drawing/2014/main" id="{FB97F6CB-1DF8-4775-9DA2-492702B560DD}"/>
              </a:ext>
            </a:extLst>
          </p:cNvPr>
          <p:cNvSpPr txBox="1"/>
          <p:nvPr/>
        </p:nvSpPr>
        <p:spPr>
          <a:xfrm>
            <a:off x="899592" y="2852936"/>
            <a:ext cx="6192688" cy="461665"/>
          </a:xfrm>
          <a:prstGeom prst="rect">
            <a:avLst/>
          </a:prstGeom>
          <a:noFill/>
        </p:spPr>
        <p:txBody>
          <a:bodyPr wrap="square" rtlCol="0">
            <a:spAutoFit/>
          </a:bodyPr>
          <a:lstStyle/>
          <a:p>
            <a:r>
              <a:rPr lang="en-US" altLang="zh-CN" sz="2400" dirty="0">
                <a:latin typeface="Arial Black" panose="020B0A04020102020204" pitchFamily="34" charset="0"/>
              </a:rPr>
              <a:t>ASL=(3+1+1+2+3+1+6+1+2)/9=20/9</a:t>
            </a:r>
            <a:endParaRPr lang="zh-CN" altLang="en-US" sz="2400" dirty="0">
              <a:latin typeface="Arial Black" panose="020B0A04020102020204" pitchFamily="34" charset="0"/>
            </a:endParaRPr>
          </a:p>
        </p:txBody>
      </p:sp>
      <p:sp>
        <p:nvSpPr>
          <p:cNvPr id="12" name="文本框 11">
            <a:extLst>
              <a:ext uri="{FF2B5EF4-FFF2-40B4-BE49-F238E27FC236}">
                <a16:creationId xmlns:a16="http://schemas.microsoft.com/office/drawing/2014/main" id="{AE375697-BBE4-46B5-B6C3-87AC28F2DB57}"/>
              </a:ext>
            </a:extLst>
          </p:cNvPr>
          <p:cNvSpPr txBox="1"/>
          <p:nvPr/>
        </p:nvSpPr>
        <p:spPr>
          <a:xfrm>
            <a:off x="899592" y="5847655"/>
            <a:ext cx="6192688" cy="461665"/>
          </a:xfrm>
          <a:prstGeom prst="rect">
            <a:avLst/>
          </a:prstGeom>
          <a:noFill/>
        </p:spPr>
        <p:txBody>
          <a:bodyPr wrap="square" rtlCol="0">
            <a:spAutoFit/>
          </a:bodyPr>
          <a:lstStyle/>
          <a:p>
            <a:r>
              <a:rPr lang="en-US" altLang="zh-CN" sz="2400" dirty="0">
                <a:latin typeface="Arial Black" panose="020B0A04020102020204" pitchFamily="34" charset="0"/>
              </a:rPr>
              <a:t>ASL=(3+1+1+2+4+1+3+1+2)/9=18/9</a:t>
            </a:r>
            <a:endParaRPr lang="zh-CN" altLang="en-US" sz="2400" dirty="0">
              <a:latin typeface="Arial Black" panose="020B0A04020102020204" pitchFamily="34" charset="0"/>
            </a:endParaRPr>
          </a:p>
        </p:txBody>
      </p:sp>
      <p:sp>
        <p:nvSpPr>
          <p:cNvPr id="14" name="文本框 13">
            <a:extLst>
              <a:ext uri="{FF2B5EF4-FFF2-40B4-BE49-F238E27FC236}">
                <a16:creationId xmlns:a16="http://schemas.microsoft.com/office/drawing/2014/main" id="{CC83DB60-FB1C-4FCF-84B4-79331EE2FD02}"/>
              </a:ext>
            </a:extLst>
          </p:cNvPr>
          <p:cNvSpPr txBox="1"/>
          <p:nvPr/>
        </p:nvSpPr>
        <p:spPr>
          <a:xfrm>
            <a:off x="611560" y="260648"/>
            <a:ext cx="7992888" cy="461665"/>
          </a:xfrm>
          <a:prstGeom prst="rect">
            <a:avLst/>
          </a:prstGeom>
          <a:noFill/>
        </p:spPr>
        <p:txBody>
          <a:bodyPr wrap="square">
            <a:spAutoFit/>
          </a:bodyPr>
          <a:lstStyle/>
          <a:p>
            <a:r>
              <a:rPr lang="zh-CN" altLang="en-US" sz="2400" b="1" dirty="0">
                <a:latin typeface="Arial Black" panose="020B0A04020102020204" pitchFamily="34" charset="0"/>
              </a:rPr>
              <a:t>假设关键字序列：{32,18,68,42,55,71,22,38,21}</a:t>
            </a:r>
          </a:p>
        </p:txBody>
      </p:sp>
    </p:spTree>
    <p:extLst>
      <p:ext uri="{BB962C8B-B14F-4D97-AF65-F5344CB8AC3E}">
        <p14:creationId xmlns:p14="http://schemas.microsoft.com/office/powerpoint/2010/main" val="1079002748"/>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3A23E5B-013D-459D-ACB9-7A481409E15C}"/>
              </a:ext>
            </a:extLst>
          </p:cNvPr>
          <p:cNvSpPr>
            <a:spLocks noGrp="1"/>
          </p:cNvSpPr>
          <p:nvPr>
            <p:ph type="dt" sz="half" idx="10"/>
          </p:nvPr>
        </p:nvSpPr>
        <p:spPr/>
        <p:txBody>
          <a:bodyPr/>
          <a:lstStyle/>
          <a:p>
            <a:fld id="{9A6B2991-BBE5-4E69-A281-1A8B0AE9CDD7}" type="datetime1">
              <a:rPr lang="zh-CN" altLang="en-US" smtClean="0"/>
              <a:pPr/>
              <a:t>2025/6/3</a:t>
            </a:fld>
            <a:endParaRPr lang="zh-CN" altLang="en-US"/>
          </a:p>
        </p:txBody>
      </p:sp>
      <p:sp>
        <p:nvSpPr>
          <p:cNvPr id="3" name="文本框 2">
            <a:extLst>
              <a:ext uri="{FF2B5EF4-FFF2-40B4-BE49-F238E27FC236}">
                <a16:creationId xmlns:a16="http://schemas.microsoft.com/office/drawing/2014/main" id="{525AA198-58D0-451B-96F6-829C56EA464F}"/>
              </a:ext>
            </a:extLst>
          </p:cNvPr>
          <p:cNvSpPr txBox="1"/>
          <p:nvPr/>
        </p:nvSpPr>
        <p:spPr>
          <a:xfrm>
            <a:off x="107504" y="44624"/>
            <a:ext cx="8928992" cy="6740307"/>
          </a:xfrm>
          <a:prstGeom prst="rect">
            <a:avLst/>
          </a:prstGeom>
          <a:solidFill>
            <a:schemeClr val="accent3">
              <a:lumMod val="40000"/>
              <a:lumOff val="60000"/>
            </a:schemeClr>
          </a:solidFill>
        </p:spPr>
        <p:txBody>
          <a:bodyPr wrap="square" rtlCol="0">
            <a:spAutoFit/>
          </a:bodyPr>
          <a:lstStyle/>
          <a:p>
            <a:r>
              <a:rPr lang="en-US" altLang="zh-CN" b="1" dirty="0">
                <a:solidFill>
                  <a:srgbClr val="FF0000"/>
                </a:solidFill>
                <a:latin typeface="Arial Black" panose="020B0A04020102020204" pitchFamily="34" charset="0"/>
              </a:rPr>
              <a:t>//</a:t>
            </a:r>
            <a:r>
              <a:rPr lang="zh-CN" altLang="en-US" b="1" dirty="0">
                <a:solidFill>
                  <a:srgbClr val="FF0000"/>
                </a:solidFill>
                <a:latin typeface="Arial Black" panose="020B0A04020102020204" pitchFamily="34" charset="0"/>
              </a:rPr>
              <a:t>单向线性探测再散列，建立哈希表</a:t>
            </a:r>
          </a:p>
          <a:p>
            <a:r>
              <a:rPr lang="en-US" altLang="zh-CN" dirty="0">
                <a:latin typeface="Arial Black" panose="020B0A04020102020204" pitchFamily="34" charset="0"/>
              </a:rPr>
              <a:t>template &lt;class </a:t>
            </a:r>
            <a:r>
              <a:rPr lang="en-US" altLang="zh-CN" dirty="0" err="1">
                <a:latin typeface="Arial Black" panose="020B0A04020102020204" pitchFamily="34" charset="0"/>
              </a:rPr>
              <a:t>keytype,class</a:t>
            </a:r>
            <a:r>
              <a:rPr lang="en-US" altLang="zh-CN" dirty="0">
                <a:latin typeface="Arial Black" panose="020B0A04020102020204" pitchFamily="34" charset="0"/>
              </a:rPr>
              <a:t> </a:t>
            </a:r>
            <a:r>
              <a:rPr lang="en-US" altLang="zh-CN" dirty="0" err="1">
                <a:latin typeface="Arial Black" panose="020B0A04020102020204" pitchFamily="34" charset="0"/>
              </a:rPr>
              <a:t>Itemtype</a:t>
            </a:r>
            <a:r>
              <a:rPr lang="en-US" altLang="zh-CN" dirty="0">
                <a:latin typeface="Arial Black" panose="020B0A04020102020204" pitchFamily="34" charset="0"/>
              </a:rPr>
              <a:t>&gt;</a:t>
            </a:r>
          </a:p>
          <a:p>
            <a:r>
              <a:rPr lang="en-US" altLang="zh-CN" dirty="0">
                <a:latin typeface="Arial Black" panose="020B0A04020102020204" pitchFamily="34" charset="0"/>
              </a:rPr>
              <a:t>bool </a:t>
            </a:r>
            <a:r>
              <a:rPr lang="en-US" altLang="zh-CN" dirty="0" err="1">
                <a:latin typeface="Arial Black" panose="020B0A04020102020204" pitchFamily="34" charset="0"/>
              </a:rPr>
              <a:t>recordList</a:t>
            </a:r>
            <a:r>
              <a:rPr lang="en-US" altLang="zh-CN" dirty="0">
                <a:latin typeface="Arial Black" panose="020B0A04020102020204" pitchFamily="34" charset="0"/>
              </a:rPr>
              <a:t>&lt;</a:t>
            </a:r>
            <a:r>
              <a:rPr lang="en-US" altLang="zh-CN" dirty="0" err="1">
                <a:latin typeface="Arial Black" panose="020B0A04020102020204" pitchFamily="34" charset="0"/>
              </a:rPr>
              <a:t>keytype,Itemtype</a:t>
            </a:r>
            <a:r>
              <a:rPr lang="en-US" altLang="zh-CN" dirty="0">
                <a:latin typeface="Arial Black" panose="020B0A04020102020204" pitchFamily="34" charset="0"/>
              </a:rPr>
              <a:t>&gt;::set_hash2(</a:t>
            </a:r>
            <a:r>
              <a:rPr lang="en-US" altLang="zh-CN" dirty="0" err="1">
                <a:latin typeface="Arial Black" panose="020B0A04020102020204" pitchFamily="34" charset="0"/>
              </a:rPr>
              <a:t>keytype</a:t>
            </a:r>
            <a:r>
              <a:rPr lang="en-US" altLang="zh-CN" dirty="0">
                <a:latin typeface="Arial Black" panose="020B0A04020102020204" pitchFamily="34" charset="0"/>
              </a:rPr>
              <a:t> *</a:t>
            </a:r>
            <a:r>
              <a:rPr lang="en-US" altLang="zh-CN" dirty="0" err="1">
                <a:latin typeface="Arial Black" panose="020B0A04020102020204" pitchFamily="34" charset="0"/>
              </a:rPr>
              <a:t>pa,int</a:t>
            </a:r>
            <a:r>
              <a:rPr lang="en-US" altLang="zh-CN" dirty="0">
                <a:latin typeface="Arial Black" panose="020B0A04020102020204" pitchFamily="34" charset="0"/>
              </a:rPr>
              <a:t> n)</a:t>
            </a:r>
          </a:p>
          <a:p>
            <a:r>
              <a:rPr lang="en-US" altLang="zh-CN" dirty="0">
                <a:latin typeface="Arial Black" panose="020B0A04020102020204" pitchFamily="34" charset="0"/>
              </a:rPr>
              <a:t>//n</a:t>
            </a:r>
            <a:r>
              <a:rPr lang="zh-CN" altLang="en-US" dirty="0">
                <a:latin typeface="Arial Black" panose="020B0A04020102020204" pitchFamily="34" charset="0"/>
              </a:rPr>
              <a:t>个数据元素存放在一维数组中，</a:t>
            </a:r>
            <a:r>
              <a:rPr lang="en-US" altLang="zh-CN" dirty="0">
                <a:latin typeface="Arial Black" panose="020B0A04020102020204" pitchFamily="34" charset="0"/>
              </a:rPr>
              <a:t>pa</a:t>
            </a:r>
            <a:r>
              <a:rPr lang="zh-CN" altLang="en-US" dirty="0">
                <a:latin typeface="Arial Black" panose="020B0A04020102020204" pitchFamily="34" charset="0"/>
              </a:rPr>
              <a:t>指向数组的首地址</a:t>
            </a:r>
          </a:p>
          <a:p>
            <a:r>
              <a:rPr lang="en-US" altLang="zh-CN" dirty="0">
                <a:latin typeface="Arial Black" panose="020B0A04020102020204" pitchFamily="34" charset="0"/>
              </a:rPr>
              <a:t>{	int </a:t>
            </a:r>
            <a:r>
              <a:rPr lang="en-US" altLang="zh-CN" dirty="0" err="1">
                <a:latin typeface="Arial Black" panose="020B0A04020102020204" pitchFamily="34" charset="0"/>
              </a:rPr>
              <a:t>addr,new_addr,di</a:t>
            </a:r>
            <a:r>
              <a:rPr lang="en-US" altLang="zh-CN" dirty="0">
                <a:latin typeface="Arial Black" panose="020B0A04020102020204" pitchFamily="34" charset="0"/>
              </a:rPr>
              <a:t>;</a:t>
            </a:r>
          </a:p>
          <a:p>
            <a:r>
              <a:rPr lang="en-US" altLang="zh-CN" dirty="0">
                <a:latin typeface="Arial Black" panose="020B0A04020102020204" pitchFamily="34" charset="0"/>
              </a:rPr>
              <a:t>	if(n&lt;0||(</a:t>
            </a:r>
            <a:r>
              <a:rPr lang="en-US" altLang="zh-CN" dirty="0" err="1">
                <a:latin typeface="Arial Black" panose="020B0A04020102020204" pitchFamily="34" charset="0"/>
              </a:rPr>
              <a:t>n+n</a:t>
            </a:r>
            <a:r>
              <a:rPr lang="en-US" altLang="zh-CN" dirty="0">
                <a:latin typeface="Arial Black" panose="020B0A04020102020204" pitchFamily="34" charset="0"/>
              </a:rPr>
              <a:t>/10+1)&gt;</a:t>
            </a:r>
            <a:r>
              <a:rPr lang="en-US" altLang="zh-CN" dirty="0" err="1">
                <a:latin typeface="Arial Black" panose="020B0A04020102020204" pitchFamily="34" charset="0"/>
              </a:rPr>
              <a:t>MaxSize</a:t>
            </a:r>
            <a:r>
              <a:rPr lang="en-US" altLang="zh-CN" dirty="0">
                <a:latin typeface="Arial Black" panose="020B0A04020102020204" pitchFamily="34" charset="0"/>
              </a:rPr>
              <a:t>)                 //</a:t>
            </a:r>
            <a:r>
              <a:rPr lang="zh-CN" altLang="en-US" dirty="0">
                <a:latin typeface="Arial Black" panose="020B0A04020102020204" pitchFamily="34" charset="0"/>
              </a:rPr>
              <a:t>检验</a:t>
            </a:r>
            <a:r>
              <a:rPr lang="en-US" altLang="zh-CN" dirty="0">
                <a:latin typeface="Arial Black" panose="020B0A04020102020204" pitchFamily="34" charset="0"/>
              </a:rPr>
              <a:t>n</a:t>
            </a:r>
            <a:r>
              <a:rPr lang="zh-CN" altLang="en-US" dirty="0">
                <a:latin typeface="Arial Black" panose="020B0A04020102020204" pitchFamily="34" charset="0"/>
              </a:rPr>
              <a:t>的合法性</a:t>
            </a:r>
          </a:p>
          <a:p>
            <a:r>
              <a:rPr lang="zh-CN" altLang="en-US" dirty="0">
                <a:latin typeface="Arial Black" panose="020B0A04020102020204" pitchFamily="34" charset="0"/>
              </a:rPr>
              <a:t>	</a:t>
            </a:r>
            <a:r>
              <a:rPr lang="en-US" altLang="zh-CN" dirty="0">
                <a:latin typeface="Arial Black" panose="020B0A04020102020204" pitchFamily="34" charset="0"/>
              </a:rPr>
              <a:t>{	</a:t>
            </a:r>
            <a:r>
              <a:rPr lang="en-US" altLang="zh-CN" dirty="0" err="1">
                <a:latin typeface="Arial Black" panose="020B0A04020102020204" pitchFamily="34" charset="0"/>
              </a:rPr>
              <a:t>cout</a:t>
            </a:r>
            <a:r>
              <a:rPr lang="en-US" altLang="zh-CN" dirty="0">
                <a:latin typeface="Arial Black" panose="020B0A04020102020204" pitchFamily="34" charset="0"/>
              </a:rPr>
              <a:t>&lt;&lt;"n</a:t>
            </a:r>
            <a:r>
              <a:rPr lang="zh-CN" altLang="en-US" dirty="0">
                <a:latin typeface="Arial Black" panose="020B0A04020102020204" pitchFamily="34" charset="0"/>
              </a:rPr>
              <a:t>的值有错误，不能创建哈希表！</a:t>
            </a:r>
            <a:r>
              <a:rPr lang="en-US" altLang="zh-CN" dirty="0">
                <a:latin typeface="Arial Black" panose="020B0A04020102020204" pitchFamily="34" charset="0"/>
              </a:rPr>
              <a:t>\n";</a:t>
            </a:r>
          </a:p>
          <a:p>
            <a:r>
              <a:rPr lang="en-US" altLang="zh-CN" dirty="0">
                <a:latin typeface="Arial Black" panose="020B0A04020102020204" pitchFamily="34" charset="0"/>
              </a:rPr>
              <a:t>		return false;	}</a:t>
            </a:r>
          </a:p>
          <a:p>
            <a:r>
              <a:rPr lang="en-US" altLang="zh-CN" dirty="0">
                <a:latin typeface="Arial Black" panose="020B0A04020102020204" pitchFamily="34" charset="0"/>
              </a:rPr>
              <a:t>	</a:t>
            </a:r>
            <a:r>
              <a:rPr lang="en-US" altLang="zh-CN" dirty="0" err="1">
                <a:latin typeface="Arial Black" panose="020B0A04020102020204" pitchFamily="34" charset="0"/>
              </a:rPr>
              <a:t>CurrentSize</a:t>
            </a:r>
            <a:r>
              <a:rPr lang="en-US" altLang="zh-CN" dirty="0">
                <a:latin typeface="Arial Black" panose="020B0A04020102020204" pitchFamily="34" charset="0"/>
              </a:rPr>
              <a:t> = </a:t>
            </a:r>
            <a:r>
              <a:rPr lang="en-US" altLang="zh-CN" dirty="0" err="1">
                <a:latin typeface="Arial Black" panose="020B0A04020102020204" pitchFamily="34" charset="0"/>
              </a:rPr>
              <a:t>n+n</a:t>
            </a:r>
            <a:r>
              <a:rPr lang="en-US" altLang="zh-CN" dirty="0">
                <a:latin typeface="Arial Black" panose="020B0A04020102020204" pitchFamily="34" charset="0"/>
              </a:rPr>
              <a:t>/10+1;           //</a:t>
            </a:r>
            <a:r>
              <a:rPr lang="zh-CN" altLang="en-US" dirty="0">
                <a:latin typeface="Arial Black" panose="020B0A04020102020204" pitchFamily="34" charset="0"/>
              </a:rPr>
              <a:t>保证哈希表长大于</a:t>
            </a:r>
            <a:r>
              <a:rPr lang="en-US" altLang="zh-CN" dirty="0">
                <a:latin typeface="Arial Black" panose="020B0A04020102020204" pitchFamily="34" charset="0"/>
              </a:rPr>
              <a:t>n</a:t>
            </a:r>
            <a:r>
              <a:rPr lang="zh-CN" altLang="en-US" dirty="0">
                <a:latin typeface="Arial Black" panose="020B0A04020102020204" pitchFamily="34" charset="0"/>
              </a:rPr>
              <a:t>十个百分点</a:t>
            </a:r>
          </a:p>
          <a:p>
            <a:r>
              <a:rPr lang="zh-CN" altLang="en-US" dirty="0">
                <a:latin typeface="Arial Black" panose="020B0A04020102020204" pitchFamily="34" charset="0"/>
              </a:rPr>
              <a:t>	</a:t>
            </a:r>
            <a:r>
              <a:rPr lang="en-US" altLang="zh-CN" dirty="0">
                <a:latin typeface="Arial Black" panose="020B0A04020102020204" pitchFamily="34" charset="0"/>
              </a:rPr>
              <a:t>for(int </a:t>
            </a:r>
            <a:r>
              <a:rPr lang="en-US" altLang="zh-CN" dirty="0" err="1">
                <a:latin typeface="Arial Black" panose="020B0A04020102020204" pitchFamily="34" charset="0"/>
              </a:rPr>
              <a:t>i</a:t>
            </a:r>
            <a:r>
              <a:rPr lang="en-US" altLang="zh-CN" dirty="0">
                <a:latin typeface="Arial Black" panose="020B0A04020102020204" pitchFamily="34" charset="0"/>
              </a:rPr>
              <a:t>=0;i&lt;</a:t>
            </a:r>
            <a:r>
              <a:rPr lang="en-US" altLang="zh-CN" dirty="0" err="1">
                <a:latin typeface="Arial Black" panose="020B0A04020102020204" pitchFamily="34" charset="0"/>
              </a:rPr>
              <a:t>MaxSize;i</a:t>
            </a:r>
            <a:r>
              <a:rPr lang="en-US" altLang="zh-CN" dirty="0">
                <a:latin typeface="Arial Black" panose="020B0A04020102020204" pitchFamily="34" charset="0"/>
              </a:rPr>
              <a:t>++)    //</a:t>
            </a:r>
            <a:r>
              <a:rPr lang="zh-CN" altLang="en-US" dirty="0">
                <a:latin typeface="Arial Black" panose="020B0A04020102020204" pitchFamily="34" charset="0"/>
              </a:rPr>
              <a:t>先将哈希表中元素置</a:t>
            </a:r>
            <a:r>
              <a:rPr lang="en-US" altLang="zh-CN" dirty="0">
                <a:latin typeface="Arial Black" panose="020B0A04020102020204" pitchFamily="34" charset="0"/>
              </a:rPr>
              <a:t>-1</a:t>
            </a:r>
          </a:p>
          <a:p>
            <a:r>
              <a:rPr lang="en-US" altLang="zh-CN" dirty="0">
                <a:latin typeface="Arial Black" panose="020B0A04020102020204" pitchFamily="34" charset="0"/>
              </a:rPr>
              <a:t>	{	R[</a:t>
            </a:r>
            <a:r>
              <a:rPr lang="en-US" altLang="zh-CN" dirty="0" err="1">
                <a:latin typeface="Arial Black" panose="020B0A04020102020204" pitchFamily="34" charset="0"/>
              </a:rPr>
              <a:t>i</a:t>
            </a:r>
            <a:r>
              <a:rPr lang="en-US" altLang="zh-CN" dirty="0">
                <a:latin typeface="Arial Black" panose="020B0A04020102020204" pitchFamily="34" charset="0"/>
              </a:rPr>
              <a:t>].key=-1;</a:t>
            </a:r>
          </a:p>
          <a:p>
            <a:r>
              <a:rPr lang="en-US" altLang="zh-CN" dirty="0">
                <a:latin typeface="Arial Black" panose="020B0A04020102020204" pitchFamily="34" charset="0"/>
              </a:rPr>
              <a:t>		R[</a:t>
            </a:r>
            <a:r>
              <a:rPr lang="en-US" altLang="zh-CN" dirty="0" err="1">
                <a:latin typeface="Arial Black" panose="020B0A04020102020204" pitchFamily="34" charset="0"/>
              </a:rPr>
              <a:t>i</a:t>
            </a:r>
            <a:r>
              <a:rPr lang="en-US" altLang="zh-CN" dirty="0">
                <a:latin typeface="Arial Black" panose="020B0A04020102020204" pitchFamily="34" charset="0"/>
              </a:rPr>
              <a:t>].</a:t>
            </a:r>
            <a:r>
              <a:rPr lang="en-US" altLang="zh-CN" dirty="0" err="1">
                <a:latin typeface="Arial Black" panose="020B0A04020102020204" pitchFamily="34" charset="0"/>
              </a:rPr>
              <a:t>otherinfo</a:t>
            </a:r>
            <a:r>
              <a:rPr lang="en-US" altLang="zh-CN" dirty="0">
                <a:latin typeface="Arial Black" panose="020B0A04020102020204" pitchFamily="34" charset="0"/>
              </a:rPr>
              <a:t>=</a:t>
            </a:r>
            <a:r>
              <a:rPr lang="en-US" altLang="zh-CN" dirty="0" err="1">
                <a:latin typeface="Arial Black" panose="020B0A04020102020204" pitchFamily="34" charset="0"/>
              </a:rPr>
              <a:t>i</a:t>
            </a:r>
            <a:r>
              <a:rPr lang="en-US" altLang="zh-CN" dirty="0">
                <a:latin typeface="Arial Black" panose="020B0A04020102020204" pitchFamily="34" charset="0"/>
              </a:rPr>
              <a:t>;	}	</a:t>
            </a:r>
          </a:p>
          <a:p>
            <a:r>
              <a:rPr lang="zh-CN" altLang="en-US" dirty="0">
                <a:latin typeface="Arial Black" panose="020B0A04020102020204" pitchFamily="34" charset="0"/>
              </a:rPr>
              <a:t>	</a:t>
            </a:r>
            <a:r>
              <a:rPr lang="en-US" altLang="zh-CN" dirty="0">
                <a:latin typeface="Arial Black" panose="020B0A04020102020204" pitchFamily="34" charset="0"/>
              </a:rPr>
              <a:t>for(int </a:t>
            </a:r>
            <a:r>
              <a:rPr lang="en-US" altLang="zh-CN" dirty="0" err="1">
                <a:latin typeface="Arial Black" panose="020B0A04020102020204" pitchFamily="34" charset="0"/>
              </a:rPr>
              <a:t>i</a:t>
            </a:r>
            <a:r>
              <a:rPr lang="en-US" altLang="zh-CN" dirty="0">
                <a:latin typeface="Arial Black" panose="020B0A04020102020204" pitchFamily="34" charset="0"/>
              </a:rPr>
              <a:t>=0;i&lt;</a:t>
            </a:r>
            <a:r>
              <a:rPr lang="en-US" altLang="zh-CN" dirty="0" err="1">
                <a:latin typeface="Arial Black" panose="020B0A04020102020204" pitchFamily="34" charset="0"/>
              </a:rPr>
              <a:t>n;i</a:t>
            </a:r>
            <a:r>
              <a:rPr lang="en-US" altLang="zh-CN" dirty="0">
                <a:latin typeface="Arial Black" panose="020B0A04020102020204" pitchFamily="34" charset="0"/>
              </a:rPr>
              <a:t>++)</a:t>
            </a:r>
          </a:p>
          <a:p>
            <a:r>
              <a:rPr lang="en-US" altLang="zh-CN" dirty="0">
                <a:latin typeface="Arial Black" panose="020B0A04020102020204" pitchFamily="34" charset="0"/>
              </a:rPr>
              <a:t>	{	</a:t>
            </a:r>
            <a:r>
              <a:rPr lang="en-US" altLang="zh-CN" dirty="0" err="1">
                <a:latin typeface="Arial Black" panose="020B0A04020102020204" pitchFamily="34" charset="0"/>
              </a:rPr>
              <a:t>addr</a:t>
            </a:r>
            <a:r>
              <a:rPr lang="en-US" altLang="zh-CN" dirty="0">
                <a:latin typeface="Arial Black" panose="020B0A04020102020204" pitchFamily="34" charset="0"/>
              </a:rPr>
              <a:t> = pa[</a:t>
            </a:r>
            <a:r>
              <a:rPr lang="en-US" altLang="zh-CN" dirty="0" err="1">
                <a:latin typeface="Arial Black" panose="020B0A04020102020204" pitchFamily="34" charset="0"/>
              </a:rPr>
              <a:t>i</a:t>
            </a:r>
            <a:r>
              <a:rPr lang="en-US" altLang="zh-CN" dirty="0">
                <a:latin typeface="Arial Black" panose="020B0A04020102020204" pitchFamily="34" charset="0"/>
              </a:rPr>
              <a:t>] % </a:t>
            </a:r>
            <a:r>
              <a:rPr lang="en-US" altLang="zh-CN" dirty="0" err="1">
                <a:latin typeface="Arial Black" panose="020B0A04020102020204" pitchFamily="34" charset="0"/>
              </a:rPr>
              <a:t>CurrentSize</a:t>
            </a:r>
            <a:r>
              <a:rPr lang="en-US" altLang="zh-CN" dirty="0">
                <a:latin typeface="Arial Black" panose="020B0A04020102020204" pitchFamily="34" charset="0"/>
              </a:rPr>
              <a:t>;             //</a:t>
            </a:r>
            <a:r>
              <a:rPr lang="zh-CN" altLang="en-US" dirty="0">
                <a:latin typeface="Arial Black" panose="020B0A04020102020204" pitchFamily="34" charset="0"/>
              </a:rPr>
              <a:t>计算哈希地址</a:t>
            </a:r>
          </a:p>
          <a:p>
            <a:r>
              <a:rPr lang="zh-CN" altLang="en-US" dirty="0">
                <a:latin typeface="Arial Black" panose="020B0A04020102020204" pitchFamily="34" charset="0"/>
              </a:rPr>
              <a:t>		</a:t>
            </a:r>
            <a:r>
              <a:rPr lang="en-US" altLang="zh-CN" dirty="0" err="1">
                <a:latin typeface="Arial Black" panose="020B0A04020102020204" pitchFamily="34" charset="0"/>
              </a:rPr>
              <a:t>new_addr</a:t>
            </a:r>
            <a:r>
              <a:rPr lang="en-US" altLang="zh-CN" dirty="0">
                <a:latin typeface="Arial Black" panose="020B0A04020102020204" pitchFamily="34" charset="0"/>
              </a:rPr>
              <a:t> = </a:t>
            </a:r>
            <a:r>
              <a:rPr lang="en-US" altLang="zh-CN" dirty="0" err="1">
                <a:latin typeface="Arial Black" panose="020B0A04020102020204" pitchFamily="34" charset="0"/>
              </a:rPr>
              <a:t>addr</a:t>
            </a:r>
            <a:r>
              <a:rPr lang="en-US" altLang="zh-CN" dirty="0">
                <a:latin typeface="Arial Black" panose="020B0A04020102020204" pitchFamily="34" charset="0"/>
              </a:rPr>
              <a:t>;                        //</a:t>
            </a:r>
            <a:r>
              <a:rPr lang="zh-CN" altLang="en-US" dirty="0">
                <a:latin typeface="Arial Black" panose="020B0A04020102020204" pitchFamily="34" charset="0"/>
              </a:rPr>
              <a:t>又假设为新地址</a:t>
            </a:r>
          </a:p>
          <a:p>
            <a:r>
              <a:rPr lang="zh-CN" altLang="en-US" dirty="0">
                <a:latin typeface="Arial Black" panose="020B0A04020102020204" pitchFamily="34" charset="0"/>
              </a:rPr>
              <a:t>		</a:t>
            </a:r>
            <a:r>
              <a:rPr lang="en-US" altLang="zh-CN" dirty="0">
                <a:latin typeface="Arial Black" panose="020B0A04020102020204" pitchFamily="34" charset="0"/>
              </a:rPr>
              <a:t>di = 1;</a:t>
            </a:r>
          </a:p>
          <a:p>
            <a:r>
              <a:rPr lang="en-US" altLang="zh-CN" dirty="0">
                <a:latin typeface="Arial Black" panose="020B0A04020102020204" pitchFamily="34" charset="0"/>
              </a:rPr>
              <a:t>		while(R[</a:t>
            </a:r>
            <a:r>
              <a:rPr lang="en-US" altLang="zh-CN" dirty="0" err="1">
                <a:latin typeface="Arial Black" panose="020B0A04020102020204" pitchFamily="34" charset="0"/>
              </a:rPr>
              <a:t>new_addr</a:t>
            </a:r>
            <a:r>
              <a:rPr lang="en-US" altLang="zh-CN" dirty="0">
                <a:latin typeface="Arial Black" panose="020B0A04020102020204" pitchFamily="34" charset="0"/>
              </a:rPr>
              <a:t>].key!=-1)        //</a:t>
            </a:r>
            <a:r>
              <a:rPr lang="zh-CN" altLang="en-US" dirty="0">
                <a:latin typeface="Arial Black" panose="020B0A04020102020204" pitchFamily="34" charset="0"/>
              </a:rPr>
              <a:t>循环搜索表中空闲单元</a:t>
            </a:r>
          </a:p>
          <a:p>
            <a:r>
              <a:rPr lang="zh-CN" altLang="en-US" dirty="0">
                <a:latin typeface="Arial Black" panose="020B0A04020102020204" pitchFamily="34" charset="0"/>
              </a:rPr>
              <a:t>        </a:t>
            </a:r>
            <a:r>
              <a:rPr lang="en-US" altLang="zh-CN" dirty="0">
                <a:latin typeface="Arial Black" panose="020B0A04020102020204" pitchFamily="34" charset="0"/>
              </a:rPr>
              <a:t>		{//</a:t>
            </a:r>
            <a:r>
              <a:rPr lang="zh-CN" altLang="en-US" dirty="0">
                <a:latin typeface="Arial Black" panose="020B0A04020102020204" pitchFamily="34" charset="0"/>
              </a:rPr>
              <a:t>地址冲突，计算新地址</a:t>
            </a:r>
            <a:r>
              <a:rPr lang="en-US" altLang="zh-CN" dirty="0">
                <a:latin typeface="Arial Black" panose="020B0A04020102020204" pitchFamily="34" charset="0"/>
              </a:rPr>
              <a:t>	</a:t>
            </a:r>
          </a:p>
          <a:p>
            <a:r>
              <a:rPr lang="en-US" altLang="zh-CN" dirty="0">
                <a:latin typeface="Arial Black" panose="020B0A04020102020204" pitchFamily="34" charset="0"/>
              </a:rPr>
              <a:t>			</a:t>
            </a:r>
            <a:r>
              <a:rPr lang="en-US" altLang="zh-CN" dirty="0" err="1">
                <a:latin typeface="Arial Black" panose="020B0A04020102020204" pitchFamily="34" charset="0"/>
              </a:rPr>
              <a:t>new_addr</a:t>
            </a:r>
            <a:r>
              <a:rPr lang="en-US" altLang="zh-CN" dirty="0">
                <a:latin typeface="Arial Black" panose="020B0A04020102020204" pitchFamily="34" charset="0"/>
              </a:rPr>
              <a:t> = (</a:t>
            </a:r>
            <a:r>
              <a:rPr lang="en-US" altLang="zh-CN" dirty="0" err="1">
                <a:latin typeface="Arial Black" panose="020B0A04020102020204" pitchFamily="34" charset="0"/>
              </a:rPr>
              <a:t>addr+di</a:t>
            </a:r>
            <a:r>
              <a:rPr lang="en-US" altLang="zh-CN" dirty="0">
                <a:latin typeface="Arial Black" panose="020B0A04020102020204" pitchFamily="34" charset="0"/>
              </a:rPr>
              <a:t>) % </a:t>
            </a:r>
            <a:r>
              <a:rPr lang="en-US" altLang="zh-CN" dirty="0" err="1">
                <a:latin typeface="Arial Black" panose="020B0A04020102020204" pitchFamily="34" charset="0"/>
              </a:rPr>
              <a:t>CurrentSize</a:t>
            </a:r>
            <a:r>
              <a:rPr lang="en-US" altLang="zh-CN" dirty="0">
                <a:latin typeface="Arial Black" panose="020B0A04020102020204" pitchFamily="34" charset="0"/>
              </a:rPr>
              <a:t>;  </a:t>
            </a:r>
            <a:endParaRPr lang="zh-CN" altLang="en-US" dirty="0">
              <a:latin typeface="Arial Black" panose="020B0A04020102020204" pitchFamily="34" charset="0"/>
            </a:endParaRPr>
          </a:p>
          <a:p>
            <a:r>
              <a:rPr lang="zh-CN" altLang="en-US" dirty="0">
                <a:latin typeface="Arial Black" panose="020B0A04020102020204" pitchFamily="34" charset="0"/>
              </a:rPr>
              <a:t>			</a:t>
            </a:r>
            <a:r>
              <a:rPr lang="en-US" altLang="zh-CN" dirty="0">
                <a:latin typeface="Arial Black" panose="020B0A04020102020204" pitchFamily="34" charset="0"/>
              </a:rPr>
              <a:t>di++;}                                    //</a:t>
            </a:r>
            <a:r>
              <a:rPr lang="zh-CN" altLang="en-US" dirty="0">
                <a:latin typeface="Arial Black" panose="020B0A04020102020204" pitchFamily="34" charset="0"/>
              </a:rPr>
              <a:t>分量增</a:t>
            </a:r>
            <a:r>
              <a:rPr lang="en-US" altLang="zh-CN" dirty="0">
                <a:latin typeface="Arial Black" panose="020B0A04020102020204" pitchFamily="34" charset="0"/>
              </a:rPr>
              <a:t>1</a:t>
            </a:r>
          </a:p>
          <a:p>
            <a:r>
              <a:rPr lang="en-US" altLang="zh-CN" dirty="0">
                <a:latin typeface="Arial Black" panose="020B0A04020102020204" pitchFamily="34" charset="0"/>
              </a:rPr>
              <a:t>		R[</a:t>
            </a:r>
            <a:r>
              <a:rPr lang="en-US" altLang="zh-CN" dirty="0" err="1">
                <a:latin typeface="Arial Black" panose="020B0A04020102020204" pitchFamily="34" charset="0"/>
              </a:rPr>
              <a:t>new_addr</a:t>
            </a:r>
            <a:r>
              <a:rPr lang="en-US" altLang="zh-CN" dirty="0">
                <a:latin typeface="Arial Black" panose="020B0A04020102020204" pitchFamily="34" charset="0"/>
              </a:rPr>
              <a:t>].key = pa[</a:t>
            </a:r>
            <a:r>
              <a:rPr lang="en-US" altLang="zh-CN" dirty="0" err="1">
                <a:latin typeface="Arial Black" panose="020B0A04020102020204" pitchFamily="34" charset="0"/>
              </a:rPr>
              <a:t>i</a:t>
            </a:r>
            <a:r>
              <a:rPr lang="en-US" altLang="zh-CN" dirty="0">
                <a:latin typeface="Arial Black" panose="020B0A04020102020204" pitchFamily="34" charset="0"/>
              </a:rPr>
              <a:t>];</a:t>
            </a:r>
          </a:p>
          <a:p>
            <a:r>
              <a:rPr lang="zh-CN" altLang="en-US" dirty="0">
                <a:latin typeface="Arial Black" panose="020B0A04020102020204" pitchFamily="34" charset="0"/>
              </a:rPr>
              <a:t>	</a:t>
            </a:r>
            <a:r>
              <a:rPr lang="en-US" altLang="zh-CN" dirty="0">
                <a:latin typeface="Arial Black" panose="020B0A04020102020204" pitchFamily="34" charset="0"/>
              </a:rPr>
              <a:t>}</a:t>
            </a:r>
          </a:p>
          <a:p>
            <a:r>
              <a:rPr lang="en-US" altLang="zh-CN" dirty="0">
                <a:latin typeface="Arial Black" panose="020B0A04020102020204" pitchFamily="34" charset="0"/>
              </a:rPr>
              <a:t>	return true;</a:t>
            </a:r>
          </a:p>
          <a:p>
            <a:r>
              <a:rPr lang="en-US" altLang="zh-CN" dirty="0">
                <a:latin typeface="Arial Black" panose="020B0A04020102020204" pitchFamily="34" charset="0"/>
              </a:rPr>
              <a:t>}</a:t>
            </a:r>
            <a:endParaRPr lang="zh-CN" altLang="en-US" dirty="0">
              <a:latin typeface="Arial Black" panose="020B0A04020102020204" pitchFamily="34" charset="0"/>
            </a:endParaRPr>
          </a:p>
        </p:txBody>
      </p:sp>
    </p:spTree>
    <p:extLst>
      <p:ext uri="{BB962C8B-B14F-4D97-AF65-F5344CB8AC3E}">
        <p14:creationId xmlns:p14="http://schemas.microsoft.com/office/powerpoint/2010/main" val="1526260440"/>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484F9DB-C61B-47C5-BE68-D16F8D6B1280}"/>
              </a:ext>
            </a:extLst>
          </p:cNvPr>
          <p:cNvSpPr>
            <a:spLocks noGrp="1"/>
          </p:cNvSpPr>
          <p:nvPr>
            <p:ph type="dt" sz="half" idx="10"/>
          </p:nvPr>
        </p:nvSpPr>
        <p:spPr/>
        <p:txBody>
          <a:bodyPr/>
          <a:lstStyle/>
          <a:p>
            <a:fld id="{9A6B2991-BBE5-4E69-A281-1A8B0AE9CDD7}" type="datetime1">
              <a:rPr lang="zh-CN" altLang="en-US" smtClean="0"/>
              <a:pPr/>
              <a:t>2025/6/3</a:t>
            </a:fld>
            <a:endParaRPr lang="zh-CN" altLang="en-US"/>
          </a:p>
        </p:txBody>
      </p:sp>
      <p:sp>
        <p:nvSpPr>
          <p:cNvPr id="3" name="文本框 2">
            <a:extLst>
              <a:ext uri="{FF2B5EF4-FFF2-40B4-BE49-F238E27FC236}">
                <a16:creationId xmlns:a16="http://schemas.microsoft.com/office/drawing/2014/main" id="{6AE5ABF4-4887-41E4-B804-3C942FD5EC83}"/>
              </a:ext>
            </a:extLst>
          </p:cNvPr>
          <p:cNvSpPr txBox="1"/>
          <p:nvPr/>
        </p:nvSpPr>
        <p:spPr>
          <a:xfrm>
            <a:off x="107504" y="116632"/>
            <a:ext cx="8928992" cy="6247864"/>
          </a:xfrm>
          <a:prstGeom prst="rect">
            <a:avLst/>
          </a:prstGeom>
          <a:solidFill>
            <a:schemeClr val="accent3">
              <a:lumMod val="40000"/>
              <a:lumOff val="60000"/>
            </a:schemeClr>
          </a:solidFill>
        </p:spPr>
        <p:txBody>
          <a:bodyPr wrap="square" rtlCol="0">
            <a:spAutoFit/>
          </a:bodyPr>
          <a:lstStyle/>
          <a:p>
            <a:r>
              <a:rPr lang="en-US" altLang="zh-CN" sz="2000" dirty="0">
                <a:solidFill>
                  <a:srgbClr val="FF0000"/>
                </a:solidFill>
                <a:latin typeface="Arial Black" panose="020B0A04020102020204" pitchFamily="34" charset="0"/>
              </a:rPr>
              <a:t>//</a:t>
            </a:r>
            <a:r>
              <a:rPr lang="zh-CN" altLang="en-US" sz="2000" dirty="0">
                <a:solidFill>
                  <a:srgbClr val="FF0000"/>
                </a:solidFill>
                <a:latin typeface="Arial Black" panose="020B0A04020102020204" pitchFamily="34" charset="0"/>
              </a:rPr>
              <a:t>哈希查找函数，单向线性探测再散列</a:t>
            </a:r>
          </a:p>
          <a:p>
            <a:r>
              <a:rPr lang="en-US" altLang="zh-CN" sz="2000" dirty="0">
                <a:latin typeface="Arial Black" panose="020B0A04020102020204" pitchFamily="34" charset="0"/>
              </a:rPr>
              <a:t>template &lt;class </a:t>
            </a:r>
            <a:r>
              <a:rPr lang="en-US" altLang="zh-CN" sz="2000" dirty="0" err="1">
                <a:latin typeface="Arial Black" panose="020B0A04020102020204" pitchFamily="34" charset="0"/>
              </a:rPr>
              <a:t>keytype,class</a:t>
            </a:r>
            <a:r>
              <a:rPr lang="en-US" altLang="zh-CN" sz="2000" dirty="0">
                <a:latin typeface="Arial Black" panose="020B0A04020102020204" pitchFamily="34" charset="0"/>
              </a:rPr>
              <a:t> </a:t>
            </a:r>
            <a:r>
              <a:rPr lang="en-US" altLang="zh-CN" sz="2000" dirty="0" err="1">
                <a:latin typeface="Arial Black" panose="020B0A04020102020204" pitchFamily="34" charset="0"/>
              </a:rPr>
              <a:t>Itemtype</a:t>
            </a:r>
            <a:r>
              <a:rPr lang="en-US" altLang="zh-CN" sz="2000" dirty="0">
                <a:latin typeface="Arial Black" panose="020B0A04020102020204" pitchFamily="34" charset="0"/>
              </a:rPr>
              <a:t>&gt;</a:t>
            </a:r>
          </a:p>
          <a:p>
            <a:r>
              <a:rPr lang="en-US" altLang="zh-CN" sz="2000" dirty="0">
                <a:latin typeface="Arial Black" panose="020B0A04020102020204" pitchFamily="34" charset="0"/>
              </a:rPr>
              <a:t>int </a:t>
            </a:r>
            <a:r>
              <a:rPr lang="en-US" altLang="zh-CN" sz="2000" dirty="0" err="1">
                <a:latin typeface="Arial Black" panose="020B0A04020102020204" pitchFamily="34" charset="0"/>
              </a:rPr>
              <a:t>recordList</a:t>
            </a:r>
            <a:r>
              <a:rPr lang="en-US" altLang="zh-CN" sz="2000" dirty="0">
                <a:latin typeface="Arial Black" panose="020B0A04020102020204" pitchFamily="34" charset="0"/>
              </a:rPr>
              <a:t>&lt;</a:t>
            </a:r>
            <a:r>
              <a:rPr lang="en-US" altLang="zh-CN" sz="2000" dirty="0" err="1">
                <a:latin typeface="Arial Black" panose="020B0A04020102020204" pitchFamily="34" charset="0"/>
              </a:rPr>
              <a:t>keytype,Itemtype</a:t>
            </a:r>
            <a:r>
              <a:rPr lang="en-US" altLang="zh-CN" sz="2000" dirty="0">
                <a:latin typeface="Arial Black" panose="020B0A04020102020204" pitchFamily="34" charset="0"/>
              </a:rPr>
              <a:t>&gt;::hash_find2(</a:t>
            </a:r>
            <a:r>
              <a:rPr lang="en-US" altLang="zh-CN" sz="2000" dirty="0" err="1">
                <a:latin typeface="Arial Black" panose="020B0A04020102020204" pitchFamily="34" charset="0"/>
              </a:rPr>
              <a:t>keytype</a:t>
            </a:r>
            <a:r>
              <a:rPr lang="en-US" altLang="zh-CN" sz="2000" dirty="0">
                <a:latin typeface="Arial Black" panose="020B0A04020102020204" pitchFamily="34" charset="0"/>
              </a:rPr>
              <a:t> x)</a:t>
            </a:r>
          </a:p>
          <a:p>
            <a:r>
              <a:rPr lang="en-US" altLang="zh-CN" sz="2000" dirty="0">
                <a:latin typeface="Arial Black" panose="020B0A04020102020204" pitchFamily="34" charset="0"/>
              </a:rPr>
              <a:t>{	</a:t>
            </a:r>
          </a:p>
          <a:p>
            <a:r>
              <a:rPr lang="en-US" altLang="zh-CN" sz="2000" dirty="0">
                <a:latin typeface="Arial Black" panose="020B0A04020102020204" pitchFamily="34" charset="0"/>
              </a:rPr>
              <a:t>	int </a:t>
            </a:r>
            <a:r>
              <a:rPr lang="en-US" altLang="zh-CN" sz="2000" dirty="0" err="1">
                <a:latin typeface="Arial Black" panose="020B0A04020102020204" pitchFamily="34" charset="0"/>
              </a:rPr>
              <a:t>addr,new_addr,di</a:t>
            </a:r>
            <a:r>
              <a:rPr lang="en-US" altLang="zh-CN" sz="2000" dirty="0">
                <a:latin typeface="Arial Black" panose="020B0A04020102020204" pitchFamily="34" charset="0"/>
              </a:rPr>
              <a:t>;</a:t>
            </a:r>
          </a:p>
          <a:p>
            <a:r>
              <a:rPr lang="en-US" altLang="zh-CN" sz="2000" dirty="0">
                <a:latin typeface="Arial Black" panose="020B0A04020102020204" pitchFamily="34" charset="0"/>
              </a:rPr>
              <a:t>	</a:t>
            </a:r>
            <a:r>
              <a:rPr lang="en-US" altLang="zh-CN" sz="2000" dirty="0" err="1">
                <a:latin typeface="Arial Black" panose="020B0A04020102020204" pitchFamily="34" charset="0"/>
              </a:rPr>
              <a:t>keytype</a:t>
            </a:r>
            <a:r>
              <a:rPr lang="en-US" altLang="zh-CN" sz="2000" dirty="0">
                <a:latin typeface="Arial Black" panose="020B0A04020102020204" pitchFamily="34" charset="0"/>
              </a:rPr>
              <a:t> </a:t>
            </a:r>
            <a:r>
              <a:rPr lang="en-US" altLang="zh-CN" sz="2000" dirty="0" err="1">
                <a:latin typeface="Arial Black" panose="020B0A04020102020204" pitchFamily="34" charset="0"/>
              </a:rPr>
              <a:t>data_key</a:t>
            </a:r>
            <a:r>
              <a:rPr lang="en-US" altLang="zh-CN" sz="2000" dirty="0">
                <a:latin typeface="Arial Black" panose="020B0A04020102020204" pitchFamily="34" charset="0"/>
              </a:rPr>
              <a:t>=x;</a:t>
            </a:r>
          </a:p>
          <a:p>
            <a:r>
              <a:rPr lang="en-US" altLang="zh-CN" sz="2000" dirty="0">
                <a:latin typeface="Arial Black" panose="020B0A04020102020204" pitchFamily="34" charset="0"/>
              </a:rPr>
              <a:t>	</a:t>
            </a:r>
            <a:r>
              <a:rPr lang="en-US" altLang="zh-CN" sz="2000" dirty="0" err="1">
                <a:latin typeface="Arial Black" panose="020B0A04020102020204" pitchFamily="34" charset="0"/>
              </a:rPr>
              <a:t>addr</a:t>
            </a:r>
            <a:r>
              <a:rPr lang="en-US" altLang="zh-CN" sz="2000" dirty="0">
                <a:latin typeface="Arial Black" panose="020B0A04020102020204" pitchFamily="34" charset="0"/>
              </a:rPr>
              <a:t>=</a:t>
            </a:r>
            <a:r>
              <a:rPr lang="en-US" altLang="zh-CN" sz="2000" dirty="0" err="1">
                <a:latin typeface="Arial Black" panose="020B0A04020102020204" pitchFamily="34" charset="0"/>
              </a:rPr>
              <a:t>data_key%CurrentSize</a:t>
            </a:r>
            <a:r>
              <a:rPr lang="en-US" altLang="zh-CN" sz="2000" dirty="0">
                <a:latin typeface="Arial Black" panose="020B0A04020102020204" pitchFamily="34" charset="0"/>
              </a:rPr>
              <a:t>;               //</a:t>
            </a:r>
            <a:r>
              <a:rPr lang="zh-CN" altLang="en-US" sz="2000" dirty="0">
                <a:latin typeface="Arial Black" panose="020B0A04020102020204" pitchFamily="34" charset="0"/>
              </a:rPr>
              <a:t>计算哈希地址</a:t>
            </a:r>
          </a:p>
          <a:p>
            <a:r>
              <a:rPr lang="zh-CN" altLang="en-US" sz="2000" dirty="0">
                <a:latin typeface="Arial Black" panose="020B0A04020102020204" pitchFamily="34" charset="0"/>
              </a:rPr>
              <a:t>	</a:t>
            </a:r>
            <a:r>
              <a:rPr lang="en-US" altLang="zh-CN" sz="2000" dirty="0" err="1">
                <a:latin typeface="Arial Black" panose="020B0A04020102020204" pitchFamily="34" charset="0"/>
              </a:rPr>
              <a:t>new_addr</a:t>
            </a:r>
            <a:r>
              <a:rPr lang="en-US" altLang="zh-CN" sz="2000" dirty="0">
                <a:latin typeface="Arial Black" panose="020B0A04020102020204" pitchFamily="34" charset="0"/>
              </a:rPr>
              <a:t>=</a:t>
            </a:r>
            <a:r>
              <a:rPr lang="en-US" altLang="zh-CN" sz="2000" dirty="0" err="1">
                <a:latin typeface="Arial Black" panose="020B0A04020102020204" pitchFamily="34" charset="0"/>
              </a:rPr>
              <a:t>addr</a:t>
            </a:r>
            <a:r>
              <a:rPr lang="en-US" altLang="zh-CN" sz="2000" dirty="0">
                <a:latin typeface="Arial Black" panose="020B0A04020102020204" pitchFamily="34" charset="0"/>
              </a:rPr>
              <a:t>;           </a:t>
            </a:r>
          </a:p>
          <a:p>
            <a:r>
              <a:rPr lang="en-US" altLang="zh-CN" sz="2000" dirty="0">
                <a:latin typeface="Arial Black" panose="020B0A04020102020204" pitchFamily="34" charset="0"/>
              </a:rPr>
              <a:t>	di=1;                                 //</a:t>
            </a:r>
            <a:r>
              <a:rPr lang="zh-CN" altLang="en-US" sz="2000" dirty="0">
                <a:latin typeface="Arial Black" panose="020B0A04020102020204" pitchFamily="34" charset="0"/>
              </a:rPr>
              <a:t>分量从</a:t>
            </a:r>
            <a:r>
              <a:rPr lang="en-US" altLang="zh-CN" sz="2000" dirty="0">
                <a:latin typeface="Arial Black" panose="020B0A04020102020204" pitchFamily="34" charset="0"/>
              </a:rPr>
              <a:t>1</a:t>
            </a:r>
            <a:r>
              <a:rPr lang="zh-CN" altLang="en-US" sz="2000" dirty="0">
                <a:latin typeface="Arial Black" panose="020B0A04020102020204" pitchFamily="34" charset="0"/>
              </a:rPr>
              <a:t>开始</a:t>
            </a:r>
          </a:p>
          <a:p>
            <a:r>
              <a:rPr lang="zh-CN" altLang="en-US" sz="2000" dirty="0">
                <a:latin typeface="Arial Black" panose="020B0A04020102020204" pitchFamily="34" charset="0"/>
              </a:rPr>
              <a:t>	</a:t>
            </a:r>
            <a:r>
              <a:rPr lang="en-US" altLang="zh-CN" sz="2000" dirty="0">
                <a:latin typeface="Arial Black" panose="020B0A04020102020204" pitchFamily="34" charset="0"/>
              </a:rPr>
              <a:t>while ((R[</a:t>
            </a:r>
            <a:r>
              <a:rPr lang="en-US" altLang="zh-CN" sz="2000" dirty="0" err="1">
                <a:latin typeface="Arial Black" panose="020B0A04020102020204" pitchFamily="34" charset="0"/>
              </a:rPr>
              <a:t>new_addr</a:t>
            </a:r>
            <a:r>
              <a:rPr lang="en-US" altLang="zh-CN" sz="2000" dirty="0">
                <a:latin typeface="Arial Black" panose="020B0A04020102020204" pitchFamily="34" charset="0"/>
              </a:rPr>
              <a:t>].key!=x)&amp;&amp;(R[</a:t>
            </a:r>
            <a:r>
              <a:rPr lang="en-US" altLang="zh-CN" sz="2000" dirty="0" err="1">
                <a:latin typeface="Arial Black" panose="020B0A04020102020204" pitchFamily="34" charset="0"/>
              </a:rPr>
              <a:t>new_addr</a:t>
            </a:r>
            <a:r>
              <a:rPr lang="en-US" altLang="zh-CN" sz="2000" dirty="0">
                <a:latin typeface="Arial Black" panose="020B0A04020102020204" pitchFamily="34" charset="0"/>
              </a:rPr>
              <a:t>].key!=-1))</a:t>
            </a:r>
          </a:p>
          <a:p>
            <a:r>
              <a:rPr lang="en-US" altLang="zh-CN" sz="2000" dirty="0">
                <a:latin typeface="Arial Black" panose="020B0A04020102020204" pitchFamily="34" charset="0"/>
              </a:rPr>
              <a:t>    	//</a:t>
            </a:r>
            <a:r>
              <a:rPr lang="zh-CN" altLang="en-US" sz="2000" dirty="0">
                <a:latin typeface="Arial Black" panose="020B0A04020102020204" pitchFamily="34" charset="0"/>
              </a:rPr>
              <a:t>当表中元素不等于</a:t>
            </a:r>
            <a:r>
              <a:rPr lang="en-US" altLang="zh-CN" sz="2000" dirty="0">
                <a:latin typeface="Arial Black" panose="020B0A04020102020204" pitchFamily="34" charset="0"/>
              </a:rPr>
              <a:t>x</a:t>
            </a:r>
            <a:r>
              <a:rPr lang="zh-CN" altLang="en-US" sz="2000" dirty="0">
                <a:latin typeface="Arial Black" panose="020B0A04020102020204" pitchFamily="34" charset="0"/>
              </a:rPr>
              <a:t>，并且不等于</a:t>
            </a:r>
            <a:r>
              <a:rPr lang="en-US" altLang="zh-CN" sz="2000" dirty="0">
                <a:latin typeface="Arial Black" panose="020B0A04020102020204" pitchFamily="34" charset="0"/>
              </a:rPr>
              <a:t>-1</a:t>
            </a:r>
            <a:r>
              <a:rPr lang="zh-CN" altLang="en-US" sz="2000" dirty="0">
                <a:latin typeface="Arial Black" panose="020B0A04020102020204" pitchFamily="34" charset="0"/>
              </a:rPr>
              <a:t>，则计算出新地址再比较</a:t>
            </a:r>
          </a:p>
          <a:p>
            <a:r>
              <a:rPr lang="zh-CN" altLang="en-US" sz="2000" dirty="0">
                <a:latin typeface="Arial Black" panose="020B0A04020102020204" pitchFamily="34" charset="0"/>
              </a:rPr>
              <a:t>    </a:t>
            </a:r>
            <a:r>
              <a:rPr lang="en-US" altLang="zh-CN" sz="2000" dirty="0">
                <a:latin typeface="Arial Black" panose="020B0A04020102020204" pitchFamily="34" charset="0"/>
              </a:rPr>
              <a:t>	{</a:t>
            </a:r>
          </a:p>
          <a:p>
            <a:r>
              <a:rPr lang="en-US" altLang="zh-CN" sz="2000" dirty="0">
                <a:latin typeface="Arial Black" panose="020B0A04020102020204" pitchFamily="34" charset="0"/>
              </a:rPr>
              <a:t>		</a:t>
            </a:r>
            <a:r>
              <a:rPr lang="en-US" altLang="zh-CN" sz="2000" dirty="0" err="1">
                <a:latin typeface="Arial Black" panose="020B0A04020102020204" pitchFamily="34" charset="0"/>
              </a:rPr>
              <a:t>new_addr</a:t>
            </a:r>
            <a:r>
              <a:rPr lang="en-US" altLang="zh-CN" sz="2000" dirty="0">
                <a:latin typeface="Arial Black" panose="020B0A04020102020204" pitchFamily="34" charset="0"/>
              </a:rPr>
              <a:t>=(</a:t>
            </a:r>
            <a:r>
              <a:rPr lang="en-US" altLang="zh-CN" sz="2000" dirty="0" err="1">
                <a:latin typeface="Arial Black" panose="020B0A04020102020204" pitchFamily="34" charset="0"/>
              </a:rPr>
              <a:t>addr+di</a:t>
            </a:r>
            <a:r>
              <a:rPr lang="en-US" altLang="zh-CN" sz="2000" dirty="0">
                <a:latin typeface="Arial Black" panose="020B0A04020102020204" pitchFamily="34" charset="0"/>
              </a:rPr>
              <a:t>)%</a:t>
            </a:r>
            <a:r>
              <a:rPr lang="en-US" altLang="zh-CN" sz="2000" dirty="0" err="1">
                <a:latin typeface="Arial Black" panose="020B0A04020102020204" pitchFamily="34" charset="0"/>
              </a:rPr>
              <a:t>CurrentSize</a:t>
            </a:r>
            <a:r>
              <a:rPr lang="en-US" altLang="zh-CN" sz="2000" dirty="0">
                <a:latin typeface="Arial Black" panose="020B0A04020102020204" pitchFamily="34" charset="0"/>
              </a:rPr>
              <a:t>;</a:t>
            </a:r>
          </a:p>
          <a:p>
            <a:r>
              <a:rPr lang="en-US" altLang="zh-CN" sz="2000" dirty="0">
                <a:latin typeface="Arial Black" panose="020B0A04020102020204" pitchFamily="34" charset="0"/>
              </a:rPr>
              <a:t>		di++;</a:t>
            </a:r>
          </a:p>
          <a:p>
            <a:r>
              <a:rPr lang="en-US" altLang="zh-CN" sz="2000" dirty="0">
                <a:latin typeface="Arial Black" panose="020B0A04020102020204" pitchFamily="34" charset="0"/>
              </a:rPr>
              <a:t>	}</a:t>
            </a:r>
          </a:p>
          <a:p>
            <a:r>
              <a:rPr lang="en-US" altLang="zh-CN" sz="2000" dirty="0">
                <a:latin typeface="Arial Black" panose="020B0A04020102020204" pitchFamily="34" charset="0"/>
              </a:rPr>
              <a:t>	if(R[</a:t>
            </a:r>
            <a:r>
              <a:rPr lang="en-US" altLang="zh-CN" sz="2000" dirty="0" err="1">
                <a:latin typeface="Arial Black" panose="020B0A04020102020204" pitchFamily="34" charset="0"/>
              </a:rPr>
              <a:t>new_addr</a:t>
            </a:r>
            <a:r>
              <a:rPr lang="en-US" altLang="zh-CN" sz="2000" dirty="0">
                <a:latin typeface="Arial Black" panose="020B0A04020102020204" pitchFamily="34" charset="0"/>
              </a:rPr>
              <a:t>].key==x)</a:t>
            </a:r>
          </a:p>
          <a:p>
            <a:r>
              <a:rPr lang="en-US" altLang="zh-CN" sz="2000" dirty="0">
                <a:latin typeface="Arial Black" panose="020B0A04020102020204" pitchFamily="34" charset="0"/>
              </a:rPr>
              <a:t>		return </a:t>
            </a:r>
            <a:r>
              <a:rPr lang="en-US" altLang="zh-CN" sz="2000" dirty="0" err="1">
                <a:latin typeface="Arial Black" panose="020B0A04020102020204" pitchFamily="34" charset="0"/>
              </a:rPr>
              <a:t>new_addr</a:t>
            </a:r>
            <a:r>
              <a:rPr lang="en-US" altLang="zh-CN" sz="2000" dirty="0">
                <a:latin typeface="Arial Black" panose="020B0A04020102020204" pitchFamily="34" charset="0"/>
              </a:rPr>
              <a:t>;		//</a:t>
            </a:r>
            <a:r>
              <a:rPr lang="zh-CN" altLang="en-US" sz="2000" dirty="0">
                <a:latin typeface="Arial Black" panose="020B0A04020102020204" pitchFamily="34" charset="0"/>
              </a:rPr>
              <a:t>查找成功，返回表中位置</a:t>
            </a:r>
          </a:p>
          <a:p>
            <a:r>
              <a:rPr lang="zh-CN" altLang="en-US" sz="2000" dirty="0">
                <a:latin typeface="Arial Black" panose="020B0A04020102020204" pitchFamily="34" charset="0"/>
              </a:rPr>
              <a:t>	</a:t>
            </a:r>
            <a:r>
              <a:rPr lang="en-US" altLang="zh-CN" sz="2000" dirty="0">
                <a:latin typeface="Arial Black" panose="020B0A04020102020204" pitchFamily="34" charset="0"/>
              </a:rPr>
              <a:t>else</a:t>
            </a:r>
          </a:p>
          <a:p>
            <a:r>
              <a:rPr lang="en-US" altLang="zh-CN" sz="2000" dirty="0">
                <a:latin typeface="Arial Black" panose="020B0A04020102020204" pitchFamily="34" charset="0"/>
              </a:rPr>
              <a:t>		return -1;                            //</a:t>
            </a:r>
            <a:r>
              <a:rPr lang="zh-CN" altLang="en-US" sz="2000" dirty="0">
                <a:latin typeface="Arial Black" panose="020B0A04020102020204" pitchFamily="34" charset="0"/>
              </a:rPr>
              <a:t>查找不成功，返回</a:t>
            </a:r>
            <a:r>
              <a:rPr lang="en-US" altLang="zh-CN" sz="2000" dirty="0">
                <a:latin typeface="Arial Black" panose="020B0A04020102020204" pitchFamily="34" charset="0"/>
              </a:rPr>
              <a:t>-1</a:t>
            </a:r>
            <a:r>
              <a:rPr lang="zh-CN" altLang="en-US" sz="2000" dirty="0">
                <a:latin typeface="Arial Black" panose="020B0A04020102020204" pitchFamily="34" charset="0"/>
              </a:rPr>
              <a:t>值</a:t>
            </a:r>
          </a:p>
          <a:p>
            <a:r>
              <a:rPr lang="en-US" altLang="zh-CN" sz="2000" dirty="0">
                <a:latin typeface="Arial Black" panose="020B0A04020102020204" pitchFamily="34" charset="0"/>
              </a:rPr>
              <a:t>}</a:t>
            </a:r>
            <a:endParaRPr lang="zh-CN" altLang="en-US" sz="2000" dirty="0">
              <a:latin typeface="Arial Black" panose="020B0A04020102020204" pitchFamily="34" charset="0"/>
            </a:endParaRPr>
          </a:p>
        </p:txBody>
      </p:sp>
    </p:spTree>
    <p:extLst>
      <p:ext uri="{BB962C8B-B14F-4D97-AF65-F5344CB8AC3E}">
        <p14:creationId xmlns:p14="http://schemas.microsoft.com/office/powerpoint/2010/main" val="190081294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B0EB996-1390-4C22-BC07-747107C4F45D}"/>
              </a:ext>
            </a:extLst>
          </p:cNvPr>
          <p:cNvSpPr>
            <a:spLocks noGrp="1"/>
          </p:cNvSpPr>
          <p:nvPr>
            <p:ph type="dt" sz="half" idx="10"/>
          </p:nvPr>
        </p:nvSpPr>
        <p:spPr/>
        <p:txBody>
          <a:bodyPr/>
          <a:lstStyle/>
          <a:p>
            <a:fld id="{9A6B2991-BBE5-4E69-A281-1A8B0AE9CDD7}" type="datetime1">
              <a:rPr lang="zh-CN" altLang="en-US" smtClean="0"/>
              <a:pPr/>
              <a:t>2025/6/3</a:t>
            </a:fld>
            <a:endParaRPr lang="zh-CN" altLang="en-US"/>
          </a:p>
        </p:txBody>
      </p:sp>
      <p:sp>
        <p:nvSpPr>
          <p:cNvPr id="3" name="文本框 2">
            <a:extLst>
              <a:ext uri="{FF2B5EF4-FFF2-40B4-BE49-F238E27FC236}">
                <a16:creationId xmlns:a16="http://schemas.microsoft.com/office/drawing/2014/main" id="{B85DAA54-A02A-4E3C-A469-52F4C23BA930}"/>
              </a:ext>
            </a:extLst>
          </p:cNvPr>
          <p:cNvSpPr txBox="1"/>
          <p:nvPr/>
        </p:nvSpPr>
        <p:spPr>
          <a:xfrm>
            <a:off x="107504" y="-27384"/>
            <a:ext cx="9145016" cy="6740307"/>
          </a:xfrm>
          <a:prstGeom prst="rect">
            <a:avLst/>
          </a:prstGeom>
          <a:solidFill>
            <a:schemeClr val="accent3">
              <a:lumMod val="40000"/>
              <a:lumOff val="60000"/>
            </a:schemeClr>
          </a:solidFill>
        </p:spPr>
        <p:txBody>
          <a:bodyPr wrap="square" rtlCol="0">
            <a:spAutoFit/>
          </a:bodyPr>
          <a:lstStyle/>
          <a:p>
            <a:r>
              <a:rPr lang="en-US" altLang="zh-CN" dirty="0">
                <a:solidFill>
                  <a:srgbClr val="FF0000"/>
                </a:solidFill>
                <a:latin typeface="Arial Black" panose="020B0A04020102020204" pitchFamily="34" charset="0"/>
              </a:rPr>
              <a:t>//</a:t>
            </a:r>
            <a:r>
              <a:rPr lang="zh-CN" altLang="en-US" dirty="0">
                <a:solidFill>
                  <a:srgbClr val="FF0000"/>
                </a:solidFill>
                <a:latin typeface="Arial Black" panose="020B0A04020102020204" pitchFamily="34" charset="0"/>
              </a:rPr>
              <a:t>双向线性探测再散列</a:t>
            </a:r>
            <a:r>
              <a:rPr lang="en-US" altLang="zh-CN" dirty="0">
                <a:solidFill>
                  <a:srgbClr val="FF0000"/>
                </a:solidFill>
                <a:latin typeface="Arial Black" panose="020B0A04020102020204" pitchFamily="34" charset="0"/>
              </a:rPr>
              <a:t>1,-1,2,-2,......</a:t>
            </a:r>
            <a:r>
              <a:rPr lang="zh-CN" altLang="en-US" dirty="0">
                <a:solidFill>
                  <a:srgbClr val="FF0000"/>
                </a:solidFill>
                <a:latin typeface="Arial Black" panose="020B0A04020102020204" pitchFamily="34" charset="0"/>
              </a:rPr>
              <a:t>，建立哈希表</a:t>
            </a:r>
          </a:p>
          <a:p>
            <a:r>
              <a:rPr lang="en-US" altLang="zh-CN" dirty="0">
                <a:latin typeface="Arial Black" panose="020B0A04020102020204" pitchFamily="34" charset="0"/>
              </a:rPr>
              <a:t>template &lt;class </a:t>
            </a:r>
            <a:r>
              <a:rPr lang="en-US" altLang="zh-CN" dirty="0" err="1">
                <a:latin typeface="Arial Black" panose="020B0A04020102020204" pitchFamily="34" charset="0"/>
              </a:rPr>
              <a:t>keytype,class</a:t>
            </a:r>
            <a:r>
              <a:rPr lang="en-US" altLang="zh-CN" dirty="0">
                <a:latin typeface="Arial Black" panose="020B0A04020102020204" pitchFamily="34" charset="0"/>
              </a:rPr>
              <a:t> </a:t>
            </a:r>
            <a:r>
              <a:rPr lang="en-US" altLang="zh-CN" dirty="0" err="1">
                <a:latin typeface="Arial Black" panose="020B0A04020102020204" pitchFamily="34" charset="0"/>
              </a:rPr>
              <a:t>Itemtype</a:t>
            </a:r>
            <a:r>
              <a:rPr lang="en-US" altLang="zh-CN" dirty="0">
                <a:latin typeface="Arial Black" panose="020B0A04020102020204" pitchFamily="34" charset="0"/>
              </a:rPr>
              <a:t>&gt;</a:t>
            </a:r>
          </a:p>
          <a:p>
            <a:r>
              <a:rPr lang="en-US" altLang="zh-CN" dirty="0">
                <a:latin typeface="Arial Black" panose="020B0A04020102020204" pitchFamily="34" charset="0"/>
              </a:rPr>
              <a:t>bool </a:t>
            </a:r>
            <a:r>
              <a:rPr lang="en-US" altLang="zh-CN" dirty="0" err="1">
                <a:latin typeface="Arial Black" panose="020B0A04020102020204" pitchFamily="34" charset="0"/>
              </a:rPr>
              <a:t>recordList</a:t>
            </a:r>
            <a:r>
              <a:rPr lang="en-US" altLang="zh-CN" dirty="0">
                <a:latin typeface="Arial Black" panose="020B0A04020102020204" pitchFamily="34" charset="0"/>
              </a:rPr>
              <a:t>&lt;</a:t>
            </a:r>
            <a:r>
              <a:rPr lang="en-US" altLang="zh-CN" dirty="0" err="1">
                <a:latin typeface="Arial Black" panose="020B0A04020102020204" pitchFamily="34" charset="0"/>
              </a:rPr>
              <a:t>keytype,Itemtype</a:t>
            </a:r>
            <a:r>
              <a:rPr lang="en-US" altLang="zh-CN" dirty="0">
                <a:latin typeface="Arial Black" panose="020B0A04020102020204" pitchFamily="34" charset="0"/>
              </a:rPr>
              <a:t>&gt;::set_hash3(</a:t>
            </a:r>
            <a:r>
              <a:rPr lang="en-US" altLang="zh-CN" dirty="0" err="1">
                <a:latin typeface="Arial Black" panose="020B0A04020102020204" pitchFamily="34" charset="0"/>
              </a:rPr>
              <a:t>keytype</a:t>
            </a:r>
            <a:r>
              <a:rPr lang="en-US" altLang="zh-CN" dirty="0">
                <a:latin typeface="Arial Black" panose="020B0A04020102020204" pitchFamily="34" charset="0"/>
              </a:rPr>
              <a:t> *</a:t>
            </a:r>
            <a:r>
              <a:rPr lang="en-US" altLang="zh-CN" dirty="0" err="1">
                <a:latin typeface="Arial Black" panose="020B0A04020102020204" pitchFamily="34" charset="0"/>
              </a:rPr>
              <a:t>pa,int</a:t>
            </a:r>
            <a:r>
              <a:rPr lang="en-US" altLang="zh-CN" dirty="0">
                <a:latin typeface="Arial Black" panose="020B0A04020102020204" pitchFamily="34" charset="0"/>
              </a:rPr>
              <a:t> n)</a:t>
            </a:r>
          </a:p>
          <a:p>
            <a:r>
              <a:rPr lang="en-US" altLang="zh-CN" dirty="0">
                <a:latin typeface="Arial Black" panose="020B0A04020102020204" pitchFamily="34" charset="0"/>
              </a:rPr>
              <a:t>//n</a:t>
            </a:r>
            <a:r>
              <a:rPr lang="zh-CN" altLang="en-US" dirty="0">
                <a:latin typeface="Arial Black" panose="020B0A04020102020204" pitchFamily="34" charset="0"/>
              </a:rPr>
              <a:t>个数据元素存放在一维数组中，</a:t>
            </a:r>
            <a:r>
              <a:rPr lang="en-US" altLang="zh-CN" dirty="0">
                <a:latin typeface="Arial Black" panose="020B0A04020102020204" pitchFamily="34" charset="0"/>
              </a:rPr>
              <a:t>pa</a:t>
            </a:r>
            <a:r>
              <a:rPr lang="zh-CN" altLang="en-US" dirty="0">
                <a:latin typeface="Arial Black" panose="020B0A04020102020204" pitchFamily="34" charset="0"/>
              </a:rPr>
              <a:t>指向数组的首地址</a:t>
            </a:r>
          </a:p>
          <a:p>
            <a:r>
              <a:rPr lang="en-US" altLang="zh-CN" dirty="0">
                <a:latin typeface="Arial Black" panose="020B0A04020102020204" pitchFamily="34" charset="0"/>
              </a:rPr>
              <a:t>{	int </a:t>
            </a:r>
            <a:r>
              <a:rPr lang="en-US" altLang="zh-CN" dirty="0" err="1">
                <a:latin typeface="Arial Black" panose="020B0A04020102020204" pitchFamily="34" charset="0"/>
              </a:rPr>
              <a:t>addr,new_addr,di,j</a:t>
            </a:r>
            <a:r>
              <a:rPr lang="en-US" altLang="zh-CN" dirty="0">
                <a:latin typeface="Arial Black" panose="020B0A04020102020204" pitchFamily="34" charset="0"/>
              </a:rPr>
              <a:t>;		bool flag;</a:t>
            </a:r>
          </a:p>
          <a:p>
            <a:r>
              <a:rPr lang="en-US" altLang="zh-CN" dirty="0">
                <a:latin typeface="Arial Black" panose="020B0A04020102020204" pitchFamily="34" charset="0"/>
              </a:rPr>
              <a:t>	if(n&lt;0||(</a:t>
            </a:r>
            <a:r>
              <a:rPr lang="en-US" altLang="zh-CN" dirty="0" err="1">
                <a:latin typeface="Arial Black" panose="020B0A04020102020204" pitchFamily="34" charset="0"/>
              </a:rPr>
              <a:t>n+n</a:t>
            </a:r>
            <a:r>
              <a:rPr lang="en-US" altLang="zh-CN" dirty="0">
                <a:latin typeface="Arial Black" panose="020B0A04020102020204" pitchFamily="34" charset="0"/>
              </a:rPr>
              <a:t>/10+1)&gt;</a:t>
            </a:r>
            <a:r>
              <a:rPr lang="en-US" altLang="zh-CN" dirty="0" err="1">
                <a:latin typeface="Arial Black" panose="020B0A04020102020204" pitchFamily="34" charset="0"/>
              </a:rPr>
              <a:t>MaxSize</a:t>
            </a:r>
            <a:r>
              <a:rPr lang="en-US" altLang="zh-CN" dirty="0">
                <a:latin typeface="Arial Black" panose="020B0A04020102020204" pitchFamily="34" charset="0"/>
              </a:rPr>
              <a:t>)                 //</a:t>
            </a:r>
            <a:r>
              <a:rPr lang="zh-CN" altLang="en-US" dirty="0">
                <a:latin typeface="Arial Black" panose="020B0A04020102020204" pitchFamily="34" charset="0"/>
              </a:rPr>
              <a:t>检验</a:t>
            </a:r>
            <a:r>
              <a:rPr lang="en-US" altLang="zh-CN" dirty="0">
                <a:latin typeface="Arial Black" panose="020B0A04020102020204" pitchFamily="34" charset="0"/>
              </a:rPr>
              <a:t>n</a:t>
            </a:r>
            <a:r>
              <a:rPr lang="zh-CN" altLang="en-US" dirty="0">
                <a:latin typeface="Arial Black" panose="020B0A04020102020204" pitchFamily="34" charset="0"/>
              </a:rPr>
              <a:t>的合法性</a:t>
            </a:r>
          </a:p>
          <a:p>
            <a:r>
              <a:rPr lang="zh-CN" altLang="en-US" dirty="0">
                <a:latin typeface="Arial Black" panose="020B0A04020102020204" pitchFamily="34" charset="0"/>
              </a:rPr>
              <a:t>	</a:t>
            </a:r>
            <a:r>
              <a:rPr lang="en-US" altLang="zh-CN" dirty="0">
                <a:latin typeface="Arial Black" panose="020B0A04020102020204" pitchFamily="34" charset="0"/>
              </a:rPr>
              <a:t>{	</a:t>
            </a:r>
            <a:r>
              <a:rPr lang="en-US" altLang="zh-CN" dirty="0" err="1">
                <a:latin typeface="Arial Black" panose="020B0A04020102020204" pitchFamily="34" charset="0"/>
              </a:rPr>
              <a:t>cout</a:t>
            </a:r>
            <a:r>
              <a:rPr lang="en-US" altLang="zh-CN" dirty="0">
                <a:latin typeface="Arial Black" panose="020B0A04020102020204" pitchFamily="34" charset="0"/>
              </a:rPr>
              <a:t>&lt;&lt;"n</a:t>
            </a:r>
            <a:r>
              <a:rPr lang="zh-CN" altLang="en-US" dirty="0">
                <a:latin typeface="Arial Black" panose="020B0A04020102020204" pitchFamily="34" charset="0"/>
              </a:rPr>
              <a:t>的值有错误，不能创建哈希表！</a:t>
            </a:r>
            <a:r>
              <a:rPr lang="en-US" altLang="zh-CN" dirty="0">
                <a:latin typeface="Arial Black" panose="020B0A04020102020204" pitchFamily="34" charset="0"/>
              </a:rPr>
              <a:t>\n";</a:t>
            </a:r>
          </a:p>
          <a:p>
            <a:r>
              <a:rPr lang="en-US" altLang="zh-CN" dirty="0">
                <a:latin typeface="Arial Black" panose="020B0A04020102020204" pitchFamily="34" charset="0"/>
              </a:rPr>
              <a:t>		return false;	}</a:t>
            </a:r>
          </a:p>
          <a:p>
            <a:r>
              <a:rPr lang="en-US" altLang="zh-CN" dirty="0">
                <a:latin typeface="Arial Black" panose="020B0A04020102020204" pitchFamily="34" charset="0"/>
              </a:rPr>
              <a:t>	</a:t>
            </a:r>
            <a:r>
              <a:rPr lang="en-US" altLang="zh-CN" dirty="0" err="1">
                <a:latin typeface="Arial Black" panose="020B0A04020102020204" pitchFamily="34" charset="0"/>
              </a:rPr>
              <a:t>CurrentSize</a:t>
            </a:r>
            <a:r>
              <a:rPr lang="en-US" altLang="zh-CN" dirty="0">
                <a:latin typeface="Arial Black" panose="020B0A04020102020204" pitchFamily="34" charset="0"/>
              </a:rPr>
              <a:t> = </a:t>
            </a:r>
            <a:r>
              <a:rPr lang="en-US" altLang="zh-CN" dirty="0" err="1">
                <a:latin typeface="Arial Black" panose="020B0A04020102020204" pitchFamily="34" charset="0"/>
              </a:rPr>
              <a:t>n+n</a:t>
            </a:r>
            <a:r>
              <a:rPr lang="en-US" altLang="zh-CN" dirty="0">
                <a:latin typeface="Arial Black" panose="020B0A04020102020204" pitchFamily="34" charset="0"/>
              </a:rPr>
              <a:t>/10+1;         //</a:t>
            </a:r>
            <a:r>
              <a:rPr lang="zh-CN" altLang="en-US" dirty="0">
                <a:latin typeface="Arial Black" panose="020B0A04020102020204" pitchFamily="34" charset="0"/>
              </a:rPr>
              <a:t>保证哈希表长大于</a:t>
            </a:r>
            <a:r>
              <a:rPr lang="en-US" altLang="zh-CN" dirty="0">
                <a:latin typeface="Arial Black" panose="020B0A04020102020204" pitchFamily="34" charset="0"/>
              </a:rPr>
              <a:t>n</a:t>
            </a:r>
            <a:r>
              <a:rPr lang="zh-CN" altLang="en-US" dirty="0">
                <a:latin typeface="Arial Black" panose="020B0A04020102020204" pitchFamily="34" charset="0"/>
              </a:rPr>
              <a:t>十个百分点</a:t>
            </a:r>
          </a:p>
          <a:p>
            <a:r>
              <a:rPr lang="zh-CN" altLang="en-US" dirty="0">
                <a:latin typeface="Arial Black" panose="020B0A04020102020204" pitchFamily="34" charset="0"/>
              </a:rPr>
              <a:t>	</a:t>
            </a:r>
            <a:r>
              <a:rPr lang="en-US" altLang="zh-CN" dirty="0">
                <a:latin typeface="Arial Black" panose="020B0A04020102020204" pitchFamily="34" charset="0"/>
              </a:rPr>
              <a:t>for(int </a:t>
            </a:r>
            <a:r>
              <a:rPr lang="en-US" altLang="zh-CN" dirty="0" err="1">
                <a:latin typeface="Arial Black" panose="020B0A04020102020204" pitchFamily="34" charset="0"/>
              </a:rPr>
              <a:t>i</a:t>
            </a:r>
            <a:r>
              <a:rPr lang="en-US" altLang="zh-CN" dirty="0">
                <a:latin typeface="Arial Black" panose="020B0A04020102020204" pitchFamily="34" charset="0"/>
              </a:rPr>
              <a:t>=0;i&lt;</a:t>
            </a:r>
            <a:r>
              <a:rPr lang="en-US" altLang="zh-CN" dirty="0" err="1">
                <a:latin typeface="Arial Black" panose="020B0A04020102020204" pitchFamily="34" charset="0"/>
              </a:rPr>
              <a:t>MaxSize;i</a:t>
            </a:r>
            <a:r>
              <a:rPr lang="en-US" altLang="zh-CN" dirty="0">
                <a:latin typeface="Arial Black" panose="020B0A04020102020204" pitchFamily="34" charset="0"/>
              </a:rPr>
              <a:t>++)    	//</a:t>
            </a:r>
            <a:r>
              <a:rPr lang="zh-CN" altLang="en-US" dirty="0">
                <a:latin typeface="Arial Black" panose="020B0A04020102020204" pitchFamily="34" charset="0"/>
              </a:rPr>
              <a:t>先将哈希表中元素置</a:t>
            </a:r>
            <a:r>
              <a:rPr lang="en-US" altLang="zh-CN" dirty="0">
                <a:latin typeface="Arial Black" panose="020B0A04020102020204" pitchFamily="34" charset="0"/>
              </a:rPr>
              <a:t>-1</a:t>
            </a:r>
            <a:r>
              <a:rPr lang="zh-CN" altLang="en-US" dirty="0">
                <a:latin typeface="Arial Black" panose="020B0A04020102020204" pitchFamily="34" charset="0"/>
              </a:rPr>
              <a:t>和索引下标 </a:t>
            </a:r>
          </a:p>
          <a:p>
            <a:r>
              <a:rPr lang="zh-CN" altLang="en-US" dirty="0">
                <a:latin typeface="Arial Black" panose="020B0A04020102020204" pitchFamily="34" charset="0"/>
              </a:rPr>
              <a:t>	</a:t>
            </a:r>
            <a:r>
              <a:rPr lang="en-US" altLang="zh-CN" dirty="0">
                <a:latin typeface="Arial Black" panose="020B0A04020102020204" pitchFamily="34" charset="0"/>
              </a:rPr>
              <a:t>{	R[</a:t>
            </a:r>
            <a:r>
              <a:rPr lang="en-US" altLang="zh-CN" dirty="0" err="1">
                <a:latin typeface="Arial Black" panose="020B0A04020102020204" pitchFamily="34" charset="0"/>
              </a:rPr>
              <a:t>i</a:t>
            </a:r>
            <a:r>
              <a:rPr lang="en-US" altLang="zh-CN" dirty="0">
                <a:latin typeface="Arial Black" panose="020B0A04020102020204" pitchFamily="34" charset="0"/>
              </a:rPr>
              <a:t>].key=-1;	R[</a:t>
            </a:r>
            <a:r>
              <a:rPr lang="en-US" altLang="zh-CN" dirty="0" err="1">
                <a:latin typeface="Arial Black" panose="020B0A04020102020204" pitchFamily="34" charset="0"/>
              </a:rPr>
              <a:t>i</a:t>
            </a:r>
            <a:r>
              <a:rPr lang="en-US" altLang="zh-CN" dirty="0">
                <a:latin typeface="Arial Black" panose="020B0A04020102020204" pitchFamily="34" charset="0"/>
              </a:rPr>
              <a:t>].</a:t>
            </a:r>
            <a:r>
              <a:rPr lang="en-US" altLang="zh-CN" dirty="0" err="1">
                <a:latin typeface="Arial Black" panose="020B0A04020102020204" pitchFamily="34" charset="0"/>
              </a:rPr>
              <a:t>otherinfo</a:t>
            </a:r>
            <a:r>
              <a:rPr lang="en-US" altLang="zh-CN" dirty="0">
                <a:latin typeface="Arial Black" panose="020B0A04020102020204" pitchFamily="34" charset="0"/>
              </a:rPr>
              <a:t>=</a:t>
            </a:r>
            <a:r>
              <a:rPr lang="en-US" altLang="zh-CN" dirty="0" err="1">
                <a:latin typeface="Arial Black" panose="020B0A04020102020204" pitchFamily="34" charset="0"/>
              </a:rPr>
              <a:t>i</a:t>
            </a:r>
            <a:r>
              <a:rPr lang="en-US" altLang="zh-CN" dirty="0">
                <a:latin typeface="Arial Black" panose="020B0A04020102020204" pitchFamily="34" charset="0"/>
              </a:rPr>
              <a:t>;	}	</a:t>
            </a:r>
          </a:p>
          <a:p>
            <a:r>
              <a:rPr lang="en-US" altLang="zh-CN" dirty="0">
                <a:latin typeface="Arial Black" panose="020B0A04020102020204" pitchFamily="34" charset="0"/>
              </a:rPr>
              <a:t>	for(int </a:t>
            </a:r>
            <a:r>
              <a:rPr lang="en-US" altLang="zh-CN" dirty="0" err="1">
                <a:latin typeface="Arial Black" panose="020B0A04020102020204" pitchFamily="34" charset="0"/>
              </a:rPr>
              <a:t>i</a:t>
            </a:r>
            <a:r>
              <a:rPr lang="en-US" altLang="zh-CN" dirty="0">
                <a:latin typeface="Arial Black" panose="020B0A04020102020204" pitchFamily="34" charset="0"/>
              </a:rPr>
              <a:t>=0;i&lt;</a:t>
            </a:r>
            <a:r>
              <a:rPr lang="en-US" altLang="zh-CN" dirty="0" err="1">
                <a:latin typeface="Arial Black" panose="020B0A04020102020204" pitchFamily="34" charset="0"/>
              </a:rPr>
              <a:t>n;i</a:t>
            </a:r>
            <a:r>
              <a:rPr lang="en-US" altLang="zh-CN" dirty="0">
                <a:latin typeface="Arial Black" panose="020B0A04020102020204" pitchFamily="34" charset="0"/>
              </a:rPr>
              <a:t>++)</a:t>
            </a:r>
          </a:p>
          <a:p>
            <a:r>
              <a:rPr lang="en-US" altLang="zh-CN" dirty="0">
                <a:latin typeface="Arial Black" panose="020B0A04020102020204" pitchFamily="34" charset="0"/>
              </a:rPr>
              <a:t>	{	</a:t>
            </a:r>
            <a:r>
              <a:rPr lang="en-US" altLang="zh-CN" dirty="0" err="1">
                <a:latin typeface="Arial Black" panose="020B0A04020102020204" pitchFamily="34" charset="0"/>
              </a:rPr>
              <a:t>addr</a:t>
            </a:r>
            <a:r>
              <a:rPr lang="en-US" altLang="zh-CN" dirty="0">
                <a:latin typeface="Arial Black" panose="020B0A04020102020204" pitchFamily="34" charset="0"/>
              </a:rPr>
              <a:t> = pa[</a:t>
            </a:r>
            <a:r>
              <a:rPr lang="en-US" altLang="zh-CN" dirty="0" err="1">
                <a:latin typeface="Arial Black" panose="020B0A04020102020204" pitchFamily="34" charset="0"/>
              </a:rPr>
              <a:t>i</a:t>
            </a:r>
            <a:r>
              <a:rPr lang="en-US" altLang="zh-CN" dirty="0">
                <a:latin typeface="Arial Black" panose="020B0A04020102020204" pitchFamily="34" charset="0"/>
              </a:rPr>
              <a:t>] % </a:t>
            </a:r>
            <a:r>
              <a:rPr lang="en-US" altLang="zh-CN" dirty="0" err="1">
                <a:latin typeface="Arial Black" panose="020B0A04020102020204" pitchFamily="34" charset="0"/>
              </a:rPr>
              <a:t>CurrentSize</a:t>
            </a:r>
            <a:r>
              <a:rPr lang="en-US" altLang="zh-CN" dirty="0">
                <a:latin typeface="Arial Black" panose="020B0A04020102020204" pitchFamily="34" charset="0"/>
              </a:rPr>
              <a:t>;      //</a:t>
            </a:r>
            <a:r>
              <a:rPr lang="zh-CN" altLang="en-US" dirty="0">
                <a:latin typeface="Arial Black" panose="020B0A04020102020204" pitchFamily="34" charset="0"/>
              </a:rPr>
              <a:t>计算哈希地址</a:t>
            </a:r>
          </a:p>
          <a:p>
            <a:r>
              <a:rPr lang="zh-CN" altLang="en-US" dirty="0">
                <a:latin typeface="Arial Black" panose="020B0A04020102020204" pitchFamily="34" charset="0"/>
              </a:rPr>
              <a:t>		</a:t>
            </a:r>
            <a:r>
              <a:rPr lang="en-US" altLang="zh-CN" dirty="0" err="1">
                <a:latin typeface="Arial Black" panose="020B0A04020102020204" pitchFamily="34" charset="0"/>
              </a:rPr>
              <a:t>new_addr</a:t>
            </a:r>
            <a:r>
              <a:rPr lang="en-US" altLang="zh-CN" dirty="0">
                <a:latin typeface="Arial Black" panose="020B0A04020102020204" pitchFamily="34" charset="0"/>
              </a:rPr>
              <a:t> = </a:t>
            </a:r>
            <a:r>
              <a:rPr lang="en-US" altLang="zh-CN" dirty="0" err="1">
                <a:latin typeface="Arial Black" panose="020B0A04020102020204" pitchFamily="34" charset="0"/>
              </a:rPr>
              <a:t>addr</a:t>
            </a:r>
            <a:r>
              <a:rPr lang="en-US" altLang="zh-CN" dirty="0">
                <a:latin typeface="Arial Black" panose="020B0A04020102020204" pitchFamily="34" charset="0"/>
              </a:rPr>
              <a:t>;                 //</a:t>
            </a:r>
            <a:r>
              <a:rPr lang="zh-CN" altLang="en-US" dirty="0">
                <a:latin typeface="Arial Black" panose="020B0A04020102020204" pitchFamily="34" charset="0"/>
              </a:rPr>
              <a:t>又假设为新地址</a:t>
            </a:r>
          </a:p>
          <a:p>
            <a:r>
              <a:rPr lang="zh-CN" altLang="en-US" dirty="0">
                <a:latin typeface="Arial Black" panose="020B0A04020102020204" pitchFamily="34" charset="0"/>
              </a:rPr>
              <a:t>		</a:t>
            </a:r>
            <a:r>
              <a:rPr lang="en-US" altLang="zh-CN" dirty="0">
                <a:latin typeface="Arial Black" panose="020B0A04020102020204" pitchFamily="34" charset="0"/>
              </a:rPr>
              <a:t>flag=true;                       //flag</a:t>
            </a:r>
            <a:r>
              <a:rPr lang="zh-CN" altLang="en-US" dirty="0">
                <a:latin typeface="Arial Black" panose="020B0A04020102020204" pitchFamily="34" charset="0"/>
              </a:rPr>
              <a:t>为标志位</a:t>
            </a:r>
          </a:p>
          <a:p>
            <a:r>
              <a:rPr lang="zh-CN" altLang="en-US" dirty="0">
                <a:latin typeface="Arial Black" panose="020B0A04020102020204" pitchFamily="34" charset="0"/>
              </a:rPr>
              <a:t>		</a:t>
            </a:r>
            <a:r>
              <a:rPr lang="en-US" altLang="zh-CN" dirty="0">
                <a:latin typeface="Arial Black" panose="020B0A04020102020204" pitchFamily="34" charset="0"/>
              </a:rPr>
              <a:t>j = 1;</a:t>
            </a:r>
          </a:p>
          <a:p>
            <a:r>
              <a:rPr lang="en-US" altLang="zh-CN" dirty="0">
                <a:latin typeface="Arial Black" panose="020B0A04020102020204" pitchFamily="34" charset="0"/>
              </a:rPr>
              <a:t>		while(R[</a:t>
            </a:r>
            <a:r>
              <a:rPr lang="en-US" altLang="zh-CN" dirty="0" err="1">
                <a:latin typeface="Arial Black" panose="020B0A04020102020204" pitchFamily="34" charset="0"/>
              </a:rPr>
              <a:t>new_addr</a:t>
            </a:r>
            <a:r>
              <a:rPr lang="en-US" altLang="zh-CN" dirty="0">
                <a:latin typeface="Arial Black" panose="020B0A04020102020204" pitchFamily="34" charset="0"/>
              </a:rPr>
              <a:t>].key!=-1)       //</a:t>
            </a:r>
            <a:r>
              <a:rPr lang="zh-CN" altLang="en-US" dirty="0">
                <a:latin typeface="Arial Black" panose="020B0A04020102020204" pitchFamily="34" charset="0"/>
              </a:rPr>
              <a:t>循环搜索表中空闲单元</a:t>
            </a:r>
          </a:p>
          <a:p>
            <a:r>
              <a:rPr lang="zh-CN" altLang="en-US" dirty="0">
                <a:latin typeface="Arial Black" panose="020B0A04020102020204" pitchFamily="34" charset="0"/>
              </a:rPr>
              <a:t>        </a:t>
            </a:r>
            <a:r>
              <a:rPr lang="en-US" altLang="zh-CN" dirty="0">
                <a:latin typeface="Arial Black" panose="020B0A04020102020204" pitchFamily="34" charset="0"/>
              </a:rPr>
              <a:t>		{	if (flag)		di=j;	else</a:t>
            </a:r>
          </a:p>
          <a:p>
            <a:r>
              <a:rPr lang="en-US" altLang="zh-CN" dirty="0">
                <a:latin typeface="Arial Black" panose="020B0A04020102020204" pitchFamily="34" charset="0"/>
              </a:rPr>
              <a:t>			{	di=</a:t>
            </a:r>
            <a:r>
              <a:rPr lang="en-US" altLang="zh-CN" dirty="0" err="1">
                <a:latin typeface="Arial Black" panose="020B0A04020102020204" pitchFamily="34" charset="0"/>
              </a:rPr>
              <a:t>CurrentSize</a:t>
            </a:r>
            <a:r>
              <a:rPr lang="en-US" altLang="zh-CN" dirty="0">
                <a:latin typeface="Arial Black" panose="020B0A04020102020204" pitchFamily="34" charset="0"/>
              </a:rPr>
              <a:t>-(</a:t>
            </a:r>
            <a:r>
              <a:rPr lang="en-US" altLang="zh-CN" dirty="0" err="1">
                <a:latin typeface="Arial Black" panose="020B0A04020102020204" pitchFamily="34" charset="0"/>
              </a:rPr>
              <a:t>j%CurrentSize</a:t>
            </a:r>
            <a:r>
              <a:rPr lang="en-US" altLang="zh-CN" dirty="0">
                <a:latin typeface="Arial Black" panose="020B0A04020102020204" pitchFamily="34" charset="0"/>
              </a:rPr>
              <a:t>);</a:t>
            </a:r>
          </a:p>
          <a:p>
            <a:r>
              <a:rPr lang="en-US" altLang="zh-CN" dirty="0">
                <a:latin typeface="Arial Black" panose="020B0A04020102020204" pitchFamily="34" charset="0"/>
              </a:rPr>
              <a:t>				</a:t>
            </a:r>
            <a:r>
              <a:rPr lang="en-US" altLang="zh-CN" dirty="0" err="1">
                <a:latin typeface="Arial Black" panose="020B0A04020102020204" pitchFamily="34" charset="0"/>
              </a:rPr>
              <a:t>j++</a:t>
            </a:r>
            <a:r>
              <a:rPr lang="en-US" altLang="zh-CN" dirty="0">
                <a:latin typeface="Arial Black" panose="020B0A04020102020204" pitchFamily="34" charset="0"/>
              </a:rPr>
              <a:t>;	}</a:t>
            </a:r>
          </a:p>
          <a:p>
            <a:r>
              <a:rPr lang="en-US" altLang="zh-CN" dirty="0">
                <a:latin typeface="Arial Black" panose="020B0A04020102020204" pitchFamily="34" charset="0"/>
              </a:rPr>
              <a:t>			</a:t>
            </a:r>
            <a:r>
              <a:rPr lang="en-US" altLang="zh-CN" dirty="0" err="1">
                <a:latin typeface="Arial Black" panose="020B0A04020102020204" pitchFamily="34" charset="0"/>
              </a:rPr>
              <a:t>new_addr</a:t>
            </a:r>
            <a:r>
              <a:rPr lang="en-US" altLang="zh-CN" dirty="0">
                <a:latin typeface="Arial Black" panose="020B0A04020102020204" pitchFamily="34" charset="0"/>
              </a:rPr>
              <a:t> = (</a:t>
            </a:r>
            <a:r>
              <a:rPr lang="en-US" altLang="zh-CN" dirty="0" err="1">
                <a:latin typeface="Arial Black" panose="020B0A04020102020204" pitchFamily="34" charset="0"/>
              </a:rPr>
              <a:t>addr+di</a:t>
            </a:r>
            <a:r>
              <a:rPr lang="en-US" altLang="zh-CN" dirty="0">
                <a:latin typeface="Arial Black" panose="020B0A04020102020204" pitchFamily="34" charset="0"/>
              </a:rPr>
              <a:t>) % </a:t>
            </a:r>
            <a:r>
              <a:rPr lang="en-US" altLang="zh-CN" dirty="0" err="1">
                <a:latin typeface="Arial Black" panose="020B0A04020102020204" pitchFamily="34" charset="0"/>
              </a:rPr>
              <a:t>CurrentSize</a:t>
            </a:r>
            <a:r>
              <a:rPr lang="en-US" altLang="zh-CN" dirty="0">
                <a:latin typeface="Arial Black" panose="020B0A04020102020204" pitchFamily="34" charset="0"/>
              </a:rPr>
              <a:t>;  //</a:t>
            </a:r>
            <a:r>
              <a:rPr lang="zh-CN" altLang="en-US" dirty="0">
                <a:latin typeface="Arial Black" panose="020B0A04020102020204" pitchFamily="34" charset="0"/>
              </a:rPr>
              <a:t>计算新地址</a:t>
            </a:r>
          </a:p>
          <a:p>
            <a:r>
              <a:rPr lang="zh-CN" altLang="en-US" dirty="0">
                <a:latin typeface="Arial Black" panose="020B0A04020102020204" pitchFamily="34" charset="0"/>
              </a:rPr>
              <a:t>			</a:t>
            </a:r>
            <a:r>
              <a:rPr lang="en-US" altLang="zh-CN" dirty="0">
                <a:latin typeface="Arial Black" panose="020B0A04020102020204" pitchFamily="34" charset="0"/>
              </a:rPr>
              <a:t>flag=!flag;	}</a:t>
            </a:r>
          </a:p>
          <a:p>
            <a:r>
              <a:rPr lang="en-US" altLang="zh-CN" dirty="0">
                <a:latin typeface="Arial Black" panose="020B0A04020102020204" pitchFamily="34" charset="0"/>
              </a:rPr>
              <a:t>		R[</a:t>
            </a:r>
            <a:r>
              <a:rPr lang="en-US" altLang="zh-CN" dirty="0" err="1">
                <a:latin typeface="Arial Black" panose="020B0A04020102020204" pitchFamily="34" charset="0"/>
              </a:rPr>
              <a:t>new_addr</a:t>
            </a:r>
            <a:r>
              <a:rPr lang="en-US" altLang="zh-CN" dirty="0">
                <a:latin typeface="Arial Black" panose="020B0A04020102020204" pitchFamily="34" charset="0"/>
              </a:rPr>
              <a:t>].key = pa[</a:t>
            </a:r>
            <a:r>
              <a:rPr lang="en-US" altLang="zh-CN" dirty="0" err="1">
                <a:latin typeface="Arial Black" panose="020B0A04020102020204" pitchFamily="34" charset="0"/>
              </a:rPr>
              <a:t>i</a:t>
            </a:r>
            <a:r>
              <a:rPr lang="en-US" altLang="zh-CN" dirty="0">
                <a:latin typeface="Arial Black" panose="020B0A04020102020204" pitchFamily="34" charset="0"/>
              </a:rPr>
              <a:t>];	}</a:t>
            </a:r>
          </a:p>
          <a:p>
            <a:r>
              <a:rPr lang="en-US" altLang="zh-CN" dirty="0">
                <a:latin typeface="Arial Black" panose="020B0A04020102020204" pitchFamily="34" charset="0"/>
              </a:rPr>
              <a:t>	return true;}</a:t>
            </a:r>
            <a:endParaRPr lang="zh-CN" altLang="en-US" dirty="0">
              <a:latin typeface="Arial Black" panose="020B0A04020102020204" pitchFamily="34" charset="0"/>
            </a:endParaRPr>
          </a:p>
        </p:txBody>
      </p:sp>
    </p:spTree>
    <p:extLst>
      <p:ext uri="{BB962C8B-B14F-4D97-AF65-F5344CB8AC3E}">
        <p14:creationId xmlns:p14="http://schemas.microsoft.com/office/powerpoint/2010/main" val="4118742256"/>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C5D842B-BB31-4B41-98FE-33EA89B5C341}"/>
              </a:ext>
            </a:extLst>
          </p:cNvPr>
          <p:cNvSpPr>
            <a:spLocks noGrp="1"/>
          </p:cNvSpPr>
          <p:nvPr>
            <p:ph type="dt" sz="half" idx="10"/>
          </p:nvPr>
        </p:nvSpPr>
        <p:spPr/>
        <p:txBody>
          <a:bodyPr/>
          <a:lstStyle/>
          <a:p>
            <a:fld id="{9A6B2991-BBE5-4E69-A281-1A8B0AE9CDD7}" type="datetime1">
              <a:rPr lang="zh-CN" altLang="en-US" smtClean="0"/>
              <a:pPr/>
              <a:t>2025/6/3</a:t>
            </a:fld>
            <a:endParaRPr lang="zh-CN" altLang="en-US"/>
          </a:p>
        </p:txBody>
      </p:sp>
      <p:sp>
        <p:nvSpPr>
          <p:cNvPr id="3" name="文本框 2">
            <a:extLst>
              <a:ext uri="{FF2B5EF4-FFF2-40B4-BE49-F238E27FC236}">
                <a16:creationId xmlns:a16="http://schemas.microsoft.com/office/drawing/2014/main" id="{1A5C816D-7C89-4F30-AE5F-02C49C14AC2A}"/>
              </a:ext>
            </a:extLst>
          </p:cNvPr>
          <p:cNvSpPr txBox="1"/>
          <p:nvPr/>
        </p:nvSpPr>
        <p:spPr>
          <a:xfrm>
            <a:off x="179512" y="44624"/>
            <a:ext cx="8784976" cy="6740307"/>
          </a:xfrm>
          <a:prstGeom prst="rect">
            <a:avLst/>
          </a:prstGeom>
          <a:solidFill>
            <a:schemeClr val="accent3">
              <a:lumMod val="40000"/>
              <a:lumOff val="60000"/>
            </a:schemeClr>
          </a:solidFill>
        </p:spPr>
        <p:txBody>
          <a:bodyPr wrap="square" rtlCol="0">
            <a:spAutoFit/>
          </a:bodyPr>
          <a:lstStyle/>
          <a:p>
            <a:r>
              <a:rPr lang="en-US" altLang="zh-CN" b="1" dirty="0">
                <a:solidFill>
                  <a:srgbClr val="FF0000"/>
                </a:solidFill>
                <a:latin typeface="Arial Black" panose="020B0A04020102020204" pitchFamily="34" charset="0"/>
              </a:rPr>
              <a:t>//</a:t>
            </a:r>
            <a:r>
              <a:rPr lang="zh-CN" altLang="en-US" b="1" dirty="0">
                <a:solidFill>
                  <a:srgbClr val="FF0000"/>
                </a:solidFill>
                <a:latin typeface="Arial Black" panose="020B0A04020102020204" pitchFamily="34" charset="0"/>
              </a:rPr>
              <a:t>哈希查找函数，双向线性探测再散列</a:t>
            </a:r>
          </a:p>
          <a:p>
            <a:r>
              <a:rPr lang="en-US" altLang="zh-CN" dirty="0">
                <a:latin typeface="Arial Black" panose="020B0A04020102020204" pitchFamily="34" charset="0"/>
              </a:rPr>
              <a:t>template &lt;class </a:t>
            </a:r>
            <a:r>
              <a:rPr lang="en-US" altLang="zh-CN" dirty="0" err="1">
                <a:latin typeface="Arial Black" panose="020B0A04020102020204" pitchFamily="34" charset="0"/>
              </a:rPr>
              <a:t>keytype,class</a:t>
            </a:r>
            <a:r>
              <a:rPr lang="en-US" altLang="zh-CN" dirty="0">
                <a:latin typeface="Arial Black" panose="020B0A04020102020204" pitchFamily="34" charset="0"/>
              </a:rPr>
              <a:t> </a:t>
            </a:r>
            <a:r>
              <a:rPr lang="en-US" altLang="zh-CN" dirty="0" err="1">
                <a:latin typeface="Arial Black" panose="020B0A04020102020204" pitchFamily="34" charset="0"/>
              </a:rPr>
              <a:t>Itemtype</a:t>
            </a:r>
            <a:r>
              <a:rPr lang="en-US" altLang="zh-CN" dirty="0">
                <a:latin typeface="Arial Black" panose="020B0A04020102020204" pitchFamily="34" charset="0"/>
              </a:rPr>
              <a:t>&gt;</a:t>
            </a:r>
          </a:p>
          <a:p>
            <a:r>
              <a:rPr lang="en-US" altLang="zh-CN" dirty="0">
                <a:latin typeface="Arial Black" panose="020B0A04020102020204" pitchFamily="34" charset="0"/>
              </a:rPr>
              <a:t>int </a:t>
            </a:r>
            <a:r>
              <a:rPr lang="en-US" altLang="zh-CN" dirty="0" err="1">
                <a:latin typeface="Arial Black" panose="020B0A04020102020204" pitchFamily="34" charset="0"/>
              </a:rPr>
              <a:t>recordList</a:t>
            </a:r>
            <a:r>
              <a:rPr lang="en-US" altLang="zh-CN" dirty="0">
                <a:latin typeface="Arial Black" panose="020B0A04020102020204" pitchFamily="34" charset="0"/>
              </a:rPr>
              <a:t>&lt;</a:t>
            </a:r>
            <a:r>
              <a:rPr lang="en-US" altLang="zh-CN" dirty="0" err="1">
                <a:latin typeface="Arial Black" panose="020B0A04020102020204" pitchFamily="34" charset="0"/>
              </a:rPr>
              <a:t>keytype,Itemtype</a:t>
            </a:r>
            <a:r>
              <a:rPr lang="en-US" altLang="zh-CN" dirty="0">
                <a:latin typeface="Arial Black" panose="020B0A04020102020204" pitchFamily="34" charset="0"/>
              </a:rPr>
              <a:t>&gt;::hash_find3(</a:t>
            </a:r>
            <a:r>
              <a:rPr lang="en-US" altLang="zh-CN" dirty="0" err="1">
                <a:latin typeface="Arial Black" panose="020B0A04020102020204" pitchFamily="34" charset="0"/>
              </a:rPr>
              <a:t>keytype</a:t>
            </a:r>
            <a:r>
              <a:rPr lang="en-US" altLang="zh-CN" dirty="0">
                <a:latin typeface="Arial Black" panose="020B0A04020102020204" pitchFamily="34" charset="0"/>
              </a:rPr>
              <a:t> x)</a:t>
            </a:r>
          </a:p>
          <a:p>
            <a:r>
              <a:rPr lang="en-US" altLang="zh-CN" dirty="0">
                <a:latin typeface="Arial Black" panose="020B0A04020102020204" pitchFamily="34" charset="0"/>
              </a:rPr>
              <a:t>{	int </a:t>
            </a:r>
            <a:r>
              <a:rPr lang="en-US" altLang="zh-CN" dirty="0" err="1">
                <a:latin typeface="Arial Black" panose="020B0A04020102020204" pitchFamily="34" charset="0"/>
              </a:rPr>
              <a:t>addr,new_addr,di,j</a:t>
            </a:r>
            <a:r>
              <a:rPr lang="en-US" altLang="zh-CN" dirty="0">
                <a:latin typeface="Arial Black" panose="020B0A04020102020204" pitchFamily="34" charset="0"/>
              </a:rPr>
              <a:t>;</a:t>
            </a:r>
          </a:p>
          <a:p>
            <a:r>
              <a:rPr lang="en-US" altLang="zh-CN" dirty="0">
                <a:latin typeface="Arial Black" panose="020B0A04020102020204" pitchFamily="34" charset="0"/>
              </a:rPr>
              <a:t>	bool flag;</a:t>
            </a:r>
          </a:p>
          <a:p>
            <a:r>
              <a:rPr lang="en-US" altLang="zh-CN" dirty="0">
                <a:latin typeface="Arial Black" panose="020B0A04020102020204" pitchFamily="34" charset="0"/>
              </a:rPr>
              <a:t>	</a:t>
            </a:r>
            <a:r>
              <a:rPr lang="en-US" altLang="zh-CN" dirty="0" err="1">
                <a:latin typeface="Arial Black" panose="020B0A04020102020204" pitchFamily="34" charset="0"/>
              </a:rPr>
              <a:t>addr</a:t>
            </a:r>
            <a:r>
              <a:rPr lang="en-US" altLang="zh-CN" dirty="0">
                <a:latin typeface="Arial Black" panose="020B0A04020102020204" pitchFamily="34" charset="0"/>
              </a:rPr>
              <a:t>=</a:t>
            </a:r>
            <a:r>
              <a:rPr lang="en-US" altLang="zh-CN" dirty="0" err="1">
                <a:latin typeface="Arial Black" panose="020B0A04020102020204" pitchFamily="34" charset="0"/>
              </a:rPr>
              <a:t>x%CurrentSize</a:t>
            </a:r>
            <a:r>
              <a:rPr lang="en-US" altLang="zh-CN" dirty="0">
                <a:latin typeface="Arial Black" panose="020B0A04020102020204" pitchFamily="34" charset="0"/>
              </a:rPr>
              <a:t>;               //</a:t>
            </a:r>
            <a:r>
              <a:rPr lang="zh-CN" altLang="en-US" dirty="0">
                <a:latin typeface="Arial Black" panose="020B0A04020102020204" pitchFamily="34" charset="0"/>
              </a:rPr>
              <a:t>计算哈希地址</a:t>
            </a:r>
          </a:p>
          <a:p>
            <a:r>
              <a:rPr lang="zh-CN" altLang="en-US" dirty="0">
                <a:latin typeface="Arial Black" panose="020B0A04020102020204" pitchFamily="34" charset="0"/>
              </a:rPr>
              <a:t>	</a:t>
            </a:r>
            <a:r>
              <a:rPr lang="en-US" altLang="zh-CN" dirty="0" err="1">
                <a:latin typeface="Arial Black" panose="020B0A04020102020204" pitchFamily="34" charset="0"/>
              </a:rPr>
              <a:t>new_addr</a:t>
            </a:r>
            <a:r>
              <a:rPr lang="en-US" altLang="zh-CN" dirty="0">
                <a:latin typeface="Arial Black" panose="020B0A04020102020204" pitchFamily="34" charset="0"/>
              </a:rPr>
              <a:t>=</a:t>
            </a:r>
            <a:r>
              <a:rPr lang="en-US" altLang="zh-CN" dirty="0" err="1">
                <a:latin typeface="Arial Black" panose="020B0A04020102020204" pitchFamily="34" charset="0"/>
              </a:rPr>
              <a:t>addr</a:t>
            </a:r>
            <a:r>
              <a:rPr lang="en-US" altLang="zh-CN" dirty="0">
                <a:latin typeface="Arial Black" panose="020B0A04020102020204" pitchFamily="34" charset="0"/>
              </a:rPr>
              <a:t>;</a:t>
            </a:r>
          </a:p>
          <a:p>
            <a:r>
              <a:rPr lang="en-US" altLang="zh-CN" dirty="0">
                <a:latin typeface="Arial Black" panose="020B0A04020102020204" pitchFamily="34" charset="0"/>
              </a:rPr>
              <a:t>	flag=true;           </a:t>
            </a:r>
          </a:p>
          <a:p>
            <a:r>
              <a:rPr lang="en-US" altLang="zh-CN" dirty="0">
                <a:latin typeface="Arial Black" panose="020B0A04020102020204" pitchFamily="34" charset="0"/>
              </a:rPr>
              <a:t>	j=1;                                 //</a:t>
            </a:r>
            <a:r>
              <a:rPr lang="zh-CN" altLang="en-US" dirty="0">
                <a:latin typeface="Arial Black" panose="020B0A04020102020204" pitchFamily="34" charset="0"/>
              </a:rPr>
              <a:t>分量从</a:t>
            </a:r>
            <a:r>
              <a:rPr lang="en-US" altLang="zh-CN" dirty="0">
                <a:latin typeface="Arial Black" panose="020B0A04020102020204" pitchFamily="34" charset="0"/>
              </a:rPr>
              <a:t>1</a:t>
            </a:r>
            <a:r>
              <a:rPr lang="zh-CN" altLang="en-US" dirty="0">
                <a:latin typeface="Arial Black" panose="020B0A04020102020204" pitchFamily="34" charset="0"/>
              </a:rPr>
              <a:t>开始</a:t>
            </a:r>
          </a:p>
          <a:p>
            <a:r>
              <a:rPr lang="zh-CN" altLang="en-US" dirty="0">
                <a:latin typeface="Arial Black" panose="020B0A04020102020204" pitchFamily="34" charset="0"/>
              </a:rPr>
              <a:t>	</a:t>
            </a:r>
            <a:r>
              <a:rPr lang="en-US" altLang="zh-CN" dirty="0">
                <a:latin typeface="Arial Black" panose="020B0A04020102020204" pitchFamily="34" charset="0"/>
              </a:rPr>
              <a:t>while ((R[</a:t>
            </a:r>
            <a:r>
              <a:rPr lang="en-US" altLang="zh-CN" dirty="0" err="1">
                <a:latin typeface="Arial Black" panose="020B0A04020102020204" pitchFamily="34" charset="0"/>
              </a:rPr>
              <a:t>new_addr</a:t>
            </a:r>
            <a:r>
              <a:rPr lang="en-US" altLang="zh-CN" dirty="0">
                <a:latin typeface="Arial Black" panose="020B0A04020102020204" pitchFamily="34" charset="0"/>
              </a:rPr>
              <a:t>].key!=x)&amp;&amp;(R[</a:t>
            </a:r>
            <a:r>
              <a:rPr lang="en-US" altLang="zh-CN" dirty="0" err="1">
                <a:latin typeface="Arial Black" panose="020B0A04020102020204" pitchFamily="34" charset="0"/>
              </a:rPr>
              <a:t>new_addr</a:t>
            </a:r>
            <a:r>
              <a:rPr lang="en-US" altLang="zh-CN" dirty="0">
                <a:latin typeface="Arial Black" panose="020B0A04020102020204" pitchFamily="34" charset="0"/>
              </a:rPr>
              <a:t>].key!=-1))</a:t>
            </a:r>
          </a:p>
          <a:p>
            <a:r>
              <a:rPr lang="en-US" altLang="zh-CN" dirty="0">
                <a:latin typeface="Arial Black" panose="020B0A04020102020204" pitchFamily="34" charset="0"/>
              </a:rPr>
              <a:t>    //</a:t>
            </a:r>
            <a:r>
              <a:rPr lang="zh-CN" altLang="en-US" dirty="0">
                <a:latin typeface="Arial Black" panose="020B0A04020102020204" pitchFamily="34" charset="0"/>
              </a:rPr>
              <a:t>当表中元素不等于</a:t>
            </a:r>
            <a:r>
              <a:rPr lang="en-US" altLang="zh-CN" dirty="0">
                <a:latin typeface="Arial Black" panose="020B0A04020102020204" pitchFamily="34" charset="0"/>
              </a:rPr>
              <a:t>x</a:t>
            </a:r>
            <a:r>
              <a:rPr lang="zh-CN" altLang="en-US" dirty="0">
                <a:latin typeface="Arial Black" panose="020B0A04020102020204" pitchFamily="34" charset="0"/>
              </a:rPr>
              <a:t>，并且不等于</a:t>
            </a:r>
            <a:r>
              <a:rPr lang="en-US" altLang="zh-CN" dirty="0">
                <a:latin typeface="Arial Black" panose="020B0A04020102020204" pitchFamily="34" charset="0"/>
              </a:rPr>
              <a:t>-1</a:t>
            </a:r>
            <a:r>
              <a:rPr lang="zh-CN" altLang="en-US" dirty="0">
                <a:latin typeface="Arial Black" panose="020B0A04020102020204" pitchFamily="34" charset="0"/>
              </a:rPr>
              <a:t>，则计算出新地址再比较</a:t>
            </a:r>
          </a:p>
          <a:p>
            <a:r>
              <a:rPr lang="zh-CN" altLang="en-US" dirty="0">
                <a:latin typeface="Arial Black" panose="020B0A04020102020204" pitchFamily="34" charset="0"/>
              </a:rPr>
              <a:t>    </a:t>
            </a:r>
            <a:r>
              <a:rPr lang="en-US" altLang="zh-CN" dirty="0">
                <a:latin typeface="Arial Black" panose="020B0A04020102020204" pitchFamily="34" charset="0"/>
              </a:rPr>
              <a:t>	{	if (flag)</a:t>
            </a:r>
          </a:p>
          <a:p>
            <a:r>
              <a:rPr lang="en-US" altLang="zh-CN" dirty="0">
                <a:latin typeface="Arial Black" panose="020B0A04020102020204" pitchFamily="34" charset="0"/>
              </a:rPr>
              <a:t>			di=j;</a:t>
            </a:r>
          </a:p>
          <a:p>
            <a:r>
              <a:rPr lang="en-US" altLang="zh-CN" dirty="0">
                <a:latin typeface="Arial Black" panose="020B0A04020102020204" pitchFamily="34" charset="0"/>
              </a:rPr>
              <a:t>		else</a:t>
            </a:r>
          </a:p>
          <a:p>
            <a:r>
              <a:rPr lang="en-US" altLang="zh-CN" dirty="0">
                <a:latin typeface="Arial Black" panose="020B0A04020102020204" pitchFamily="34" charset="0"/>
              </a:rPr>
              <a:t>		{	di=</a:t>
            </a:r>
            <a:r>
              <a:rPr lang="en-US" altLang="zh-CN" dirty="0" err="1">
                <a:latin typeface="Arial Black" panose="020B0A04020102020204" pitchFamily="34" charset="0"/>
              </a:rPr>
              <a:t>CurrentSize</a:t>
            </a:r>
            <a:r>
              <a:rPr lang="en-US" altLang="zh-CN" dirty="0">
                <a:latin typeface="Arial Black" panose="020B0A04020102020204" pitchFamily="34" charset="0"/>
              </a:rPr>
              <a:t>-(</a:t>
            </a:r>
            <a:r>
              <a:rPr lang="en-US" altLang="zh-CN" dirty="0" err="1">
                <a:latin typeface="Arial Black" panose="020B0A04020102020204" pitchFamily="34" charset="0"/>
              </a:rPr>
              <a:t>j%CurrentSize</a:t>
            </a:r>
            <a:r>
              <a:rPr lang="en-US" altLang="zh-CN" dirty="0">
                <a:latin typeface="Arial Black" panose="020B0A04020102020204" pitchFamily="34" charset="0"/>
              </a:rPr>
              <a:t>);</a:t>
            </a:r>
          </a:p>
          <a:p>
            <a:r>
              <a:rPr lang="en-US" altLang="zh-CN" dirty="0">
                <a:latin typeface="Arial Black" panose="020B0A04020102020204" pitchFamily="34" charset="0"/>
              </a:rPr>
              <a:t>			</a:t>
            </a:r>
            <a:r>
              <a:rPr lang="en-US" altLang="zh-CN" dirty="0" err="1">
                <a:latin typeface="Arial Black" panose="020B0A04020102020204" pitchFamily="34" charset="0"/>
              </a:rPr>
              <a:t>j++</a:t>
            </a:r>
            <a:r>
              <a:rPr lang="en-US" altLang="zh-CN" dirty="0">
                <a:latin typeface="Arial Black" panose="020B0A04020102020204" pitchFamily="34" charset="0"/>
              </a:rPr>
              <a:t>;	}</a:t>
            </a:r>
          </a:p>
          <a:p>
            <a:r>
              <a:rPr lang="en-US" altLang="zh-CN" dirty="0">
                <a:latin typeface="Arial Black" panose="020B0A04020102020204" pitchFamily="34" charset="0"/>
              </a:rPr>
              <a:t>		</a:t>
            </a:r>
            <a:r>
              <a:rPr lang="en-US" altLang="zh-CN" dirty="0" err="1">
                <a:latin typeface="Arial Black" panose="020B0A04020102020204" pitchFamily="34" charset="0"/>
              </a:rPr>
              <a:t>new_addr</a:t>
            </a:r>
            <a:r>
              <a:rPr lang="en-US" altLang="zh-CN" dirty="0">
                <a:latin typeface="Arial Black" panose="020B0A04020102020204" pitchFamily="34" charset="0"/>
              </a:rPr>
              <a:t>=(</a:t>
            </a:r>
            <a:r>
              <a:rPr lang="en-US" altLang="zh-CN" dirty="0" err="1">
                <a:latin typeface="Arial Black" panose="020B0A04020102020204" pitchFamily="34" charset="0"/>
              </a:rPr>
              <a:t>addr+di</a:t>
            </a:r>
            <a:r>
              <a:rPr lang="en-US" altLang="zh-CN" dirty="0">
                <a:latin typeface="Arial Black" panose="020B0A04020102020204" pitchFamily="34" charset="0"/>
              </a:rPr>
              <a:t>)%</a:t>
            </a:r>
            <a:r>
              <a:rPr lang="en-US" altLang="zh-CN" dirty="0" err="1">
                <a:latin typeface="Arial Black" panose="020B0A04020102020204" pitchFamily="34" charset="0"/>
              </a:rPr>
              <a:t>CurrentSize</a:t>
            </a:r>
            <a:r>
              <a:rPr lang="en-US" altLang="zh-CN" dirty="0">
                <a:latin typeface="Arial Black" panose="020B0A04020102020204" pitchFamily="34" charset="0"/>
              </a:rPr>
              <a:t>;</a:t>
            </a:r>
          </a:p>
          <a:p>
            <a:r>
              <a:rPr lang="en-US" altLang="zh-CN" dirty="0">
                <a:latin typeface="Arial Black" panose="020B0A04020102020204" pitchFamily="34" charset="0"/>
              </a:rPr>
              <a:t>		flag=!flag;</a:t>
            </a:r>
          </a:p>
          <a:p>
            <a:r>
              <a:rPr lang="en-US" altLang="zh-CN" dirty="0">
                <a:latin typeface="Arial Black" panose="020B0A04020102020204" pitchFamily="34" charset="0"/>
              </a:rPr>
              <a:t>	}</a:t>
            </a:r>
          </a:p>
          <a:p>
            <a:r>
              <a:rPr lang="en-US" altLang="zh-CN" dirty="0">
                <a:latin typeface="Arial Black" panose="020B0A04020102020204" pitchFamily="34" charset="0"/>
              </a:rPr>
              <a:t>	if(R[</a:t>
            </a:r>
            <a:r>
              <a:rPr lang="en-US" altLang="zh-CN" dirty="0" err="1">
                <a:latin typeface="Arial Black" panose="020B0A04020102020204" pitchFamily="34" charset="0"/>
              </a:rPr>
              <a:t>new_addr</a:t>
            </a:r>
            <a:r>
              <a:rPr lang="en-US" altLang="zh-CN" dirty="0">
                <a:latin typeface="Arial Black" panose="020B0A04020102020204" pitchFamily="34" charset="0"/>
              </a:rPr>
              <a:t>].key==x)</a:t>
            </a:r>
          </a:p>
          <a:p>
            <a:r>
              <a:rPr lang="en-US" altLang="zh-CN" dirty="0">
                <a:latin typeface="Arial Black" panose="020B0A04020102020204" pitchFamily="34" charset="0"/>
              </a:rPr>
              <a:t>		return </a:t>
            </a:r>
            <a:r>
              <a:rPr lang="en-US" altLang="zh-CN" dirty="0" err="1">
                <a:latin typeface="Arial Black" panose="020B0A04020102020204" pitchFamily="34" charset="0"/>
              </a:rPr>
              <a:t>new_addr</a:t>
            </a:r>
            <a:r>
              <a:rPr lang="en-US" altLang="zh-CN" dirty="0">
                <a:latin typeface="Arial Black" panose="020B0A04020102020204" pitchFamily="34" charset="0"/>
              </a:rPr>
              <a:t>;                    //</a:t>
            </a:r>
            <a:r>
              <a:rPr lang="zh-CN" altLang="en-US" dirty="0">
                <a:latin typeface="Arial Black" panose="020B0A04020102020204" pitchFamily="34" charset="0"/>
              </a:rPr>
              <a:t>查找成功，返回表中位置</a:t>
            </a:r>
          </a:p>
          <a:p>
            <a:r>
              <a:rPr lang="zh-CN" altLang="en-US" dirty="0">
                <a:latin typeface="Arial Black" panose="020B0A04020102020204" pitchFamily="34" charset="0"/>
              </a:rPr>
              <a:t>	</a:t>
            </a:r>
            <a:r>
              <a:rPr lang="en-US" altLang="zh-CN" dirty="0">
                <a:latin typeface="Arial Black" panose="020B0A04020102020204" pitchFamily="34" charset="0"/>
              </a:rPr>
              <a:t>else</a:t>
            </a:r>
          </a:p>
          <a:p>
            <a:r>
              <a:rPr lang="en-US" altLang="zh-CN" dirty="0">
                <a:latin typeface="Arial Black" panose="020B0A04020102020204" pitchFamily="34" charset="0"/>
              </a:rPr>
              <a:t>		return -1;                            //</a:t>
            </a:r>
            <a:r>
              <a:rPr lang="zh-CN" altLang="en-US" dirty="0">
                <a:latin typeface="Arial Black" panose="020B0A04020102020204" pitchFamily="34" charset="0"/>
              </a:rPr>
              <a:t>查找不成功，返回</a:t>
            </a:r>
            <a:r>
              <a:rPr lang="en-US" altLang="zh-CN" dirty="0">
                <a:latin typeface="Arial Black" panose="020B0A04020102020204" pitchFamily="34" charset="0"/>
              </a:rPr>
              <a:t>-1</a:t>
            </a:r>
            <a:r>
              <a:rPr lang="zh-CN" altLang="en-US" dirty="0">
                <a:latin typeface="Arial Black" panose="020B0A04020102020204" pitchFamily="34" charset="0"/>
              </a:rPr>
              <a:t>值</a:t>
            </a:r>
          </a:p>
          <a:p>
            <a:r>
              <a:rPr lang="en-US" altLang="zh-CN" dirty="0">
                <a:latin typeface="Arial Black" panose="020B0A04020102020204" pitchFamily="34" charset="0"/>
              </a:rPr>
              <a:t>}</a:t>
            </a:r>
          </a:p>
        </p:txBody>
      </p:sp>
    </p:spTree>
    <p:extLst>
      <p:ext uri="{BB962C8B-B14F-4D97-AF65-F5344CB8AC3E}">
        <p14:creationId xmlns:p14="http://schemas.microsoft.com/office/powerpoint/2010/main" val="506718048"/>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4888B1B-753C-428E-955C-58594E671738}"/>
              </a:ext>
            </a:extLst>
          </p:cNvPr>
          <p:cNvSpPr>
            <a:spLocks noGrp="1"/>
          </p:cNvSpPr>
          <p:nvPr>
            <p:ph type="dt" sz="half" idx="10"/>
          </p:nvPr>
        </p:nvSpPr>
        <p:spPr/>
        <p:txBody>
          <a:bodyPr/>
          <a:lstStyle/>
          <a:p>
            <a:fld id="{9A6B2991-BBE5-4E69-A281-1A8B0AE9CDD7}" type="datetime1">
              <a:rPr lang="zh-CN" altLang="en-US" smtClean="0"/>
              <a:pPr/>
              <a:t>2025/6/3</a:t>
            </a:fld>
            <a:endParaRPr lang="zh-CN" altLang="en-US"/>
          </a:p>
        </p:txBody>
      </p:sp>
      <p:sp>
        <p:nvSpPr>
          <p:cNvPr id="3" name="文本框 2">
            <a:extLst>
              <a:ext uri="{FF2B5EF4-FFF2-40B4-BE49-F238E27FC236}">
                <a16:creationId xmlns:a16="http://schemas.microsoft.com/office/drawing/2014/main" id="{F3FB9439-6CE3-4044-8913-41961973953D}"/>
              </a:ext>
            </a:extLst>
          </p:cNvPr>
          <p:cNvSpPr txBox="1"/>
          <p:nvPr/>
        </p:nvSpPr>
        <p:spPr>
          <a:xfrm>
            <a:off x="971600" y="2247255"/>
            <a:ext cx="7344816" cy="400110"/>
          </a:xfrm>
          <a:prstGeom prst="rect">
            <a:avLst/>
          </a:prstGeom>
          <a:noFill/>
        </p:spPr>
        <p:txBody>
          <a:bodyPr wrap="square">
            <a:spAutoFit/>
          </a:bodyPr>
          <a:lstStyle/>
          <a:p>
            <a:r>
              <a:rPr lang="zh-CN" altLang="en-US" sz="2000" dirty="0">
                <a:latin typeface="Arial Black" panose="020B0A04020102020204" pitchFamily="34" charset="0"/>
              </a:rPr>
              <a:t>0      1      2      3       4      5      6       7       8      9</a:t>
            </a:r>
          </a:p>
        </p:txBody>
      </p:sp>
      <p:graphicFrame>
        <p:nvGraphicFramePr>
          <p:cNvPr id="4" name="表格 5">
            <a:extLst>
              <a:ext uri="{FF2B5EF4-FFF2-40B4-BE49-F238E27FC236}">
                <a16:creationId xmlns:a16="http://schemas.microsoft.com/office/drawing/2014/main" id="{EC3E1DB0-497F-43A2-83FA-50149CD15074}"/>
              </a:ext>
            </a:extLst>
          </p:cNvPr>
          <p:cNvGraphicFramePr>
            <a:graphicFrameLocks noGrp="1"/>
          </p:cNvGraphicFramePr>
          <p:nvPr/>
        </p:nvGraphicFramePr>
        <p:xfrm>
          <a:off x="827584" y="2659559"/>
          <a:ext cx="7056780" cy="707886"/>
        </p:xfrm>
        <a:graphic>
          <a:graphicData uri="http://schemas.openxmlformats.org/drawingml/2006/table">
            <a:tbl>
              <a:tblPr firstRow="1" bandRow="1">
                <a:tableStyleId>{5C22544A-7EE6-4342-B048-85BDC9FD1C3A}</a:tableStyleId>
              </a:tblPr>
              <a:tblGrid>
                <a:gridCol w="705678">
                  <a:extLst>
                    <a:ext uri="{9D8B030D-6E8A-4147-A177-3AD203B41FA5}">
                      <a16:colId xmlns:a16="http://schemas.microsoft.com/office/drawing/2014/main" val="1171980984"/>
                    </a:ext>
                  </a:extLst>
                </a:gridCol>
                <a:gridCol w="705678">
                  <a:extLst>
                    <a:ext uri="{9D8B030D-6E8A-4147-A177-3AD203B41FA5}">
                      <a16:colId xmlns:a16="http://schemas.microsoft.com/office/drawing/2014/main" val="2503194978"/>
                    </a:ext>
                  </a:extLst>
                </a:gridCol>
                <a:gridCol w="705678">
                  <a:extLst>
                    <a:ext uri="{9D8B030D-6E8A-4147-A177-3AD203B41FA5}">
                      <a16:colId xmlns:a16="http://schemas.microsoft.com/office/drawing/2014/main" val="939977632"/>
                    </a:ext>
                  </a:extLst>
                </a:gridCol>
                <a:gridCol w="705678">
                  <a:extLst>
                    <a:ext uri="{9D8B030D-6E8A-4147-A177-3AD203B41FA5}">
                      <a16:colId xmlns:a16="http://schemas.microsoft.com/office/drawing/2014/main" val="3229396349"/>
                    </a:ext>
                  </a:extLst>
                </a:gridCol>
                <a:gridCol w="705678">
                  <a:extLst>
                    <a:ext uri="{9D8B030D-6E8A-4147-A177-3AD203B41FA5}">
                      <a16:colId xmlns:a16="http://schemas.microsoft.com/office/drawing/2014/main" val="3596236929"/>
                    </a:ext>
                  </a:extLst>
                </a:gridCol>
                <a:gridCol w="705678">
                  <a:extLst>
                    <a:ext uri="{9D8B030D-6E8A-4147-A177-3AD203B41FA5}">
                      <a16:colId xmlns:a16="http://schemas.microsoft.com/office/drawing/2014/main" val="1995735317"/>
                    </a:ext>
                  </a:extLst>
                </a:gridCol>
                <a:gridCol w="705678">
                  <a:extLst>
                    <a:ext uri="{9D8B030D-6E8A-4147-A177-3AD203B41FA5}">
                      <a16:colId xmlns:a16="http://schemas.microsoft.com/office/drawing/2014/main" val="489352475"/>
                    </a:ext>
                  </a:extLst>
                </a:gridCol>
                <a:gridCol w="705678">
                  <a:extLst>
                    <a:ext uri="{9D8B030D-6E8A-4147-A177-3AD203B41FA5}">
                      <a16:colId xmlns:a16="http://schemas.microsoft.com/office/drawing/2014/main" val="4098136232"/>
                    </a:ext>
                  </a:extLst>
                </a:gridCol>
                <a:gridCol w="705678">
                  <a:extLst>
                    <a:ext uri="{9D8B030D-6E8A-4147-A177-3AD203B41FA5}">
                      <a16:colId xmlns:a16="http://schemas.microsoft.com/office/drawing/2014/main" val="2864950872"/>
                    </a:ext>
                  </a:extLst>
                </a:gridCol>
                <a:gridCol w="705678">
                  <a:extLst>
                    <a:ext uri="{9D8B030D-6E8A-4147-A177-3AD203B41FA5}">
                      <a16:colId xmlns:a16="http://schemas.microsoft.com/office/drawing/2014/main" val="260069394"/>
                    </a:ext>
                  </a:extLst>
                </a:gridCol>
              </a:tblGrid>
              <a:tr h="707886">
                <a:tc>
                  <a:txBody>
                    <a:bodyPr/>
                    <a:lstStyle/>
                    <a:p>
                      <a:pPr algn="ctr"/>
                      <a:r>
                        <a:rPr lang="en-US" altLang="zh-CN" sz="2800" dirty="0">
                          <a:solidFill>
                            <a:schemeClr val="tx1"/>
                          </a:solidFill>
                          <a:latin typeface="Arial Black" panose="020B0A04020102020204" pitchFamily="34" charset="0"/>
                        </a:rPr>
                        <a:t>21</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71</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32</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42</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-1</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55</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22</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38</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18</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68</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extLst>
                  <a:ext uri="{0D108BD9-81ED-4DB2-BD59-A6C34878D82A}">
                    <a16:rowId xmlns:a16="http://schemas.microsoft.com/office/drawing/2014/main" val="3289424096"/>
                  </a:ext>
                </a:extLst>
              </a:tr>
            </a:tbl>
          </a:graphicData>
        </a:graphic>
      </p:graphicFrame>
      <p:sp>
        <p:nvSpPr>
          <p:cNvPr id="5" name="文本框 4">
            <a:extLst>
              <a:ext uri="{FF2B5EF4-FFF2-40B4-BE49-F238E27FC236}">
                <a16:creationId xmlns:a16="http://schemas.microsoft.com/office/drawing/2014/main" id="{79214301-462C-4D5F-80BC-FE7A8B2D7A69}"/>
              </a:ext>
            </a:extLst>
          </p:cNvPr>
          <p:cNvSpPr txBox="1"/>
          <p:nvPr/>
        </p:nvSpPr>
        <p:spPr>
          <a:xfrm>
            <a:off x="899592" y="1383159"/>
            <a:ext cx="5904656" cy="523220"/>
          </a:xfrm>
          <a:prstGeom prst="rect">
            <a:avLst/>
          </a:prstGeom>
          <a:noFill/>
        </p:spPr>
        <p:txBody>
          <a:bodyPr wrap="square" rtlCol="0">
            <a:spAutoFit/>
          </a:bodyPr>
          <a:lstStyle/>
          <a:p>
            <a:r>
              <a:rPr lang="zh-CN" altLang="en-US" sz="2800" b="1" dirty="0">
                <a:solidFill>
                  <a:srgbClr val="FF0000"/>
                </a:solidFill>
              </a:rPr>
              <a:t>单向二次探测再散列，创建哈希表</a:t>
            </a:r>
          </a:p>
        </p:txBody>
      </p:sp>
      <p:sp>
        <p:nvSpPr>
          <p:cNvPr id="6" name="文本框 5">
            <a:extLst>
              <a:ext uri="{FF2B5EF4-FFF2-40B4-BE49-F238E27FC236}">
                <a16:creationId xmlns:a16="http://schemas.microsoft.com/office/drawing/2014/main" id="{3DB92B5A-DB2D-4CF7-98E0-647582F86E54}"/>
              </a:ext>
            </a:extLst>
          </p:cNvPr>
          <p:cNvSpPr txBox="1"/>
          <p:nvPr/>
        </p:nvSpPr>
        <p:spPr>
          <a:xfrm>
            <a:off x="899592" y="3975447"/>
            <a:ext cx="6192688" cy="461665"/>
          </a:xfrm>
          <a:prstGeom prst="rect">
            <a:avLst/>
          </a:prstGeom>
          <a:noFill/>
        </p:spPr>
        <p:txBody>
          <a:bodyPr wrap="square" rtlCol="0">
            <a:spAutoFit/>
          </a:bodyPr>
          <a:lstStyle/>
          <a:p>
            <a:r>
              <a:rPr lang="en-US" altLang="zh-CN" sz="2400" dirty="0">
                <a:latin typeface="Arial Black" panose="020B0A04020102020204" pitchFamily="34" charset="0"/>
              </a:rPr>
              <a:t>ASL=(4+1+1+2+1+3+4+1+2)/9=19/9</a:t>
            </a:r>
            <a:endParaRPr lang="zh-CN" altLang="en-US" sz="2400" dirty="0">
              <a:latin typeface="Arial Black" panose="020B0A04020102020204" pitchFamily="34" charset="0"/>
            </a:endParaRPr>
          </a:p>
        </p:txBody>
      </p:sp>
      <p:sp>
        <p:nvSpPr>
          <p:cNvPr id="7" name="文本框 6">
            <a:extLst>
              <a:ext uri="{FF2B5EF4-FFF2-40B4-BE49-F238E27FC236}">
                <a16:creationId xmlns:a16="http://schemas.microsoft.com/office/drawing/2014/main" id="{E3AEF3E8-798D-48E5-9A6B-88BADA779DD3}"/>
              </a:ext>
            </a:extLst>
          </p:cNvPr>
          <p:cNvSpPr txBox="1"/>
          <p:nvPr/>
        </p:nvSpPr>
        <p:spPr>
          <a:xfrm>
            <a:off x="611560" y="591071"/>
            <a:ext cx="7992888" cy="461665"/>
          </a:xfrm>
          <a:prstGeom prst="rect">
            <a:avLst/>
          </a:prstGeom>
          <a:noFill/>
        </p:spPr>
        <p:txBody>
          <a:bodyPr wrap="square">
            <a:spAutoFit/>
          </a:bodyPr>
          <a:lstStyle/>
          <a:p>
            <a:r>
              <a:rPr lang="zh-CN" altLang="en-US" sz="2400" b="1" dirty="0">
                <a:latin typeface="Arial Black" panose="020B0A04020102020204" pitchFamily="34" charset="0"/>
              </a:rPr>
              <a:t>假设关键字序列：{32,18,68,42,55,71,22,38,21}</a:t>
            </a:r>
          </a:p>
        </p:txBody>
      </p:sp>
    </p:spTree>
    <p:extLst>
      <p:ext uri="{BB962C8B-B14F-4D97-AF65-F5344CB8AC3E}">
        <p14:creationId xmlns:p14="http://schemas.microsoft.com/office/powerpoint/2010/main" val="1870081199"/>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2399668-09BA-4EF1-9BA4-071A5A8DC58E}"/>
              </a:ext>
            </a:extLst>
          </p:cNvPr>
          <p:cNvSpPr>
            <a:spLocks noGrp="1"/>
          </p:cNvSpPr>
          <p:nvPr>
            <p:ph type="dt" sz="half" idx="10"/>
          </p:nvPr>
        </p:nvSpPr>
        <p:spPr/>
        <p:txBody>
          <a:bodyPr/>
          <a:lstStyle/>
          <a:p>
            <a:fld id="{9A6B2991-BBE5-4E69-A281-1A8B0AE9CDD7}" type="datetime1">
              <a:rPr lang="zh-CN" altLang="en-US" smtClean="0"/>
              <a:pPr/>
              <a:t>2025/6/3</a:t>
            </a:fld>
            <a:endParaRPr lang="zh-CN" altLang="en-US"/>
          </a:p>
        </p:txBody>
      </p:sp>
      <p:sp>
        <p:nvSpPr>
          <p:cNvPr id="3" name="文本框 2">
            <a:extLst>
              <a:ext uri="{FF2B5EF4-FFF2-40B4-BE49-F238E27FC236}">
                <a16:creationId xmlns:a16="http://schemas.microsoft.com/office/drawing/2014/main" id="{70C7E20A-66AA-4767-8B75-A28163F22858}"/>
              </a:ext>
            </a:extLst>
          </p:cNvPr>
          <p:cNvSpPr txBox="1"/>
          <p:nvPr/>
        </p:nvSpPr>
        <p:spPr>
          <a:xfrm>
            <a:off x="107504" y="44624"/>
            <a:ext cx="8928992" cy="6740307"/>
          </a:xfrm>
          <a:prstGeom prst="rect">
            <a:avLst/>
          </a:prstGeom>
          <a:solidFill>
            <a:schemeClr val="accent3">
              <a:lumMod val="40000"/>
              <a:lumOff val="60000"/>
            </a:schemeClr>
          </a:solidFill>
        </p:spPr>
        <p:txBody>
          <a:bodyPr wrap="square" rtlCol="0">
            <a:spAutoFit/>
          </a:bodyPr>
          <a:lstStyle/>
          <a:p>
            <a:r>
              <a:rPr lang="en-US" altLang="zh-CN" b="1" dirty="0">
                <a:solidFill>
                  <a:srgbClr val="FF0000"/>
                </a:solidFill>
                <a:latin typeface="Arial Black" panose="020B0A04020102020204" pitchFamily="34" charset="0"/>
              </a:rPr>
              <a:t>//</a:t>
            </a:r>
            <a:r>
              <a:rPr lang="zh-CN" altLang="en-US" b="1" dirty="0">
                <a:solidFill>
                  <a:srgbClr val="FF0000"/>
                </a:solidFill>
                <a:latin typeface="Arial Black" panose="020B0A04020102020204" pitchFamily="34" charset="0"/>
              </a:rPr>
              <a:t>单向线性探测再散列，建立哈希表</a:t>
            </a:r>
          </a:p>
          <a:p>
            <a:r>
              <a:rPr lang="en-US" altLang="zh-CN" dirty="0">
                <a:latin typeface="Arial Black" panose="020B0A04020102020204" pitchFamily="34" charset="0"/>
              </a:rPr>
              <a:t>template &lt;class </a:t>
            </a:r>
            <a:r>
              <a:rPr lang="en-US" altLang="zh-CN" dirty="0" err="1">
                <a:latin typeface="Arial Black" panose="020B0A04020102020204" pitchFamily="34" charset="0"/>
              </a:rPr>
              <a:t>keytype,class</a:t>
            </a:r>
            <a:r>
              <a:rPr lang="en-US" altLang="zh-CN" dirty="0">
                <a:latin typeface="Arial Black" panose="020B0A04020102020204" pitchFamily="34" charset="0"/>
              </a:rPr>
              <a:t> </a:t>
            </a:r>
            <a:r>
              <a:rPr lang="en-US" altLang="zh-CN" dirty="0" err="1">
                <a:latin typeface="Arial Black" panose="020B0A04020102020204" pitchFamily="34" charset="0"/>
              </a:rPr>
              <a:t>Itemtype</a:t>
            </a:r>
            <a:r>
              <a:rPr lang="en-US" altLang="zh-CN" dirty="0">
                <a:latin typeface="Arial Black" panose="020B0A04020102020204" pitchFamily="34" charset="0"/>
              </a:rPr>
              <a:t>&gt;</a:t>
            </a:r>
          </a:p>
          <a:p>
            <a:r>
              <a:rPr lang="en-US" altLang="zh-CN" dirty="0">
                <a:latin typeface="Arial Black" panose="020B0A04020102020204" pitchFamily="34" charset="0"/>
              </a:rPr>
              <a:t>bool </a:t>
            </a:r>
            <a:r>
              <a:rPr lang="en-US" altLang="zh-CN" dirty="0" err="1">
                <a:latin typeface="Arial Black" panose="020B0A04020102020204" pitchFamily="34" charset="0"/>
              </a:rPr>
              <a:t>recordList</a:t>
            </a:r>
            <a:r>
              <a:rPr lang="en-US" altLang="zh-CN" dirty="0">
                <a:latin typeface="Arial Black" panose="020B0A04020102020204" pitchFamily="34" charset="0"/>
              </a:rPr>
              <a:t>&lt;</a:t>
            </a:r>
            <a:r>
              <a:rPr lang="en-US" altLang="zh-CN" dirty="0" err="1">
                <a:latin typeface="Arial Black" panose="020B0A04020102020204" pitchFamily="34" charset="0"/>
              </a:rPr>
              <a:t>keytype,Itemtype</a:t>
            </a:r>
            <a:r>
              <a:rPr lang="en-US" altLang="zh-CN" dirty="0">
                <a:latin typeface="Arial Black" panose="020B0A04020102020204" pitchFamily="34" charset="0"/>
              </a:rPr>
              <a:t>&gt;::set_hash4(</a:t>
            </a:r>
            <a:r>
              <a:rPr lang="en-US" altLang="zh-CN" dirty="0" err="1">
                <a:latin typeface="Arial Black" panose="020B0A04020102020204" pitchFamily="34" charset="0"/>
              </a:rPr>
              <a:t>keytype</a:t>
            </a:r>
            <a:r>
              <a:rPr lang="en-US" altLang="zh-CN" dirty="0">
                <a:latin typeface="Arial Black" panose="020B0A04020102020204" pitchFamily="34" charset="0"/>
              </a:rPr>
              <a:t> *</a:t>
            </a:r>
            <a:r>
              <a:rPr lang="en-US" altLang="zh-CN" dirty="0" err="1">
                <a:latin typeface="Arial Black" panose="020B0A04020102020204" pitchFamily="34" charset="0"/>
              </a:rPr>
              <a:t>pa,int</a:t>
            </a:r>
            <a:r>
              <a:rPr lang="en-US" altLang="zh-CN" dirty="0">
                <a:latin typeface="Arial Black" panose="020B0A04020102020204" pitchFamily="34" charset="0"/>
              </a:rPr>
              <a:t> n)</a:t>
            </a:r>
          </a:p>
          <a:p>
            <a:r>
              <a:rPr lang="en-US" altLang="zh-CN" dirty="0">
                <a:latin typeface="Arial Black" panose="020B0A04020102020204" pitchFamily="34" charset="0"/>
              </a:rPr>
              <a:t>//n</a:t>
            </a:r>
            <a:r>
              <a:rPr lang="zh-CN" altLang="en-US" dirty="0">
                <a:latin typeface="Arial Black" panose="020B0A04020102020204" pitchFamily="34" charset="0"/>
              </a:rPr>
              <a:t>个数据元素存放在一维数组中，</a:t>
            </a:r>
            <a:r>
              <a:rPr lang="en-US" altLang="zh-CN" dirty="0">
                <a:latin typeface="Arial Black" panose="020B0A04020102020204" pitchFamily="34" charset="0"/>
              </a:rPr>
              <a:t>pa</a:t>
            </a:r>
            <a:r>
              <a:rPr lang="zh-CN" altLang="en-US" dirty="0">
                <a:latin typeface="Arial Black" panose="020B0A04020102020204" pitchFamily="34" charset="0"/>
              </a:rPr>
              <a:t>指向数组的首地址</a:t>
            </a:r>
          </a:p>
          <a:p>
            <a:r>
              <a:rPr lang="en-US" altLang="zh-CN" dirty="0">
                <a:latin typeface="Arial Black" panose="020B0A04020102020204" pitchFamily="34" charset="0"/>
              </a:rPr>
              <a:t>{	int </a:t>
            </a:r>
            <a:r>
              <a:rPr lang="en-US" altLang="zh-CN" dirty="0" err="1">
                <a:latin typeface="Arial Black" panose="020B0A04020102020204" pitchFamily="34" charset="0"/>
              </a:rPr>
              <a:t>addr,new_addr,di,j</a:t>
            </a:r>
            <a:r>
              <a:rPr lang="en-US" altLang="zh-CN" dirty="0">
                <a:latin typeface="Arial Black" panose="020B0A04020102020204" pitchFamily="34" charset="0"/>
              </a:rPr>
              <a:t>;</a:t>
            </a:r>
          </a:p>
          <a:p>
            <a:r>
              <a:rPr lang="en-US" altLang="zh-CN" dirty="0">
                <a:latin typeface="Arial Black" panose="020B0A04020102020204" pitchFamily="34" charset="0"/>
              </a:rPr>
              <a:t>	if(n&lt;0||(</a:t>
            </a:r>
            <a:r>
              <a:rPr lang="en-US" altLang="zh-CN" dirty="0" err="1">
                <a:latin typeface="Arial Black" panose="020B0A04020102020204" pitchFamily="34" charset="0"/>
              </a:rPr>
              <a:t>n+n</a:t>
            </a:r>
            <a:r>
              <a:rPr lang="en-US" altLang="zh-CN" dirty="0">
                <a:latin typeface="Arial Black" panose="020B0A04020102020204" pitchFamily="34" charset="0"/>
              </a:rPr>
              <a:t>/10+1)&gt;</a:t>
            </a:r>
            <a:r>
              <a:rPr lang="en-US" altLang="zh-CN" dirty="0" err="1">
                <a:latin typeface="Arial Black" panose="020B0A04020102020204" pitchFamily="34" charset="0"/>
              </a:rPr>
              <a:t>MaxSize</a:t>
            </a:r>
            <a:r>
              <a:rPr lang="en-US" altLang="zh-CN" dirty="0">
                <a:latin typeface="Arial Black" panose="020B0A04020102020204" pitchFamily="34" charset="0"/>
              </a:rPr>
              <a:t>)                 //</a:t>
            </a:r>
            <a:r>
              <a:rPr lang="zh-CN" altLang="en-US" dirty="0">
                <a:latin typeface="Arial Black" panose="020B0A04020102020204" pitchFamily="34" charset="0"/>
              </a:rPr>
              <a:t>检验</a:t>
            </a:r>
            <a:r>
              <a:rPr lang="en-US" altLang="zh-CN" dirty="0">
                <a:latin typeface="Arial Black" panose="020B0A04020102020204" pitchFamily="34" charset="0"/>
              </a:rPr>
              <a:t>n</a:t>
            </a:r>
            <a:r>
              <a:rPr lang="zh-CN" altLang="en-US" dirty="0">
                <a:latin typeface="Arial Black" panose="020B0A04020102020204" pitchFamily="34" charset="0"/>
              </a:rPr>
              <a:t>的合法性</a:t>
            </a:r>
          </a:p>
          <a:p>
            <a:r>
              <a:rPr lang="zh-CN" altLang="en-US" dirty="0">
                <a:latin typeface="Arial Black" panose="020B0A04020102020204" pitchFamily="34" charset="0"/>
              </a:rPr>
              <a:t>	</a:t>
            </a:r>
            <a:r>
              <a:rPr lang="en-US" altLang="zh-CN" dirty="0">
                <a:latin typeface="Arial Black" panose="020B0A04020102020204" pitchFamily="34" charset="0"/>
              </a:rPr>
              <a:t>{	</a:t>
            </a:r>
            <a:r>
              <a:rPr lang="en-US" altLang="zh-CN" dirty="0" err="1">
                <a:latin typeface="Arial Black" panose="020B0A04020102020204" pitchFamily="34" charset="0"/>
              </a:rPr>
              <a:t>cout</a:t>
            </a:r>
            <a:r>
              <a:rPr lang="en-US" altLang="zh-CN" dirty="0">
                <a:latin typeface="Arial Black" panose="020B0A04020102020204" pitchFamily="34" charset="0"/>
              </a:rPr>
              <a:t>&lt;&lt;"n</a:t>
            </a:r>
            <a:r>
              <a:rPr lang="zh-CN" altLang="en-US" dirty="0">
                <a:latin typeface="Arial Black" panose="020B0A04020102020204" pitchFamily="34" charset="0"/>
              </a:rPr>
              <a:t>的值有错误，不能创建哈希表！</a:t>
            </a:r>
            <a:r>
              <a:rPr lang="en-US" altLang="zh-CN" dirty="0">
                <a:latin typeface="Arial Black" panose="020B0A04020102020204" pitchFamily="34" charset="0"/>
              </a:rPr>
              <a:t>\n";</a:t>
            </a:r>
          </a:p>
          <a:p>
            <a:r>
              <a:rPr lang="en-US" altLang="zh-CN" dirty="0">
                <a:latin typeface="Arial Black" panose="020B0A04020102020204" pitchFamily="34" charset="0"/>
              </a:rPr>
              <a:t>		return false;	}</a:t>
            </a:r>
          </a:p>
          <a:p>
            <a:r>
              <a:rPr lang="en-US" altLang="zh-CN" dirty="0">
                <a:latin typeface="Arial Black" panose="020B0A04020102020204" pitchFamily="34" charset="0"/>
              </a:rPr>
              <a:t>	</a:t>
            </a:r>
            <a:r>
              <a:rPr lang="en-US" altLang="zh-CN" dirty="0" err="1">
                <a:latin typeface="Arial Black" panose="020B0A04020102020204" pitchFamily="34" charset="0"/>
              </a:rPr>
              <a:t>CurrentSize</a:t>
            </a:r>
            <a:r>
              <a:rPr lang="en-US" altLang="zh-CN" dirty="0">
                <a:latin typeface="Arial Black" panose="020B0A04020102020204" pitchFamily="34" charset="0"/>
              </a:rPr>
              <a:t> = </a:t>
            </a:r>
            <a:r>
              <a:rPr lang="en-US" altLang="zh-CN" dirty="0" err="1">
                <a:latin typeface="Arial Black" panose="020B0A04020102020204" pitchFamily="34" charset="0"/>
              </a:rPr>
              <a:t>n+n</a:t>
            </a:r>
            <a:r>
              <a:rPr lang="en-US" altLang="zh-CN" dirty="0">
                <a:latin typeface="Arial Black" panose="020B0A04020102020204" pitchFamily="34" charset="0"/>
              </a:rPr>
              <a:t>/10+1;           //</a:t>
            </a:r>
            <a:r>
              <a:rPr lang="zh-CN" altLang="en-US" dirty="0">
                <a:latin typeface="Arial Black" panose="020B0A04020102020204" pitchFamily="34" charset="0"/>
              </a:rPr>
              <a:t>保证哈希表长大于</a:t>
            </a:r>
            <a:r>
              <a:rPr lang="en-US" altLang="zh-CN" dirty="0">
                <a:latin typeface="Arial Black" panose="020B0A04020102020204" pitchFamily="34" charset="0"/>
              </a:rPr>
              <a:t>n</a:t>
            </a:r>
            <a:r>
              <a:rPr lang="zh-CN" altLang="en-US" dirty="0">
                <a:latin typeface="Arial Black" panose="020B0A04020102020204" pitchFamily="34" charset="0"/>
              </a:rPr>
              <a:t>十个百分点</a:t>
            </a:r>
          </a:p>
          <a:p>
            <a:r>
              <a:rPr lang="zh-CN" altLang="en-US" dirty="0">
                <a:latin typeface="Arial Black" panose="020B0A04020102020204" pitchFamily="34" charset="0"/>
              </a:rPr>
              <a:t>	</a:t>
            </a:r>
            <a:r>
              <a:rPr lang="en-US" altLang="zh-CN" dirty="0">
                <a:latin typeface="Arial Black" panose="020B0A04020102020204" pitchFamily="34" charset="0"/>
              </a:rPr>
              <a:t>for(int </a:t>
            </a:r>
            <a:r>
              <a:rPr lang="en-US" altLang="zh-CN" dirty="0" err="1">
                <a:latin typeface="Arial Black" panose="020B0A04020102020204" pitchFamily="34" charset="0"/>
              </a:rPr>
              <a:t>i</a:t>
            </a:r>
            <a:r>
              <a:rPr lang="en-US" altLang="zh-CN" dirty="0">
                <a:latin typeface="Arial Black" panose="020B0A04020102020204" pitchFamily="34" charset="0"/>
              </a:rPr>
              <a:t>=0;i&lt;</a:t>
            </a:r>
            <a:r>
              <a:rPr lang="en-US" altLang="zh-CN" dirty="0" err="1">
                <a:latin typeface="Arial Black" panose="020B0A04020102020204" pitchFamily="34" charset="0"/>
              </a:rPr>
              <a:t>MaxSize;i</a:t>
            </a:r>
            <a:r>
              <a:rPr lang="en-US" altLang="zh-CN" dirty="0">
                <a:latin typeface="Arial Black" panose="020B0A04020102020204" pitchFamily="34" charset="0"/>
              </a:rPr>
              <a:t>++)    //</a:t>
            </a:r>
            <a:r>
              <a:rPr lang="zh-CN" altLang="en-US" dirty="0">
                <a:latin typeface="Arial Black" panose="020B0A04020102020204" pitchFamily="34" charset="0"/>
              </a:rPr>
              <a:t>先将哈希表中元素置</a:t>
            </a:r>
            <a:r>
              <a:rPr lang="en-US" altLang="zh-CN" dirty="0">
                <a:latin typeface="Arial Black" panose="020B0A04020102020204" pitchFamily="34" charset="0"/>
              </a:rPr>
              <a:t>-1</a:t>
            </a:r>
          </a:p>
          <a:p>
            <a:r>
              <a:rPr lang="en-US" altLang="zh-CN" dirty="0">
                <a:latin typeface="Arial Black" panose="020B0A04020102020204" pitchFamily="34" charset="0"/>
              </a:rPr>
              <a:t>	{	R[</a:t>
            </a:r>
            <a:r>
              <a:rPr lang="en-US" altLang="zh-CN" dirty="0" err="1">
                <a:latin typeface="Arial Black" panose="020B0A04020102020204" pitchFamily="34" charset="0"/>
              </a:rPr>
              <a:t>i</a:t>
            </a:r>
            <a:r>
              <a:rPr lang="en-US" altLang="zh-CN" dirty="0">
                <a:latin typeface="Arial Black" panose="020B0A04020102020204" pitchFamily="34" charset="0"/>
              </a:rPr>
              <a:t>].key=-1;</a:t>
            </a:r>
          </a:p>
          <a:p>
            <a:r>
              <a:rPr lang="en-US" altLang="zh-CN" dirty="0">
                <a:latin typeface="Arial Black" panose="020B0A04020102020204" pitchFamily="34" charset="0"/>
              </a:rPr>
              <a:t>		R[</a:t>
            </a:r>
            <a:r>
              <a:rPr lang="en-US" altLang="zh-CN" dirty="0" err="1">
                <a:latin typeface="Arial Black" panose="020B0A04020102020204" pitchFamily="34" charset="0"/>
              </a:rPr>
              <a:t>i</a:t>
            </a:r>
            <a:r>
              <a:rPr lang="en-US" altLang="zh-CN" dirty="0">
                <a:latin typeface="Arial Black" panose="020B0A04020102020204" pitchFamily="34" charset="0"/>
              </a:rPr>
              <a:t>].</a:t>
            </a:r>
            <a:r>
              <a:rPr lang="en-US" altLang="zh-CN" dirty="0" err="1">
                <a:latin typeface="Arial Black" panose="020B0A04020102020204" pitchFamily="34" charset="0"/>
              </a:rPr>
              <a:t>otherinfo</a:t>
            </a:r>
            <a:r>
              <a:rPr lang="en-US" altLang="zh-CN" dirty="0">
                <a:latin typeface="Arial Black" panose="020B0A04020102020204" pitchFamily="34" charset="0"/>
              </a:rPr>
              <a:t>=</a:t>
            </a:r>
            <a:r>
              <a:rPr lang="en-US" altLang="zh-CN" dirty="0" err="1">
                <a:latin typeface="Arial Black" panose="020B0A04020102020204" pitchFamily="34" charset="0"/>
              </a:rPr>
              <a:t>i</a:t>
            </a:r>
            <a:r>
              <a:rPr lang="en-US" altLang="zh-CN" dirty="0">
                <a:latin typeface="Arial Black" panose="020B0A04020102020204" pitchFamily="34" charset="0"/>
              </a:rPr>
              <a:t>;	}	</a:t>
            </a:r>
          </a:p>
          <a:p>
            <a:r>
              <a:rPr lang="zh-CN" altLang="en-US" dirty="0">
                <a:latin typeface="Arial Black" panose="020B0A04020102020204" pitchFamily="34" charset="0"/>
              </a:rPr>
              <a:t>	</a:t>
            </a:r>
            <a:r>
              <a:rPr lang="en-US" altLang="zh-CN" dirty="0">
                <a:latin typeface="Arial Black" panose="020B0A04020102020204" pitchFamily="34" charset="0"/>
              </a:rPr>
              <a:t>for(int </a:t>
            </a:r>
            <a:r>
              <a:rPr lang="en-US" altLang="zh-CN" dirty="0" err="1">
                <a:latin typeface="Arial Black" panose="020B0A04020102020204" pitchFamily="34" charset="0"/>
              </a:rPr>
              <a:t>i</a:t>
            </a:r>
            <a:r>
              <a:rPr lang="en-US" altLang="zh-CN" dirty="0">
                <a:latin typeface="Arial Black" panose="020B0A04020102020204" pitchFamily="34" charset="0"/>
              </a:rPr>
              <a:t>=0;i&lt;</a:t>
            </a:r>
            <a:r>
              <a:rPr lang="en-US" altLang="zh-CN" dirty="0" err="1">
                <a:latin typeface="Arial Black" panose="020B0A04020102020204" pitchFamily="34" charset="0"/>
              </a:rPr>
              <a:t>n;i</a:t>
            </a:r>
            <a:r>
              <a:rPr lang="en-US" altLang="zh-CN" dirty="0">
                <a:latin typeface="Arial Black" panose="020B0A04020102020204" pitchFamily="34" charset="0"/>
              </a:rPr>
              <a:t>++)</a:t>
            </a:r>
          </a:p>
          <a:p>
            <a:r>
              <a:rPr lang="en-US" altLang="zh-CN" dirty="0">
                <a:latin typeface="Arial Black" panose="020B0A04020102020204" pitchFamily="34" charset="0"/>
              </a:rPr>
              <a:t>	{	</a:t>
            </a:r>
            <a:r>
              <a:rPr lang="en-US" altLang="zh-CN" dirty="0" err="1">
                <a:latin typeface="Arial Black" panose="020B0A04020102020204" pitchFamily="34" charset="0"/>
              </a:rPr>
              <a:t>addr</a:t>
            </a:r>
            <a:r>
              <a:rPr lang="en-US" altLang="zh-CN" dirty="0">
                <a:latin typeface="Arial Black" panose="020B0A04020102020204" pitchFamily="34" charset="0"/>
              </a:rPr>
              <a:t> = pa[</a:t>
            </a:r>
            <a:r>
              <a:rPr lang="en-US" altLang="zh-CN" dirty="0" err="1">
                <a:latin typeface="Arial Black" panose="020B0A04020102020204" pitchFamily="34" charset="0"/>
              </a:rPr>
              <a:t>i</a:t>
            </a:r>
            <a:r>
              <a:rPr lang="en-US" altLang="zh-CN" dirty="0">
                <a:latin typeface="Arial Black" panose="020B0A04020102020204" pitchFamily="34" charset="0"/>
              </a:rPr>
              <a:t>] % </a:t>
            </a:r>
            <a:r>
              <a:rPr lang="en-US" altLang="zh-CN" dirty="0" err="1">
                <a:latin typeface="Arial Black" panose="020B0A04020102020204" pitchFamily="34" charset="0"/>
              </a:rPr>
              <a:t>CurrentSize</a:t>
            </a:r>
            <a:r>
              <a:rPr lang="en-US" altLang="zh-CN" dirty="0">
                <a:latin typeface="Arial Black" panose="020B0A04020102020204" pitchFamily="34" charset="0"/>
              </a:rPr>
              <a:t>;             //</a:t>
            </a:r>
            <a:r>
              <a:rPr lang="zh-CN" altLang="en-US" dirty="0">
                <a:latin typeface="Arial Black" panose="020B0A04020102020204" pitchFamily="34" charset="0"/>
              </a:rPr>
              <a:t>计算哈希地址</a:t>
            </a:r>
          </a:p>
          <a:p>
            <a:r>
              <a:rPr lang="zh-CN" altLang="en-US" dirty="0">
                <a:latin typeface="Arial Black" panose="020B0A04020102020204" pitchFamily="34" charset="0"/>
              </a:rPr>
              <a:t>		</a:t>
            </a:r>
            <a:r>
              <a:rPr lang="en-US" altLang="zh-CN" dirty="0" err="1">
                <a:latin typeface="Arial Black" panose="020B0A04020102020204" pitchFamily="34" charset="0"/>
              </a:rPr>
              <a:t>new_addr</a:t>
            </a:r>
            <a:r>
              <a:rPr lang="en-US" altLang="zh-CN" dirty="0">
                <a:latin typeface="Arial Black" panose="020B0A04020102020204" pitchFamily="34" charset="0"/>
              </a:rPr>
              <a:t> = </a:t>
            </a:r>
            <a:r>
              <a:rPr lang="en-US" altLang="zh-CN" dirty="0" err="1">
                <a:latin typeface="Arial Black" panose="020B0A04020102020204" pitchFamily="34" charset="0"/>
              </a:rPr>
              <a:t>addr</a:t>
            </a:r>
            <a:r>
              <a:rPr lang="en-US" altLang="zh-CN" dirty="0">
                <a:latin typeface="Arial Black" panose="020B0A04020102020204" pitchFamily="34" charset="0"/>
              </a:rPr>
              <a:t>;                        //</a:t>
            </a:r>
            <a:r>
              <a:rPr lang="zh-CN" altLang="en-US" dirty="0">
                <a:latin typeface="Arial Black" panose="020B0A04020102020204" pitchFamily="34" charset="0"/>
              </a:rPr>
              <a:t>又假设为新地址</a:t>
            </a:r>
          </a:p>
          <a:p>
            <a:r>
              <a:rPr lang="zh-CN" altLang="en-US" dirty="0">
                <a:latin typeface="Arial Black" panose="020B0A04020102020204" pitchFamily="34" charset="0"/>
              </a:rPr>
              <a:t>		</a:t>
            </a:r>
            <a:r>
              <a:rPr lang="en-US" altLang="zh-CN" dirty="0">
                <a:latin typeface="Arial Black" panose="020B0A04020102020204" pitchFamily="34" charset="0"/>
              </a:rPr>
              <a:t>j=1;		//di = 1;</a:t>
            </a:r>
          </a:p>
          <a:p>
            <a:r>
              <a:rPr lang="en-US" altLang="zh-CN" dirty="0">
                <a:latin typeface="Arial Black" panose="020B0A04020102020204" pitchFamily="34" charset="0"/>
              </a:rPr>
              <a:t>		while(R[</a:t>
            </a:r>
            <a:r>
              <a:rPr lang="en-US" altLang="zh-CN" dirty="0" err="1">
                <a:latin typeface="Arial Black" panose="020B0A04020102020204" pitchFamily="34" charset="0"/>
              </a:rPr>
              <a:t>new_addr</a:t>
            </a:r>
            <a:r>
              <a:rPr lang="en-US" altLang="zh-CN" dirty="0">
                <a:latin typeface="Arial Black" panose="020B0A04020102020204" pitchFamily="34" charset="0"/>
              </a:rPr>
              <a:t>].key!=-1)        //</a:t>
            </a:r>
            <a:r>
              <a:rPr lang="zh-CN" altLang="en-US" dirty="0">
                <a:latin typeface="Arial Black" panose="020B0A04020102020204" pitchFamily="34" charset="0"/>
              </a:rPr>
              <a:t>循环搜索表中空闲单元</a:t>
            </a:r>
          </a:p>
          <a:p>
            <a:r>
              <a:rPr lang="zh-CN" altLang="en-US" dirty="0">
                <a:latin typeface="Arial Black" panose="020B0A04020102020204" pitchFamily="34" charset="0"/>
              </a:rPr>
              <a:t>        </a:t>
            </a:r>
            <a:r>
              <a:rPr lang="en-US" altLang="zh-CN" dirty="0">
                <a:latin typeface="Arial Black" panose="020B0A04020102020204" pitchFamily="34" charset="0"/>
              </a:rPr>
              <a:t>		{	di=j*j;		//</a:t>
            </a:r>
            <a:r>
              <a:rPr lang="zh-CN" altLang="en-US" dirty="0">
                <a:latin typeface="Arial Black" panose="020B0A04020102020204" pitchFamily="34" charset="0"/>
              </a:rPr>
              <a:t>地址冲突，计算新地址</a:t>
            </a:r>
            <a:r>
              <a:rPr lang="en-US" altLang="zh-CN" dirty="0">
                <a:latin typeface="Arial Black" panose="020B0A04020102020204" pitchFamily="34" charset="0"/>
              </a:rPr>
              <a:t>	</a:t>
            </a:r>
          </a:p>
          <a:p>
            <a:r>
              <a:rPr lang="en-US" altLang="zh-CN" dirty="0">
                <a:latin typeface="Arial Black" panose="020B0A04020102020204" pitchFamily="34" charset="0"/>
              </a:rPr>
              <a:t>			</a:t>
            </a:r>
            <a:r>
              <a:rPr lang="en-US" altLang="zh-CN" dirty="0" err="1">
                <a:latin typeface="Arial Black" panose="020B0A04020102020204" pitchFamily="34" charset="0"/>
              </a:rPr>
              <a:t>new_addr</a:t>
            </a:r>
            <a:r>
              <a:rPr lang="en-US" altLang="zh-CN" dirty="0">
                <a:latin typeface="Arial Black" panose="020B0A04020102020204" pitchFamily="34" charset="0"/>
              </a:rPr>
              <a:t> = (</a:t>
            </a:r>
            <a:r>
              <a:rPr lang="en-US" altLang="zh-CN" dirty="0" err="1">
                <a:latin typeface="Arial Black" panose="020B0A04020102020204" pitchFamily="34" charset="0"/>
              </a:rPr>
              <a:t>addr+di</a:t>
            </a:r>
            <a:r>
              <a:rPr lang="en-US" altLang="zh-CN" dirty="0">
                <a:latin typeface="Arial Black" panose="020B0A04020102020204" pitchFamily="34" charset="0"/>
              </a:rPr>
              <a:t>) % </a:t>
            </a:r>
            <a:r>
              <a:rPr lang="en-US" altLang="zh-CN" dirty="0" err="1">
                <a:latin typeface="Arial Black" panose="020B0A04020102020204" pitchFamily="34" charset="0"/>
              </a:rPr>
              <a:t>CurrentSize</a:t>
            </a:r>
            <a:r>
              <a:rPr lang="en-US" altLang="zh-CN" dirty="0">
                <a:latin typeface="Arial Black" panose="020B0A04020102020204" pitchFamily="34" charset="0"/>
              </a:rPr>
              <a:t>;  </a:t>
            </a:r>
            <a:endParaRPr lang="zh-CN" altLang="en-US" dirty="0">
              <a:latin typeface="Arial Black" panose="020B0A04020102020204" pitchFamily="34" charset="0"/>
            </a:endParaRPr>
          </a:p>
          <a:p>
            <a:r>
              <a:rPr lang="zh-CN" altLang="en-US" dirty="0">
                <a:latin typeface="Arial Black" panose="020B0A04020102020204" pitchFamily="34" charset="0"/>
              </a:rPr>
              <a:t>			</a:t>
            </a:r>
            <a:r>
              <a:rPr lang="en-US" altLang="zh-CN" dirty="0" err="1">
                <a:latin typeface="Arial Black" panose="020B0A04020102020204" pitchFamily="34" charset="0"/>
              </a:rPr>
              <a:t>j++</a:t>
            </a:r>
            <a:r>
              <a:rPr lang="en-US" altLang="zh-CN" dirty="0">
                <a:latin typeface="Arial Black" panose="020B0A04020102020204" pitchFamily="34" charset="0"/>
              </a:rPr>
              <a:t>;		//di++;}                     //</a:t>
            </a:r>
            <a:r>
              <a:rPr lang="zh-CN" altLang="en-US" dirty="0">
                <a:latin typeface="Arial Black" panose="020B0A04020102020204" pitchFamily="34" charset="0"/>
              </a:rPr>
              <a:t>分量增</a:t>
            </a:r>
            <a:r>
              <a:rPr lang="en-US" altLang="zh-CN" dirty="0">
                <a:latin typeface="Arial Black" panose="020B0A04020102020204" pitchFamily="34" charset="0"/>
              </a:rPr>
              <a:t>1</a:t>
            </a:r>
          </a:p>
          <a:p>
            <a:r>
              <a:rPr lang="en-US" altLang="zh-CN" dirty="0">
                <a:latin typeface="Arial Black" panose="020B0A04020102020204" pitchFamily="34" charset="0"/>
              </a:rPr>
              <a:t>		R[</a:t>
            </a:r>
            <a:r>
              <a:rPr lang="en-US" altLang="zh-CN" dirty="0" err="1">
                <a:latin typeface="Arial Black" panose="020B0A04020102020204" pitchFamily="34" charset="0"/>
              </a:rPr>
              <a:t>new_addr</a:t>
            </a:r>
            <a:r>
              <a:rPr lang="en-US" altLang="zh-CN" dirty="0">
                <a:latin typeface="Arial Black" panose="020B0A04020102020204" pitchFamily="34" charset="0"/>
              </a:rPr>
              <a:t>].key = pa[</a:t>
            </a:r>
            <a:r>
              <a:rPr lang="en-US" altLang="zh-CN" dirty="0" err="1">
                <a:latin typeface="Arial Black" panose="020B0A04020102020204" pitchFamily="34" charset="0"/>
              </a:rPr>
              <a:t>i</a:t>
            </a:r>
            <a:r>
              <a:rPr lang="en-US" altLang="zh-CN" dirty="0">
                <a:latin typeface="Arial Black" panose="020B0A04020102020204" pitchFamily="34" charset="0"/>
              </a:rPr>
              <a:t>];</a:t>
            </a:r>
          </a:p>
          <a:p>
            <a:r>
              <a:rPr lang="zh-CN" altLang="en-US" dirty="0">
                <a:latin typeface="Arial Black" panose="020B0A04020102020204" pitchFamily="34" charset="0"/>
              </a:rPr>
              <a:t>	</a:t>
            </a:r>
            <a:r>
              <a:rPr lang="en-US" altLang="zh-CN" dirty="0">
                <a:latin typeface="Arial Black" panose="020B0A04020102020204" pitchFamily="34" charset="0"/>
              </a:rPr>
              <a:t>}</a:t>
            </a:r>
          </a:p>
          <a:p>
            <a:r>
              <a:rPr lang="en-US" altLang="zh-CN" dirty="0">
                <a:latin typeface="Arial Black" panose="020B0A04020102020204" pitchFamily="34" charset="0"/>
              </a:rPr>
              <a:t>	return true;</a:t>
            </a:r>
          </a:p>
          <a:p>
            <a:r>
              <a:rPr lang="en-US" altLang="zh-CN" dirty="0">
                <a:latin typeface="Arial Black" panose="020B0A04020102020204" pitchFamily="34" charset="0"/>
              </a:rPr>
              <a:t>}</a:t>
            </a:r>
            <a:endParaRPr lang="zh-CN" altLang="en-US" dirty="0">
              <a:latin typeface="Arial Black" panose="020B0A04020102020204" pitchFamily="34" charset="0"/>
            </a:endParaRPr>
          </a:p>
        </p:txBody>
      </p:sp>
    </p:spTree>
    <p:extLst>
      <p:ext uri="{BB962C8B-B14F-4D97-AF65-F5344CB8AC3E}">
        <p14:creationId xmlns:p14="http://schemas.microsoft.com/office/powerpoint/2010/main" val="876408975"/>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FBFEC69-8793-44B4-B530-A17681EA92AE}"/>
              </a:ext>
            </a:extLst>
          </p:cNvPr>
          <p:cNvSpPr>
            <a:spLocks noGrp="1"/>
          </p:cNvSpPr>
          <p:nvPr>
            <p:ph type="dt" sz="half" idx="10"/>
          </p:nvPr>
        </p:nvSpPr>
        <p:spPr/>
        <p:txBody>
          <a:bodyPr/>
          <a:lstStyle/>
          <a:p>
            <a:fld id="{9A6B2991-BBE5-4E69-A281-1A8B0AE9CDD7}" type="datetime1">
              <a:rPr lang="zh-CN" altLang="en-US" smtClean="0"/>
              <a:pPr/>
              <a:t>2025/6/3</a:t>
            </a:fld>
            <a:endParaRPr lang="zh-CN" altLang="en-US"/>
          </a:p>
        </p:txBody>
      </p:sp>
      <p:sp>
        <p:nvSpPr>
          <p:cNvPr id="3" name="文本框 2">
            <a:extLst>
              <a:ext uri="{FF2B5EF4-FFF2-40B4-BE49-F238E27FC236}">
                <a16:creationId xmlns:a16="http://schemas.microsoft.com/office/drawing/2014/main" id="{8BCC9A35-F36D-4585-873D-B7955F6835C5}"/>
              </a:ext>
            </a:extLst>
          </p:cNvPr>
          <p:cNvSpPr txBox="1"/>
          <p:nvPr/>
        </p:nvSpPr>
        <p:spPr>
          <a:xfrm>
            <a:off x="107504" y="116632"/>
            <a:ext cx="8928992" cy="6555641"/>
          </a:xfrm>
          <a:prstGeom prst="rect">
            <a:avLst/>
          </a:prstGeom>
          <a:solidFill>
            <a:schemeClr val="accent3">
              <a:lumMod val="40000"/>
              <a:lumOff val="60000"/>
            </a:schemeClr>
          </a:solidFill>
        </p:spPr>
        <p:txBody>
          <a:bodyPr wrap="square" rtlCol="0">
            <a:spAutoFit/>
          </a:bodyPr>
          <a:lstStyle/>
          <a:p>
            <a:r>
              <a:rPr lang="en-US" altLang="zh-CN" sz="2000" dirty="0">
                <a:solidFill>
                  <a:srgbClr val="FF0000"/>
                </a:solidFill>
                <a:latin typeface="Arial Black" panose="020B0A04020102020204" pitchFamily="34" charset="0"/>
              </a:rPr>
              <a:t>//</a:t>
            </a:r>
            <a:r>
              <a:rPr lang="zh-CN" altLang="en-US" sz="2000" dirty="0">
                <a:solidFill>
                  <a:srgbClr val="FF0000"/>
                </a:solidFill>
                <a:latin typeface="Arial Black" panose="020B0A04020102020204" pitchFamily="34" charset="0"/>
              </a:rPr>
              <a:t>哈希查找函数，单向二次探测再散列</a:t>
            </a:r>
          </a:p>
          <a:p>
            <a:r>
              <a:rPr lang="en-US" altLang="zh-CN" sz="2000" dirty="0">
                <a:latin typeface="Arial Black" panose="020B0A04020102020204" pitchFamily="34" charset="0"/>
              </a:rPr>
              <a:t>template &lt;class </a:t>
            </a:r>
            <a:r>
              <a:rPr lang="en-US" altLang="zh-CN" sz="2000" dirty="0" err="1">
                <a:latin typeface="Arial Black" panose="020B0A04020102020204" pitchFamily="34" charset="0"/>
              </a:rPr>
              <a:t>keytype,class</a:t>
            </a:r>
            <a:r>
              <a:rPr lang="en-US" altLang="zh-CN" sz="2000" dirty="0">
                <a:latin typeface="Arial Black" panose="020B0A04020102020204" pitchFamily="34" charset="0"/>
              </a:rPr>
              <a:t> </a:t>
            </a:r>
            <a:r>
              <a:rPr lang="en-US" altLang="zh-CN" sz="2000" dirty="0" err="1">
                <a:latin typeface="Arial Black" panose="020B0A04020102020204" pitchFamily="34" charset="0"/>
              </a:rPr>
              <a:t>Itemtype</a:t>
            </a:r>
            <a:r>
              <a:rPr lang="en-US" altLang="zh-CN" sz="2000" dirty="0">
                <a:latin typeface="Arial Black" panose="020B0A04020102020204" pitchFamily="34" charset="0"/>
              </a:rPr>
              <a:t>&gt;</a:t>
            </a:r>
          </a:p>
          <a:p>
            <a:r>
              <a:rPr lang="en-US" altLang="zh-CN" sz="2000" dirty="0">
                <a:latin typeface="Arial Black" panose="020B0A04020102020204" pitchFamily="34" charset="0"/>
              </a:rPr>
              <a:t>int </a:t>
            </a:r>
            <a:r>
              <a:rPr lang="en-US" altLang="zh-CN" sz="2000" dirty="0" err="1">
                <a:latin typeface="Arial Black" panose="020B0A04020102020204" pitchFamily="34" charset="0"/>
              </a:rPr>
              <a:t>recordList</a:t>
            </a:r>
            <a:r>
              <a:rPr lang="en-US" altLang="zh-CN" sz="2000" dirty="0">
                <a:latin typeface="Arial Black" panose="020B0A04020102020204" pitchFamily="34" charset="0"/>
              </a:rPr>
              <a:t>&lt;</a:t>
            </a:r>
            <a:r>
              <a:rPr lang="en-US" altLang="zh-CN" sz="2000" dirty="0" err="1">
                <a:latin typeface="Arial Black" panose="020B0A04020102020204" pitchFamily="34" charset="0"/>
              </a:rPr>
              <a:t>keytype,Itemtype</a:t>
            </a:r>
            <a:r>
              <a:rPr lang="en-US" altLang="zh-CN" sz="2000" dirty="0">
                <a:latin typeface="Arial Black" panose="020B0A04020102020204" pitchFamily="34" charset="0"/>
              </a:rPr>
              <a:t>&gt;::hash_find4(</a:t>
            </a:r>
            <a:r>
              <a:rPr lang="en-US" altLang="zh-CN" sz="2000" dirty="0" err="1">
                <a:latin typeface="Arial Black" panose="020B0A04020102020204" pitchFamily="34" charset="0"/>
              </a:rPr>
              <a:t>keytype</a:t>
            </a:r>
            <a:r>
              <a:rPr lang="en-US" altLang="zh-CN" sz="2000" dirty="0">
                <a:latin typeface="Arial Black" panose="020B0A04020102020204" pitchFamily="34" charset="0"/>
              </a:rPr>
              <a:t> x)</a:t>
            </a:r>
          </a:p>
          <a:p>
            <a:r>
              <a:rPr lang="en-US" altLang="zh-CN" sz="2000" dirty="0">
                <a:latin typeface="Arial Black" panose="020B0A04020102020204" pitchFamily="34" charset="0"/>
              </a:rPr>
              <a:t>{	</a:t>
            </a:r>
          </a:p>
          <a:p>
            <a:r>
              <a:rPr lang="en-US" altLang="zh-CN" sz="2000" dirty="0">
                <a:latin typeface="Arial Black" panose="020B0A04020102020204" pitchFamily="34" charset="0"/>
              </a:rPr>
              <a:t>	int </a:t>
            </a:r>
            <a:r>
              <a:rPr lang="en-US" altLang="zh-CN" sz="2000" dirty="0" err="1">
                <a:latin typeface="Arial Black" panose="020B0A04020102020204" pitchFamily="34" charset="0"/>
              </a:rPr>
              <a:t>addr,new_addr,di,j</a:t>
            </a:r>
            <a:r>
              <a:rPr lang="en-US" altLang="zh-CN" sz="2000" dirty="0">
                <a:latin typeface="Arial Black" panose="020B0A04020102020204" pitchFamily="34" charset="0"/>
              </a:rPr>
              <a:t>;</a:t>
            </a:r>
          </a:p>
          <a:p>
            <a:r>
              <a:rPr lang="en-US" altLang="zh-CN" sz="2000" dirty="0">
                <a:latin typeface="Arial Black" panose="020B0A04020102020204" pitchFamily="34" charset="0"/>
              </a:rPr>
              <a:t>	</a:t>
            </a:r>
            <a:r>
              <a:rPr lang="en-US" altLang="zh-CN" sz="2000" dirty="0" err="1">
                <a:latin typeface="Arial Black" panose="020B0A04020102020204" pitchFamily="34" charset="0"/>
              </a:rPr>
              <a:t>keytype</a:t>
            </a:r>
            <a:r>
              <a:rPr lang="en-US" altLang="zh-CN" sz="2000" dirty="0">
                <a:latin typeface="Arial Black" panose="020B0A04020102020204" pitchFamily="34" charset="0"/>
              </a:rPr>
              <a:t> </a:t>
            </a:r>
            <a:r>
              <a:rPr lang="en-US" altLang="zh-CN" sz="2000" dirty="0" err="1">
                <a:latin typeface="Arial Black" panose="020B0A04020102020204" pitchFamily="34" charset="0"/>
              </a:rPr>
              <a:t>data_key</a:t>
            </a:r>
            <a:r>
              <a:rPr lang="en-US" altLang="zh-CN" sz="2000" dirty="0">
                <a:latin typeface="Arial Black" panose="020B0A04020102020204" pitchFamily="34" charset="0"/>
              </a:rPr>
              <a:t>=x;</a:t>
            </a:r>
          </a:p>
          <a:p>
            <a:r>
              <a:rPr lang="en-US" altLang="zh-CN" sz="2000" dirty="0">
                <a:latin typeface="Arial Black" panose="020B0A04020102020204" pitchFamily="34" charset="0"/>
              </a:rPr>
              <a:t>	</a:t>
            </a:r>
            <a:r>
              <a:rPr lang="en-US" altLang="zh-CN" sz="2000" dirty="0" err="1">
                <a:latin typeface="Arial Black" panose="020B0A04020102020204" pitchFamily="34" charset="0"/>
              </a:rPr>
              <a:t>addr</a:t>
            </a:r>
            <a:r>
              <a:rPr lang="en-US" altLang="zh-CN" sz="2000" dirty="0">
                <a:latin typeface="Arial Black" panose="020B0A04020102020204" pitchFamily="34" charset="0"/>
              </a:rPr>
              <a:t>=</a:t>
            </a:r>
            <a:r>
              <a:rPr lang="en-US" altLang="zh-CN" sz="2000" dirty="0" err="1">
                <a:latin typeface="Arial Black" panose="020B0A04020102020204" pitchFamily="34" charset="0"/>
              </a:rPr>
              <a:t>data_key%CurrentSize</a:t>
            </a:r>
            <a:r>
              <a:rPr lang="en-US" altLang="zh-CN" sz="2000" dirty="0">
                <a:latin typeface="Arial Black" panose="020B0A04020102020204" pitchFamily="34" charset="0"/>
              </a:rPr>
              <a:t>;               //</a:t>
            </a:r>
            <a:r>
              <a:rPr lang="zh-CN" altLang="en-US" sz="2000" dirty="0">
                <a:latin typeface="Arial Black" panose="020B0A04020102020204" pitchFamily="34" charset="0"/>
              </a:rPr>
              <a:t>计算哈希地址</a:t>
            </a:r>
          </a:p>
          <a:p>
            <a:r>
              <a:rPr lang="zh-CN" altLang="en-US" sz="2000" dirty="0">
                <a:latin typeface="Arial Black" panose="020B0A04020102020204" pitchFamily="34" charset="0"/>
              </a:rPr>
              <a:t>	</a:t>
            </a:r>
            <a:r>
              <a:rPr lang="en-US" altLang="zh-CN" sz="2000" dirty="0" err="1">
                <a:latin typeface="Arial Black" panose="020B0A04020102020204" pitchFamily="34" charset="0"/>
              </a:rPr>
              <a:t>new_addr</a:t>
            </a:r>
            <a:r>
              <a:rPr lang="en-US" altLang="zh-CN" sz="2000" dirty="0">
                <a:latin typeface="Arial Black" panose="020B0A04020102020204" pitchFamily="34" charset="0"/>
              </a:rPr>
              <a:t>=</a:t>
            </a:r>
            <a:r>
              <a:rPr lang="en-US" altLang="zh-CN" sz="2000" dirty="0" err="1">
                <a:latin typeface="Arial Black" panose="020B0A04020102020204" pitchFamily="34" charset="0"/>
              </a:rPr>
              <a:t>addr</a:t>
            </a:r>
            <a:r>
              <a:rPr lang="en-US" altLang="zh-CN" sz="2000" dirty="0">
                <a:latin typeface="Arial Black" panose="020B0A04020102020204" pitchFamily="34" charset="0"/>
              </a:rPr>
              <a:t>;           </a:t>
            </a:r>
          </a:p>
          <a:p>
            <a:r>
              <a:rPr lang="en-US" altLang="zh-CN" sz="2000" dirty="0">
                <a:latin typeface="Arial Black" panose="020B0A04020102020204" pitchFamily="34" charset="0"/>
              </a:rPr>
              <a:t>	j=1;		di=1;                  //</a:t>
            </a:r>
            <a:r>
              <a:rPr lang="zh-CN" altLang="en-US" sz="2000" dirty="0">
                <a:latin typeface="Arial Black" panose="020B0A04020102020204" pitchFamily="34" charset="0"/>
              </a:rPr>
              <a:t>分量从</a:t>
            </a:r>
            <a:r>
              <a:rPr lang="en-US" altLang="zh-CN" sz="2000" dirty="0">
                <a:latin typeface="Arial Black" panose="020B0A04020102020204" pitchFamily="34" charset="0"/>
              </a:rPr>
              <a:t>1</a:t>
            </a:r>
            <a:r>
              <a:rPr lang="zh-CN" altLang="en-US" sz="2000" dirty="0">
                <a:latin typeface="Arial Black" panose="020B0A04020102020204" pitchFamily="34" charset="0"/>
              </a:rPr>
              <a:t>开始</a:t>
            </a:r>
          </a:p>
          <a:p>
            <a:r>
              <a:rPr lang="zh-CN" altLang="en-US" sz="2000" dirty="0">
                <a:latin typeface="Arial Black" panose="020B0A04020102020204" pitchFamily="34" charset="0"/>
              </a:rPr>
              <a:t>	</a:t>
            </a:r>
            <a:r>
              <a:rPr lang="en-US" altLang="zh-CN" sz="2000" dirty="0">
                <a:latin typeface="Arial Black" panose="020B0A04020102020204" pitchFamily="34" charset="0"/>
              </a:rPr>
              <a:t>while ((R[</a:t>
            </a:r>
            <a:r>
              <a:rPr lang="en-US" altLang="zh-CN" sz="2000" dirty="0" err="1">
                <a:latin typeface="Arial Black" panose="020B0A04020102020204" pitchFamily="34" charset="0"/>
              </a:rPr>
              <a:t>new_addr</a:t>
            </a:r>
            <a:r>
              <a:rPr lang="en-US" altLang="zh-CN" sz="2000" dirty="0">
                <a:latin typeface="Arial Black" panose="020B0A04020102020204" pitchFamily="34" charset="0"/>
              </a:rPr>
              <a:t>].key!=x)&amp;&amp;(R[</a:t>
            </a:r>
            <a:r>
              <a:rPr lang="en-US" altLang="zh-CN" sz="2000" dirty="0" err="1">
                <a:latin typeface="Arial Black" panose="020B0A04020102020204" pitchFamily="34" charset="0"/>
              </a:rPr>
              <a:t>new_addr</a:t>
            </a:r>
            <a:r>
              <a:rPr lang="en-US" altLang="zh-CN" sz="2000" dirty="0">
                <a:latin typeface="Arial Black" panose="020B0A04020102020204" pitchFamily="34" charset="0"/>
              </a:rPr>
              <a:t>].key!=-1))</a:t>
            </a:r>
          </a:p>
          <a:p>
            <a:r>
              <a:rPr lang="en-US" altLang="zh-CN" sz="2000" dirty="0">
                <a:latin typeface="Arial Black" panose="020B0A04020102020204" pitchFamily="34" charset="0"/>
              </a:rPr>
              <a:t>    	//</a:t>
            </a:r>
            <a:r>
              <a:rPr lang="zh-CN" altLang="en-US" sz="2000" dirty="0">
                <a:latin typeface="Arial Black" panose="020B0A04020102020204" pitchFamily="34" charset="0"/>
              </a:rPr>
              <a:t>当表中元素不等于</a:t>
            </a:r>
            <a:r>
              <a:rPr lang="en-US" altLang="zh-CN" sz="2000" dirty="0">
                <a:latin typeface="Arial Black" panose="020B0A04020102020204" pitchFamily="34" charset="0"/>
              </a:rPr>
              <a:t>x</a:t>
            </a:r>
            <a:r>
              <a:rPr lang="zh-CN" altLang="en-US" sz="2000" dirty="0">
                <a:latin typeface="Arial Black" panose="020B0A04020102020204" pitchFamily="34" charset="0"/>
              </a:rPr>
              <a:t>，并且不等于</a:t>
            </a:r>
            <a:r>
              <a:rPr lang="en-US" altLang="zh-CN" sz="2000" dirty="0">
                <a:latin typeface="Arial Black" panose="020B0A04020102020204" pitchFamily="34" charset="0"/>
              </a:rPr>
              <a:t>-1</a:t>
            </a:r>
            <a:r>
              <a:rPr lang="zh-CN" altLang="en-US" sz="2000" dirty="0">
                <a:latin typeface="Arial Black" panose="020B0A04020102020204" pitchFamily="34" charset="0"/>
              </a:rPr>
              <a:t>，则计算出新地址再比较</a:t>
            </a:r>
          </a:p>
          <a:p>
            <a:r>
              <a:rPr lang="zh-CN" altLang="en-US" sz="2000" dirty="0">
                <a:latin typeface="Arial Black" panose="020B0A04020102020204" pitchFamily="34" charset="0"/>
              </a:rPr>
              <a:t>    </a:t>
            </a:r>
            <a:r>
              <a:rPr lang="en-US" altLang="zh-CN" sz="2000" dirty="0">
                <a:latin typeface="Arial Black" panose="020B0A04020102020204" pitchFamily="34" charset="0"/>
              </a:rPr>
              <a:t>	{</a:t>
            </a:r>
          </a:p>
          <a:p>
            <a:r>
              <a:rPr lang="en-US" altLang="zh-CN" sz="2000" dirty="0">
                <a:latin typeface="Arial Black" panose="020B0A04020102020204" pitchFamily="34" charset="0"/>
              </a:rPr>
              <a:t>		di=j*j;</a:t>
            </a:r>
          </a:p>
          <a:p>
            <a:r>
              <a:rPr lang="en-US" altLang="zh-CN" sz="2000" dirty="0">
                <a:latin typeface="Arial Black" panose="020B0A04020102020204" pitchFamily="34" charset="0"/>
              </a:rPr>
              <a:t>		</a:t>
            </a:r>
            <a:r>
              <a:rPr lang="en-US" altLang="zh-CN" sz="2000" dirty="0" err="1">
                <a:latin typeface="Arial Black" panose="020B0A04020102020204" pitchFamily="34" charset="0"/>
              </a:rPr>
              <a:t>new_addr</a:t>
            </a:r>
            <a:r>
              <a:rPr lang="en-US" altLang="zh-CN" sz="2000" dirty="0">
                <a:latin typeface="Arial Black" panose="020B0A04020102020204" pitchFamily="34" charset="0"/>
              </a:rPr>
              <a:t>=(</a:t>
            </a:r>
            <a:r>
              <a:rPr lang="en-US" altLang="zh-CN" sz="2000" dirty="0" err="1">
                <a:latin typeface="Arial Black" panose="020B0A04020102020204" pitchFamily="34" charset="0"/>
              </a:rPr>
              <a:t>addr+di</a:t>
            </a:r>
            <a:r>
              <a:rPr lang="en-US" altLang="zh-CN" sz="2000" dirty="0">
                <a:latin typeface="Arial Black" panose="020B0A04020102020204" pitchFamily="34" charset="0"/>
              </a:rPr>
              <a:t>)%</a:t>
            </a:r>
            <a:r>
              <a:rPr lang="en-US" altLang="zh-CN" sz="2000" dirty="0" err="1">
                <a:latin typeface="Arial Black" panose="020B0A04020102020204" pitchFamily="34" charset="0"/>
              </a:rPr>
              <a:t>CurrentSize</a:t>
            </a:r>
            <a:r>
              <a:rPr lang="en-US" altLang="zh-CN" sz="2000" dirty="0">
                <a:latin typeface="Arial Black" panose="020B0A04020102020204" pitchFamily="34" charset="0"/>
              </a:rPr>
              <a:t>;</a:t>
            </a:r>
          </a:p>
          <a:p>
            <a:r>
              <a:rPr lang="en-US" altLang="zh-CN" sz="2000" dirty="0">
                <a:latin typeface="Arial Black" panose="020B0A04020102020204" pitchFamily="34" charset="0"/>
              </a:rPr>
              <a:t>		</a:t>
            </a:r>
            <a:r>
              <a:rPr lang="en-US" altLang="zh-CN" sz="2000" dirty="0" err="1">
                <a:latin typeface="Arial Black" panose="020B0A04020102020204" pitchFamily="34" charset="0"/>
              </a:rPr>
              <a:t>j++</a:t>
            </a:r>
            <a:r>
              <a:rPr lang="en-US" altLang="zh-CN" sz="2000" dirty="0">
                <a:latin typeface="Arial Black" panose="020B0A04020102020204" pitchFamily="34" charset="0"/>
              </a:rPr>
              <a:t>;		//di++;</a:t>
            </a:r>
          </a:p>
          <a:p>
            <a:r>
              <a:rPr lang="en-US" altLang="zh-CN" sz="2000" dirty="0">
                <a:latin typeface="Arial Black" panose="020B0A04020102020204" pitchFamily="34" charset="0"/>
              </a:rPr>
              <a:t>	}</a:t>
            </a:r>
          </a:p>
          <a:p>
            <a:r>
              <a:rPr lang="en-US" altLang="zh-CN" sz="2000" dirty="0">
                <a:latin typeface="Arial Black" panose="020B0A04020102020204" pitchFamily="34" charset="0"/>
              </a:rPr>
              <a:t>	if(R[</a:t>
            </a:r>
            <a:r>
              <a:rPr lang="en-US" altLang="zh-CN" sz="2000" dirty="0" err="1">
                <a:latin typeface="Arial Black" panose="020B0A04020102020204" pitchFamily="34" charset="0"/>
              </a:rPr>
              <a:t>new_addr</a:t>
            </a:r>
            <a:r>
              <a:rPr lang="en-US" altLang="zh-CN" sz="2000" dirty="0">
                <a:latin typeface="Arial Black" panose="020B0A04020102020204" pitchFamily="34" charset="0"/>
              </a:rPr>
              <a:t>].key==x)</a:t>
            </a:r>
          </a:p>
          <a:p>
            <a:r>
              <a:rPr lang="en-US" altLang="zh-CN" sz="2000" dirty="0">
                <a:latin typeface="Arial Black" panose="020B0A04020102020204" pitchFamily="34" charset="0"/>
              </a:rPr>
              <a:t>		return </a:t>
            </a:r>
            <a:r>
              <a:rPr lang="en-US" altLang="zh-CN" sz="2000" dirty="0" err="1">
                <a:latin typeface="Arial Black" panose="020B0A04020102020204" pitchFamily="34" charset="0"/>
              </a:rPr>
              <a:t>new_addr</a:t>
            </a:r>
            <a:r>
              <a:rPr lang="en-US" altLang="zh-CN" sz="2000" dirty="0">
                <a:latin typeface="Arial Black" panose="020B0A04020102020204" pitchFamily="34" charset="0"/>
              </a:rPr>
              <a:t>;		//</a:t>
            </a:r>
            <a:r>
              <a:rPr lang="zh-CN" altLang="en-US" sz="2000" dirty="0">
                <a:latin typeface="Arial Black" panose="020B0A04020102020204" pitchFamily="34" charset="0"/>
              </a:rPr>
              <a:t>查找成功，返回表中位置</a:t>
            </a:r>
          </a:p>
          <a:p>
            <a:r>
              <a:rPr lang="zh-CN" altLang="en-US" sz="2000" dirty="0">
                <a:latin typeface="Arial Black" panose="020B0A04020102020204" pitchFamily="34" charset="0"/>
              </a:rPr>
              <a:t>	</a:t>
            </a:r>
            <a:r>
              <a:rPr lang="en-US" altLang="zh-CN" sz="2000" dirty="0">
                <a:latin typeface="Arial Black" panose="020B0A04020102020204" pitchFamily="34" charset="0"/>
              </a:rPr>
              <a:t>else</a:t>
            </a:r>
          </a:p>
          <a:p>
            <a:r>
              <a:rPr lang="en-US" altLang="zh-CN" sz="2000" dirty="0">
                <a:latin typeface="Arial Black" panose="020B0A04020102020204" pitchFamily="34" charset="0"/>
              </a:rPr>
              <a:t>		return -1;                            //</a:t>
            </a:r>
            <a:r>
              <a:rPr lang="zh-CN" altLang="en-US" sz="2000" dirty="0">
                <a:latin typeface="Arial Black" panose="020B0A04020102020204" pitchFamily="34" charset="0"/>
              </a:rPr>
              <a:t>查找不成功，返回</a:t>
            </a:r>
            <a:r>
              <a:rPr lang="en-US" altLang="zh-CN" sz="2000" dirty="0">
                <a:latin typeface="Arial Black" panose="020B0A04020102020204" pitchFamily="34" charset="0"/>
              </a:rPr>
              <a:t>-1</a:t>
            </a:r>
            <a:r>
              <a:rPr lang="zh-CN" altLang="en-US" sz="2000" dirty="0">
                <a:latin typeface="Arial Black" panose="020B0A04020102020204" pitchFamily="34" charset="0"/>
              </a:rPr>
              <a:t>值</a:t>
            </a:r>
          </a:p>
          <a:p>
            <a:r>
              <a:rPr lang="en-US" altLang="zh-CN" sz="2000" dirty="0">
                <a:latin typeface="Arial Black" panose="020B0A04020102020204" pitchFamily="34" charset="0"/>
              </a:rPr>
              <a:t>}</a:t>
            </a:r>
            <a:endParaRPr lang="zh-CN" altLang="en-US" sz="2000" dirty="0">
              <a:latin typeface="Arial Black" panose="020B0A04020102020204" pitchFamily="34" charset="0"/>
            </a:endParaRPr>
          </a:p>
        </p:txBody>
      </p:sp>
    </p:spTree>
    <p:extLst>
      <p:ext uri="{BB962C8B-B14F-4D97-AF65-F5344CB8AC3E}">
        <p14:creationId xmlns:p14="http://schemas.microsoft.com/office/powerpoint/2010/main" val="858351410"/>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17E239C-E2A3-4263-992F-EEB635B1F71F}"/>
              </a:ext>
            </a:extLst>
          </p:cNvPr>
          <p:cNvSpPr>
            <a:spLocks noGrp="1"/>
          </p:cNvSpPr>
          <p:nvPr>
            <p:ph type="dt" sz="half" idx="10"/>
          </p:nvPr>
        </p:nvSpPr>
        <p:spPr/>
        <p:txBody>
          <a:bodyPr/>
          <a:lstStyle/>
          <a:p>
            <a:fld id="{9A6B2991-BBE5-4E69-A281-1A8B0AE9CDD7}" type="datetime1">
              <a:rPr lang="zh-CN" altLang="en-US" smtClean="0"/>
              <a:pPr/>
              <a:t>2025/6/3</a:t>
            </a:fld>
            <a:endParaRPr lang="zh-CN" altLang="en-US"/>
          </a:p>
        </p:txBody>
      </p:sp>
      <p:sp>
        <p:nvSpPr>
          <p:cNvPr id="3" name="文本框 2">
            <a:extLst>
              <a:ext uri="{FF2B5EF4-FFF2-40B4-BE49-F238E27FC236}">
                <a16:creationId xmlns:a16="http://schemas.microsoft.com/office/drawing/2014/main" id="{777BB26E-8299-4F79-91B7-6F034E9E3137}"/>
              </a:ext>
            </a:extLst>
          </p:cNvPr>
          <p:cNvSpPr txBox="1"/>
          <p:nvPr/>
        </p:nvSpPr>
        <p:spPr>
          <a:xfrm>
            <a:off x="971600" y="2247255"/>
            <a:ext cx="7344816" cy="400110"/>
          </a:xfrm>
          <a:prstGeom prst="rect">
            <a:avLst/>
          </a:prstGeom>
          <a:noFill/>
        </p:spPr>
        <p:txBody>
          <a:bodyPr wrap="square">
            <a:spAutoFit/>
          </a:bodyPr>
          <a:lstStyle/>
          <a:p>
            <a:r>
              <a:rPr lang="zh-CN" altLang="en-US" sz="2000" dirty="0">
                <a:latin typeface="Arial Black" panose="020B0A04020102020204" pitchFamily="34" charset="0"/>
              </a:rPr>
              <a:t>0      1      2      3       4      5      6       7       8      9</a:t>
            </a:r>
          </a:p>
        </p:txBody>
      </p:sp>
      <p:graphicFrame>
        <p:nvGraphicFramePr>
          <p:cNvPr id="4" name="表格 5">
            <a:extLst>
              <a:ext uri="{FF2B5EF4-FFF2-40B4-BE49-F238E27FC236}">
                <a16:creationId xmlns:a16="http://schemas.microsoft.com/office/drawing/2014/main" id="{1269CAB8-1473-423B-80D1-0931AACCF30B}"/>
              </a:ext>
            </a:extLst>
          </p:cNvPr>
          <p:cNvGraphicFramePr>
            <a:graphicFrameLocks noGrp="1"/>
          </p:cNvGraphicFramePr>
          <p:nvPr/>
        </p:nvGraphicFramePr>
        <p:xfrm>
          <a:off x="827584" y="2659559"/>
          <a:ext cx="7056780" cy="707886"/>
        </p:xfrm>
        <a:graphic>
          <a:graphicData uri="http://schemas.openxmlformats.org/drawingml/2006/table">
            <a:tbl>
              <a:tblPr firstRow="1" bandRow="1">
                <a:tableStyleId>{5C22544A-7EE6-4342-B048-85BDC9FD1C3A}</a:tableStyleId>
              </a:tblPr>
              <a:tblGrid>
                <a:gridCol w="705678">
                  <a:extLst>
                    <a:ext uri="{9D8B030D-6E8A-4147-A177-3AD203B41FA5}">
                      <a16:colId xmlns:a16="http://schemas.microsoft.com/office/drawing/2014/main" val="1171980984"/>
                    </a:ext>
                  </a:extLst>
                </a:gridCol>
                <a:gridCol w="705678">
                  <a:extLst>
                    <a:ext uri="{9D8B030D-6E8A-4147-A177-3AD203B41FA5}">
                      <a16:colId xmlns:a16="http://schemas.microsoft.com/office/drawing/2014/main" val="2503194978"/>
                    </a:ext>
                  </a:extLst>
                </a:gridCol>
                <a:gridCol w="705678">
                  <a:extLst>
                    <a:ext uri="{9D8B030D-6E8A-4147-A177-3AD203B41FA5}">
                      <a16:colId xmlns:a16="http://schemas.microsoft.com/office/drawing/2014/main" val="939977632"/>
                    </a:ext>
                  </a:extLst>
                </a:gridCol>
                <a:gridCol w="705678">
                  <a:extLst>
                    <a:ext uri="{9D8B030D-6E8A-4147-A177-3AD203B41FA5}">
                      <a16:colId xmlns:a16="http://schemas.microsoft.com/office/drawing/2014/main" val="3229396349"/>
                    </a:ext>
                  </a:extLst>
                </a:gridCol>
                <a:gridCol w="705678">
                  <a:extLst>
                    <a:ext uri="{9D8B030D-6E8A-4147-A177-3AD203B41FA5}">
                      <a16:colId xmlns:a16="http://schemas.microsoft.com/office/drawing/2014/main" val="3596236929"/>
                    </a:ext>
                  </a:extLst>
                </a:gridCol>
                <a:gridCol w="705678">
                  <a:extLst>
                    <a:ext uri="{9D8B030D-6E8A-4147-A177-3AD203B41FA5}">
                      <a16:colId xmlns:a16="http://schemas.microsoft.com/office/drawing/2014/main" val="1995735317"/>
                    </a:ext>
                  </a:extLst>
                </a:gridCol>
                <a:gridCol w="705678">
                  <a:extLst>
                    <a:ext uri="{9D8B030D-6E8A-4147-A177-3AD203B41FA5}">
                      <a16:colId xmlns:a16="http://schemas.microsoft.com/office/drawing/2014/main" val="489352475"/>
                    </a:ext>
                  </a:extLst>
                </a:gridCol>
                <a:gridCol w="705678">
                  <a:extLst>
                    <a:ext uri="{9D8B030D-6E8A-4147-A177-3AD203B41FA5}">
                      <a16:colId xmlns:a16="http://schemas.microsoft.com/office/drawing/2014/main" val="4098136232"/>
                    </a:ext>
                  </a:extLst>
                </a:gridCol>
                <a:gridCol w="705678">
                  <a:extLst>
                    <a:ext uri="{9D8B030D-6E8A-4147-A177-3AD203B41FA5}">
                      <a16:colId xmlns:a16="http://schemas.microsoft.com/office/drawing/2014/main" val="2864950872"/>
                    </a:ext>
                  </a:extLst>
                </a:gridCol>
                <a:gridCol w="705678">
                  <a:extLst>
                    <a:ext uri="{9D8B030D-6E8A-4147-A177-3AD203B41FA5}">
                      <a16:colId xmlns:a16="http://schemas.microsoft.com/office/drawing/2014/main" val="260069394"/>
                    </a:ext>
                  </a:extLst>
                </a:gridCol>
              </a:tblGrid>
              <a:tr h="707886">
                <a:tc>
                  <a:txBody>
                    <a:bodyPr/>
                    <a:lstStyle/>
                    <a:p>
                      <a:pPr algn="ctr"/>
                      <a:r>
                        <a:rPr lang="en-US" altLang="zh-CN" sz="2800" dirty="0">
                          <a:solidFill>
                            <a:schemeClr val="tx1"/>
                          </a:solidFill>
                          <a:latin typeface="Arial Black" panose="020B0A04020102020204" pitchFamily="34" charset="0"/>
                        </a:rPr>
                        <a:t>21</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71</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32</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42</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-1</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55</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22</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38</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18</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tc>
                  <a:txBody>
                    <a:bodyPr/>
                    <a:lstStyle/>
                    <a:p>
                      <a:pPr algn="ctr"/>
                      <a:r>
                        <a:rPr lang="en-US" altLang="zh-CN" sz="2800" dirty="0">
                          <a:solidFill>
                            <a:schemeClr val="tx1"/>
                          </a:solidFill>
                          <a:latin typeface="Arial Black" panose="020B0A04020102020204" pitchFamily="34" charset="0"/>
                        </a:rPr>
                        <a:t>68</a:t>
                      </a:r>
                      <a:endParaRPr lang="zh-CN" altLang="en-US" sz="2800" dirty="0">
                        <a:solidFill>
                          <a:schemeClr val="tx1"/>
                        </a:solidFill>
                        <a:latin typeface="Arial Black" panose="020B0A04020102020204" pitchFamily="34" charset="0"/>
                      </a:endParaRPr>
                    </a:p>
                  </a:txBody>
                  <a:tcPr anchor="ctr">
                    <a:solidFill>
                      <a:schemeClr val="accent3">
                        <a:lumMod val="60000"/>
                        <a:lumOff val="40000"/>
                      </a:schemeClr>
                    </a:solidFill>
                  </a:tcPr>
                </a:tc>
                <a:extLst>
                  <a:ext uri="{0D108BD9-81ED-4DB2-BD59-A6C34878D82A}">
                    <a16:rowId xmlns:a16="http://schemas.microsoft.com/office/drawing/2014/main" val="3289424096"/>
                  </a:ext>
                </a:extLst>
              </a:tr>
            </a:tbl>
          </a:graphicData>
        </a:graphic>
      </p:graphicFrame>
      <p:sp>
        <p:nvSpPr>
          <p:cNvPr id="5" name="文本框 4">
            <a:extLst>
              <a:ext uri="{FF2B5EF4-FFF2-40B4-BE49-F238E27FC236}">
                <a16:creationId xmlns:a16="http://schemas.microsoft.com/office/drawing/2014/main" id="{0E87F2AE-23BB-453D-9889-373077DF16EF}"/>
              </a:ext>
            </a:extLst>
          </p:cNvPr>
          <p:cNvSpPr txBox="1"/>
          <p:nvPr/>
        </p:nvSpPr>
        <p:spPr>
          <a:xfrm>
            <a:off x="899592" y="1383159"/>
            <a:ext cx="5904656" cy="523220"/>
          </a:xfrm>
          <a:prstGeom prst="rect">
            <a:avLst/>
          </a:prstGeom>
          <a:noFill/>
        </p:spPr>
        <p:txBody>
          <a:bodyPr wrap="square" rtlCol="0">
            <a:spAutoFit/>
          </a:bodyPr>
          <a:lstStyle/>
          <a:p>
            <a:r>
              <a:rPr lang="zh-CN" altLang="en-US" sz="2800" b="1" dirty="0">
                <a:solidFill>
                  <a:srgbClr val="FF0000"/>
                </a:solidFill>
              </a:rPr>
              <a:t>双向二次探测再散列，创建哈希表</a:t>
            </a:r>
          </a:p>
        </p:txBody>
      </p:sp>
      <p:sp>
        <p:nvSpPr>
          <p:cNvPr id="6" name="文本框 5">
            <a:extLst>
              <a:ext uri="{FF2B5EF4-FFF2-40B4-BE49-F238E27FC236}">
                <a16:creationId xmlns:a16="http://schemas.microsoft.com/office/drawing/2014/main" id="{8DE134F1-B941-411D-8D15-62C11C2F6E97}"/>
              </a:ext>
            </a:extLst>
          </p:cNvPr>
          <p:cNvSpPr txBox="1"/>
          <p:nvPr/>
        </p:nvSpPr>
        <p:spPr>
          <a:xfrm>
            <a:off x="899592" y="3975447"/>
            <a:ext cx="6192688" cy="461665"/>
          </a:xfrm>
          <a:prstGeom prst="rect">
            <a:avLst/>
          </a:prstGeom>
          <a:noFill/>
        </p:spPr>
        <p:txBody>
          <a:bodyPr wrap="square" rtlCol="0">
            <a:spAutoFit/>
          </a:bodyPr>
          <a:lstStyle/>
          <a:p>
            <a:r>
              <a:rPr lang="en-US" altLang="zh-CN" sz="2400" dirty="0">
                <a:latin typeface="Arial Black" panose="020B0A04020102020204" pitchFamily="34" charset="0"/>
              </a:rPr>
              <a:t>ASL=(3+1+1+2+1+4+3+1+2)/9=18/9</a:t>
            </a:r>
            <a:endParaRPr lang="zh-CN" altLang="en-US" sz="2400" dirty="0">
              <a:latin typeface="Arial Black" panose="020B0A04020102020204" pitchFamily="34" charset="0"/>
            </a:endParaRPr>
          </a:p>
        </p:txBody>
      </p:sp>
      <p:sp>
        <p:nvSpPr>
          <p:cNvPr id="7" name="文本框 6">
            <a:extLst>
              <a:ext uri="{FF2B5EF4-FFF2-40B4-BE49-F238E27FC236}">
                <a16:creationId xmlns:a16="http://schemas.microsoft.com/office/drawing/2014/main" id="{996F1918-6499-4977-AFB0-A0ABD4E76045}"/>
              </a:ext>
            </a:extLst>
          </p:cNvPr>
          <p:cNvSpPr txBox="1"/>
          <p:nvPr/>
        </p:nvSpPr>
        <p:spPr>
          <a:xfrm>
            <a:off x="611560" y="591071"/>
            <a:ext cx="7992888" cy="461665"/>
          </a:xfrm>
          <a:prstGeom prst="rect">
            <a:avLst/>
          </a:prstGeom>
          <a:noFill/>
        </p:spPr>
        <p:txBody>
          <a:bodyPr wrap="square">
            <a:spAutoFit/>
          </a:bodyPr>
          <a:lstStyle/>
          <a:p>
            <a:r>
              <a:rPr lang="zh-CN" altLang="en-US" sz="2400" b="1" dirty="0">
                <a:latin typeface="Arial Black" panose="020B0A04020102020204" pitchFamily="34" charset="0"/>
              </a:rPr>
              <a:t>假设关键字序列：{32,18,68,42,55,71,22,38,21}</a:t>
            </a:r>
          </a:p>
        </p:txBody>
      </p:sp>
    </p:spTree>
    <p:extLst>
      <p:ext uri="{BB962C8B-B14F-4D97-AF65-F5344CB8AC3E}">
        <p14:creationId xmlns:p14="http://schemas.microsoft.com/office/powerpoint/2010/main" val="1327179480"/>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8BAF6A0-05C1-439A-BA5F-B34E32D4E645}"/>
              </a:ext>
            </a:extLst>
          </p:cNvPr>
          <p:cNvSpPr>
            <a:spLocks noGrp="1"/>
          </p:cNvSpPr>
          <p:nvPr>
            <p:ph type="dt" sz="half" idx="10"/>
          </p:nvPr>
        </p:nvSpPr>
        <p:spPr/>
        <p:txBody>
          <a:bodyPr/>
          <a:lstStyle/>
          <a:p>
            <a:fld id="{9A6B2991-BBE5-4E69-A281-1A8B0AE9CDD7}" type="datetime1">
              <a:rPr lang="zh-CN" altLang="en-US" smtClean="0"/>
              <a:pPr/>
              <a:t>2025/6/3</a:t>
            </a:fld>
            <a:endParaRPr lang="zh-CN" altLang="en-US"/>
          </a:p>
        </p:txBody>
      </p:sp>
      <p:sp>
        <p:nvSpPr>
          <p:cNvPr id="3" name="文本框 2">
            <a:extLst>
              <a:ext uri="{FF2B5EF4-FFF2-40B4-BE49-F238E27FC236}">
                <a16:creationId xmlns:a16="http://schemas.microsoft.com/office/drawing/2014/main" id="{12BBE586-AE97-4E28-A189-C38659476D95}"/>
              </a:ext>
            </a:extLst>
          </p:cNvPr>
          <p:cNvSpPr txBox="1"/>
          <p:nvPr/>
        </p:nvSpPr>
        <p:spPr>
          <a:xfrm>
            <a:off x="35496" y="44624"/>
            <a:ext cx="9217024" cy="7294305"/>
          </a:xfrm>
          <a:prstGeom prst="rect">
            <a:avLst/>
          </a:prstGeom>
          <a:solidFill>
            <a:schemeClr val="accent3">
              <a:lumMod val="40000"/>
              <a:lumOff val="60000"/>
            </a:schemeClr>
          </a:solidFill>
        </p:spPr>
        <p:txBody>
          <a:bodyPr wrap="square" rtlCol="0">
            <a:spAutoFit/>
          </a:bodyPr>
          <a:lstStyle/>
          <a:p>
            <a:r>
              <a:rPr lang="en-US" altLang="zh-CN" dirty="0">
                <a:latin typeface="Arial Black" panose="020B0A04020102020204" pitchFamily="34" charset="0"/>
              </a:rPr>
              <a:t>//</a:t>
            </a:r>
            <a:r>
              <a:rPr lang="zh-CN" altLang="en-US" dirty="0">
                <a:latin typeface="Arial Black" panose="020B0A04020102020204" pitchFamily="34" charset="0"/>
              </a:rPr>
              <a:t>双向二次探测再散列，建立哈希表</a:t>
            </a:r>
          </a:p>
          <a:p>
            <a:r>
              <a:rPr lang="en-US" altLang="zh-CN" dirty="0">
                <a:latin typeface="Arial Black" panose="020B0A04020102020204" pitchFamily="34" charset="0"/>
              </a:rPr>
              <a:t>template &lt;class </a:t>
            </a:r>
            <a:r>
              <a:rPr lang="en-US" altLang="zh-CN" dirty="0" err="1">
                <a:latin typeface="Arial Black" panose="020B0A04020102020204" pitchFamily="34" charset="0"/>
              </a:rPr>
              <a:t>keytype,class</a:t>
            </a:r>
            <a:r>
              <a:rPr lang="en-US" altLang="zh-CN" dirty="0">
                <a:latin typeface="Arial Black" panose="020B0A04020102020204" pitchFamily="34" charset="0"/>
              </a:rPr>
              <a:t> </a:t>
            </a:r>
            <a:r>
              <a:rPr lang="en-US" altLang="zh-CN" dirty="0" err="1">
                <a:latin typeface="Arial Black" panose="020B0A04020102020204" pitchFamily="34" charset="0"/>
              </a:rPr>
              <a:t>Itemtype</a:t>
            </a:r>
            <a:r>
              <a:rPr lang="en-US" altLang="zh-CN" dirty="0">
                <a:latin typeface="Arial Black" panose="020B0A04020102020204" pitchFamily="34" charset="0"/>
              </a:rPr>
              <a:t>&gt;</a:t>
            </a:r>
          </a:p>
          <a:p>
            <a:r>
              <a:rPr lang="en-US" altLang="zh-CN" dirty="0">
                <a:latin typeface="Arial Black" panose="020B0A04020102020204" pitchFamily="34" charset="0"/>
              </a:rPr>
              <a:t>bool </a:t>
            </a:r>
            <a:r>
              <a:rPr lang="en-US" altLang="zh-CN" dirty="0" err="1">
                <a:latin typeface="Arial Black" panose="020B0A04020102020204" pitchFamily="34" charset="0"/>
              </a:rPr>
              <a:t>recordList</a:t>
            </a:r>
            <a:r>
              <a:rPr lang="en-US" altLang="zh-CN" dirty="0">
                <a:latin typeface="Arial Black" panose="020B0A04020102020204" pitchFamily="34" charset="0"/>
              </a:rPr>
              <a:t>&lt;</a:t>
            </a:r>
            <a:r>
              <a:rPr lang="en-US" altLang="zh-CN" dirty="0" err="1">
                <a:latin typeface="Arial Black" panose="020B0A04020102020204" pitchFamily="34" charset="0"/>
              </a:rPr>
              <a:t>keytype,Itemtype</a:t>
            </a:r>
            <a:r>
              <a:rPr lang="en-US" altLang="zh-CN" dirty="0">
                <a:latin typeface="Arial Black" panose="020B0A04020102020204" pitchFamily="34" charset="0"/>
              </a:rPr>
              <a:t>&gt;::set_hash5(</a:t>
            </a:r>
            <a:r>
              <a:rPr lang="en-US" altLang="zh-CN" dirty="0" err="1">
                <a:latin typeface="Arial Black" panose="020B0A04020102020204" pitchFamily="34" charset="0"/>
              </a:rPr>
              <a:t>keytype</a:t>
            </a:r>
            <a:r>
              <a:rPr lang="en-US" altLang="zh-CN" dirty="0">
                <a:latin typeface="Arial Black" panose="020B0A04020102020204" pitchFamily="34" charset="0"/>
              </a:rPr>
              <a:t> *</a:t>
            </a:r>
            <a:r>
              <a:rPr lang="en-US" altLang="zh-CN" dirty="0" err="1">
                <a:latin typeface="Arial Black" panose="020B0A04020102020204" pitchFamily="34" charset="0"/>
              </a:rPr>
              <a:t>pa,int</a:t>
            </a:r>
            <a:r>
              <a:rPr lang="en-US" altLang="zh-CN" dirty="0">
                <a:latin typeface="Arial Black" panose="020B0A04020102020204" pitchFamily="34" charset="0"/>
              </a:rPr>
              <a:t> n)</a:t>
            </a:r>
          </a:p>
          <a:p>
            <a:r>
              <a:rPr lang="en-US" altLang="zh-CN" dirty="0">
                <a:latin typeface="Arial Black" panose="020B0A04020102020204" pitchFamily="34" charset="0"/>
              </a:rPr>
              <a:t>//n</a:t>
            </a:r>
            <a:r>
              <a:rPr lang="zh-CN" altLang="en-US" dirty="0">
                <a:latin typeface="Arial Black" panose="020B0A04020102020204" pitchFamily="34" charset="0"/>
              </a:rPr>
              <a:t>个数据元素存放在一维数组中，</a:t>
            </a:r>
            <a:r>
              <a:rPr lang="en-US" altLang="zh-CN" dirty="0">
                <a:latin typeface="Arial Black" panose="020B0A04020102020204" pitchFamily="34" charset="0"/>
              </a:rPr>
              <a:t>pa</a:t>
            </a:r>
            <a:r>
              <a:rPr lang="zh-CN" altLang="en-US" dirty="0">
                <a:latin typeface="Arial Black" panose="020B0A04020102020204" pitchFamily="34" charset="0"/>
              </a:rPr>
              <a:t>指向数组的首地址</a:t>
            </a:r>
          </a:p>
          <a:p>
            <a:r>
              <a:rPr lang="en-US" altLang="zh-CN" dirty="0">
                <a:latin typeface="Arial Black" panose="020B0A04020102020204" pitchFamily="34" charset="0"/>
              </a:rPr>
              <a:t>{	int </a:t>
            </a:r>
            <a:r>
              <a:rPr lang="en-US" altLang="zh-CN" dirty="0" err="1">
                <a:latin typeface="Arial Black" panose="020B0A04020102020204" pitchFamily="34" charset="0"/>
              </a:rPr>
              <a:t>addr,new_addr,di,j</a:t>
            </a:r>
            <a:r>
              <a:rPr lang="en-US" altLang="zh-CN" dirty="0">
                <a:latin typeface="Arial Black" panose="020B0A04020102020204" pitchFamily="34" charset="0"/>
              </a:rPr>
              <a:t>;		bool flag;</a:t>
            </a:r>
          </a:p>
          <a:p>
            <a:r>
              <a:rPr lang="en-US" altLang="zh-CN" dirty="0">
                <a:latin typeface="Arial Black" panose="020B0A04020102020204" pitchFamily="34" charset="0"/>
              </a:rPr>
              <a:t>	if(n&lt;0||(</a:t>
            </a:r>
            <a:r>
              <a:rPr lang="en-US" altLang="zh-CN" dirty="0" err="1">
                <a:latin typeface="Arial Black" panose="020B0A04020102020204" pitchFamily="34" charset="0"/>
              </a:rPr>
              <a:t>n+n</a:t>
            </a:r>
            <a:r>
              <a:rPr lang="en-US" altLang="zh-CN" dirty="0">
                <a:latin typeface="Arial Black" panose="020B0A04020102020204" pitchFamily="34" charset="0"/>
              </a:rPr>
              <a:t>/10+1)&gt;</a:t>
            </a:r>
            <a:r>
              <a:rPr lang="en-US" altLang="zh-CN" dirty="0" err="1">
                <a:latin typeface="Arial Black" panose="020B0A04020102020204" pitchFamily="34" charset="0"/>
              </a:rPr>
              <a:t>MaxSize</a:t>
            </a:r>
            <a:r>
              <a:rPr lang="en-US" altLang="zh-CN" dirty="0">
                <a:latin typeface="Arial Black" panose="020B0A04020102020204" pitchFamily="34" charset="0"/>
              </a:rPr>
              <a:t>)                 //</a:t>
            </a:r>
            <a:r>
              <a:rPr lang="zh-CN" altLang="en-US" dirty="0">
                <a:latin typeface="Arial Black" panose="020B0A04020102020204" pitchFamily="34" charset="0"/>
              </a:rPr>
              <a:t>检验</a:t>
            </a:r>
            <a:r>
              <a:rPr lang="en-US" altLang="zh-CN" dirty="0">
                <a:latin typeface="Arial Black" panose="020B0A04020102020204" pitchFamily="34" charset="0"/>
              </a:rPr>
              <a:t>n</a:t>
            </a:r>
            <a:r>
              <a:rPr lang="zh-CN" altLang="en-US" dirty="0">
                <a:latin typeface="Arial Black" panose="020B0A04020102020204" pitchFamily="34" charset="0"/>
              </a:rPr>
              <a:t>的合法性</a:t>
            </a:r>
          </a:p>
          <a:p>
            <a:r>
              <a:rPr lang="zh-CN" altLang="en-US" dirty="0">
                <a:latin typeface="Arial Black" panose="020B0A04020102020204" pitchFamily="34" charset="0"/>
              </a:rPr>
              <a:t>	</a:t>
            </a:r>
            <a:r>
              <a:rPr lang="en-US" altLang="zh-CN" dirty="0">
                <a:latin typeface="Arial Black" panose="020B0A04020102020204" pitchFamily="34" charset="0"/>
              </a:rPr>
              <a:t>{	</a:t>
            </a:r>
            <a:r>
              <a:rPr lang="en-US" altLang="zh-CN" dirty="0" err="1">
                <a:latin typeface="Arial Black" panose="020B0A04020102020204" pitchFamily="34" charset="0"/>
              </a:rPr>
              <a:t>cout</a:t>
            </a:r>
            <a:r>
              <a:rPr lang="en-US" altLang="zh-CN" dirty="0">
                <a:latin typeface="Arial Black" panose="020B0A04020102020204" pitchFamily="34" charset="0"/>
              </a:rPr>
              <a:t>&lt;&lt;"n</a:t>
            </a:r>
            <a:r>
              <a:rPr lang="zh-CN" altLang="en-US" dirty="0">
                <a:latin typeface="Arial Black" panose="020B0A04020102020204" pitchFamily="34" charset="0"/>
              </a:rPr>
              <a:t>的值有错误，不能创建哈希表！</a:t>
            </a:r>
            <a:r>
              <a:rPr lang="en-US" altLang="zh-CN" dirty="0">
                <a:latin typeface="Arial Black" panose="020B0A04020102020204" pitchFamily="34" charset="0"/>
              </a:rPr>
              <a:t>\n";</a:t>
            </a:r>
          </a:p>
          <a:p>
            <a:r>
              <a:rPr lang="en-US" altLang="zh-CN" dirty="0">
                <a:latin typeface="Arial Black" panose="020B0A04020102020204" pitchFamily="34" charset="0"/>
              </a:rPr>
              <a:t>		return false;	}</a:t>
            </a:r>
          </a:p>
          <a:p>
            <a:r>
              <a:rPr lang="en-US" altLang="zh-CN" dirty="0">
                <a:latin typeface="Arial Black" panose="020B0A04020102020204" pitchFamily="34" charset="0"/>
              </a:rPr>
              <a:t>	</a:t>
            </a:r>
            <a:r>
              <a:rPr lang="en-US" altLang="zh-CN" dirty="0" err="1">
                <a:latin typeface="Arial Black" panose="020B0A04020102020204" pitchFamily="34" charset="0"/>
              </a:rPr>
              <a:t>CurrentSize</a:t>
            </a:r>
            <a:r>
              <a:rPr lang="en-US" altLang="zh-CN" dirty="0">
                <a:latin typeface="Arial Black" panose="020B0A04020102020204" pitchFamily="34" charset="0"/>
              </a:rPr>
              <a:t> = </a:t>
            </a:r>
            <a:r>
              <a:rPr lang="en-US" altLang="zh-CN" dirty="0" err="1">
                <a:latin typeface="Arial Black" panose="020B0A04020102020204" pitchFamily="34" charset="0"/>
              </a:rPr>
              <a:t>n+n</a:t>
            </a:r>
            <a:r>
              <a:rPr lang="en-US" altLang="zh-CN" dirty="0">
                <a:latin typeface="Arial Black" panose="020B0A04020102020204" pitchFamily="34" charset="0"/>
              </a:rPr>
              <a:t>/10+1;           //</a:t>
            </a:r>
            <a:r>
              <a:rPr lang="zh-CN" altLang="en-US" dirty="0">
                <a:latin typeface="Arial Black" panose="020B0A04020102020204" pitchFamily="34" charset="0"/>
              </a:rPr>
              <a:t>保证哈希表长大于</a:t>
            </a:r>
            <a:r>
              <a:rPr lang="en-US" altLang="zh-CN" dirty="0">
                <a:latin typeface="Arial Black" panose="020B0A04020102020204" pitchFamily="34" charset="0"/>
              </a:rPr>
              <a:t>n</a:t>
            </a:r>
            <a:r>
              <a:rPr lang="zh-CN" altLang="en-US" dirty="0">
                <a:latin typeface="Arial Black" panose="020B0A04020102020204" pitchFamily="34" charset="0"/>
              </a:rPr>
              <a:t>十个百分点</a:t>
            </a:r>
          </a:p>
          <a:p>
            <a:r>
              <a:rPr lang="zh-CN" altLang="en-US" dirty="0">
                <a:latin typeface="Arial Black" panose="020B0A04020102020204" pitchFamily="34" charset="0"/>
              </a:rPr>
              <a:t>	</a:t>
            </a:r>
            <a:r>
              <a:rPr lang="en-US" altLang="zh-CN" dirty="0">
                <a:latin typeface="Arial Black" panose="020B0A04020102020204" pitchFamily="34" charset="0"/>
              </a:rPr>
              <a:t>for(int </a:t>
            </a:r>
            <a:r>
              <a:rPr lang="en-US" altLang="zh-CN" dirty="0" err="1">
                <a:latin typeface="Arial Black" panose="020B0A04020102020204" pitchFamily="34" charset="0"/>
              </a:rPr>
              <a:t>i</a:t>
            </a:r>
            <a:r>
              <a:rPr lang="en-US" altLang="zh-CN" dirty="0">
                <a:latin typeface="Arial Black" panose="020B0A04020102020204" pitchFamily="34" charset="0"/>
              </a:rPr>
              <a:t>=0;i&lt;</a:t>
            </a:r>
            <a:r>
              <a:rPr lang="en-US" altLang="zh-CN" dirty="0" err="1">
                <a:latin typeface="Arial Black" panose="020B0A04020102020204" pitchFamily="34" charset="0"/>
              </a:rPr>
              <a:t>MaxSize;i</a:t>
            </a:r>
            <a:r>
              <a:rPr lang="en-US" altLang="zh-CN" dirty="0">
                <a:latin typeface="Arial Black" panose="020B0A04020102020204" pitchFamily="34" charset="0"/>
              </a:rPr>
              <a:t>++)    	//</a:t>
            </a:r>
            <a:r>
              <a:rPr lang="zh-CN" altLang="en-US" dirty="0">
                <a:latin typeface="Arial Black" panose="020B0A04020102020204" pitchFamily="34" charset="0"/>
              </a:rPr>
              <a:t>先将哈希表中元素置</a:t>
            </a:r>
            <a:r>
              <a:rPr lang="en-US" altLang="zh-CN" dirty="0">
                <a:latin typeface="Arial Black" panose="020B0A04020102020204" pitchFamily="34" charset="0"/>
              </a:rPr>
              <a:t>-1</a:t>
            </a:r>
            <a:r>
              <a:rPr lang="zh-CN" altLang="en-US" dirty="0">
                <a:latin typeface="Arial Black" panose="020B0A04020102020204" pitchFamily="34" charset="0"/>
              </a:rPr>
              <a:t>和索引下标 </a:t>
            </a:r>
          </a:p>
          <a:p>
            <a:r>
              <a:rPr lang="zh-CN" altLang="en-US" dirty="0">
                <a:latin typeface="Arial Black" panose="020B0A04020102020204" pitchFamily="34" charset="0"/>
              </a:rPr>
              <a:t>	</a:t>
            </a:r>
            <a:r>
              <a:rPr lang="en-US" altLang="zh-CN" dirty="0">
                <a:latin typeface="Arial Black" panose="020B0A04020102020204" pitchFamily="34" charset="0"/>
              </a:rPr>
              <a:t>{	R[</a:t>
            </a:r>
            <a:r>
              <a:rPr lang="en-US" altLang="zh-CN" dirty="0" err="1">
                <a:latin typeface="Arial Black" panose="020B0A04020102020204" pitchFamily="34" charset="0"/>
              </a:rPr>
              <a:t>i</a:t>
            </a:r>
            <a:r>
              <a:rPr lang="en-US" altLang="zh-CN" dirty="0">
                <a:latin typeface="Arial Black" panose="020B0A04020102020204" pitchFamily="34" charset="0"/>
              </a:rPr>
              <a:t>].key=-1;	R[</a:t>
            </a:r>
            <a:r>
              <a:rPr lang="en-US" altLang="zh-CN" dirty="0" err="1">
                <a:latin typeface="Arial Black" panose="020B0A04020102020204" pitchFamily="34" charset="0"/>
              </a:rPr>
              <a:t>i</a:t>
            </a:r>
            <a:r>
              <a:rPr lang="en-US" altLang="zh-CN" dirty="0">
                <a:latin typeface="Arial Black" panose="020B0A04020102020204" pitchFamily="34" charset="0"/>
              </a:rPr>
              <a:t>].</a:t>
            </a:r>
            <a:r>
              <a:rPr lang="en-US" altLang="zh-CN" dirty="0" err="1">
                <a:latin typeface="Arial Black" panose="020B0A04020102020204" pitchFamily="34" charset="0"/>
              </a:rPr>
              <a:t>otherinfo</a:t>
            </a:r>
            <a:r>
              <a:rPr lang="en-US" altLang="zh-CN" dirty="0">
                <a:latin typeface="Arial Black" panose="020B0A04020102020204" pitchFamily="34" charset="0"/>
              </a:rPr>
              <a:t>=</a:t>
            </a:r>
            <a:r>
              <a:rPr lang="en-US" altLang="zh-CN" dirty="0" err="1">
                <a:latin typeface="Arial Black" panose="020B0A04020102020204" pitchFamily="34" charset="0"/>
              </a:rPr>
              <a:t>i</a:t>
            </a:r>
            <a:r>
              <a:rPr lang="en-US" altLang="zh-CN" dirty="0">
                <a:latin typeface="Arial Black" panose="020B0A04020102020204" pitchFamily="34" charset="0"/>
              </a:rPr>
              <a:t>;	}	</a:t>
            </a:r>
          </a:p>
          <a:p>
            <a:r>
              <a:rPr lang="en-US" altLang="zh-CN" dirty="0">
                <a:latin typeface="Arial Black" panose="020B0A04020102020204" pitchFamily="34" charset="0"/>
              </a:rPr>
              <a:t>	for(int </a:t>
            </a:r>
            <a:r>
              <a:rPr lang="en-US" altLang="zh-CN" dirty="0" err="1">
                <a:latin typeface="Arial Black" panose="020B0A04020102020204" pitchFamily="34" charset="0"/>
              </a:rPr>
              <a:t>i</a:t>
            </a:r>
            <a:r>
              <a:rPr lang="en-US" altLang="zh-CN" dirty="0">
                <a:latin typeface="Arial Black" panose="020B0A04020102020204" pitchFamily="34" charset="0"/>
              </a:rPr>
              <a:t>=0;i&lt;</a:t>
            </a:r>
            <a:r>
              <a:rPr lang="en-US" altLang="zh-CN" dirty="0" err="1">
                <a:latin typeface="Arial Black" panose="020B0A04020102020204" pitchFamily="34" charset="0"/>
              </a:rPr>
              <a:t>n;i</a:t>
            </a:r>
            <a:r>
              <a:rPr lang="en-US" altLang="zh-CN" dirty="0">
                <a:latin typeface="Arial Black" panose="020B0A04020102020204" pitchFamily="34" charset="0"/>
              </a:rPr>
              <a:t>++)</a:t>
            </a:r>
          </a:p>
          <a:p>
            <a:r>
              <a:rPr lang="en-US" altLang="zh-CN" dirty="0">
                <a:latin typeface="Arial Black" panose="020B0A04020102020204" pitchFamily="34" charset="0"/>
              </a:rPr>
              <a:t>	{	</a:t>
            </a:r>
            <a:r>
              <a:rPr lang="en-US" altLang="zh-CN" dirty="0" err="1">
                <a:latin typeface="Arial Black" panose="020B0A04020102020204" pitchFamily="34" charset="0"/>
              </a:rPr>
              <a:t>addr</a:t>
            </a:r>
            <a:r>
              <a:rPr lang="en-US" altLang="zh-CN" dirty="0">
                <a:latin typeface="Arial Black" panose="020B0A04020102020204" pitchFamily="34" charset="0"/>
              </a:rPr>
              <a:t> = pa[</a:t>
            </a:r>
            <a:r>
              <a:rPr lang="en-US" altLang="zh-CN" dirty="0" err="1">
                <a:latin typeface="Arial Black" panose="020B0A04020102020204" pitchFamily="34" charset="0"/>
              </a:rPr>
              <a:t>i</a:t>
            </a:r>
            <a:r>
              <a:rPr lang="en-US" altLang="zh-CN" dirty="0">
                <a:latin typeface="Arial Black" panose="020B0A04020102020204" pitchFamily="34" charset="0"/>
              </a:rPr>
              <a:t>] % </a:t>
            </a:r>
            <a:r>
              <a:rPr lang="en-US" altLang="zh-CN" dirty="0" err="1">
                <a:latin typeface="Arial Black" panose="020B0A04020102020204" pitchFamily="34" charset="0"/>
              </a:rPr>
              <a:t>CurrentSize</a:t>
            </a:r>
            <a:r>
              <a:rPr lang="en-US" altLang="zh-CN" dirty="0">
                <a:latin typeface="Arial Black" panose="020B0A04020102020204" pitchFamily="34" charset="0"/>
              </a:rPr>
              <a:t>;      //</a:t>
            </a:r>
            <a:r>
              <a:rPr lang="zh-CN" altLang="en-US" dirty="0">
                <a:latin typeface="Arial Black" panose="020B0A04020102020204" pitchFamily="34" charset="0"/>
              </a:rPr>
              <a:t>计算哈希地址</a:t>
            </a:r>
          </a:p>
          <a:p>
            <a:r>
              <a:rPr lang="zh-CN" altLang="en-US" dirty="0">
                <a:latin typeface="Arial Black" panose="020B0A04020102020204" pitchFamily="34" charset="0"/>
              </a:rPr>
              <a:t>		</a:t>
            </a:r>
            <a:r>
              <a:rPr lang="en-US" altLang="zh-CN" dirty="0" err="1">
                <a:latin typeface="Arial Black" panose="020B0A04020102020204" pitchFamily="34" charset="0"/>
              </a:rPr>
              <a:t>new_addr</a:t>
            </a:r>
            <a:r>
              <a:rPr lang="en-US" altLang="zh-CN" dirty="0">
                <a:latin typeface="Arial Black" panose="020B0A04020102020204" pitchFamily="34" charset="0"/>
              </a:rPr>
              <a:t> = </a:t>
            </a:r>
            <a:r>
              <a:rPr lang="en-US" altLang="zh-CN" dirty="0" err="1">
                <a:latin typeface="Arial Black" panose="020B0A04020102020204" pitchFamily="34" charset="0"/>
              </a:rPr>
              <a:t>addr</a:t>
            </a:r>
            <a:r>
              <a:rPr lang="en-US" altLang="zh-CN" dirty="0">
                <a:latin typeface="Arial Black" panose="020B0A04020102020204" pitchFamily="34" charset="0"/>
              </a:rPr>
              <a:t>;                 //</a:t>
            </a:r>
            <a:r>
              <a:rPr lang="zh-CN" altLang="en-US" dirty="0">
                <a:latin typeface="Arial Black" panose="020B0A04020102020204" pitchFamily="34" charset="0"/>
              </a:rPr>
              <a:t>又假设为新地址</a:t>
            </a:r>
          </a:p>
          <a:p>
            <a:r>
              <a:rPr lang="zh-CN" altLang="en-US" dirty="0">
                <a:latin typeface="Arial Black" panose="020B0A04020102020204" pitchFamily="34" charset="0"/>
              </a:rPr>
              <a:t>		</a:t>
            </a:r>
            <a:r>
              <a:rPr lang="en-US" altLang="zh-CN" dirty="0">
                <a:latin typeface="Arial Black" panose="020B0A04020102020204" pitchFamily="34" charset="0"/>
              </a:rPr>
              <a:t>flag=true;                       //flag</a:t>
            </a:r>
            <a:r>
              <a:rPr lang="zh-CN" altLang="en-US" dirty="0">
                <a:latin typeface="Arial Black" panose="020B0A04020102020204" pitchFamily="34" charset="0"/>
              </a:rPr>
              <a:t>为标志位</a:t>
            </a:r>
          </a:p>
          <a:p>
            <a:r>
              <a:rPr lang="zh-CN" altLang="en-US" dirty="0">
                <a:latin typeface="Arial Black" panose="020B0A04020102020204" pitchFamily="34" charset="0"/>
              </a:rPr>
              <a:t>		</a:t>
            </a:r>
            <a:r>
              <a:rPr lang="en-US" altLang="zh-CN" dirty="0">
                <a:latin typeface="Arial Black" panose="020B0A04020102020204" pitchFamily="34" charset="0"/>
              </a:rPr>
              <a:t>j = 1;</a:t>
            </a:r>
          </a:p>
          <a:p>
            <a:r>
              <a:rPr lang="en-US" altLang="zh-CN" dirty="0">
                <a:latin typeface="Arial Black" panose="020B0A04020102020204" pitchFamily="34" charset="0"/>
              </a:rPr>
              <a:t>		while(R[</a:t>
            </a:r>
            <a:r>
              <a:rPr lang="en-US" altLang="zh-CN" dirty="0" err="1">
                <a:latin typeface="Arial Black" panose="020B0A04020102020204" pitchFamily="34" charset="0"/>
              </a:rPr>
              <a:t>new_addr</a:t>
            </a:r>
            <a:r>
              <a:rPr lang="en-US" altLang="zh-CN" dirty="0">
                <a:latin typeface="Arial Black" panose="020B0A04020102020204" pitchFamily="34" charset="0"/>
              </a:rPr>
              <a:t>].key!=-1)       //</a:t>
            </a:r>
            <a:r>
              <a:rPr lang="zh-CN" altLang="en-US" dirty="0">
                <a:latin typeface="Arial Black" panose="020B0A04020102020204" pitchFamily="34" charset="0"/>
              </a:rPr>
              <a:t>循环搜索表中空闲单元</a:t>
            </a:r>
          </a:p>
          <a:p>
            <a:r>
              <a:rPr lang="zh-CN" altLang="en-US" dirty="0">
                <a:latin typeface="Arial Black" panose="020B0A04020102020204" pitchFamily="34" charset="0"/>
              </a:rPr>
              <a:t>        </a:t>
            </a:r>
            <a:r>
              <a:rPr lang="en-US" altLang="zh-CN" dirty="0">
                <a:latin typeface="Arial Black" panose="020B0A04020102020204" pitchFamily="34" charset="0"/>
              </a:rPr>
              <a:t>		{	if (flag)		di=j*j;	else</a:t>
            </a:r>
          </a:p>
          <a:p>
            <a:r>
              <a:rPr lang="en-US" altLang="zh-CN" dirty="0">
                <a:latin typeface="Arial Black" panose="020B0A04020102020204" pitchFamily="34" charset="0"/>
              </a:rPr>
              <a:t>			{	di=</a:t>
            </a:r>
            <a:r>
              <a:rPr lang="en-US" altLang="zh-CN" dirty="0" err="1">
                <a:latin typeface="Arial Black" panose="020B0A04020102020204" pitchFamily="34" charset="0"/>
              </a:rPr>
              <a:t>CurrentSize</a:t>
            </a:r>
            <a:r>
              <a:rPr lang="en-US" altLang="zh-CN" dirty="0">
                <a:latin typeface="Arial Black" panose="020B0A04020102020204" pitchFamily="34" charset="0"/>
              </a:rPr>
              <a:t>-((j*j)%</a:t>
            </a:r>
            <a:r>
              <a:rPr lang="en-US" altLang="zh-CN" dirty="0" err="1">
                <a:latin typeface="Arial Black" panose="020B0A04020102020204" pitchFamily="34" charset="0"/>
              </a:rPr>
              <a:t>CurrentSize</a:t>
            </a:r>
            <a:r>
              <a:rPr lang="en-US" altLang="zh-CN" dirty="0">
                <a:latin typeface="Arial Black" panose="020B0A04020102020204" pitchFamily="34" charset="0"/>
              </a:rPr>
              <a:t>);</a:t>
            </a:r>
          </a:p>
          <a:p>
            <a:r>
              <a:rPr lang="en-US" altLang="zh-CN" dirty="0">
                <a:latin typeface="Arial Black" panose="020B0A04020102020204" pitchFamily="34" charset="0"/>
              </a:rPr>
              <a:t>				</a:t>
            </a:r>
            <a:r>
              <a:rPr lang="en-US" altLang="zh-CN" dirty="0" err="1">
                <a:latin typeface="Arial Black" panose="020B0A04020102020204" pitchFamily="34" charset="0"/>
              </a:rPr>
              <a:t>j++</a:t>
            </a:r>
            <a:r>
              <a:rPr lang="en-US" altLang="zh-CN" dirty="0">
                <a:latin typeface="Arial Black" panose="020B0A04020102020204" pitchFamily="34" charset="0"/>
              </a:rPr>
              <a:t>;	}</a:t>
            </a:r>
          </a:p>
          <a:p>
            <a:r>
              <a:rPr lang="en-US" altLang="zh-CN" dirty="0">
                <a:latin typeface="Arial Black" panose="020B0A04020102020204" pitchFamily="34" charset="0"/>
              </a:rPr>
              <a:t>			</a:t>
            </a:r>
            <a:r>
              <a:rPr lang="en-US" altLang="zh-CN" dirty="0" err="1">
                <a:latin typeface="Arial Black" panose="020B0A04020102020204" pitchFamily="34" charset="0"/>
              </a:rPr>
              <a:t>new_addr</a:t>
            </a:r>
            <a:r>
              <a:rPr lang="en-US" altLang="zh-CN" dirty="0">
                <a:latin typeface="Arial Black" panose="020B0A04020102020204" pitchFamily="34" charset="0"/>
              </a:rPr>
              <a:t> = (</a:t>
            </a:r>
            <a:r>
              <a:rPr lang="en-US" altLang="zh-CN" dirty="0" err="1">
                <a:latin typeface="Arial Black" panose="020B0A04020102020204" pitchFamily="34" charset="0"/>
              </a:rPr>
              <a:t>addr+di</a:t>
            </a:r>
            <a:r>
              <a:rPr lang="en-US" altLang="zh-CN" dirty="0">
                <a:latin typeface="Arial Black" panose="020B0A04020102020204" pitchFamily="34" charset="0"/>
              </a:rPr>
              <a:t>) % </a:t>
            </a:r>
            <a:r>
              <a:rPr lang="en-US" altLang="zh-CN" dirty="0" err="1">
                <a:latin typeface="Arial Black" panose="020B0A04020102020204" pitchFamily="34" charset="0"/>
              </a:rPr>
              <a:t>CurrentSize</a:t>
            </a:r>
            <a:r>
              <a:rPr lang="en-US" altLang="zh-CN" dirty="0">
                <a:latin typeface="Arial Black" panose="020B0A04020102020204" pitchFamily="34" charset="0"/>
              </a:rPr>
              <a:t>;  //</a:t>
            </a:r>
            <a:r>
              <a:rPr lang="zh-CN" altLang="en-US" dirty="0">
                <a:latin typeface="Arial Black" panose="020B0A04020102020204" pitchFamily="34" charset="0"/>
              </a:rPr>
              <a:t>计算新地址</a:t>
            </a:r>
          </a:p>
          <a:p>
            <a:r>
              <a:rPr lang="zh-CN" altLang="en-US" dirty="0">
                <a:latin typeface="Arial Black" panose="020B0A04020102020204" pitchFamily="34" charset="0"/>
              </a:rPr>
              <a:t>			</a:t>
            </a:r>
            <a:r>
              <a:rPr lang="en-US" altLang="zh-CN" dirty="0">
                <a:latin typeface="Arial Black" panose="020B0A04020102020204" pitchFamily="34" charset="0"/>
              </a:rPr>
              <a:t>flag=!flag;	}</a:t>
            </a:r>
          </a:p>
          <a:p>
            <a:r>
              <a:rPr lang="en-US" altLang="zh-CN" dirty="0">
                <a:latin typeface="Arial Black" panose="020B0A04020102020204" pitchFamily="34" charset="0"/>
              </a:rPr>
              <a:t>		R[</a:t>
            </a:r>
            <a:r>
              <a:rPr lang="en-US" altLang="zh-CN" dirty="0" err="1">
                <a:latin typeface="Arial Black" panose="020B0A04020102020204" pitchFamily="34" charset="0"/>
              </a:rPr>
              <a:t>new_addr</a:t>
            </a:r>
            <a:r>
              <a:rPr lang="en-US" altLang="zh-CN" dirty="0">
                <a:latin typeface="Arial Black" panose="020B0A04020102020204" pitchFamily="34" charset="0"/>
              </a:rPr>
              <a:t>].key = pa[</a:t>
            </a:r>
            <a:r>
              <a:rPr lang="en-US" altLang="zh-CN" dirty="0" err="1">
                <a:latin typeface="Arial Black" panose="020B0A04020102020204" pitchFamily="34" charset="0"/>
              </a:rPr>
              <a:t>i</a:t>
            </a:r>
            <a:r>
              <a:rPr lang="en-US" altLang="zh-CN" dirty="0">
                <a:latin typeface="Arial Black" panose="020B0A04020102020204" pitchFamily="34" charset="0"/>
              </a:rPr>
              <a:t>];	}</a:t>
            </a:r>
          </a:p>
          <a:p>
            <a:r>
              <a:rPr lang="en-US" altLang="zh-CN" dirty="0">
                <a:latin typeface="Arial Black" panose="020B0A04020102020204" pitchFamily="34" charset="0"/>
              </a:rPr>
              <a:t>	return true;</a:t>
            </a:r>
          </a:p>
          <a:p>
            <a:r>
              <a:rPr lang="en-US" altLang="zh-CN" dirty="0">
                <a:latin typeface="Arial Black" panose="020B0A04020102020204" pitchFamily="34" charset="0"/>
              </a:rPr>
              <a:t>}</a:t>
            </a:r>
            <a:endParaRPr lang="zh-CN" altLang="en-US" dirty="0">
              <a:latin typeface="Arial Black" panose="020B0A04020102020204" pitchFamily="34" charset="0"/>
            </a:endParaRPr>
          </a:p>
        </p:txBody>
      </p:sp>
    </p:spTree>
    <p:extLst>
      <p:ext uri="{BB962C8B-B14F-4D97-AF65-F5344CB8AC3E}">
        <p14:creationId xmlns:p14="http://schemas.microsoft.com/office/powerpoint/2010/main" val="1446937510"/>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FCADF4E-76AF-411E-A358-D7FE00C898FF}"/>
              </a:ext>
            </a:extLst>
          </p:cNvPr>
          <p:cNvSpPr>
            <a:spLocks noGrp="1"/>
          </p:cNvSpPr>
          <p:nvPr>
            <p:ph type="dt" sz="half" idx="10"/>
          </p:nvPr>
        </p:nvSpPr>
        <p:spPr/>
        <p:txBody>
          <a:bodyPr/>
          <a:lstStyle/>
          <a:p>
            <a:fld id="{9A6B2991-BBE5-4E69-A281-1A8B0AE9CDD7}" type="datetime1">
              <a:rPr lang="zh-CN" altLang="en-US" smtClean="0"/>
              <a:pPr/>
              <a:t>2025/6/3</a:t>
            </a:fld>
            <a:endParaRPr lang="zh-CN" altLang="en-US"/>
          </a:p>
        </p:txBody>
      </p:sp>
      <p:sp>
        <p:nvSpPr>
          <p:cNvPr id="3" name="文本框 2">
            <a:extLst>
              <a:ext uri="{FF2B5EF4-FFF2-40B4-BE49-F238E27FC236}">
                <a16:creationId xmlns:a16="http://schemas.microsoft.com/office/drawing/2014/main" id="{72AF76CF-B0AD-46D6-9669-F0C903690C2B}"/>
              </a:ext>
            </a:extLst>
          </p:cNvPr>
          <p:cNvSpPr txBox="1"/>
          <p:nvPr/>
        </p:nvSpPr>
        <p:spPr>
          <a:xfrm>
            <a:off x="107504" y="62036"/>
            <a:ext cx="9001000" cy="6463308"/>
          </a:xfrm>
          <a:prstGeom prst="rect">
            <a:avLst/>
          </a:prstGeom>
          <a:solidFill>
            <a:schemeClr val="accent3">
              <a:lumMod val="40000"/>
              <a:lumOff val="60000"/>
            </a:schemeClr>
          </a:solidFill>
        </p:spPr>
        <p:txBody>
          <a:bodyPr wrap="square" rtlCol="0">
            <a:spAutoFit/>
          </a:bodyPr>
          <a:lstStyle/>
          <a:p>
            <a:r>
              <a:rPr lang="en-US" altLang="zh-CN" dirty="0">
                <a:latin typeface="Arial Black" panose="020B0A04020102020204" pitchFamily="34" charset="0"/>
              </a:rPr>
              <a:t>//</a:t>
            </a:r>
            <a:r>
              <a:rPr lang="zh-CN" altLang="en-US" dirty="0">
                <a:latin typeface="Arial Black" panose="020B0A04020102020204" pitchFamily="34" charset="0"/>
              </a:rPr>
              <a:t>哈希查找函数，双向二次探测再散列</a:t>
            </a:r>
          </a:p>
          <a:p>
            <a:r>
              <a:rPr lang="en-US" altLang="zh-CN" dirty="0">
                <a:latin typeface="Arial Black" panose="020B0A04020102020204" pitchFamily="34" charset="0"/>
              </a:rPr>
              <a:t>template &lt;class </a:t>
            </a:r>
            <a:r>
              <a:rPr lang="en-US" altLang="zh-CN" dirty="0" err="1">
                <a:latin typeface="Arial Black" panose="020B0A04020102020204" pitchFamily="34" charset="0"/>
              </a:rPr>
              <a:t>keytype,class</a:t>
            </a:r>
            <a:r>
              <a:rPr lang="en-US" altLang="zh-CN" dirty="0">
                <a:latin typeface="Arial Black" panose="020B0A04020102020204" pitchFamily="34" charset="0"/>
              </a:rPr>
              <a:t> </a:t>
            </a:r>
            <a:r>
              <a:rPr lang="en-US" altLang="zh-CN" dirty="0" err="1">
                <a:latin typeface="Arial Black" panose="020B0A04020102020204" pitchFamily="34" charset="0"/>
              </a:rPr>
              <a:t>Itemtype</a:t>
            </a:r>
            <a:r>
              <a:rPr lang="en-US" altLang="zh-CN" dirty="0">
                <a:latin typeface="Arial Black" panose="020B0A04020102020204" pitchFamily="34" charset="0"/>
              </a:rPr>
              <a:t>&gt;</a:t>
            </a:r>
          </a:p>
          <a:p>
            <a:r>
              <a:rPr lang="en-US" altLang="zh-CN" dirty="0">
                <a:latin typeface="Arial Black" panose="020B0A04020102020204" pitchFamily="34" charset="0"/>
              </a:rPr>
              <a:t>int </a:t>
            </a:r>
            <a:r>
              <a:rPr lang="en-US" altLang="zh-CN" dirty="0" err="1">
                <a:latin typeface="Arial Black" panose="020B0A04020102020204" pitchFamily="34" charset="0"/>
              </a:rPr>
              <a:t>recordList</a:t>
            </a:r>
            <a:r>
              <a:rPr lang="en-US" altLang="zh-CN" dirty="0">
                <a:latin typeface="Arial Black" panose="020B0A04020102020204" pitchFamily="34" charset="0"/>
              </a:rPr>
              <a:t>&lt;</a:t>
            </a:r>
            <a:r>
              <a:rPr lang="en-US" altLang="zh-CN" dirty="0" err="1">
                <a:latin typeface="Arial Black" panose="020B0A04020102020204" pitchFamily="34" charset="0"/>
              </a:rPr>
              <a:t>keytype,Itemtype</a:t>
            </a:r>
            <a:r>
              <a:rPr lang="en-US" altLang="zh-CN" dirty="0">
                <a:latin typeface="Arial Black" panose="020B0A04020102020204" pitchFamily="34" charset="0"/>
              </a:rPr>
              <a:t>&gt;::hash_find5(</a:t>
            </a:r>
            <a:r>
              <a:rPr lang="en-US" altLang="zh-CN" dirty="0" err="1">
                <a:latin typeface="Arial Black" panose="020B0A04020102020204" pitchFamily="34" charset="0"/>
              </a:rPr>
              <a:t>keytype</a:t>
            </a:r>
            <a:r>
              <a:rPr lang="en-US" altLang="zh-CN" dirty="0">
                <a:latin typeface="Arial Black" panose="020B0A04020102020204" pitchFamily="34" charset="0"/>
              </a:rPr>
              <a:t> x)</a:t>
            </a:r>
          </a:p>
          <a:p>
            <a:r>
              <a:rPr lang="en-US" altLang="zh-CN" dirty="0">
                <a:latin typeface="Arial Black" panose="020B0A04020102020204" pitchFamily="34" charset="0"/>
              </a:rPr>
              <a:t>{	int </a:t>
            </a:r>
            <a:r>
              <a:rPr lang="en-US" altLang="zh-CN" dirty="0" err="1">
                <a:latin typeface="Arial Black" panose="020B0A04020102020204" pitchFamily="34" charset="0"/>
              </a:rPr>
              <a:t>addr,new_addr,di,j</a:t>
            </a:r>
            <a:r>
              <a:rPr lang="en-US" altLang="zh-CN" dirty="0">
                <a:latin typeface="Arial Black" panose="020B0A04020102020204" pitchFamily="34" charset="0"/>
              </a:rPr>
              <a:t>;</a:t>
            </a:r>
          </a:p>
          <a:p>
            <a:r>
              <a:rPr lang="en-US" altLang="zh-CN" dirty="0">
                <a:latin typeface="Arial Black" panose="020B0A04020102020204" pitchFamily="34" charset="0"/>
              </a:rPr>
              <a:t>	bool flag;</a:t>
            </a:r>
          </a:p>
          <a:p>
            <a:r>
              <a:rPr lang="en-US" altLang="zh-CN" dirty="0">
                <a:latin typeface="Arial Black" panose="020B0A04020102020204" pitchFamily="34" charset="0"/>
              </a:rPr>
              <a:t>	</a:t>
            </a:r>
            <a:r>
              <a:rPr lang="en-US" altLang="zh-CN" dirty="0" err="1">
                <a:latin typeface="Arial Black" panose="020B0A04020102020204" pitchFamily="34" charset="0"/>
              </a:rPr>
              <a:t>addr</a:t>
            </a:r>
            <a:r>
              <a:rPr lang="en-US" altLang="zh-CN" dirty="0">
                <a:latin typeface="Arial Black" panose="020B0A04020102020204" pitchFamily="34" charset="0"/>
              </a:rPr>
              <a:t>=</a:t>
            </a:r>
            <a:r>
              <a:rPr lang="en-US" altLang="zh-CN" dirty="0" err="1">
                <a:latin typeface="Arial Black" panose="020B0A04020102020204" pitchFamily="34" charset="0"/>
              </a:rPr>
              <a:t>x%CurrentSize</a:t>
            </a:r>
            <a:r>
              <a:rPr lang="en-US" altLang="zh-CN" dirty="0">
                <a:latin typeface="Arial Black" panose="020B0A04020102020204" pitchFamily="34" charset="0"/>
              </a:rPr>
              <a:t>;               //</a:t>
            </a:r>
            <a:r>
              <a:rPr lang="zh-CN" altLang="en-US" dirty="0">
                <a:latin typeface="Arial Black" panose="020B0A04020102020204" pitchFamily="34" charset="0"/>
              </a:rPr>
              <a:t>计算哈希地址</a:t>
            </a:r>
          </a:p>
          <a:p>
            <a:r>
              <a:rPr lang="zh-CN" altLang="en-US" dirty="0">
                <a:latin typeface="Arial Black" panose="020B0A04020102020204" pitchFamily="34" charset="0"/>
              </a:rPr>
              <a:t>	</a:t>
            </a:r>
            <a:r>
              <a:rPr lang="en-US" altLang="zh-CN" dirty="0" err="1">
                <a:latin typeface="Arial Black" panose="020B0A04020102020204" pitchFamily="34" charset="0"/>
              </a:rPr>
              <a:t>new_addr</a:t>
            </a:r>
            <a:r>
              <a:rPr lang="en-US" altLang="zh-CN" dirty="0">
                <a:latin typeface="Arial Black" panose="020B0A04020102020204" pitchFamily="34" charset="0"/>
              </a:rPr>
              <a:t>=</a:t>
            </a:r>
            <a:r>
              <a:rPr lang="en-US" altLang="zh-CN" dirty="0" err="1">
                <a:latin typeface="Arial Black" panose="020B0A04020102020204" pitchFamily="34" charset="0"/>
              </a:rPr>
              <a:t>addr</a:t>
            </a:r>
            <a:r>
              <a:rPr lang="en-US" altLang="zh-CN" dirty="0">
                <a:latin typeface="Arial Black" panose="020B0A04020102020204" pitchFamily="34" charset="0"/>
              </a:rPr>
              <a:t>;</a:t>
            </a:r>
          </a:p>
          <a:p>
            <a:r>
              <a:rPr lang="en-US" altLang="zh-CN" dirty="0">
                <a:latin typeface="Arial Black" panose="020B0A04020102020204" pitchFamily="34" charset="0"/>
              </a:rPr>
              <a:t>	flag=true;           </a:t>
            </a:r>
          </a:p>
          <a:p>
            <a:r>
              <a:rPr lang="en-US" altLang="zh-CN" dirty="0">
                <a:latin typeface="Arial Black" panose="020B0A04020102020204" pitchFamily="34" charset="0"/>
              </a:rPr>
              <a:t>	j=1;                                 //</a:t>
            </a:r>
            <a:r>
              <a:rPr lang="zh-CN" altLang="en-US" dirty="0">
                <a:latin typeface="Arial Black" panose="020B0A04020102020204" pitchFamily="34" charset="0"/>
              </a:rPr>
              <a:t>分量从</a:t>
            </a:r>
            <a:r>
              <a:rPr lang="en-US" altLang="zh-CN" dirty="0">
                <a:latin typeface="Arial Black" panose="020B0A04020102020204" pitchFamily="34" charset="0"/>
              </a:rPr>
              <a:t>1</a:t>
            </a:r>
            <a:r>
              <a:rPr lang="zh-CN" altLang="en-US" dirty="0">
                <a:latin typeface="Arial Black" panose="020B0A04020102020204" pitchFamily="34" charset="0"/>
              </a:rPr>
              <a:t>开始</a:t>
            </a:r>
          </a:p>
          <a:p>
            <a:r>
              <a:rPr lang="zh-CN" altLang="en-US" dirty="0">
                <a:latin typeface="Arial Black" panose="020B0A04020102020204" pitchFamily="34" charset="0"/>
              </a:rPr>
              <a:t>	</a:t>
            </a:r>
            <a:r>
              <a:rPr lang="en-US" altLang="zh-CN" dirty="0">
                <a:latin typeface="Arial Black" panose="020B0A04020102020204" pitchFamily="34" charset="0"/>
              </a:rPr>
              <a:t>while ((R[</a:t>
            </a:r>
            <a:r>
              <a:rPr lang="en-US" altLang="zh-CN" dirty="0" err="1">
                <a:latin typeface="Arial Black" panose="020B0A04020102020204" pitchFamily="34" charset="0"/>
              </a:rPr>
              <a:t>new_addr</a:t>
            </a:r>
            <a:r>
              <a:rPr lang="en-US" altLang="zh-CN" dirty="0">
                <a:latin typeface="Arial Black" panose="020B0A04020102020204" pitchFamily="34" charset="0"/>
              </a:rPr>
              <a:t>].key!=x)&amp;&amp;(R[</a:t>
            </a:r>
            <a:r>
              <a:rPr lang="en-US" altLang="zh-CN" dirty="0" err="1">
                <a:latin typeface="Arial Black" panose="020B0A04020102020204" pitchFamily="34" charset="0"/>
              </a:rPr>
              <a:t>new_addr</a:t>
            </a:r>
            <a:r>
              <a:rPr lang="en-US" altLang="zh-CN" dirty="0">
                <a:latin typeface="Arial Black" panose="020B0A04020102020204" pitchFamily="34" charset="0"/>
              </a:rPr>
              <a:t>].key!=-1))</a:t>
            </a:r>
          </a:p>
          <a:p>
            <a:r>
              <a:rPr lang="en-US" altLang="zh-CN" dirty="0">
                <a:latin typeface="Arial Black" panose="020B0A04020102020204" pitchFamily="34" charset="0"/>
              </a:rPr>
              <a:t>    //</a:t>
            </a:r>
            <a:r>
              <a:rPr lang="zh-CN" altLang="en-US" dirty="0">
                <a:latin typeface="Arial Black" panose="020B0A04020102020204" pitchFamily="34" charset="0"/>
              </a:rPr>
              <a:t>当表中元素不等于</a:t>
            </a:r>
            <a:r>
              <a:rPr lang="en-US" altLang="zh-CN" dirty="0">
                <a:latin typeface="Arial Black" panose="020B0A04020102020204" pitchFamily="34" charset="0"/>
              </a:rPr>
              <a:t>x</a:t>
            </a:r>
            <a:r>
              <a:rPr lang="zh-CN" altLang="en-US" dirty="0">
                <a:latin typeface="Arial Black" panose="020B0A04020102020204" pitchFamily="34" charset="0"/>
              </a:rPr>
              <a:t>，并且不等于</a:t>
            </a:r>
            <a:r>
              <a:rPr lang="en-US" altLang="zh-CN" dirty="0">
                <a:latin typeface="Arial Black" panose="020B0A04020102020204" pitchFamily="34" charset="0"/>
              </a:rPr>
              <a:t>-1</a:t>
            </a:r>
            <a:r>
              <a:rPr lang="zh-CN" altLang="en-US" dirty="0">
                <a:latin typeface="Arial Black" panose="020B0A04020102020204" pitchFamily="34" charset="0"/>
              </a:rPr>
              <a:t>，则计算出新地址再比较</a:t>
            </a:r>
          </a:p>
          <a:p>
            <a:r>
              <a:rPr lang="zh-CN" altLang="en-US" dirty="0">
                <a:latin typeface="Arial Black" panose="020B0A04020102020204" pitchFamily="34" charset="0"/>
              </a:rPr>
              <a:t>    </a:t>
            </a:r>
            <a:r>
              <a:rPr lang="en-US" altLang="zh-CN" dirty="0">
                <a:latin typeface="Arial Black" panose="020B0A04020102020204" pitchFamily="34" charset="0"/>
              </a:rPr>
              <a:t>	{	if (flag)</a:t>
            </a:r>
          </a:p>
          <a:p>
            <a:r>
              <a:rPr lang="en-US" altLang="zh-CN" dirty="0">
                <a:latin typeface="Arial Black" panose="020B0A04020102020204" pitchFamily="34" charset="0"/>
              </a:rPr>
              <a:t>			di=j*j;</a:t>
            </a:r>
          </a:p>
          <a:p>
            <a:r>
              <a:rPr lang="en-US" altLang="zh-CN" dirty="0">
                <a:latin typeface="Arial Black" panose="020B0A04020102020204" pitchFamily="34" charset="0"/>
              </a:rPr>
              <a:t>		else</a:t>
            </a:r>
          </a:p>
          <a:p>
            <a:r>
              <a:rPr lang="en-US" altLang="zh-CN" dirty="0">
                <a:latin typeface="Arial Black" panose="020B0A04020102020204" pitchFamily="34" charset="0"/>
              </a:rPr>
              <a:t>		{	di=</a:t>
            </a:r>
            <a:r>
              <a:rPr lang="en-US" altLang="zh-CN" dirty="0" err="1">
                <a:latin typeface="Arial Black" panose="020B0A04020102020204" pitchFamily="34" charset="0"/>
              </a:rPr>
              <a:t>CurrentSize</a:t>
            </a:r>
            <a:r>
              <a:rPr lang="en-US" altLang="zh-CN" dirty="0">
                <a:latin typeface="Arial Black" panose="020B0A04020102020204" pitchFamily="34" charset="0"/>
              </a:rPr>
              <a:t>-((j*j)%</a:t>
            </a:r>
            <a:r>
              <a:rPr lang="en-US" altLang="zh-CN" dirty="0" err="1">
                <a:latin typeface="Arial Black" panose="020B0A04020102020204" pitchFamily="34" charset="0"/>
              </a:rPr>
              <a:t>CurrentSize</a:t>
            </a:r>
            <a:r>
              <a:rPr lang="en-US" altLang="zh-CN" dirty="0">
                <a:latin typeface="Arial Black" panose="020B0A04020102020204" pitchFamily="34" charset="0"/>
              </a:rPr>
              <a:t>);</a:t>
            </a:r>
          </a:p>
          <a:p>
            <a:r>
              <a:rPr lang="en-US" altLang="zh-CN" dirty="0">
                <a:latin typeface="Arial Black" panose="020B0A04020102020204" pitchFamily="34" charset="0"/>
              </a:rPr>
              <a:t>			</a:t>
            </a:r>
            <a:r>
              <a:rPr lang="en-US" altLang="zh-CN" dirty="0" err="1">
                <a:latin typeface="Arial Black" panose="020B0A04020102020204" pitchFamily="34" charset="0"/>
              </a:rPr>
              <a:t>j++</a:t>
            </a:r>
            <a:r>
              <a:rPr lang="en-US" altLang="zh-CN" dirty="0">
                <a:latin typeface="Arial Black" panose="020B0A04020102020204" pitchFamily="34" charset="0"/>
              </a:rPr>
              <a:t>;	}</a:t>
            </a:r>
          </a:p>
          <a:p>
            <a:r>
              <a:rPr lang="en-US" altLang="zh-CN" dirty="0">
                <a:latin typeface="Arial Black" panose="020B0A04020102020204" pitchFamily="34" charset="0"/>
              </a:rPr>
              <a:t>		</a:t>
            </a:r>
            <a:r>
              <a:rPr lang="en-US" altLang="zh-CN" dirty="0" err="1">
                <a:latin typeface="Arial Black" panose="020B0A04020102020204" pitchFamily="34" charset="0"/>
              </a:rPr>
              <a:t>new_addr</a:t>
            </a:r>
            <a:r>
              <a:rPr lang="en-US" altLang="zh-CN" dirty="0">
                <a:latin typeface="Arial Black" panose="020B0A04020102020204" pitchFamily="34" charset="0"/>
              </a:rPr>
              <a:t>=(</a:t>
            </a:r>
            <a:r>
              <a:rPr lang="en-US" altLang="zh-CN" dirty="0" err="1">
                <a:latin typeface="Arial Black" panose="020B0A04020102020204" pitchFamily="34" charset="0"/>
              </a:rPr>
              <a:t>addr+di</a:t>
            </a:r>
            <a:r>
              <a:rPr lang="en-US" altLang="zh-CN" dirty="0">
                <a:latin typeface="Arial Black" panose="020B0A04020102020204" pitchFamily="34" charset="0"/>
              </a:rPr>
              <a:t>)%</a:t>
            </a:r>
            <a:r>
              <a:rPr lang="en-US" altLang="zh-CN" dirty="0" err="1">
                <a:latin typeface="Arial Black" panose="020B0A04020102020204" pitchFamily="34" charset="0"/>
              </a:rPr>
              <a:t>CurrentSize</a:t>
            </a:r>
            <a:r>
              <a:rPr lang="en-US" altLang="zh-CN" dirty="0">
                <a:latin typeface="Arial Black" panose="020B0A04020102020204" pitchFamily="34" charset="0"/>
              </a:rPr>
              <a:t>;</a:t>
            </a:r>
          </a:p>
          <a:p>
            <a:r>
              <a:rPr lang="en-US" altLang="zh-CN" dirty="0">
                <a:latin typeface="Arial Black" panose="020B0A04020102020204" pitchFamily="34" charset="0"/>
              </a:rPr>
              <a:t>		flag=!flag;	}</a:t>
            </a:r>
          </a:p>
          <a:p>
            <a:r>
              <a:rPr lang="en-US" altLang="zh-CN" dirty="0">
                <a:latin typeface="Arial Black" panose="020B0A04020102020204" pitchFamily="34" charset="0"/>
              </a:rPr>
              <a:t>	if(R[</a:t>
            </a:r>
            <a:r>
              <a:rPr lang="en-US" altLang="zh-CN" dirty="0" err="1">
                <a:latin typeface="Arial Black" panose="020B0A04020102020204" pitchFamily="34" charset="0"/>
              </a:rPr>
              <a:t>new_addr</a:t>
            </a:r>
            <a:r>
              <a:rPr lang="en-US" altLang="zh-CN" dirty="0">
                <a:latin typeface="Arial Black" panose="020B0A04020102020204" pitchFamily="34" charset="0"/>
              </a:rPr>
              <a:t>].key==x)</a:t>
            </a:r>
          </a:p>
          <a:p>
            <a:r>
              <a:rPr lang="en-US" altLang="zh-CN" dirty="0">
                <a:latin typeface="Arial Black" panose="020B0A04020102020204" pitchFamily="34" charset="0"/>
              </a:rPr>
              <a:t>		return </a:t>
            </a:r>
            <a:r>
              <a:rPr lang="en-US" altLang="zh-CN" dirty="0" err="1">
                <a:latin typeface="Arial Black" panose="020B0A04020102020204" pitchFamily="34" charset="0"/>
              </a:rPr>
              <a:t>new_addr</a:t>
            </a:r>
            <a:r>
              <a:rPr lang="en-US" altLang="zh-CN" dirty="0">
                <a:latin typeface="Arial Black" panose="020B0A04020102020204" pitchFamily="34" charset="0"/>
              </a:rPr>
              <a:t>;                    //</a:t>
            </a:r>
            <a:r>
              <a:rPr lang="zh-CN" altLang="en-US" dirty="0">
                <a:latin typeface="Arial Black" panose="020B0A04020102020204" pitchFamily="34" charset="0"/>
              </a:rPr>
              <a:t>查找成功，返回表中位置</a:t>
            </a:r>
          </a:p>
          <a:p>
            <a:r>
              <a:rPr lang="zh-CN" altLang="en-US" dirty="0">
                <a:latin typeface="Arial Black" panose="020B0A04020102020204" pitchFamily="34" charset="0"/>
              </a:rPr>
              <a:t>	</a:t>
            </a:r>
            <a:r>
              <a:rPr lang="en-US" altLang="zh-CN" dirty="0">
                <a:latin typeface="Arial Black" panose="020B0A04020102020204" pitchFamily="34" charset="0"/>
              </a:rPr>
              <a:t>else</a:t>
            </a:r>
          </a:p>
          <a:p>
            <a:r>
              <a:rPr lang="en-US" altLang="zh-CN" dirty="0">
                <a:latin typeface="Arial Black" panose="020B0A04020102020204" pitchFamily="34" charset="0"/>
              </a:rPr>
              <a:t>		return -1;                            //</a:t>
            </a:r>
            <a:r>
              <a:rPr lang="zh-CN" altLang="en-US" dirty="0">
                <a:latin typeface="Arial Black" panose="020B0A04020102020204" pitchFamily="34" charset="0"/>
              </a:rPr>
              <a:t>查找不成功，返回</a:t>
            </a:r>
            <a:r>
              <a:rPr lang="en-US" altLang="zh-CN" dirty="0">
                <a:latin typeface="Arial Black" panose="020B0A04020102020204" pitchFamily="34" charset="0"/>
              </a:rPr>
              <a:t>-1</a:t>
            </a:r>
            <a:r>
              <a:rPr lang="zh-CN" altLang="en-US" dirty="0">
                <a:latin typeface="Arial Black" panose="020B0A04020102020204" pitchFamily="34" charset="0"/>
              </a:rPr>
              <a:t>值</a:t>
            </a:r>
          </a:p>
          <a:p>
            <a:r>
              <a:rPr lang="en-US" altLang="zh-CN" dirty="0">
                <a:latin typeface="Arial Black" panose="020B0A04020102020204" pitchFamily="34" charset="0"/>
              </a:rPr>
              <a:t>}</a:t>
            </a:r>
            <a:endParaRPr lang="zh-CN" altLang="en-US" dirty="0">
              <a:latin typeface="Arial Black" panose="020B0A04020102020204" pitchFamily="34" charset="0"/>
            </a:endParaRPr>
          </a:p>
        </p:txBody>
      </p:sp>
    </p:spTree>
    <p:extLst>
      <p:ext uri="{BB962C8B-B14F-4D97-AF65-F5344CB8AC3E}">
        <p14:creationId xmlns:p14="http://schemas.microsoft.com/office/powerpoint/2010/main" val="2797429592"/>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角度">
  <a:themeElements>
    <a:clrScheme name="角度">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角度">
      <a:majorFont>
        <a:latin typeface="Franklin Gothic Medium"/>
        <a:ea typeface=""/>
        <a:cs typeface=""/>
        <a:font script="Jpan" typeface="HG創英角ｺﾞｼｯｸUB"/>
        <a:font script="Hang" typeface="돋움"/>
        <a:font script="Hans" typeface="微软雅黑"/>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ＭＳ Ｐゴシック"/>
        <a:font script="Hang" typeface="맑은 고딕"/>
        <a:font script="Hans" typeface="隶书"/>
        <a:font script="Hant" typeface="新細明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角度">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blipFill rotWithShape="1">
          <a:blip xmlns:r="http://schemas.openxmlformats.org/officeDocument/2006/relationships" r:embed="rId1">
            <a:duotone>
              <a:schemeClr val="phClr">
                <a:tint val="90000"/>
                <a:shade val="85000"/>
              </a:schemeClr>
              <a:schemeClr val="phClr">
                <a:tint val="95000"/>
                <a:shade val="99000"/>
              </a:schemeClr>
            </a:duotone>
          </a:blip>
          <a:tile tx="0" ty="0" sx="100000" sy="100000" flip="none" algn="tl"/>
        </a:blipFill>
        <a:blipFill rotWithShape="1">
          <a:blip xmlns:r="http://schemas.openxmlformats.org/officeDocument/2006/relationships" r:embed="rId2">
            <a:duotone>
              <a:schemeClr val="phClr">
                <a:tint val="93000"/>
                <a:shade val="85000"/>
              </a:schemeClr>
              <a:schemeClr val="phClr">
                <a:tint val="96000"/>
                <a:shade val="99000"/>
              </a:schemeClr>
            </a:duotone>
          </a:blip>
          <a:tile tx="0" ty="0" sx="90000" sy="90000" flip="none" algn="tl"/>
        </a:blip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Angles</Template>
  <TotalTime>10091</TotalTime>
  <Words>22009</Words>
  <Application>Microsoft Office PowerPoint</Application>
  <PresentationFormat>全屏显示(4:3)</PresentationFormat>
  <Paragraphs>1781</Paragraphs>
  <Slides>146</Slides>
  <Notes>24</Notes>
  <HiddenSlides>0</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1</vt:i4>
      </vt:variant>
      <vt:variant>
        <vt:lpstr>幻灯片标题</vt:lpstr>
      </vt:variant>
      <vt:variant>
        <vt:i4>146</vt:i4>
      </vt:variant>
    </vt:vector>
  </HeadingPairs>
  <TitlesOfParts>
    <vt:vector size="165" baseType="lpstr">
      <vt:lpstr>-apple-system</vt:lpstr>
      <vt:lpstr>pingfang SC</vt:lpstr>
      <vt:lpstr>pingfang SC</vt:lpstr>
      <vt:lpstr>方正舒体</vt:lpstr>
      <vt:lpstr>黑体</vt:lpstr>
      <vt:lpstr>华文行楷</vt:lpstr>
      <vt:lpstr>楷体</vt:lpstr>
      <vt:lpstr>微软雅黑</vt:lpstr>
      <vt:lpstr>Arial</vt:lpstr>
      <vt:lpstr>Arial Black</vt:lpstr>
      <vt:lpstr>Calibri</vt:lpstr>
      <vt:lpstr>Cambria Math</vt:lpstr>
      <vt:lpstr>Franklin Gothic Book</vt:lpstr>
      <vt:lpstr>Franklin Gothic Medium</vt:lpstr>
      <vt:lpstr>Tahoma</vt:lpstr>
      <vt:lpstr>Times New Roman</vt:lpstr>
      <vt:lpstr>Wingdings</vt:lpstr>
      <vt:lpstr>角度</vt:lpstr>
      <vt:lpstr>Equation</vt:lpstr>
      <vt:lpstr>第8章 查找算法</vt:lpstr>
      <vt:lpstr>8.1 查找的基本概念</vt:lpstr>
      <vt:lpstr>PowerPoint 演示文稿</vt:lpstr>
      <vt:lpstr>8.2 静态查找表</vt:lpstr>
      <vt:lpstr>PowerPoint 演示文稿</vt:lpstr>
      <vt:lpstr>8.2.1 顺序表的查找</vt:lpstr>
      <vt:lpstr>PowerPoint 演示文稿</vt:lpstr>
      <vt:lpstr>顺序表的性能分析：</vt:lpstr>
      <vt:lpstr>PowerPoint 演示文稿</vt:lpstr>
      <vt:lpstr>8.2.2 折半查找</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折半查找的优点与缺点：</vt:lpstr>
      <vt:lpstr>8.3 散列表</vt:lpstr>
      <vt:lpstr>8.3.1 哈希函数的常用构建方法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8.3.2 解决冲突的办法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2．封闭哈希</vt:lpstr>
      <vt:lpstr>PowerPoint 演示文稿</vt:lpstr>
      <vt:lpstr>PowerPoint 演示文稿</vt:lpstr>
      <vt:lpstr>8.3.3 哈希表的实现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8.3.4 哈希表的分析</vt:lpstr>
      <vt:lpstr>PowerPoint 演示文稿</vt:lpstr>
      <vt:lpstr>8.4 线性索引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8.5 树形索引</vt:lpstr>
      <vt:lpstr>8.5.1 2-3树</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8.5.2 B树(又称B_树)</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8.5.3 B+树</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第2章 　算法分析</dc:title>
  <dc:creator>Admin</dc:creator>
  <cp:lastModifiedBy>Lenovo</cp:lastModifiedBy>
  <cp:revision>283</cp:revision>
  <dcterms:created xsi:type="dcterms:W3CDTF">2016-02-05T07:36:15Z</dcterms:created>
  <dcterms:modified xsi:type="dcterms:W3CDTF">2025-06-03T03:30:03Z</dcterms:modified>
</cp:coreProperties>
</file>